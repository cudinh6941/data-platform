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thưa Ban Giám đốc, hôm nay bộ phận CNTT xin báo cáo toàn diện 4 nội dung theo đúng chỉ đạo số 9 của Ban Giám đốc, có đối chiếu trực tiếp với các tài liệu kỹ thuật và quy chế quản trị dữ liệu của Tổng công ty.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TCT đã hoàn thành Giai đoạn 1 tại Văn phòng TCT. Năm 2026-2027 là thời hạn bắt buộc mở rộng đến các đơn vị thành viên như Quảng Ngãi. Nếu chậm trễ sẽ bị đánh giá KPI CĐS.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Hiện trạng QN: phần mềm cát cứ, chưa đồng bộ 29 danh mục Master Data, và IT nội bộ thiếu kinh nghiệm viết đường ống dữ liệu.</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Platform giống hệ thống đường ống nước tự động. Gom dữ liệu, lọc sạch và tự bơm lên vòi của Ban Giám đốc mỗi sáng mà không cần người xách xô Excel thủ công.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TCT phân 4 Level. Quảng Ngãi thuộc Level 3 (Đơn vị lớn có trạm trung chuyển riêng). Chúng ta không phải đầu tư cụm dHCI hàng tỷ đồng như L4 (PTSC M&amp;C).</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TCT đã xong nền tảng Hybrid IMIP: Cloud có Fabric OneLake 20TB, On-prem có MinIO, ESB, MDM và 50 API chuẩn. TCT đã sẵn sàng hạ tầng, chỉ chờ đơn vị thành viên đấu nối.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Trả lời trực tiếp câu hỏi của Sếp: Lãnh đạo Quảng Ngãi là Chủ quản Dữ liệu Cấp 3 (Data Owner). Sếp có quyền quyết định tối cao: dữ liệu nào được chuyển đi, dữ liệu nào giữ lại nội bộ. TCT ở Cấp 5 chỉ là thợ kỹ thuật vận hành máy, không có quyền lấy dữ liệu nghiệp vụ của mình.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TCT quy định rất rõ: Dữ liệu chi tiết nhạy cảm và bí mật kinh doanh ở lại Quảng Ngãi. Chỉ dữ liệu tổng hợp và danh mục Master Data mới đẩy lên TCT sau khi đã che mờ (masking).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Đúng kiến trúc Hybrid của TCT: Dữ liệu từ QN đi qua đường hầm VPN, tiếp đất vào MinIO on-prem và Workspace L3 trên Microsoft Fabric Cloud để xuất ra Dashboard Power BI.</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sánh 2 phương án: TCT chỉ làm Hub chung, không đủ người làm thay QN. Chọn Phương án 2: Thuê NCC phát triển riêng đồng bộ TCT là phương án khả thi duy nhất.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Minh bạch chi phí: TCT đã gánh phần Cloud và phần mềm khung. Chi phí thuê NCC sẽ để trống và xác định chính xác sau khi khảo sát kỹ thuật ở Giai đoạn 1, tránh đưa con số cảm tính.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giá trị cụ thể: Dashboard tức thời cho Sếp, hết phụ thuộc Excel, một nguồn sự thật duy nhất, và hoàn thành đúng hạn chỉ tiêu CĐS.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Lộ trình 3 giai đoạn: GĐ1 nội bộ tự làm hoàn toàn miễn phí để ra đề bài; sau đó mới mời thầu NCC làm GĐ2; GĐ3 là nghiệm thu và làm chủ.</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đề xuất xin phê duyệt: 1 là chủ trương chọn PA2; 2 là thành lập tổ công tác nội bộ; 3 là cho phép khảo sát lấy báo giá chính thức từ NCC để trình Sếp duyệt dự toán.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Chúng tôi xin trân trọng cảm ơn và lắng nghe ý kiến chỉ đạo của Ban Giám đốc!</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23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80160"/>
            <a:ext cx="12191695" cy="36576"/>
          </a:xfrm>
          <a:prstGeom prst="rect">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03520"/>
            <a:ext cx="12191695" cy="13716"/>
          </a:xfrm>
          <a:prstGeom prst="rect">
            <a:avLst/>
          </a:prstGeom>
          <a:solidFill>
            <a:srgbClr val="3C5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10058400" cy="365760"/>
          </a:xfrm>
          <a:prstGeom prst="rect">
            <a:avLst/>
          </a:prstGeom>
          <a:noFill/>
        </p:spPr>
        <p:txBody>
          <a:bodyPr wrap="square">
            <a:spAutoFit/>
          </a:bodyPr>
          <a:lstStyle/>
          <a:p>
            <a:pPr algn="l">
              <a:defRPr sz="1300" b="1">
                <a:solidFill>
                  <a:srgbClr val="B4C8E1"/>
                </a:solidFill>
              </a:defRPr>
            </a:pPr>
            <a:r>
              <a:t>BÁO CÁO BAN GIÁM ĐỐC  —  THỰC HIỆN CHỈ ĐẠO MỤC 9</a:t>
            </a:r>
          </a:p>
        </p:txBody>
      </p:sp>
      <p:sp>
        <p:nvSpPr>
          <p:cNvPr id="6" name="TextBox 5"/>
          <p:cNvSpPr txBox="1"/>
          <p:nvPr/>
        </p:nvSpPr>
        <p:spPr>
          <a:xfrm>
            <a:off x="914400" y="2286000"/>
            <a:ext cx="10058400" cy="1463040"/>
          </a:xfrm>
          <a:prstGeom prst="rect">
            <a:avLst/>
          </a:prstGeom>
          <a:noFill/>
        </p:spPr>
        <p:txBody>
          <a:bodyPr wrap="square">
            <a:spAutoFit/>
          </a:bodyPr>
          <a:lstStyle/>
          <a:p>
            <a:pPr algn="l">
              <a:defRPr sz="3000" b="1">
                <a:solidFill>
                  <a:srgbClr val="FFFFFF"/>
                </a:solidFill>
              </a:defRPr>
            </a:pPr>
            <a:r>
              <a:t>PHƯƠNG ÁN TRIỂN KHAI DATA PLATFORM</a:t>
            </a:r>
            <a:br/>
            <a:r>
              <a:t>VÀ TRỤC TÍCH HỢP DỮ LIỆU CÔNG TY – TCT</a:t>
            </a:r>
          </a:p>
        </p:txBody>
      </p:sp>
      <p:sp>
        <p:nvSpPr>
          <p:cNvPr id="7" name="Rectangle 6"/>
          <p:cNvSpPr/>
          <p:nvPr/>
        </p:nvSpPr>
        <p:spPr>
          <a:xfrm>
            <a:off x="914400" y="4023360"/>
            <a:ext cx="2286000" cy="36576"/>
          </a:xfrm>
          <a:prstGeom prst="rect">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4297680"/>
            <a:ext cx="10058400" cy="274320"/>
          </a:xfrm>
          <a:prstGeom prst="rect">
            <a:avLst/>
          </a:prstGeom>
          <a:noFill/>
        </p:spPr>
        <p:txBody>
          <a:bodyPr wrap="square">
            <a:spAutoFit/>
          </a:bodyPr>
          <a:lstStyle/>
          <a:p>
            <a:pPr algn="l">
              <a:defRPr sz="1200" b="0">
                <a:solidFill>
                  <a:srgbClr val="C8D7EB"/>
                </a:solidFill>
              </a:defRPr>
            </a:pPr>
            <a:r>
              <a:t>—  So sánh 2 Phương án: Thuê TCT  vs  Phát triển riêng đồng bộ TCT (có NCC tư vấn)</a:t>
            </a:r>
          </a:p>
        </p:txBody>
      </p:sp>
      <p:sp>
        <p:nvSpPr>
          <p:cNvPr id="9" name="TextBox 8"/>
          <p:cNvSpPr txBox="1"/>
          <p:nvPr/>
        </p:nvSpPr>
        <p:spPr>
          <a:xfrm>
            <a:off x="914400" y="4590288"/>
            <a:ext cx="10058400" cy="274320"/>
          </a:xfrm>
          <a:prstGeom prst="rect">
            <a:avLst/>
          </a:prstGeom>
          <a:noFill/>
        </p:spPr>
        <p:txBody>
          <a:bodyPr wrap="square">
            <a:spAutoFit/>
          </a:bodyPr>
          <a:lstStyle/>
          <a:p>
            <a:pPr algn="l">
              <a:defRPr sz="1200" b="0">
                <a:solidFill>
                  <a:srgbClr val="C8D7EB"/>
                </a:solidFill>
              </a:defRPr>
            </a:pPr>
            <a:r>
              <a:t>—  Hạ tầng Nền tảng TCT đã có, Quy chế Quản trị 5 cấp và Quyền tự quyết dữ liệu của Đơn vị</a:t>
            </a:r>
          </a:p>
        </p:txBody>
      </p:sp>
      <p:sp>
        <p:nvSpPr>
          <p:cNvPr id="10" name="TextBox 9"/>
          <p:cNvSpPr txBox="1"/>
          <p:nvPr/>
        </p:nvSpPr>
        <p:spPr>
          <a:xfrm>
            <a:off x="914400" y="4882896"/>
            <a:ext cx="10058400" cy="274320"/>
          </a:xfrm>
          <a:prstGeom prst="rect">
            <a:avLst/>
          </a:prstGeom>
          <a:noFill/>
        </p:spPr>
        <p:txBody>
          <a:bodyPr wrap="square">
            <a:spAutoFit/>
          </a:bodyPr>
          <a:lstStyle/>
          <a:p>
            <a:pPr algn="l">
              <a:defRPr sz="1200" b="0">
                <a:solidFill>
                  <a:srgbClr val="C8D7EB"/>
                </a:solidFill>
              </a:defRPr>
            </a:pPr>
            <a:r>
              <a:t>—  Mô hình Kiến trúc Trục tích hợp Hybrid (MinIO + Fabric) và Cơ chế Chi phí đầu tư</a:t>
            </a:r>
          </a:p>
        </p:txBody>
      </p:sp>
      <p:sp>
        <p:nvSpPr>
          <p:cNvPr id="11" name="TextBox 10"/>
          <p:cNvSpPr txBox="1"/>
          <p:nvPr/>
        </p:nvSpPr>
        <p:spPr>
          <a:xfrm>
            <a:off x="914400" y="5577840"/>
            <a:ext cx="10058400" cy="274320"/>
          </a:xfrm>
          <a:prstGeom prst="rect">
            <a:avLst/>
          </a:prstGeom>
          <a:noFill/>
        </p:spPr>
        <p:txBody>
          <a:bodyPr wrap="square">
            <a:spAutoFit/>
          </a:bodyPr>
          <a:lstStyle/>
          <a:p>
            <a:pPr algn="l">
              <a:defRPr sz="1150" b="0">
                <a:solidFill>
                  <a:srgbClr val="FFFFFF"/>
                </a:solidFill>
              </a:defRPr>
            </a:pPr>
            <a:r>
              <a:t>Đơn vị thực hiện:  Tổ Công tác CĐS &amp; CNTT  –  PTSC Quảng Ngãi</a:t>
            </a:r>
          </a:p>
        </p:txBody>
      </p:sp>
      <p:sp>
        <p:nvSpPr>
          <p:cNvPr id="12" name="TextBox 11"/>
          <p:cNvSpPr txBox="1"/>
          <p:nvPr/>
        </p:nvSpPr>
        <p:spPr>
          <a:xfrm>
            <a:off x="914400" y="5897880"/>
            <a:ext cx="10058400" cy="274320"/>
          </a:xfrm>
          <a:prstGeom prst="rect">
            <a:avLst/>
          </a:prstGeom>
          <a:noFill/>
        </p:spPr>
        <p:txBody>
          <a:bodyPr wrap="square">
            <a:spAutoFit/>
          </a:bodyPr>
          <a:lstStyle/>
          <a:p>
            <a:pPr algn="l">
              <a:defRPr sz="1150" b="1">
                <a:solidFill>
                  <a:srgbClr val="FDE047"/>
                </a:solidFill>
              </a:defRPr>
            </a:pPr>
            <a:r>
              <a:t>Kính trình:  Ban Giám đốc Công ty PTSC Quảng Ngãi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C23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2004"/>
          </a:xfrm>
          <a:prstGeom prst="rect">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
            <a:ext cx="9144000" cy="228600"/>
          </a:xfrm>
          <a:prstGeom prst="rect">
            <a:avLst/>
          </a:prstGeom>
          <a:noFill/>
        </p:spPr>
        <p:txBody>
          <a:bodyPr wrap="square">
            <a:spAutoFit/>
          </a:bodyPr>
          <a:lstStyle/>
          <a:p>
            <a:pPr algn="l">
              <a:defRPr sz="900" b="1">
                <a:solidFill>
                  <a:srgbClr val="9BB9DC"/>
                </a:solidFill>
              </a:defRPr>
            </a:pPr>
            <a:r>
              <a:t>CĂN CỨ CHIẾN LƯỢC — TÍNH CẤP BÁCH</a:t>
            </a:r>
          </a:p>
        </p:txBody>
      </p:sp>
      <p:sp>
        <p:nvSpPr>
          <p:cNvPr id="5" name="TextBox 4"/>
          <p:cNvSpPr txBox="1"/>
          <p:nvPr/>
        </p:nvSpPr>
        <p:spPr>
          <a:xfrm>
            <a:off x="731520" y="347472"/>
            <a:ext cx="10058400" cy="502920"/>
          </a:xfrm>
          <a:prstGeom prst="rect">
            <a:avLst/>
          </a:prstGeom>
          <a:noFill/>
        </p:spPr>
        <p:txBody>
          <a:bodyPr wrap="square">
            <a:spAutoFit/>
          </a:bodyPr>
          <a:lstStyle/>
          <a:p>
            <a:pPr algn="l">
              <a:defRPr sz="1900" b="1">
                <a:solidFill>
                  <a:srgbClr val="FFFFFF"/>
                </a:solidFill>
              </a:defRPr>
            </a:pPr>
            <a:r>
              <a:t>BỐI CẢNH BẮT BUỘC: NGHỊ QUYẾT TCT VÀ MỐC HẠN NĂM 2026</a:t>
            </a:r>
          </a:p>
        </p:txBody>
      </p:sp>
      <p:sp>
        <p:nvSpPr>
          <p:cNvPr id="6" name="TextBox 5"/>
          <p:cNvSpPr txBox="1"/>
          <p:nvPr/>
        </p:nvSpPr>
        <p:spPr>
          <a:xfrm>
            <a:off x="10972800" y="347472"/>
            <a:ext cx="731520" cy="457200"/>
          </a:xfrm>
          <a:prstGeom prst="rect">
            <a:avLst/>
          </a:prstGeom>
          <a:noFill/>
        </p:spPr>
        <p:txBody>
          <a:bodyPr wrap="square">
            <a:spAutoFit/>
          </a:bodyPr>
          <a:lstStyle/>
          <a:p>
            <a:pPr algn="r">
              <a:defRPr sz="1200" b="1">
                <a:solidFill>
                  <a:srgbClr val="9BB9DC"/>
                </a:solidFill>
              </a:defRPr>
            </a:pPr>
            <a:r>
              <a:t>01</a:t>
            </a:r>
          </a:p>
        </p:txBody>
      </p:sp>
      <p:sp>
        <p:nvSpPr>
          <p:cNvPr id="7" name="Rectangle 6"/>
          <p:cNvSpPr/>
          <p:nvPr/>
        </p:nvSpPr>
        <p:spPr>
          <a:xfrm>
            <a:off x="0" y="6583680"/>
            <a:ext cx="12191695" cy="7315"/>
          </a:xfrm>
          <a:prstGeom prst="rect">
            <a:avLst/>
          </a:prstGeom>
          <a:solidFill>
            <a:srgbClr val="C8D0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601968"/>
            <a:ext cx="10698480" cy="228600"/>
          </a:xfrm>
          <a:prstGeom prst="rect">
            <a:avLst/>
          </a:prstGeom>
          <a:noFill/>
        </p:spPr>
        <p:txBody>
          <a:bodyPr wrap="square">
            <a:spAutoFit/>
          </a:bodyPr>
          <a:lstStyle/>
          <a:p>
            <a:pPr algn="l">
              <a:defRPr sz="800" b="0">
                <a:solidFill>
                  <a:srgbClr val="6C7684"/>
                </a:solidFill>
              </a:defRPr>
            </a:pPr>
            <a:r>
              <a:t>PTSC Quảng Ngãi  |  Báo cáo Data Platform &amp; Trục tích hợp  |  Thực hiện Chỉ đạo số 9 BGĐ</a:t>
            </a:r>
          </a:p>
        </p:txBody>
      </p:sp>
      <p:sp>
        <p:nvSpPr>
          <p:cNvPr id="9" name="Rounded Rectangle 8"/>
          <p:cNvSpPr/>
          <p:nvPr/>
        </p:nvSpPr>
        <p:spPr>
          <a:xfrm>
            <a:off x="731520" y="1371600"/>
            <a:ext cx="3383280" cy="594360"/>
          </a:xfrm>
          <a:prstGeom prst="roundRect">
            <a:avLst/>
          </a:prstGeom>
          <a:solidFill>
            <a:srgbClr val="158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99032"/>
            <a:ext cx="3383280" cy="274320"/>
          </a:xfrm>
          <a:prstGeom prst="rect">
            <a:avLst/>
          </a:prstGeom>
          <a:noFill/>
        </p:spPr>
        <p:txBody>
          <a:bodyPr wrap="square">
            <a:spAutoFit/>
          </a:bodyPr>
          <a:lstStyle/>
          <a:p>
            <a:pPr algn="ctr">
              <a:defRPr sz="1400" b="1">
                <a:solidFill>
                  <a:srgbClr val="FFFFFF"/>
                </a:solidFill>
              </a:defRPr>
            </a:pPr>
            <a:r>
              <a:t>GIAI ĐOẠN 1 (2024 – 2025)</a:t>
            </a:r>
          </a:p>
        </p:txBody>
      </p:sp>
      <p:sp>
        <p:nvSpPr>
          <p:cNvPr id="11" name="TextBox 10"/>
          <p:cNvSpPr txBox="1"/>
          <p:nvPr/>
        </p:nvSpPr>
        <p:spPr>
          <a:xfrm>
            <a:off x="731520" y="1664208"/>
            <a:ext cx="3383280" cy="228600"/>
          </a:xfrm>
          <a:prstGeom prst="rect">
            <a:avLst/>
          </a:prstGeom>
          <a:noFill/>
        </p:spPr>
        <p:txBody>
          <a:bodyPr wrap="square">
            <a:spAutoFit/>
          </a:bodyPr>
          <a:lstStyle/>
          <a:p>
            <a:pPr algn="ctr">
              <a:defRPr sz="900" b="1">
                <a:solidFill>
                  <a:srgbClr val="FFFFFF"/>
                </a:solidFill>
              </a:defRPr>
            </a:pPr>
            <a:r>
              <a:t>TCT ĐÃ XONG NỀN MÓNG</a:t>
            </a:r>
          </a:p>
        </p:txBody>
      </p:sp>
      <p:sp>
        <p:nvSpPr>
          <p:cNvPr id="12" name="Rounded Rectangle 11"/>
          <p:cNvSpPr/>
          <p:nvPr/>
        </p:nvSpPr>
        <p:spPr>
          <a:xfrm>
            <a:off x="731520" y="2057400"/>
            <a:ext cx="3383280" cy="2377440"/>
          </a:xfrm>
          <a:prstGeom prst="roundRect">
            <a:avLst/>
          </a:prstGeom>
          <a:solidFill>
            <a:srgbClr val="E8F8EF"/>
          </a:solidFill>
          <a:ln w="12700">
            <a:solidFill>
              <a:srgbClr val="158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2240280"/>
            <a:ext cx="2926080" cy="502920"/>
          </a:xfrm>
          <a:prstGeom prst="rect">
            <a:avLst/>
          </a:prstGeom>
          <a:noFill/>
        </p:spPr>
        <p:txBody>
          <a:bodyPr wrap="square">
            <a:spAutoFit/>
          </a:bodyPr>
          <a:lstStyle/>
          <a:p>
            <a:pPr algn="l">
              <a:defRPr sz="1150" b="0">
                <a:solidFill>
                  <a:srgbClr val="1C2330"/>
                </a:solidFill>
              </a:defRPr>
            </a:pPr>
            <a:r>
              <a:t>—  TCT nghiệm thu Nền tảng Hybrid IMIP Data Platform</a:t>
            </a:r>
          </a:p>
        </p:txBody>
      </p:sp>
      <p:sp>
        <p:nvSpPr>
          <p:cNvPr id="14" name="TextBox 13"/>
          <p:cNvSpPr txBox="1"/>
          <p:nvPr/>
        </p:nvSpPr>
        <p:spPr>
          <a:xfrm>
            <a:off x="960120" y="2770632"/>
            <a:ext cx="2926080" cy="502920"/>
          </a:xfrm>
          <a:prstGeom prst="rect">
            <a:avLst/>
          </a:prstGeom>
          <a:noFill/>
        </p:spPr>
        <p:txBody>
          <a:bodyPr wrap="square">
            <a:spAutoFit/>
          </a:bodyPr>
          <a:lstStyle/>
          <a:p>
            <a:pPr algn="l">
              <a:defRPr sz="1150" b="0">
                <a:solidFill>
                  <a:srgbClr val="1C2330"/>
                </a:solidFill>
              </a:defRPr>
            </a:pPr>
            <a:r>
              <a:t>—  Ban hành Quy chế Quản trị Dữ liệu &amp; 29 Master Data</a:t>
            </a:r>
          </a:p>
        </p:txBody>
      </p:sp>
      <p:sp>
        <p:nvSpPr>
          <p:cNvPr id="15" name="TextBox 14"/>
          <p:cNvSpPr txBox="1"/>
          <p:nvPr/>
        </p:nvSpPr>
        <p:spPr>
          <a:xfrm>
            <a:off x="960120" y="3300984"/>
            <a:ext cx="2926080" cy="502920"/>
          </a:xfrm>
          <a:prstGeom prst="rect">
            <a:avLst/>
          </a:prstGeom>
          <a:noFill/>
        </p:spPr>
        <p:txBody>
          <a:bodyPr wrap="square">
            <a:spAutoFit/>
          </a:bodyPr>
          <a:lstStyle/>
          <a:p>
            <a:pPr algn="l">
              <a:defRPr sz="1150" b="0">
                <a:solidFill>
                  <a:srgbClr val="1C2330"/>
                </a:solidFill>
              </a:defRPr>
            </a:pPr>
            <a:r>
              <a:t>—  Phạm vi: Mới chỉ áp dụng tại Cơ quan TCT, CHƯA CÓ ĐƠN VỊ THÀNH VIÊN</a:t>
            </a:r>
          </a:p>
        </p:txBody>
      </p:sp>
      <p:sp>
        <p:nvSpPr>
          <p:cNvPr id="16" name="Right Arrow 15"/>
          <p:cNvSpPr/>
          <p:nvPr/>
        </p:nvSpPr>
        <p:spPr>
          <a:xfrm>
            <a:off x="4160520" y="2651760"/>
            <a:ext cx="457200" cy="274320"/>
          </a:xfrm>
          <a:prstGeom prst="rightArrow">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480559" y="1371600"/>
            <a:ext cx="3383280" cy="594360"/>
          </a:xfrm>
          <a:prstGeom prst="roundRect">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80559" y="1399032"/>
            <a:ext cx="3383280" cy="274320"/>
          </a:xfrm>
          <a:prstGeom prst="rect">
            <a:avLst/>
          </a:prstGeom>
          <a:noFill/>
        </p:spPr>
        <p:txBody>
          <a:bodyPr wrap="square">
            <a:spAutoFit/>
          </a:bodyPr>
          <a:lstStyle/>
          <a:p>
            <a:pPr algn="ctr">
              <a:defRPr sz="1400" b="1">
                <a:solidFill>
                  <a:srgbClr val="FFFFFF"/>
                </a:solidFill>
              </a:defRPr>
            </a:pPr>
            <a:r>
              <a:t>GIAI ĐOẠN 2 (2026 – 2027)</a:t>
            </a:r>
          </a:p>
        </p:txBody>
      </p:sp>
      <p:sp>
        <p:nvSpPr>
          <p:cNvPr id="19" name="TextBox 18"/>
          <p:cNvSpPr txBox="1"/>
          <p:nvPr/>
        </p:nvSpPr>
        <p:spPr>
          <a:xfrm>
            <a:off x="4480559" y="1664208"/>
            <a:ext cx="3383280" cy="228600"/>
          </a:xfrm>
          <a:prstGeom prst="rect">
            <a:avLst/>
          </a:prstGeom>
          <a:noFill/>
        </p:spPr>
        <p:txBody>
          <a:bodyPr wrap="square">
            <a:spAutoFit/>
          </a:bodyPr>
          <a:lstStyle/>
          <a:p>
            <a:pPr algn="ctr">
              <a:defRPr sz="900" b="1">
                <a:solidFill>
                  <a:srgbClr val="FFFFFF"/>
                </a:solidFill>
              </a:defRPr>
            </a:pPr>
            <a:r>
              <a:t>BẮT BUỘC KẾT NỐI ĐƠN VỊ</a:t>
            </a:r>
          </a:p>
        </p:txBody>
      </p:sp>
      <p:sp>
        <p:nvSpPr>
          <p:cNvPr id="20" name="Rounded Rectangle 19"/>
          <p:cNvSpPr/>
          <p:nvPr/>
        </p:nvSpPr>
        <p:spPr>
          <a:xfrm>
            <a:off x="4480559" y="2057400"/>
            <a:ext cx="3383280" cy="2377440"/>
          </a:xfrm>
          <a:prstGeom prst="roundRect">
            <a:avLst/>
          </a:prstGeom>
          <a:solidFill>
            <a:srgbClr val="FFF5E1"/>
          </a:solidFill>
          <a:ln w="12700">
            <a:solidFill>
              <a:srgbClr val="B47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09159" y="2240280"/>
            <a:ext cx="2926080" cy="502920"/>
          </a:xfrm>
          <a:prstGeom prst="rect">
            <a:avLst/>
          </a:prstGeom>
          <a:noFill/>
        </p:spPr>
        <p:txBody>
          <a:bodyPr wrap="square">
            <a:spAutoFit/>
          </a:bodyPr>
          <a:lstStyle/>
          <a:p>
            <a:pPr algn="l">
              <a:defRPr sz="1150" b="0">
                <a:solidFill>
                  <a:srgbClr val="1C2330"/>
                </a:solidFill>
              </a:defRPr>
            </a:pPr>
            <a:r>
              <a:t>—  Đến lượt các Đơn vị thành viên (Quảng Ngãi bắt đầu)</a:t>
            </a:r>
          </a:p>
        </p:txBody>
      </p:sp>
      <p:sp>
        <p:nvSpPr>
          <p:cNvPr id="22" name="TextBox 21"/>
          <p:cNvSpPr txBox="1"/>
          <p:nvPr/>
        </p:nvSpPr>
        <p:spPr>
          <a:xfrm>
            <a:off x="4709159" y="2770632"/>
            <a:ext cx="2926080" cy="502920"/>
          </a:xfrm>
          <a:prstGeom prst="rect">
            <a:avLst/>
          </a:prstGeom>
          <a:noFill/>
        </p:spPr>
        <p:txBody>
          <a:bodyPr wrap="square">
            <a:spAutoFit/>
          </a:bodyPr>
          <a:lstStyle/>
          <a:p>
            <a:pPr algn="l">
              <a:defRPr sz="1150" b="0">
                <a:solidFill>
                  <a:srgbClr val="1C2330"/>
                </a:solidFill>
              </a:defRPr>
            </a:pPr>
            <a:r>
              <a:t>—  Chuẩn hóa dữ liệu nội bộ khớp 29 danh mục TCT</a:t>
            </a:r>
          </a:p>
        </p:txBody>
      </p:sp>
      <p:sp>
        <p:nvSpPr>
          <p:cNvPr id="23" name="TextBox 22"/>
          <p:cNvSpPr txBox="1"/>
          <p:nvPr/>
        </p:nvSpPr>
        <p:spPr>
          <a:xfrm>
            <a:off x="4709159" y="3300984"/>
            <a:ext cx="2926080" cy="502920"/>
          </a:xfrm>
          <a:prstGeom prst="rect">
            <a:avLst/>
          </a:prstGeom>
          <a:noFill/>
        </p:spPr>
        <p:txBody>
          <a:bodyPr wrap="square">
            <a:spAutoFit/>
          </a:bodyPr>
          <a:lstStyle/>
          <a:p>
            <a:pPr algn="l">
              <a:defRPr sz="1150" b="0">
                <a:solidFill>
                  <a:srgbClr val="1C2330"/>
                </a:solidFill>
              </a:defRPr>
            </a:pPr>
            <a:r>
              <a:t>—  Xây Trạm trung chuyển kết nối vào hạ tầng TCT Hub</a:t>
            </a:r>
          </a:p>
        </p:txBody>
      </p:sp>
      <p:sp>
        <p:nvSpPr>
          <p:cNvPr id="24" name="TextBox 23"/>
          <p:cNvSpPr txBox="1"/>
          <p:nvPr/>
        </p:nvSpPr>
        <p:spPr>
          <a:xfrm>
            <a:off x="4709159" y="3831335"/>
            <a:ext cx="2926080" cy="502920"/>
          </a:xfrm>
          <a:prstGeom prst="rect">
            <a:avLst/>
          </a:prstGeom>
          <a:noFill/>
        </p:spPr>
        <p:txBody>
          <a:bodyPr wrap="square">
            <a:spAutoFit/>
          </a:bodyPr>
          <a:lstStyle/>
          <a:p>
            <a:pPr algn="l">
              <a:defRPr sz="1150" b="0">
                <a:solidFill>
                  <a:srgbClr val="1C2330"/>
                </a:solidFill>
              </a:defRPr>
            </a:pPr>
            <a:r>
              <a:t>—  Tiêu chí KPI đánh giá mức độ CĐS của Đơn vị!</a:t>
            </a:r>
          </a:p>
        </p:txBody>
      </p:sp>
      <p:sp>
        <p:nvSpPr>
          <p:cNvPr id="25" name="Right Arrow 24"/>
          <p:cNvSpPr/>
          <p:nvPr/>
        </p:nvSpPr>
        <p:spPr>
          <a:xfrm>
            <a:off x="7909559" y="2651760"/>
            <a:ext cx="457200" cy="274320"/>
          </a:xfrm>
          <a:prstGeom prst="rightArrow">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8229600" y="1371600"/>
            <a:ext cx="3383280" cy="594360"/>
          </a:xfrm>
          <a:prstGeom prst="roundRect">
            <a:avLst/>
          </a:prstGeom>
          <a:solidFill>
            <a:srgbClr val="6C76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0" y="1399032"/>
            <a:ext cx="3383280" cy="274320"/>
          </a:xfrm>
          <a:prstGeom prst="rect">
            <a:avLst/>
          </a:prstGeom>
          <a:noFill/>
        </p:spPr>
        <p:txBody>
          <a:bodyPr wrap="square">
            <a:spAutoFit/>
          </a:bodyPr>
          <a:lstStyle/>
          <a:p>
            <a:pPr algn="ctr">
              <a:defRPr sz="1400" b="1">
                <a:solidFill>
                  <a:srgbClr val="FFFFFF"/>
                </a:solidFill>
              </a:defRPr>
            </a:pPr>
            <a:r>
              <a:t>GIAI ĐOẠN 3 (2028+)</a:t>
            </a:r>
          </a:p>
        </p:txBody>
      </p:sp>
      <p:sp>
        <p:nvSpPr>
          <p:cNvPr id="28" name="TextBox 27"/>
          <p:cNvSpPr txBox="1"/>
          <p:nvPr/>
        </p:nvSpPr>
        <p:spPr>
          <a:xfrm>
            <a:off x="8229600" y="1664208"/>
            <a:ext cx="3383280" cy="228600"/>
          </a:xfrm>
          <a:prstGeom prst="rect">
            <a:avLst/>
          </a:prstGeom>
          <a:noFill/>
        </p:spPr>
        <p:txBody>
          <a:bodyPr wrap="square">
            <a:spAutoFit/>
          </a:bodyPr>
          <a:lstStyle/>
          <a:p>
            <a:pPr algn="ctr">
              <a:defRPr sz="900" b="1">
                <a:solidFill>
                  <a:srgbClr val="FFFFFF"/>
                </a:solidFill>
              </a:defRPr>
            </a:pPr>
            <a:r>
              <a:t>KHAI THÁC TOÀN DIỆN</a:t>
            </a:r>
          </a:p>
        </p:txBody>
      </p:sp>
      <p:sp>
        <p:nvSpPr>
          <p:cNvPr id="29" name="Rounded Rectangle 28"/>
          <p:cNvSpPr/>
          <p:nvPr/>
        </p:nvSpPr>
        <p:spPr>
          <a:xfrm>
            <a:off x="8229600" y="2057400"/>
            <a:ext cx="3383280" cy="2377440"/>
          </a:xfrm>
          <a:prstGeom prst="roundRect">
            <a:avLst/>
          </a:prstGeom>
          <a:solidFill>
            <a:srgbClr val="F3F5F8"/>
          </a:solidFill>
          <a:ln w="12700">
            <a:solidFill>
              <a:srgbClr val="6C76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458200" y="2240280"/>
            <a:ext cx="2926080" cy="502920"/>
          </a:xfrm>
          <a:prstGeom prst="rect">
            <a:avLst/>
          </a:prstGeom>
          <a:noFill/>
        </p:spPr>
        <p:txBody>
          <a:bodyPr wrap="square">
            <a:spAutoFit/>
          </a:bodyPr>
          <a:lstStyle/>
          <a:p>
            <a:pPr algn="l">
              <a:defRPr sz="1150" b="0">
                <a:solidFill>
                  <a:srgbClr val="1C2330"/>
                </a:solidFill>
              </a:defRPr>
            </a:pPr>
            <a:r>
              <a:t>—  Phân tích dữ liệu chuyên sâu toàn Tổng công ty</a:t>
            </a:r>
          </a:p>
        </p:txBody>
      </p:sp>
      <p:sp>
        <p:nvSpPr>
          <p:cNvPr id="31" name="TextBox 30"/>
          <p:cNvSpPr txBox="1"/>
          <p:nvPr/>
        </p:nvSpPr>
        <p:spPr>
          <a:xfrm>
            <a:off x="8458200" y="2770632"/>
            <a:ext cx="2926080" cy="502920"/>
          </a:xfrm>
          <a:prstGeom prst="rect">
            <a:avLst/>
          </a:prstGeom>
          <a:noFill/>
        </p:spPr>
        <p:txBody>
          <a:bodyPr wrap="square">
            <a:spAutoFit/>
          </a:bodyPr>
          <a:lstStyle/>
          <a:p>
            <a:pPr algn="l">
              <a:defRPr sz="1150" b="0">
                <a:solidFill>
                  <a:srgbClr val="1C2330"/>
                </a:solidFill>
              </a:defRPr>
            </a:pPr>
            <a:r>
              <a:t>—  Ứng dụng AI/Machine Learning trong SXKD</a:t>
            </a:r>
          </a:p>
        </p:txBody>
      </p:sp>
      <p:sp>
        <p:nvSpPr>
          <p:cNvPr id="32" name="TextBox 31"/>
          <p:cNvSpPr txBox="1"/>
          <p:nvPr/>
        </p:nvSpPr>
        <p:spPr>
          <a:xfrm>
            <a:off x="8458200" y="3300984"/>
            <a:ext cx="2926080" cy="502920"/>
          </a:xfrm>
          <a:prstGeom prst="rect">
            <a:avLst/>
          </a:prstGeom>
          <a:noFill/>
        </p:spPr>
        <p:txBody>
          <a:bodyPr wrap="square">
            <a:spAutoFit/>
          </a:bodyPr>
          <a:lstStyle/>
          <a:p>
            <a:pPr algn="l">
              <a:defRPr sz="1150" b="0">
                <a:solidFill>
                  <a:srgbClr val="1C2330"/>
                </a:solidFill>
              </a:defRPr>
            </a:pPr>
            <a:r>
              <a:t>—  Kết nối IT và OT (vận hành thiết bị cảng/xưởng)</a:t>
            </a:r>
          </a:p>
        </p:txBody>
      </p:sp>
      <p:sp>
        <p:nvSpPr>
          <p:cNvPr id="33" name="Rounded Rectangle 32"/>
          <p:cNvSpPr/>
          <p:nvPr/>
        </p:nvSpPr>
        <p:spPr>
          <a:xfrm>
            <a:off x="731520" y="4846320"/>
            <a:ext cx="10698480" cy="1371600"/>
          </a:xfrm>
          <a:prstGeom prst="roundRect">
            <a:avLst/>
          </a:prstGeom>
          <a:solidFill>
            <a:srgbClr val="FCEBEB"/>
          </a:solidFill>
          <a:ln w="19050">
            <a:solidFill>
              <a:srgbClr val="B428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68096" y="4864608"/>
            <a:ext cx="73152" cy="1298448"/>
          </a:xfrm>
          <a:prstGeom prst="rect">
            <a:avLst/>
          </a:prstGeom>
          <a:solidFill>
            <a:srgbClr val="B4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97280" y="4937760"/>
            <a:ext cx="9875520" cy="320040"/>
          </a:xfrm>
          <a:prstGeom prst="rect">
            <a:avLst/>
          </a:prstGeom>
          <a:noFill/>
        </p:spPr>
        <p:txBody>
          <a:bodyPr wrap="square">
            <a:spAutoFit/>
          </a:bodyPr>
          <a:lstStyle/>
          <a:p>
            <a:pPr algn="l">
              <a:defRPr sz="1350" b="1">
                <a:solidFill>
                  <a:srgbClr val="B42828"/>
                </a:solidFill>
              </a:defRPr>
            </a:pPr>
            <a:r>
              <a:t>Tại sao PTSC Quảng Ngãi phải hành động ngay trong năm 2026?</a:t>
            </a:r>
          </a:p>
        </p:txBody>
      </p:sp>
      <p:sp>
        <p:nvSpPr>
          <p:cNvPr id="36" name="TextBox 35"/>
          <p:cNvSpPr txBox="1"/>
          <p:nvPr/>
        </p:nvSpPr>
        <p:spPr>
          <a:xfrm>
            <a:off x="1097280" y="5321808"/>
            <a:ext cx="9875520" cy="320040"/>
          </a:xfrm>
          <a:prstGeom prst="rect">
            <a:avLst/>
          </a:prstGeom>
          <a:noFill/>
        </p:spPr>
        <p:txBody>
          <a:bodyPr wrap="square">
            <a:spAutoFit/>
          </a:bodyPr>
          <a:lstStyle/>
          <a:p>
            <a:pPr algn="l">
              <a:defRPr sz="1100" b="0">
                <a:solidFill>
                  <a:srgbClr val="1C2330"/>
                </a:solidFill>
              </a:defRPr>
            </a:pPr>
            <a:r>
              <a:t>1. Nghị quyết 10/NQ-HĐQT-PTSC: Nền tảng Dữ liệu là trụ cột bắt buộc cho toàn bộ các đơn vị thành viên.</a:t>
            </a:r>
          </a:p>
          <a:p>
            <a:pPr>
              <a:defRPr sz="1100">
                <a:solidFill>
                  <a:srgbClr val="1C2330"/>
                </a:solidFill>
              </a:defRPr>
            </a:pPr>
            <a:r>
              <a:t>2. SOW Giai đoạn 1 của TCT ghi rõ chưa có dữ liệu đơn vị; 2026 là năm bản lề TCT yêu cầu mở rộng kết nối từ các đơn vị thành viên.</a:t>
            </a:r>
          </a:p>
          <a:p>
            <a:pPr>
              <a:defRPr sz="1100">
                <a:solidFill>
                  <a:srgbClr val="1C2330"/>
                </a:solidFill>
              </a:defRPr>
            </a:pPr>
            <a:r>
              <a:t>3. Tuân thủ pháp lý mới: Luật Dữ liệu (01/7/2025) và Luật Bảo vệ DLCN 91/2025/QH15 (01/01/2026) bắt buộc dữ liệu phải có nguồn gốc và kiểm soát.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C23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2004"/>
          </a:xfrm>
          <a:prstGeom prst="rect">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
            <a:ext cx="9144000" cy="228600"/>
          </a:xfrm>
          <a:prstGeom prst="rect">
            <a:avLst/>
          </a:prstGeom>
          <a:noFill/>
        </p:spPr>
        <p:txBody>
          <a:bodyPr wrap="square">
            <a:spAutoFit/>
          </a:bodyPr>
          <a:lstStyle/>
          <a:p>
            <a:pPr algn="l">
              <a:defRPr sz="900" b="1">
                <a:solidFill>
                  <a:srgbClr val="9BB9DC"/>
                </a:solidFill>
              </a:defRPr>
            </a:pPr>
            <a:r>
              <a:t>THỰC TRẠNG — NGUYÊN NHÂN CHẬM TRỄ</a:t>
            </a:r>
          </a:p>
        </p:txBody>
      </p:sp>
      <p:sp>
        <p:nvSpPr>
          <p:cNvPr id="5" name="TextBox 4"/>
          <p:cNvSpPr txBox="1"/>
          <p:nvPr/>
        </p:nvSpPr>
        <p:spPr>
          <a:xfrm>
            <a:off x="731520" y="347472"/>
            <a:ext cx="10058400" cy="502920"/>
          </a:xfrm>
          <a:prstGeom prst="rect">
            <a:avLst/>
          </a:prstGeom>
          <a:noFill/>
        </p:spPr>
        <p:txBody>
          <a:bodyPr wrap="square">
            <a:spAutoFit/>
          </a:bodyPr>
          <a:lstStyle/>
          <a:p>
            <a:pPr algn="l">
              <a:defRPr sz="1900" b="1">
                <a:solidFill>
                  <a:srgbClr val="FFFFFF"/>
                </a:solidFill>
              </a:defRPr>
            </a:pPr>
            <a:r>
              <a:t>HIỆN TRẠNG DỮ LIỆU TẠI QUẢNG NGÃI: 3 NÚT THẮT CẦN THÁO GỠ</a:t>
            </a:r>
          </a:p>
        </p:txBody>
      </p:sp>
      <p:sp>
        <p:nvSpPr>
          <p:cNvPr id="6" name="TextBox 5"/>
          <p:cNvSpPr txBox="1"/>
          <p:nvPr/>
        </p:nvSpPr>
        <p:spPr>
          <a:xfrm>
            <a:off x="10972800" y="347472"/>
            <a:ext cx="731520" cy="457200"/>
          </a:xfrm>
          <a:prstGeom prst="rect">
            <a:avLst/>
          </a:prstGeom>
          <a:noFill/>
        </p:spPr>
        <p:txBody>
          <a:bodyPr wrap="square">
            <a:spAutoFit/>
          </a:bodyPr>
          <a:lstStyle/>
          <a:p>
            <a:pPr algn="r">
              <a:defRPr sz="1200" b="1">
                <a:solidFill>
                  <a:srgbClr val="9BB9DC"/>
                </a:solidFill>
              </a:defRPr>
            </a:pPr>
            <a:r>
              <a:t>02</a:t>
            </a:r>
          </a:p>
        </p:txBody>
      </p:sp>
      <p:sp>
        <p:nvSpPr>
          <p:cNvPr id="7" name="Rectangle 6"/>
          <p:cNvSpPr/>
          <p:nvPr/>
        </p:nvSpPr>
        <p:spPr>
          <a:xfrm>
            <a:off x="0" y="6583680"/>
            <a:ext cx="12191695" cy="7315"/>
          </a:xfrm>
          <a:prstGeom prst="rect">
            <a:avLst/>
          </a:prstGeom>
          <a:solidFill>
            <a:srgbClr val="C8D0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601968"/>
            <a:ext cx="10698480" cy="228600"/>
          </a:xfrm>
          <a:prstGeom prst="rect">
            <a:avLst/>
          </a:prstGeom>
          <a:noFill/>
        </p:spPr>
        <p:txBody>
          <a:bodyPr wrap="square">
            <a:spAutoFit/>
          </a:bodyPr>
          <a:lstStyle/>
          <a:p>
            <a:pPr algn="l">
              <a:defRPr sz="800" b="0">
                <a:solidFill>
                  <a:srgbClr val="6C7684"/>
                </a:solidFill>
              </a:defRPr>
            </a:pPr>
            <a:r>
              <a:t>PTSC Quảng Ngãi  |  Báo cáo Data Platform &amp; Trục tích hợp  |  Thực hiện Chỉ đạo số 9 BGĐ</a:t>
            </a:r>
          </a:p>
        </p:txBody>
      </p:sp>
      <p:sp>
        <p:nvSpPr>
          <p:cNvPr id="9" name="Rounded Rectangle 8"/>
          <p:cNvSpPr/>
          <p:nvPr/>
        </p:nvSpPr>
        <p:spPr>
          <a:xfrm>
            <a:off x="731520" y="1371600"/>
            <a:ext cx="2331720" cy="1143000"/>
          </a:xfrm>
          <a:prstGeom prst="roundRect">
            <a:avLst/>
          </a:prstGeom>
          <a:solidFill>
            <a:srgbClr val="FFFFFF"/>
          </a:solidFill>
          <a:ln w="10160">
            <a:solidFill>
              <a:srgbClr val="C8D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68096" y="1389888"/>
            <a:ext cx="73152" cy="1106424"/>
          </a:xfrm>
          <a:prstGeom prst="rect">
            <a:avLst/>
          </a:prstGeom>
          <a:solidFill>
            <a:srgbClr val="1E6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463040"/>
            <a:ext cx="1920240" cy="914400"/>
          </a:xfrm>
          <a:prstGeom prst="rect">
            <a:avLst/>
          </a:prstGeom>
          <a:noFill/>
        </p:spPr>
        <p:txBody>
          <a:bodyPr wrap="square">
            <a:spAutoFit/>
          </a:bodyPr>
          <a:lstStyle/>
          <a:p>
            <a:pPr algn="ctr">
              <a:defRPr sz="1250" b="1">
                <a:solidFill>
                  <a:srgbClr val="0C2344"/>
                </a:solidFill>
              </a:defRPr>
            </a:pPr>
            <a:r>
              <a:t>Phần mềm</a:t>
            </a:r>
            <a:br/>
            <a:r>
              <a:t>KẾ TOÁN</a:t>
            </a:r>
          </a:p>
        </p:txBody>
      </p:sp>
      <p:sp>
        <p:nvSpPr>
          <p:cNvPr id="12" name="TextBox 11"/>
          <p:cNvSpPr txBox="1"/>
          <p:nvPr/>
        </p:nvSpPr>
        <p:spPr>
          <a:xfrm>
            <a:off x="2834640" y="1645920"/>
            <a:ext cx="457200" cy="365760"/>
          </a:xfrm>
          <a:prstGeom prst="rect">
            <a:avLst/>
          </a:prstGeom>
          <a:noFill/>
        </p:spPr>
        <p:txBody>
          <a:bodyPr wrap="square">
            <a:spAutoFit/>
          </a:bodyPr>
          <a:lstStyle/>
          <a:p>
            <a:pPr algn="ctr">
              <a:defRPr sz="1800" b="1">
                <a:solidFill>
                  <a:srgbClr val="B42828"/>
                </a:solidFill>
              </a:defRPr>
            </a:pPr>
            <a:r>
              <a:t>✕</a:t>
            </a:r>
          </a:p>
        </p:txBody>
      </p:sp>
      <p:sp>
        <p:nvSpPr>
          <p:cNvPr id="13" name="Rounded Rectangle 12"/>
          <p:cNvSpPr/>
          <p:nvPr/>
        </p:nvSpPr>
        <p:spPr>
          <a:xfrm>
            <a:off x="3429000" y="1371600"/>
            <a:ext cx="2331720" cy="1143000"/>
          </a:xfrm>
          <a:prstGeom prst="roundRect">
            <a:avLst/>
          </a:prstGeom>
          <a:solidFill>
            <a:srgbClr val="FFFFFF"/>
          </a:solidFill>
          <a:ln w="10160">
            <a:solidFill>
              <a:srgbClr val="C8D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65576" y="1389888"/>
            <a:ext cx="73152" cy="1106424"/>
          </a:xfrm>
          <a:prstGeom prst="rect">
            <a:avLst/>
          </a:prstGeom>
          <a:solidFill>
            <a:srgbClr val="1E6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0" y="1463040"/>
            <a:ext cx="1920240" cy="914400"/>
          </a:xfrm>
          <a:prstGeom prst="rect">
            <a:avLst/>
          </a:prstGeom>
          <a:noFill/>
        </p:spPr>
        <p:txBody>
          <a:bodyPr wrap="square">
            <a:spAutoFit/>
          </a:bodyPr>
          <a:lstStyle/>
          <a:p>
            <a:pPr algn="ctr">
              <a:defRPr sz="1250" b="1">
                <a:solidFill>
                  <a:srgbClr val="0C2344"/>
                </a:solidFill>
              </a:defRPr>
            </a:pPr>
            <a:r>
              <a:t>Phần mềm</a:t>
            </a:r>
            <a:br/>
            <a:r>
              <a:t>NHÂN SỰ</a:t>
            </a:r>
          </a:p>
        </p:txBody>
      </p:sp>
      <p:sp>
        <p:nvSpPr>
          <p:cNvPr id="16" name="TextBox 15"/>
          <p:cNvSpPr txBox="1"/>
          <p:nvPr/>
        </p:nvSpPr>
        <p:spPr>
          <a:xfrm>
            <a:off x="5532120" y="1645920"/>
            <a:ext cx="457200" cy="365760"/>
          </a:xfrm>
          <a:prstGeom prst="rect">
            <a:avLst/>
          </a:prstGeom>
          <a:noFill/>
        </p:spPr>
        <p:txBody>
          <a:bodyPr wrap="square">
            <a:spAutoFit/>
          </a:bodyPr>
          <a:lstStyle/>
          <a:p>
            <a:pPr algn="ctr">
              <a:defRPr sz="1800" b="1">
                <a:solidFill>
                  <a:srgbClr val="B42828"/>
                </a:solidFill>
              </a:defRPr>
            </a:pPr>
            <a:r>
              <a:t>✕</a:t>
            </a:r>
          </a:p>
        </p:txBody>
      </p:sp>
      <p:sp>
        <p:nvSpPr>
          <p:cNvPr id="17" name="Rounded Rectangle 16"/>
          <p:cNvSpPr/>
          <p:nvPr/>
        </p:nvSpPr>
        <p:spPr>
          <a:xfrm>
            <a:off x="6126480" y="1371600"/>
            <a:ext cx="2331720" cy="1143000"/>
          </a:xfrm>
          <a:prstGeom prst="roundRect">
            <a:avLst/>
          </a:prstGeom>
          <a:solidFill>
            <a:srgbClr val="FFFFFF"/>
          </a:solidFill>
          <a:ln w="10160">
            <a:solidFill>
              <a:srgbClr val="C8D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63056" y="1389888"/>
            <a:ext cx="73152" cy="1106424"/>
          </a:xfrm>
          <a:prstGeom prst="rect">
            <a:avLst/>
          </a:prstGeom>
          <a:solidFill>
            <a:srgbClr val="1E6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5080" y="1463040"/>
            <a:ext cx="1920240" cy="914400"/>
          </a:xfrm>
          <a:prstGeom prst="rect">
            <a:avLst/>
          </a:prstGeom>
          <a:noFill/>
        </p:spPr>
        <p:txBody>
          <a:bodyPr wrap="square">
            <a:spAutoFit/>
          </a:bodyPr>
          <a:lstStyle/>
          <a:p>
            <a:pPr algn="ctr">
              <a:defRPr sz="1250" b="1">
                <a:solidFill>
                  <a:srgbClr val="0C2344"/>
                </a:solidFill>
              </a:defRPr>
            </a:pPr>
            <a:r>
              <a:t>Phần mềm</a:t>
            </a:r>
            <a:br/>
            <a:r>
              <a:t>VẬT TƯ</a:t>
            </a:r>
          </a:p>
        </p:txBody>
      </p:sp>
      <p:sp>
        <p:nvSpPr>
          <p:cNvPr id="20" name="TextBox 19"/>
          <p:cNvSpPr txBox="1"/>
          <p:nvPr/>
        </p:nvSpPr>
        <p:spPr>
          <a:xfrm>
            <a:off x="8229600" y="1645920"/>
            <a:ext cx="457200" cy="365760"/>
          </a:xfrm>
          <a:prstGeom prst="rect">
            <a:avLst/>
          </a:prstGeom>
          <a:noFill/>
        </p:spPr>
        <p:txBody>
          <a:bodyPr wrap="square">
            <a:spAutoFit/>
          </a:bodyPr>
          <a:lstStyle/>
          <a:p>
            <a:pPr algn="ctr">
              <a:defRPr sz="1800" b="1">
                <a:solidFill>
                  <a:srgbClr val="B42828"/>
                </a:solidFill>
              </a:defRPr>
            </a:pPr>
            <a:r>
              <a:t>✕</a:t>
            </a:r>
          </a:p>
        </p:txBody>
      </p:sp>
      <p:sp>
        <p:nvSpPr>
          <p:cNvPr id="21" name="Rounded Rectangle 20"/>
          <p:cNvSpPr/>
          <p:nvPr/>
        </p:nvSpPr>
        <p:spPr>
          <a:xfrm>
            <a:off x="8823960" y="1371600"/>
            <a:ext cx="2331720" cy="1143000"/>
          </a:xfrm>
          <a:prstGeom prst="roundRect">
            <a:avLst/>
          </a:prstGeom>
          <a:solidFill>
            <a:srgbClr val="FFFFFF"/>
          </a:solidFill>
          <a:ln w="10160">
            <a:solidFill>
              <a:srgbClr val="C8D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860536" y="1389888"/>
            <a:ext cx="73152" cy="1106424"/>
          </a:xfrm>
          <a:prstGeom prst="rect">
            <a:avLst/>
          </a:prstGeom>
          <a:solidFill>
            <a:srgbClr val="1E6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052560" y="1463040"/>
            <a:ext cx="1920240" cy="914400"/>
          </a:xfrm>
          <a:prstGeom prst="rect">
            <a:avLst/>
          </a:prstGeom>
          <a:noFill/>
        </p:spPr>
        <p:txBody>
          <a:bodyPr wrap="square">
            <a:spAutoFit/>
          </a:bodyPr>
          <a:lstStyle/>
          <a:p>
            <a:pPr algn="ctr">
              <a:defRPr sz="1250" b="1">
                <a:solidFill>
                  <a:srgbClr val="0C2344"/>
                </a:solidFill>
              </a:defRPr>
            </a:pPr>
            <a:r>
              <a:t>Quản lý</a:t>
            </a:r>
            <a:br/>
            <a:r>
              <a:t>DỰ ÁN</a:t>
            </a:r>
          </a:p>
        </p:txBody>
      </p:sp>
      <p:sp>
        <p:nvSpPr>
          <p:cNvPr id="24" name="TextBox 23"/>
          <p:cNvSpPr txBox="1"/>
          <p:nvPr/>
        </p:nvSpPr>
        <p:spPr>
          <a:xfrm>
            <a:off x="731520" y="2880360"/>
            <a:ext cx="10698480" cy="320040"/>
          </a:xfrm>
          <a:prstGeom prst="rect">
            <a:avLst/>
          </a:prstGeom>
          <a:noFill/>
        </p:spPr>
        <p:txBody>
          <a:bodyPr wrap="square">
            <a:spAutoFit/>
          </a:bodyPr>
          <a:lstStyle/>
          <a:p>
            <a:pPr algn="l">
              <a:defRPr sz="1350" b="1">
                <a:solidFill>
                  <a:srgbClr val="B42828"/>
                </a:solidFill>
              </a:defRPr>
            </a:pPr>
            <a:r>
              <a:t>3 Nút thắt lớn cản trở công tác quản trị điều hành của Ban Giám đốc:</a:t>
            </a:r>
          </a:p>
        </p:txBody>
      </p:sp>
      <p:sp>
        <p:nvSpPr>
          <p:cNvPr id="25" name="Rounded Rectangle 24"/>
          <p:cNvSpPr/>
          <p:nvPr/>
        </p:nvSpPr>
        <p:spPr>
          <a:xfrm>
            <a:off x="731520" y="3383280"/>
            <a:ext cx="3383280" cy="2926080"/>
          </a:xfrm>
          <a:prstGeom prst="roundRect">
            <a:avLst/>
          </a:prstGeom>
          <a:solidFill>
            <a:srgbClr val="FCEBEB"/>
          </a:solidFill>
          <a:ln w="19050">
            <a:solidFill>
              <a:srgbClr val="B428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68096" y="3401568"/>
            <a:ext cx="73152" cy="2871216"/>
          </a:xfrm>
          <a:prstGeom prst="rect">
            <a:avLst/>
          </a:prstGeom>
          <a:solidFill>
            <a:srgbClr val="B4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05840" y="3566160"/>
            <a:ext cx="365760" cy="365760"/>
          </a:xfrm>
          <a:prstGeom prst="ellipse">
            <a:avLst/>
          </a:prstGeom>
          <a:solidFill>
            <a:srgbClr val="B4282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300" b="1">
                <a:solidFill>
                  <a:srgbClr val="FFFFFF"/>
                </a:solidFill>
              </a:defRPr>
            </a:pPr>
            <a:r>
              <a:t>1</a:t>
            </a:r>
          </a:p>
        </p:txBody>
      </p:sp>
      <p:sp>
        <p:nvSpPr>
          <p:cNvPr id="28" name="TextBox 27"/>
          <p:cNvSpPr txBox="1"/>
          <p:nvPr/>
        </p:nvSpPr>
        <p:spPr>
          <a:xfrm>
            <a:off x="1508760" y="3566160"/>
            <a:ext cx="2377440" cy="365760"/>
          </a:xfrm>
          <a:prstGeom prst="rect">
            <a:avLst/>
          </a:prstGeom>
          <a:noFill/>
        </p:spPr>
        <p:txBody>
          <a:bodyPr wrap="square">
            <a:spAutoFit/>
          </a:bodyPr>
          <a:lstStyle/>
          <a:p>
            <a:pPr algn="l">
              <a:defRPr sz="1300" b="1">
                <a:solidFill>
                  <a:srgbClr val="B42828"/>
                </a:solidFill>
              </a:defRPr>
            </a:pPr>
            <a:r>
              <a:t>DỮ LIỆU PHÂN MẢNH</a:t>
            </a:r>
          </a:p>
        </p:txBody>
      </p:sp>
      <p:sp>
        <p:nvSpPr>
          <p:cNvPr id="29" name="Rectangle 28"/>
          <p:cNvSpPr/>
          <p:nvPr/>
        </p:nvSpPr>
        <p:spPr>
          <a:xfrm>
            <a:off x="1005840" y="4114800"/>
            <a:ext cx="2834640" cy="9144"/>
          </a:xfrm>
          <a:prstGeom prst="rect">
            <a:avLst/>
          </a:prstGeom>
          <a:solidFill>
            <a:srgbClr val="C8D0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5840" y="4297680"/>
            <a:ext cx="2834640" cy="1828800"/>
          </a:xfrm>
          <a:prstGeom prst="rect">
            <a:avLst/>
          </a:prstGeom>
          <a:noFill/>
        </p:spPr>
        <p:txBody>
          <a:bodyPr wrap="square">
            <a:spAutoFit/>
          </a:bodyPr>
          <a:lstStyle/>
          <a:p>
            <a:pPr algn="l">
              <a:defRPr sz="1150" b="0">
                <a:solidFill>
                  <a:srgbClr val="1C2330"/>
                </a:solidFill>
              </a:defRPr>
            </a:pPr>
            <a:r>
              <a:t>4 phần mềm hoạt động riêng rẽ.</a:t>
            </a:r>
            <a:br/>
            <a:r>
              <a:t>Chuyển số liệu bằng file Excel thủ công.</a:t>
            </a:r>
            <a:br/>
            <a:r>
              <a:t>Mất 3–5 ngày tổng hợp báo cáo.</a:t>
            </a:r>
          </a:p>
        </p:txBody>
      </p:sp>
      <p:sp>
        <p:nvSpPr>
          <p:cNvPr id="31" name="Rounded Rectangle 30"/>
          <p:cNvSpPr/>
          <p:nvPr/>
        </p:nvSpPr>
        <p:spPr>
          <a:xfrm>
            <a:off x="4480559" y="3383280"/>
            <a:ext cx="3383280" cy="2926080"/>
          </a:xfrm>
          <a:prstGeom prst="roundRect">
            <a:avLst/>
          </a:prstGeom>
          <a:solidFill>
            <a:srgbClr val="FFF5E1"/>
          </a:solidFill>
          <a:ln w="19050">
            <a:solidFill>
              <a:srgbClr val="B47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517135" y="3401568"/>
            <a:ext cx="73152" cy="2871216"/>
          </a:xfrm>
          <a:prstGeom prst="rect">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4754879" y="3566160"/>
            <a:ext cx="365760" cy="365760"/>
          </a:xfrm>
          <a:prstGeom prst="ellipse">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300" b="1">
                <a:solidFill>
                  <a:srgbClr val="FFFFFF"/>
                </a:solidFill>
              </a:defRPr>
            </a:pPr>
            <a:r>
              <a:t>2</a:t>
            </a:r>
          </a:p>
        </p:txBody>
      </p:sp>
      <p:sp>
        <p:nvSpPr>
          <p:cNvPr id="34" name="TextBox 33"/>
          <p:cNvSpPr txBox="1"/>
          <p:nvPr/>
        </p:nvSpPr>
        <p:spPr>
          <a:xfrm>
            <a:off x="5257799" y="3566160"/>
            <a:ext cx="2377440" cy="365760"/>
          </a:xfrm>
          <a:prstGeom prst="rect">
            <a:avLst/>
          </a:prstGeom>
          <a:noFill/>
        </p:spPr>
        <p:txBody>
          <a:bodyPr wrap="square">
            <a:spAutoFit/>
          </a:bodyPr>
          <a:lstStyle/>
          <a:p>
            <a:pPr algn="l">
              <a:defRPr sz="1300" b="1">
                <a:solidFill>
                  <a:srgbClr val="B47300"/>
                </a:solidFill>
              </a:defRPr>
            </a:pPr>
            <a:r>
              <a:t>LỆCH 29 CHUẨN MASTER DATA</a:t>
            </a:r>
          </a:p>
        </p:txBody>
      </p:sp>
      <p:sp>
        <p:nvSpPr>
          <p:cNvPr id="35" name="Rectangle 34"/>
          <p:cNvSpPr/>
          <p:nvPr/>
        </p:nvSpPr>
        <p:spPr>
          <a:xfrm>
            <a:off x="4754879" y="4114800"/>
            <a:ext cx="2834640" cy="9144"/>
          </a:xfrm>
          <a:prstGeom prst="rect">
            <a:avLst/>
          </a:prstGeom>
          <a:solidFill>
            <a:srgbClr val="C8D0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754879" y="4297680"/>
            <a:ext cx="2834640" cy="1828800"/>
          </a:xfrm>
          <a:prstGeom prst="rect">
            <a:avLst/>
          </a:prstGeom>
          <a:noFill/>
        </p:spPr>
        <p:txBody>
          <a:bodyPr wrap="square">
            <a:spAutoFit/>
          </a:bodyPr>
          <a:lstStyle/>
          <a:p>
            <a:pPr algn="l">
              <a:defRPr sz="1150" b="0">
                <a:solidFill>
                  <a:srgbClr val="1C2330"/>
                </a:solidFill>
              </a:defRPr>
            </a:pPr>
            <a:r>
              <a:t>Mã nhân sự, vật tư, đối tác của QN</a:t>
            </a:r>
            <a:br/>
            <a:r>
              <a:t>chưa khớp 29 danh mục chuẩn của TCT.</a:t>
            </a:r>
            <a:br/>
            <a:r>
              <a:t>Nếu đẩy lên ngay sẽ bị lỗi từ chối.</a:t>
            </a:r>
          </a:p>
        </p:txBody>
      </p:sp>
      <p:sp>
        <p:nvSpPr>
          <p:cNvPr id="37" name="Rounded Rectangle 36"/>
          <p:cNvSpPr/>
          <p:nvPr/>
        </p:nvSpPr>
        <p:spPr>
          <a:xfrm>
            <a:off x="8229600" y="3383280"/>
            <a:ext cx="3383280" cy="2926080"/>
          </a:xfrm>
          <a:prstGeom prst="roundRect">
            <a:avLst/>
          </a:prstGeom>
          <a:solidFill>
            <a:srgbClr val="E6F0FC"/>
          </a:solidFill>
          <a:ln w="19050">
            <a:solidFill>
              <a:srgbClr val="1E64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266176" y="3401568"/>
            <a:ext cx="73152" cy="2871216"/>
          </a:xfrm>
          <a:prstGeom prst="rect">
            <a:avLst/>
          </a:prstGeom>
          <a:solidFill>
            <a:srgbClr val="1E6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503920" y="3566160"/>
            <a:ext cx="365760" cy="365760"/>
          </a:xfrm>
          <a:prstGeom prst="ellipse">
            <a:avLst/>
          </a:prstGeom>
          <a:solidFill>
            <a:srgbClr val="1E64BE"/>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300" b="1">
                <a:solidFill>
                  <a:srgbClr val="FFFFFF"/>
                </a:solidFill>
              </a:defRPr>
            </a:pPr>
            <a:r>
              <a:t>3</a:t>
            </a:r>
          </a:p>
        </p:txBody>
      </p:sp>
      <p:sp>
        <p:nvSpPr>
          <p:cNvPr id="40" name="TextBox 39"/>
          <p:cNvSpPr txBox="1"/>
          <p:nvPr/>
        </p:nvSpPr>
        <p:spPr>
          <a:xfrm>
            <a:off x="9006840" y="3566160"/>
            <a:ext cx="2377440" cy="365760"/>
          </a:xfrm>
          <a:prstGeom prst="rect">
            <a:avLst/>
          </a:prstGeom>
          <a:noFill/>
        </p:spPr>
        <p:txBody>
          <a:bodyPr wrap="square">
            <a:spAutoFit/>
          </a:bodyPr>
          <a:lstStyle/>
          <a:p>
            <a:pPr algn="l">
              <a:defRPr sz="1300" b="1">
                <a:solidFill>
                  <a:srgbClr val="1E64BE"/>
                </a:solidFill>
              </a:defRPr>
            </a:pPr>
            <a:r>
              <a:t>THIẾU KỸ SƯ DATA PIPELINE</a:t>
            </a:r>
          </a:p>
        </p:txBody>
      </p:sp>
      <p:sp>
        <p:nvSpPr>
          <p:cNvPr id="41" name="Rectangle 40"/>
          <p:cNvSpPr/>
          <p:nvPr/>
        </p:nvSpPr>
        <p:spPr>
          <a:xfrm>
            <a:off x="8503920" y="4114800"/>
            <a:ext cx="2834640" cy="9144"/>
          </a:xfrm>
          <a:prstGeom prst="rect">
            <a:avLst/>
          </a:prstGeom>
          <a:solidFill>
            <a:srgbClr val="C8D0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503920" y="4297680"/>
            <a:ext cx="2834640" cy="1828800"/>
          </a:xfrm>
          <a:prstGeom prst="rect">
            <a:avLst/>
          </a:prstGeom>
          <a:noFill/>
        </p:spPr>
        <p:txBody>
          <a:bodyPr wrap="square">
            <a:spAutoFit/>
          </a:bodyPr>
          <a:lstStyle/>
          <a:p>
            <a:pPr algn="l">
              <a:defRPr sz="1150" b="0">
                <a:solidFill>
                  <a:srgbClr val="1C2330"/>
                </a:solidFill>
              </a:defRPr>
            </a:pPr>
            <a:r>
              <a:t>IT nội bộ giỏi mạng, máy chủ và hỗ trợ,</a:t>
            </a:r>
            <a:br/>
            <a:r>
              <a:t>nhưng thiếu chuyên gia Data Engineering.</a:t>
            </a:r>
            <a:br/>
            <a:r>
              <a:t>Tự mày mò: rủi ro trễ tiến độ 2026.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C23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2004"/>
          </a:xfrm>
          <a:prstGeom prst="rect">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
            <a:ext cx="9144000" cy="228600"/>
          </a:xfrm>
          <a:prstGeom prst="rect">
            <a:avLst/>
          </a:prstGeom>
          <a:noFill/>
        </p:spPr>
        <p:txBody>
          <a:bodyPr wrap="square">
            <a:spAutoFit/>
          </a:bodyPr>
          <a:lstStyle/>
          <a:p>
            <a:pPr algn="l">
              <a:defRPr sz="900" b="1">
                <a:solidFill>
                  <a:srgbClr val="9BB9DC"/>
                </a:solidFill>
              </a:defRPr>
            </a:pPr>
            <a:r>
              <a:t>BẢN CHẤT GIẢI PHÁP — DỄ HIỂU CHO LÃNH ĐẠO</a:t>
            </a:r>
          </a:p>
        </p:txBody>
      </p:sp>
      <p:sp>
        <p:nvSpPr>
          <p:cNvPr id="5" name="TextBox 4"/>
          <p:cNvSpPr txBox="1"/>
          <p:nvPr/>
        </p:nvSpPr>
        <p:spPr>
          <a:xfrm>
            <a:off x="731520" y="347472"/>
            <a:ext cx="10058400" cy="502920"/>
          </a:xfrm>
          <a:prstGeom prst="rect">
            <a:avLst/>
          </a:prstGeom>
          <a:noFill/>
        </p:spPr>
        <p:txBody>
          <a:bodyPr wrap="square">
            <a:spAutoFit/>
          </a:bodyPr>
          <a:lstStyle/>
          <a:p>
            <a:pPr algn="l">
              <a:defRPr sz="1900" b="1">
                <a:solidFill>
                  <a:srgbClr val="FFFFFF"/>
                </a:solidFill>
              </a:defRPr>
            </a:pPr>
            <a:r>
              <a:t>DATA PLATFORM: TỪ "ỐC ĐẢO THỦ CÔNG" ĐẾN "ĐƯỜNG ỐNG TỰ ĐỘNG"</a:t>
            </a:r>
          </a:p>
        </p:txBody>
      </p:sp>
      <p:sp>
        <p:nvSpPr>
          <p:cNvPr id="6" name="TextBox 5"/>
          <p:cNvSpPr txBox="1"/>
          <p:nvPr/>
        </p:nvSpPr>
        <p:spPr>
          <a:xfrm>
            <a:off x="10972800" y="347472"/>
            <a:ext cx="731520" cy="457200"/>
          </a:xfrm>
          <a:prstGeom prst="rect">
            <a:avLst/>
          </a:prstGeom>
          <a:noFill/>
        </p:spPr>
        <p:txBody>
          <a:bodyPr wrap="square">
            <a:spAutoFit/>
          </a:bodyPr>
          <a:lstStyle/>
          <a:p>
            <a:pPr algn="r">
              <a:defRPr sz="1200" b="1">
                <a:solidFill>
                  <a:srgbClr val="9BB9DC"/>
                </a:solidFill>
              </a:defRPr>
            </a:pPr>
            <a:r>
              <a:t>03</a:t>
            </a:r>
          </a:p>
        </p:txBody>
      </p:sp>
      <p:sp>
        <p:nvSpPr>
          <p:cNvPr id="7" name="Rectangle 6"/>
          <p:cNvSpPr/>
          <p:nvPr/>
        </p:nvSpPr>
        <p:spPr>
          <a:xfrm>
            <a:off x="0" y="6583680"/>
            <a:ext cx="12191695" cy="7315"/>
          </a:xfrm>
          <a:prstGeom prst="rect">
            <a:avLst/>
          </a:prstGeom>
          <a:solidFill>
            <a:srgbClr val="C8D0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601968"/>
            <a:ext cx="10698480" cy="228600"/>
          </a:xfrm>
          <a:prstGeom prst="rect">
            <a:avLst/>
          </a:prstGeom>
          <a:noFill/>
        </p:spPr>
        <p:txBody>
          <a:bodyPr wrap="square">
            <a:spAutoFit/>
          </a:bodyPr>
          <a:lstStyle/>
          <a:p>
            <a:pPr algn="l">
              <a:defRPr sz="800" b="0">
                <a:solidFill>
                  <a:srgbClr val="6C7684"/>
                </a:solidFill>
              </a:defRPr>
            </a:pPr>
            <a:r>
              <a:t>PTSC Quảng Ngãi  |  Báo cáo Data Platform &amp; Trục tích hợp  |  Thực hiện Chỉ đạo số 9 BGĐ</a:t>
            </a:r>
          </a:p>
        </p:txBody>
      </p:sp>
      <p:sp>
        <p:nvSpPr>
          <p:cNvPr id="9" name="Rounded Rectangle 8"/>
          <p:cNvSpPr/>
          <p:nvPr/>
        </p:nvSpPr>
        <p:spPr>
          <a:xfrm>
            <a:off x="731520" y="1371600"/>
            <a:ext cx="5029200" cy="4846320"/>
          </a:xfrm>
          <a:prstGeom prst="roundRect">
            <a:avLst/>
          </a:prstGeom>
          <a:solidFill>
            <a:srgbClr val="FCEBEB"/>
          </a:solidFill>
          <a:ln w="19050">
            <a:solidFill>
              <a:srgbClr val="B428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371600"/>
            <a:ext cx="5029200" cy="457200"/>
          </a:xfrm>
          <a:prstGeom prst="rect">
            <a:avLst/>
          </a:prstGeom>
          <a:solidFill>
            <a:srgbClr val="B4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389888"/>
            <a:ext cx="5029200" cy="411480"/>
          </a:xfrm>
          <a:prstGeom prst="rect">
            <a:avLst/>
          </a:prstGeom>
          <a:noFill/>
        </p:spPr>
        <p:txBody>
          <a:bodyPr wrap="square">
            <a:spAutoFit/>
          </a:bodyPr>
          <a:lstStyle/>
          <a:p>
            <a:pPr algn="ctr">
              <a:defRPr sz="1200" b="1">
                <a:solidFill>
                  <a:srgbClr val="FFFFFF"/>
                </a:solidFill>
              </a:defRPr>
            </a:pPr>
            <a:r>
              <a:t>TRƯỚC ĐÂY  —  Mô hình ốc đảo, phụ thuộc con người</a:t>
            </a:r>
          </a:p>
        </p:txBody>
      </p:sp>
      <p:sp>
        <p:nvSpPr>
          <p:cNvPr id="12" name="TextBox 11"/>
          <p:cNvSpPr txBox="1"/>
          <p:nvPr/>
        </p:nvSpPr>
        <p:spPr>
          <a:xfrm>
            <a:off x="1188720" y="2103120"/>
            <a:ext cx="4206240" cy="594360"/>
          </a:xfrm>
          <a:prstGeom prst="rect">
            <a:avLst/>
          </a:prstGeom>
          <a:noFill/>
        </p:spPr>
        <p:txBody>
          <a:bodyPr wrap="square">
            <a:spAutoFit/>
          </a:bodyPr>
          <a:lstStyle/>
          <a:p>
            <a:pPr algn="l">
              <a:defRPr sz="1150" b="0">
                <a:solidFill>
                  <a:srgbClr val="B42828"/>
                </a:solidFill>
              </a:defRPr>
            </a:pPr>
            <a:r>
              <a:t>✕  Dữ liệu nằm chết trong từng phần mềm riêng lẻ</a:t>
            </a:r>
          </a:p>
        </p:txBody>
      </p:sp>
      <p:sp>
        <p:nvSpPr>
          <p:cNvPr id="13" name="TextBox 12"/>
          <p:cNvSpPr txBox="1"/>
          <p:nvPr/>
        </p:nvSpPr>
        <p:spPr>
          <a:xfrm>
            <a:off x="1188720" y="2788920"/>
            <a:ext cx="4206240" cy="594360"/>
          </a:xfrm>
          <a:prstGeom prst="rect">
            <a:avLst/>
          </a:prstGeom>
          <a:noFill/>
        </p:spPr>
        <p:txBody>
          <a:bodyPr wrap="square">
            <a:spAutoFit/>
          </a:bodyPr>
          <a:lstStyle/>
          <a:p>
            <a:pPr algn="l">
              <a:defRPr sz="1150" b="0">
                <a:solidFill>
                  <a:srgbClr val="1C2330"/>
                </a:solidFill>
              </a:defRPr>
            </a:pPr>
            <a:r>
              <a:t>✕  Nhân viên phải xuất Excel, copy-paste ghép file thủ công</a:t>
            </a:r>
          </a:p>
        </p:txBody>
      </p:sp>
      <p:sp>
        <p:nvSpPr>
          <p:cNvPr id="14" name="TextBox 13"/>
          <p:cNvSpPr txBox="1"/>
          <p:nvPr/>
        </p:nvSpPr>
        <p:spPr>
          <a:xfrm>
            <a:off x="1188720" y="3474720"/>
            <a:ext cx="4206240" cy="594360"/>
          </a:xfrm>
          <a:prstGeom prst="rect">
            <a:avLst/>
          </a:prstGeom>
          <a:noFill/>
        </p:spPr>
        <p:txBody>
          <a:bodyPr wrap="square">
            <a:spAutoFit/>
          </a:bodyPr>
          <a:lstStyle/>
          <a:p>
            <a:pPr algn="l">
              <a:defRPr sz="1150" b="0">
                <a:solidFill>
                  <a:srgbClr val="1C2330"/>
                </a:solidFill>
              </a:defRPr>
            </a:pPr>
            <a:r>
              <a:t>✕  Mất 3–5 ngày mới có số liệu báo cáo tuần/tháng</a:t>
            </a:r>
          </a:p>
        </p:txBody>
      </p:sp>
      <p:sp>
        <p:nvSpPr>
          <p:cNvPr id="15" name="TextBox 14"/>
          <p:cNvSpPr txBox="1"/>
          <p:nvPr/>
        </p:nvSpPr>
        <p:spPr>
          <a:xfrm>
            <a:off x="1188720" y="4160520"/>
            <a:ext cx="4206240" cy="594360"/>
          </a:xfrm>
          <a:prstGeom prst="rect">
            <a:avLst/>
          </a:prstGeom>
          <a:noFill/>
        </p:spPr>
        <p:txBody>
          <a:bodyPr wrap="square">
            <a:spAutoFit/>
          </a:bodyPr>
          <a:lstStyle/>
          <a:p>
            <a:pPr algn="l">
              <a:defRPr sz="1150" b="0">
                <a:solidFill>
                  <a:srgbClr val="1C2330"/>
                </a:solidFill>
              </a:defRPr>
            </a:pPr>
            <a:r>
              <a:t>✕  Kế toán báo một số, Vật tư báo số khác (lệch nguồn)</a:t>
            </a:r>
          </a:p>
        </p:txBody>
      </p:sp>
      <p:sp>
        <p:nvSpPr>
          <p:cNvPr id="16" name="TextBox 15"/>
          <p:cNvSpPr txBox="1"/>
          <p:nvPr/>
        </p:nvSpPr>
        <p:spPr>
          <a:xfrm>
            <a:off x="1188720" y="4846320"/>
            <a:ext cx="4206240" cy="594360"/>
          </a:xfrm>
          <a:prstGeom prst="rect">
            <a:avLst/>
          </a:prstGeom>
          <a:noFill/>
        </p:spPr>
        <p:txBody>
          <a:bodyPr wrap="square">
            <a:spAutoFit/>
          </a:bodyPr>
          <a:lstStyle/>
          <a:p>
            <a:pPr algn="l">
              <a:defRPr sz="1150" b="0">
                <a:solidFill>
                  <a:srgbClr val="1C2330"/>
                </a:solidFill>
              </a:defRPr>
            </a:pPr>
            <a:r>
              <a:t>✕  Ban Giám đốc không có công cụ nhìn toàn cảnh tức thời</a:t>
            </a:r>
          </a:p>
        </p:txBody>
      </p:sp>
      <p:sp>
        <p:nvSpPr>
          <p:cNvPr id="17" name="Right Arrow 16"/>
          <p:cNvSpPr/>
          <p:nvPr/>
        </p:nvSpPr>
        <p:spPr>
          <a:xfrm>
            <a:off x="5943600" y="3474720"/>
            <a:ext cx="457200" cy="274320"/>
          </a:xfrm>
          <a:prstGeom prst="rightArrow">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583680" y="1371600"/>
            <a:ext cx="4846320" cy="4846320"/>
          </a:xfrm>
          <a:prstGeom prst="roundRect">
            <a:avLst/>
          </a:prstGeom>
          <a:solidFill>
            <a:srgbClr val="E8F8EF"/>
          </a:solidFill>
          <a:ln w="19050">
            <a:solidFill>
              <a:srgbClr val="158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0" y="1371600"/>
            <a:ext cx="4846320" cy="457200"/>
          </a:xfrm>
          <a:prstGeom prst="rect">
            <a:avLst/>
          </a:prstGeom>
          <a:solidFill>
            <a:srgbClr val="158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0" y="1389888"/>
            <a:ext cx="4846320" cy="411480"/>
          </a:xfrm>
          <a:prstGeom prst="rect">
            <a:avLst/>
          </a:prstGeom>
          <a:noFill/>
        </p:spPr>
        <p:txBody>
          <a:bodyPr wrap="square">
            <a:spAutoFit/>
          </a:bodyPr>
          <a:lstStyle/>
          <a:p>
            <a:pPr algn="ctr">
              <a:defRPr sz="1200" b="1">
                <a:solidFill>
                  <a:srgbClr val="FFFFFF"/>
                </a:solidFill>
              </a:defRPr>
            </a:pPr>
            <a:r>
              <a:t>SAU ĐÓ  —  Trục dữ liệu tự động (Data Platform)</a:t>
            </a:r>
          </a:p>
        </p:txBody>
      </p:sp>
      <p:sp>
        <p:nvSpPr>
          <p:cNvPr id="21" name="TextBox 20"/>
          <p:cNvSpPr txBox="1"/>
          <p:nvPr/>
        </p:nvSpPr>
        <p:spPr>
          <a:xfrm>
            <a:off x="7040880" y="2103120"/>
            <a:ext cx="4023360" cy="594360"/>
          </a:xfrm>
          <a:prstGeom prst="rect">
            <a:avLst/>
          </a:prstGeom>
          <a:noFill/>
        </p:spPr>
        <p:txBody>
          <a:bodyPr wrap="square">
            <a:spAutoFit/>
          </a:bodyPr>
          <a:lstStyle/>
          <a:p>
            <a:pPr algn="l">
              <a:defRPr sz="1150" b="0">
                <a:solidFill>
                  <a:srgbClr val="158050"/>
                </a:solidFill>
              </a:defRPr>
            </a:pPr>
            <a:r>
              <a:t>✔  Dữ liệu tự động hút về một trạm xử lý tập trung</a:t>
            </a:r>
          </a:p>
        </p:txBody>
      </p:sp>
      <p:sp>
        <p:nvSpPr>
          <p:cNvPr id="22" name="TextBox 21"/>
          <p:cNvSpPr txBox="1"/>
          <p:nvPr/>
        </p:nvSpPr>
        <p:spPr>
          <a:xfrm>
            <a:off x="7040880" y="2788920"/>
            <a:ext cx="4023360" cy="594360"/>
          </a:xfrm>
          <a:prstGeom prst="rect">
            <a:avLst/>
          </a:prstGeom>
          <a:noFill/>
        </p:spPr>
        <p:txBody>
          <a:bodyPr wrap="square">
            <a:spAutoFit/>
          </a:bodyPr>
          <a:lstStyle/>
          <a:p>
            <a:pPr algn="l">
              <a:defRPr sz="1150" b="0">
                <a:solidFill>
                  <a:srgbClr val="1C2330"/>
                </a:solidFill>
              </a:defRPr>
            </a:pPr>
            <a:r>
              <a:t>✔  Hệ thống tự làm sạch, quy đổi mã theo 29 chuẩn TCT</a:t>
            </a:r>
          </a:p>
        </p:txBody>
      </p:sp>
      <p:sp>
        <p:nvSpPr>
          <p:cNvPr id="23" name="TextBox 22"/>
          <p:cNvSpPr txBox="1"/>
          <p:nvPr/>
        </p:nvSpPr>
        <p:spPr>
          <a:xfrm>
            <a:off x="7040880" y="3474720"/>
            <a:ext cx="4023360" cy="594360"/>
          </a:xfrm>
          <a:prstGeom prst="rect">
            <a:avLst/>
          </a:prstGeom>
          <a:noFill/>
        </p:spPr>
        <p:txBody>
          <a:bodyPr wrap="square">
            <a:spAutoFit/>
          </a:bodyPr>
          <a:lstStyle/>
          <a:p>
            <a:pPr algn="l">
              <a:defRPr sz="1150" b="0">
                <a:solidFill>
                  <a:srgbClr val="1C2330"/>
                </a:solidFill>
              </a:defRPr>
            </a:pPr>
            <a:r>
              <a:t>✔  Số liệu tự động cập nhật hàng ngày (Near real-time)</a:t>
            </a:r>
          </a:p>
        </p:txBody>
      </p:sp>
      <p:sp>
        <p:nvSpPr>
          <p:cNvPr id="24" name="TextBox 23"/>
          <p:cNvSpPr txBox="1"/>
          <p:nvPr/>
        </p:nvSpPr>
        <p:spPr>
          <a:xfrm>
            <a:off x="7040880" y="4160520"/>
            <a:ext cx="4023360" cy="594360"/>
          </a:xfrm>
          <a:prstGeom prst="rect">
            <a:avLst/>
          </a:prstGeom>
          <a:noFill/>
        </p:spPr>
        <p:txBody>
          <a:bodyPr wrap="square">
            <a:spAutoFit/>
          </a:bodyPr>
          <a:lstStyle/>
          <a:p>
            <a:pPr algn="l">
              <a:defRPr sz="1150" b="0">
                <a:solidFill>
                  <a:srgbClr val="1C2330"/>
                </a:solidFill>
              </a:defRPr>
            </a:pPr>
            <a:r>
              <a:t>✔  Một nguồn sự thật duy nhất (Single Source of Truth)</a:t>
            </a:r>
          </a:p>
        </p:txBody>
      </p:sp>
      <p:sp>
        <p:nvSpPr>
          <p:cNvPr id="25" name="TextBox 24"/>
          <p:cNvSpPr txBox="1"/>
          <p:nvPr/>
        </p:nvSpPr>
        <p:spPr>
          <a:xfrm>
            <a:off x="7040880" y="4846320"/>
            <a:ext cx="4023360" cy="594360"/>
          </a:xfrm>
          <a:prstGeom prst="rect">
            <a:avLst/>
          </a:prstGeom>
          <a:noFill/>
        </p:spPr>
        <p:txBody>
          <a:bodyPr wrap="square">
            <a:spAutoFit/>
          </a:bodyPr>
          <a:lstStyle/>
          <a:p>
            <a:pPr algn="l">
              <a:defRPr sz="1150" b="0">
                <a:solidFill>
                  <a:srgbClr val="1C2330"/>
                </a:solidFill>
              </a:defRPr>
            </a:pPr>
            <a:r>
              <a:t>✔  Ban Giám đốc xem Dashboard trực quan trên PC / Mobile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C23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2004"/>
          </a:xfrm>
          <a:prstGeom prst="rect">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
            <a:ext cx="9144000" cy="228600"/>
          </a:xfrm>
          <a:prstGeom prst="rect">
            <a:avLst/>
          </a:prstGeom>
          <a:noFill/>
        </p:spPr>
        <p:txBody>
          <a:bodyPr wrap="square">
            <a:spAutoFit/>
          </a:bodyPr>
          <a:lstStyle/>
          <a:p>
            <a:pPr algn="l">
              <a:defRPr sz="900" b="1">
                <a:solidFill>
                  <a:srgbClr val="9BB9DC"/>
                </a:solidFill>
              </a:defRPr>
            </a:pPr>
            <a:r>
              <a:t>QUY HOẠCH CỦA TCT — 4 LEVEL TRIỂN KHAI</a:t>
            </a:r>
          </a:p>
        </p:txBody>
      </p:sp>
      <p:sp>
        <p:nvSpPr>
          <p:cNvPr id="5" name="TextBox 4"/>
          <p:cNvSpPr txBox="1"/>
          <p:nvPr/>
        </p:nvSpPr>
        <p:spPr>
          <a:xfrm>
            <a:off x="731520" y="347472"/>
            <a:ext cx="10058400" cy="502920"/>
          </a:xfrm>
          <a:prstGeom prst="rect">
            <a:avLst/>
          </a:prstGeom>
          <a:noFill/>
        </p:spPr>
        <p:txBody>
          <a:bodyPr wrap="square">
            <a:spAutoFit/>
          </a:bodyPr>
          <a:lstStyle/>
          <a:p>
            <a:pPr algn="l">
              <a:defRPr sz="1900" b="1">
                <a:solidFill>
                  <a:srgbClr val="FFFFFF"/>
                </a:solidFill>
              </a:defRPr>
            </a:pPr>
            <a:r>
              <a:t>VỊ THẾ QUẢNG NGÃI: LEVEL 3 TRONG MÔ HÌNH HUB-SPOKE CỦA TCT</a:t>
            </a:r>
          </a:p>
        </p:txBody>
      </p:sp>
      <p:sp>
        <p:nvSpPr>
          <p:cNvPr id="6" name="TextBox 5"/>
          <p:cNvSpPr txBox="1"/>
          <p:nvPr/>
        </p:nvSpPr>
        <p:spPr>
          <a:xfrm>
            <a:off x="10972800" y="347472"/>
            <a:ext cx="731520" cy="457200"/>
          </a:xfrm>
          <a:prstGeom prst="rect">
            <a:avLst/>
          </a:prstGeom>
          <a:noFill/>
        </p:spPr>
        <p:txBody>
          <a:bodyPr wrap="square">
            <a:spAutoFit/>
          </a:bodyPr>
          <a:lstStyle/>
          <a:p>
            <a:pPr algn="r">
              <a:defRPr sz="1200" b="1">
                <a:solidFill>
                  <a:srgbClr val="9BB9DC"/>
                </a:solidFill>
              </a:defRPr>
            </a:pPr>
            <a:r>
              <a:t>04</a:t>
            </a:r>
          </a:p>
        </p:txBody>
      </p:sp>
      <p:sp>
        <p:nvSpPr>
          <p:cNvPr id="7" name="Rectangle 6"/>
          <p:cNvSpPr/>
          <p:nvPr/>
        </p:nvSpPr>
        <p:spPr>
          <a:xfrm>
            <a:off x="0" y="6583680"/>
            <a:ext cx="12191695" cy="7315"/>
          </a:xfrm>
          <a:prstGeom prst="rect">
            <a:avLst/>
          </a:prstGeom>
          <a:solidFill>
            <a:srgbClr val="C8D0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601968"/>
            <a:ext cx="10698480" cy="228600"/>
          </a:xfrm>
          <a:prstGeom prst="rect">
            <a:avLst/>
          </a:prstGeom>
          <a:noFill/>
        </p:spPr>
        <p:txBody>
          <a:bodyPr wrap="square">
            <a:spAutoFit/>
          </a:bodyPr>
          <a:lstStyle/>
          <a:p>
            <a:pPr algn="l">
              <a:defRPr sz="800" b="0">
                <a:solidFill>
                  <a:srgbClr val="6C7684"/>
                </a:solidFill>
              </a:defRPr>
            </a:pPr>
            <a:r>
              <a:t>PTSC Quảng Ngãi  |  Báo cáo Data Platform &amp; Trục tích hợp  |  Thực hiện Chỉ đạo số 9 BGĐ</a:t>
            </a:r>
          </a:p>
        </p:txBody>
      </p:sp>
      <p:sp>
        <p:nvSpPr>
          <p:cNvPr id="9" name="Rounded Rectangle 8"/>
          <p:cNvSpPr/>
          <p:nvPr/>
        </p:nvSpPr>
        <p:spPr>
          <a:xfrm>
            <a:off x="731520" y="1371600"/>
            <a:ext cx="2560320" cy="4297680"/>
          </a:xfrm>
          <a:prstGeom prst="roundRect">
            <a:avLst/>
          </a:prstGeom>
          <a:solidFill>
            <a:srgbClr val="F3F5F8"/>
          </a:solidFill>
          <a:ln w="10160">
            <a:solidFill>
              <a:srgbClr val="6C76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68096" y="1389888"/>
            <a:ext cx="73152" cy="4242816"/>
          </a:xfrm>
          <a:prstGeom prst="rect">
            <a:avLst/>
          </a:prstGeom>
          <a:solidFill>
            <a:srgbClr val="6C76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554480"/>
            <a:ext cx="2194560" cy="320040"/>
          </a:xfrm>
          <a:prstGeom prst="rect">
            <a:avLst/>
          </a:prstGeom>
          <a:noFill/>
        </p:spPr>
        <p:txBody>
          <a:bodyPr wrap="square">
            <a:spAutoFit/>
          </a:bodyPr>
          <a:lstStyle/>
          <a:p>
            <a:pPr algn="l">
              <a:defRPr sz="1200" b="1">
                <a:solidFill>
                  <a:srgbClr val="6C7684"/>
                </a:solidFill>
              </a:defRPr>
            </a:pPr>
            <a:r>
              <a:t>L1: CHI NHÁNH</a:t>
            </a:r>
          </a:p>
        </p:txBody>
      </p:sp>
      <p:sp>
        <p:nvSpPr>
          <p:cNvPr id="12" name="TextBox 11"/>
          <p:cNvSpPr txBox="1"/>
          <p:nvPr/>
        </p:nvSpPr>
        <p:spPr>
          <a:xfrm>
            <a:off x="960120" y="1874519"/>
            <a:ext cx="2194560" cy="274320"/>
          </a:xfrm>
          <a:prstGeom prst="rect">
            <a:avLst/>
          </a:prstGeom>
          <a:noFill/>
        </p:spPr>
        <p:txBody>
          <a:bodyPr wrap="square">
            <a:spAutoFit/>
          </a:bodyPr>
          <a:lstStyle/>
          <a:p>
            <a:pPr algn="l">
              <a:defRPr sz="1000" b="1">
                <a:solidFill>
                  <a:srgbClr val="0C2344"/>
                </a:solidFill>
              </a:defRPr>
            </a:pPr>
            <a:r>
              <a:t>Vận hành như 1 ban của TCT</a:t>
            </a:r>
          </a:p>
        </p:txBody>
      </p:sp>
      <p:sp>
        <p:nvSpPr>
          <p:cNvPr id="13" name="Rectangle 12"/>
          <p:cNvSpPr/>
          <p:nvPr/>
        </p:nvSpPr>
        <p:spPr>
          <a:xfrm>
            <a:off x="960120" y="2194560"/>
            <a:ext cx="2103120" cy="9144"/>
          </a:xfrm>
          <a:prstGeom prst="rect">
            <a:avLst/>
          </a:prstGeom>
          <a:solidFill>
            <a:srgbClr val="C8D0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331720"/>
            <a:ext cx="2194560" cy="3108960"/>
          </a:xfrm>
          <a:prstGeom prst="rect">
            <a:avLst/>
          </a:prstGeom>
          <a:noFill/>
        </p:spPr>
        <p:txBody>
          <a:bodyPr wrap="square">
            <a:spAutoFit/>
          </a:bodyPr>
          <a:lstStyle/>
          <a:p>
            <a:pPr algn="l">
              <a:defRPr sz="1050" b="0">
                <a:solidFill>
                  <a:srgbClr val="1C2330"/>
                </a:solidFill>
              </a:defRPr>
            </a:pPr>
            <a:r>
              <a:t>Không có hạ tầng riêng, không dựng Spoke.</a:t>
            </a:r>
          </a:p>
        </p:txBody>
      </p:sp>
      <p:sp>
        <p:nvSpPr>
          <p:cNvPr id="15" name="Rounded Rectangle 14"/>
          <p:cNvSpPr/>
          <p:nvPr/>
        </p:nvSpPr>
        <p:spPr>
          <a:xfrm>
            <a:off x="3429000" y="1371600"/>
            <a:ext cx="2560320" cy="4297680"/>
          </a:xfrm>
          <a:prstGeom prst="roundRect">
            <a:avLst/>
          </a:prstGeom>
          <a:solidFill>
            <a:srgbClr val="F3F5F8"/>
          </a:solidFill>
          <a:ln w="10160">
            <a:solidFill>
              <a:srgbClr val="6C76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65576" y="1389888"/>
            <a:ext cx="73152" cy="4242816"/>
          </a:xfrm>
          <a:prstGeom prst="rect">
            <a:avLst/>
          </a:prstGeom>
          <a:solidFill>
            <a:srgbClr val="6C76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0" y="1554480"/>
            <a:ext cx="2194560" cy="320040"/>
          </a:xfrm>
          <a:prstGeom prst="rect">
            <a:avLst/>
          </a:prstGeom>
          <a:noFill/>
        </p:spPr>
        <p:txBody>
          <a:bodyPr wrap="square">
            <a:spAutoFit/>
          </a:bodyPr>
          <a:lstStyle/>
          <a:p>
            <a:pPr algn="l">
              <a:defRPr sz="1200" b="1">
                <a:solidFill>
                  <a:srgbClr val="6C7684"/>
                </a:solidFill>
              </a:defRPr>
            </a:pPr>
            <a:r>
              <a:t>L2: ĐƠN VỊ NHỎ</a:t>
            </a:r>
          </a:p>
        </p:txBody>
      </p:sp>
      <p:sp>
        <p:nvSpPr>
          <p:cNvPr id="18" name="TextBox 17"/>
          <p:cNvSpPr txBox="1"/>
          <p:nvPr/>
        </p:nvSpPr>
        <p:spPr>
          <a:xfrm>
            <a:off x="3657600" y="1874519"/>
            <a:ext cx="2194560" cy="274320"/>
          </a:xfrm>
          <a:prstGeom prst="rect">
            <a:avLst/>
          </a:prstGeom>
          <a:noFill/>
        </p:spPr>
        <p:txBody>
          <a:bodyPr wrap="square">
            <a:spAutoFit/>
          </a:bodyPr>
          <a:lstStyle/>
          <a:p>
            <a:pPr algn="l">
              <a:defRPr sz="1000" b="1">
                <a:solidFill>
                  <a:srgbClr val="0C2344"/>
                </a:solidFill>
              </a:defRPr>
            </a:pPr>
            <a:r>
              <a:t>Tenant trên Hub TCT</a:t>
            </a:r>
          </a:p>
        </p:txBody>
      </p:sp>
      <p:sp>
        <p:nvSpPr>
          <p:cNvPr id="19" name="Rectangle 18"/>
          <p:cNvSpPr/>
          <p:nvPr/>
        </p:nvSpPr>
        <p:spPr>
          <a:xfrm>
            <a:off x="3657600" y="2194560"/>
            <a:ext cx="2103120" cy="9144"/>
          </a:xfrm>
          <a:prstGeom prst="rect">
            <a:avLst/>
          </a:prstGeom>
          <a:solidFill>
            <a:srgbClr val="C8D0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11880" y="2331720"/>
            <a:ext cx="2194560" cy="3108960"/>
          </a:xfrm>
          <a:prstGeom prst="rect">
            <a:avLst/>
          </a:prstGeom>
          <a:noFill/>
        </p:spPr>
        <p:txBody>
          <a:bodyPr wrap="square">
            <a:spAutoFit/>
          </a:bodyPr>
          <a:lstStyle/>
          <a:p>
            <a:pPr algn="l">
              <a:defRPr sz="1050" b="0">
                <a:solidFill>
                  <a:srgbClr val="1C2330"/>
                </a:solidFill>
              </a:defRPr>
            </a:pPr>
            <a:r>
              <a:t>Chỉ dùng Agent hoặc API kéo dữ liệu, không có máy chủ.</a:t>
            </a:r>
          </a:p>
        </p:txBody>
      </p:sp>
      <p:sp>
        <p:nvSpPr>
          <p:cNvPr id="21" name="Rounded Rectangle 20"/>
          <p:cNvSpPr/>
          <p:nvPr/>
        </p:nvSpPr>
        <p:spPr>
          <a:xfrm>
            <a:off x="6126480" y="1371600"/>
            <a:ext cx="2560320" cy="4297680"/>
          </a:xfrm>
          <a:prstGeom prst="roundRect">
            <a:avLst/>
          </a:prstGeom>
          <a:solidFill>
            <a:srgbClr val="FFF5E1"/>
          </a:solidFill>
          <a:ln w="25400">
            <a:solidFill>
              <a:srgbClr val="B47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1389888"/>
            <a:ext cx="73152" cy="4242816"/>
          </a:xfrm>
          <a:prstGeom prst="rect">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55080" y="1554480"/>
            <a:ext cx="2194560" cy="320040"/>
          </a:xfrm>
          <a:prstGeom prst="rect">
            <a:avLst/>
          </a:prstGeom>
          <a:noFill/>
        </p:spPr>
        <p:txBody>
          <a:bodyPr wrap="square">
            <a:spAutoFit/>
          </a:bodyPr>
          <a:lstStyle/>
          <a:p>
            <a:pPr algn="l">
              <a:defRPr sz="1200" b="1">
                <a:solidFill>
                  <a:srgbClr val="B47300"/>
                </a:solidFill>
              </a:defRPr>
            </a:pPr>
            <a:r>
              <a:t>L3: ĐƠN VỊ LỚN (PTSC QUẢNG NGÃI)</a:t>
            </a:r>
          </a:p>
        </p:txBody>
      </p:sp>
      <p:sp>
        <p:nvSpPr>
          <p:cNvPr id="24" name="TextBox 23"/>
          <p:cNvSpPr txBox="1"/>
          <p:nvPr/>
        </p:nvSpPr>
        <p:spPr>
          <a:xfrm>
            <a:off x="6355080" y="1874519"/>
            <a:ext cx="2194560" cy="274320"/>
          </a:xfrm>
          <a:prstGeom prst="rect">
            <a:avLst/>
          </a:prstGeom>
          <a:noFill/>
        </p:spPr>
        <p:txBody>
          <a:bodyPr wrap="square">
            <a:spAutoFit/>
          </a:bodyPr>
          <a:lstStyle/>
          <a:p>
            <a:pPr algn="l">
              <a:defRPr sz="1000" b="1">
                <a:solidFill>
                  <a:srgbClr val="0C2344"/>
                </a:solidFill>
              </a:defRPr>
            </a:pPr>
            <a:r>
              <a:t>Spoke trung chuyển dữ liệu</a:t>
            </a:r>
          </a:p>
        </p:txBody>
      </p:sp>
      <p:sp>
        <p:nvSpPr>
          <p:cNvPr id="25" name="Rectangle 24"/>
          <p:cNvSpPr/>
          <p:nvPr/>
        </p:nvSpPr>
        <p:spPr>
          <a:xfrm>
            <a:off x="6355080" y="2194560"/>
            <a:ext cx="2103120" cy="9144"/>
          </a:xfrm>
          <a:prstGeom prst="rect">
            <a:avLst/>
          </a:prstGeom>
          <a:solidFill>
            <a:srgbClr val="C8D0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09360" y="2331720"/>
            <a:ext cx="2194560" cy="3108960"/>
          </a:xfrm>
          <a:prstGeom prst="rect">
            <a:avLst/>
          </a:prstGeom>
          <a:noFill/>
        </p:spPr>
        <p:txBody>
          <a:bodyPr wrap="square">
            <a:spAutoFit/>
          </a:bodyPr>
          <a:lstStyle/>
          <a:p>
            <a:pPr algn="l">
              <a:defRPr sz="1100" b="0">
                <a:solidFill>
                  <a:srgbClr val="1C2330"/>
                </a:solidFill>
              </a:defRPr>
            </a:pPr>
            <a:r>
              <a:t>• Được cấp phân vùng Workspace L3 riêng trên Hub TCT.</a:t>
            </a:r>
            <a:br/>
            <a:r>
              <a:t>• KHÔNG CẦN mua máy chủ dHCI đắt tiền tại đơn vị.</a:t>
            </a:r>
            <a:br/>
            <a:r>
              <a:t>• Tận dụng máy chủ hiện có để dựng Trạm trung chuyển.</a:t>
            </a:r>
            <a:br/>
            <a:r>
              <a:t>• Tự chủ dữ liệu nghiệp vụ, đồng bộ chuẩn lên TCT.</a:t>
            </a:r>
          </a:p>
        </p:txBody>
      </p:sp>
      <p:sp>
        <p:nvSpPr>
          <p:cNvPr id="27" name="Rounded Rectangle 26"/>
          <p:cNvSpPr/>
          <p:nvPr/>
        </p:nvSpPr>
        <p:spPr>
          <a:xfrm>
            <a:off x="8823960" y="1371600"/>
            <a:ext cx="2560320" cy="4297680"/>
          </a:xfrm>
          <a:prstGeom prst="roundRect">
            <a:avLst/>
          </a:prstGeom>
          <a:solidFill>
            <a:srgbClr val="E6F0FC"/>
          </a:solidFill>
          <a:ln w="10160">
            <a:solidFill>
              <a:srgbClr val="1E64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860536" y="1389888"/>
            <a:ext cx="73152" cy="4242816"/>
          </a:xfrm>
          <a:prstGeom prst="rect">
            <a:avLst/>
          </a:prstGeom>
          <a:solidFill>
            <a:srgbClr val="1E6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052560" y="1554480"/>
            <a:ext cx="2194560" cy="320040"/>
          </a:xfrm>
          <a:prstGeom prst="rect">
            <a:avLst/>
          </a:prstGeom>
          <a:noFill/>
        </p:spPr>
        <p:txBody>
          <a:bodyPr wrap="square">
            <a:spAutoFit/>
          </a:bodyPr>
          <a:lstStyle/>
          <a:p>
            <a:pPr algn="l">
              <a:defRPr sz="1200" b="1">
                <a:solidFill>
                  <a:srgbClr val="1E64BE"/>
                </a:solidFill>
              </a:defRPr>
            </a:pPr>
            <a:r>
              <a:t>L4: ĐƠN VỊ ĐẶC BIỆT LỚN</a:t>
            </a:r>
          </a:p>
        </p:txBody>
      </p:sp>
      <p:sp>
        <p:nvSpPr>
          <p:cNvPr id="30" name="TextBox 29"/>
          <p:cNvSpPr txBox="1"/>
          <p:nvPr/>
        </p:nvSpPr>
        <p:spPr>
          <a:xfrm>
            <a:off x="9052560" y="1874519"/>
            <a:ext cx="2194560" cy="274320"/>
          </a:xfrm>
          <a:prstGeom prst="rect">
            <a:avLst/>
          </a:prstGeom>
          <a:noFill/>
        </p:spPr>
        <p:txBody>
          <a:bodyPr wrap="square">
            <a:spAutoFit/>
          </a:bodyPr>
          <a:lstStyle/>
          <a:p>
            <a:pPr algn="l">
              <a:defRPr sz="1000" b="1">
                <a:solidFill>
                  <a:srgbClr val="0C2344"/>
                </a:solidFill>
              </a:defRPr>
            </a:pPr>
            <a:r>
              <a:t>Cụm dHCI riêng (PTSC M&amp;C)</a:t>
            </a:r>
          </a:p>
        </p:txBody>
      </p:sp>
      <p:sp>
        <p:nvSpPr>
          <p:cNvPr id="31" name="Rectangle 30"/>
          <p:cNvSpPr/>
          <p:nvPr/>
        </p:nvSpPr>
        <p:spPr>
          <a:xfrm>
            <a:off x="9052560" y="2194560"/>
            <a:ext cx="2103120" cy="9144"/>
          </a:xfrm>
          <a:prstGeom prst="rect">
            <a:avLst/>
          </a:prstGeom>
          <a:solidFill>
            <a:srgbClr val="C8D0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06840" y="2331720"/>
            <a:ext cx="2194560" cy="3108960"/>
          </a:xfrm>
          <a:prstGeom prst="rect">
            <a:avLst/>
          </a:prstGeom>
          <a:noFill/>
        </p:spPr>
        <p:txBody>
          <a:bodyPr wrap="square">
            <a:spAutoFit/>
          </a:bodyPr>
          <a:lstStyle/>
          <a:p>
            <a:pPr algn="l">
              <a:defRPr sz="1050" b="0">
                <a:solidFill>
                  <a:srgbClr val="1C2330"/>
                </a:solidFill>
              </a:defRPr>
            </a:pPr>
            <a:r>
              <a:t>Tự đầu tư cụm máy chủ dHCI riêng, tự vận hành hoàn toàn.</a:t>
            </a:r>
          </a:p>
        </p:txBody>
      </p:sp>
      <p:sp>
        <p:nvSpPr>
          <p:cNvPr id="33" name="Rounded Rectangle 32"/>
          <p:cNvSpPr/>
          <p:nvPr/>
        </p:nvSpPr>
        <p:spPr>
          <a:xfrm>
            <a:off x="731520" y="5852160"/>
            <a:ext cx="10698480" cy="594360"/>
          </a:xfrm>
          <a:prstGeom prst="roundRect">
            <a:avLst/>
          </a:prstGeom>
          <a:solidFill>
            <a:srgbClr val="E6F0FC"/>
          </a:solidFill>
          <a:ln w="12700">
            <a:solidFill>
              <a:srgbClr val="1E64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68096" y="5870448"/>
            <a:ext cx="64008" cy="530352"/>
          </a:xfrm>
          <a:prstGeom prst="rect">
            <a:avLst/>
          </a:prstGeom>
          <a:solidFill>
            <a:srgbClr val="1E6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05840" y="5897880"/>
            <a:ext cx="10241280" cy="502920"/>
          </a:xfrm>
          <a:prstGeom prst="rect">
            <a:avLst/>
          </a:prstGeom>
          <a:noFill/>
        </p:spPr>
        <p:txBody>
          <a:bodyPr wrap="square">
            <a:spAutoFit/>
          </a:bodyPr>
          <a:lstStyle/>
          <a:p>
            <a:pPr algn="ctr">
              <a:defRPr sz="1150" b="1">
                <a:solidFill>
                  <a:srgbClr val="0C2344"/>
                </a:solidFill>
              </a:defRPr>
            </a:pPr>
            <a:r>
              <a:t>KẾT LUẬN CỦA TCT: PTSC Quảng Ngãi xếp cấp Level 3 — Tiết kiệm tối đa ngân sách vì KHÔNG phải mua máy chủ lưu trữ dHCI tiền tỷ, chỉ cần xây dựng Trạm trung chuyển dữ liệu tại chỗ.</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C23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2004"/>
          </a:xfrm>
          <a:prstGeom prst="rect">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
            <a:ext cx="9144000" cy="228600"/>
          </a:xfrm>
          <a:prstGeom prst="rect">
            <a:avLst/>
          </a:prstGeom>
          <a:noFill/>
        </p:spPr>
        <p:txBody>
          <a:bodyPr wrap="square">
            <a:spAutoFit/>
          </a:bodyPr>
          <a:lstStyle/>
          <a:p>
            <a:pPr algn="l">
              <a:defRPr sz="900" b="1">
                <a:solidFill>
                  <a:srgbClr val="9BB9DC"/>
                </a:solidFill>
              </a:defRPr>
            </a:pPr>
            <a:r>
              <a:t>NỀN MÓNG TCT ĐÃ NGHIỆM THU — CĂN CỨ TÀI LIỆU GIAI ĐOẠN 1</a:t>
            </a:r>
          </a:p>
        </p:txBody>
      </p:sp>
      <p:sp>
        <p:nvSpPr>
          <p:cNvPr id="5" name="TextBox 4"/>
          <p:cNvSpPr txBox="1"/>
          <p:nvPr/>
        </p:nvSpPr>
        <p:spPr>
          <a:xfrm>
            <a:off x="731520" y="347472"/>
            <a:ext cx="10058400" cy="502920"/>
          </a:xfrm>
          <a:prstGeom prst="rect">
            <a:avLst/>
          </a:prstGeom>
          <a:noFill/>
        </p:spPr>
        <p:txBody>
          <a:bodyPr wrap="square">
            <a:spAutoFit/>
          </a:bodyPr>
          <a:lstStyle/>
          <a:p>
            <a:pPr algn="l">
              <a:defRPr sz="1900" b="1">
                <a:solidFill>
                  <a:srgbClr val="FFFFFF"/>
                </a:solidFill>
              </a:defRPr>
            </a:pPr>
            <a:r>
              <a:t>TỔNG CÔNG TY ĐÃ XÂY DỰNG NHỮNG GÌ VÀ SẴN SÀNG RA SAO?</a:t>
            </a:r>
          </a:p>
        </p:txBody>
      </p:sp>
      <p:sp>
        <p:nvSpPr>
          <p:cNvPr id="6" name="TextBox 5"/>
          <p:cNvSpPr txBox="1"/>
          <p:nvPr/>
        </p:nvSpPr>
        <p:spPr>
          <a:xfrm>
            <a:off x="10972800" y="347472"/>
            <a:ext cx="731520" cy="457200"/>
          </a:xfrm>
          <a:prstGeom prst="rect">
            <a:avLst/>
          </a:prstGeom>
          <a:noFill/>
        </p:spPr>
        <p:txBody>
          <a:bodyPr wrap="square">
            <a:spAutoFit/>
          </a:bodyPr>
          <a:lstStyle/>
          <a:p>
            <a:pPr algn="r">
              <a:defRPr sz="1200" b="1">
                <a:solidFill>
                  <a:srgbClr val="9BB9DC"/>
                </a:solidFill>
              </a:defRPr>
            </a:pPr>
            <a:r>
              <a:t>05</a:t>
            </a:r>
          </a:p>
        </p:txBody>
      </p:sp>
      <p:sp>
        <p:nvSpPr>
          <p:cNvPr id="7" name="Rectangle 6"/>
          <p:cNvSpPr/>
          <p:nvPr/>
        </p:nvSpPr>
        <p:spPr>
          <a:xfrm>
            <a:off x="0" y="6583680"/>
            <a:ext cx="12191695" cy="7315"/>
          </a:xfrm>
          <a:prstGeom prst="rect">
            <a:avLst/>
          </a:prstGeom>
          <a:solidFill>
            <a:srgbClr val="C8D0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601968"/>
            <a:ext cx="10698480" cy="228600"/>
          </a:xfrm>
          <a:prstGeom prst="rect">
            <a:avLst/>
          </a:prstGeom>
          <a:noFill/>
        </p:spPr>
        <p:txBody>
          <a:bodyPr wrap="square">
            <a:spAutoFit/>
          </a:bodyPr>
          <a:lstStyle/>
          <a:p>
            <a:pPr algn="l">
              <a:defRPr sz="800" b="0">
                <a:solidFill>
                  <a:srgbClr val="6C7684"/>
                </a:solidFill>
              </a:defRPr>
            </a:pPr>
            <a:r>
              <a:t>PTSC Quảng Ngãi  |  Báo cáo Data Platform &amp; Trục tích hợp  |  Thực hiện Chỉ đạo số 9 BGĐ</a:t>
            </a:r>
          </a:p>
        </p:txBody>
      </p:sp>
      <p:sp>
        <p:nvSpPr>
          <p:cNvPr id="9" name="Rounded Rectangle 8"/>
          <p:cNvSpPr/>
          <p:nvPr/>
        </p:nvSpPr>
        <p:spPr>
          <a:xfrm>
            <a:off x="731520" y="1371600"/>
            <a:ext cx="3383280" cy="4846320"/>
          </a:xfrm>
          <a:prstGeom prst="roundRect">
            <a:avLst/>
          </a:prstGeom>
          <a:solidFill>
            <a:srgbClr val="E6F0FC"/>
          </a:solidFill>
          <a:ln w="19050">
            <a:solidFill>
              <a:srgbClr val="1E64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68096" y="1389888"/>
            <a:ext cx="73152" cy="4791456"/>
          </a:xfrm>
          <a:prstGeom prst="rect">
            <a:avLst/>
          </a:prstGeom>
          <a:solidFill>
            <a:srgbClr val="1E6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554480"/>
            <a:ext cx="2926080" cy="502920"/>
          </a:xfrm>
          <a:prstGeom prst="rect">
            <a:avLst/>
          </a:prstGeom>
          <a:noFill/>
        </p:spPr>
        <p:txBody>
          <a:bodyPr wrap="square">
            <a:spAutoFit/>
          </a:bodyPr>
          <a:lstStyle/>
          <a:p>
            <a:pPr algn="l">
              <a:defRPr sz="1200" b="1">
                <a:solidFill>
                  <a:srgbClr val="1E64BE"/>
                </a:solidFill>
              </a:defRPr>
            </a:pPr>
            <a:r>
              <a:t>HẠ TẦNG CLOUD (AZURE)</a:t>
            </a:r>
          </a:p>
        </p:txBody>
      </p:sp>
      <p:sp>
        <p:nvSpPr>
          <p:cNvPr id="12" name="Rectangle 11"/>
          <p:cNvSpPr/>
          <p:nvPr/>
        </p:nvSpPr>
        <p:spPr>
          <a:xfrm>
            <a:off x="960120" y="2103120"/>
            <a:ext cx="2834640" cy="9144"/>
          </a:xfrm>
          <a:prstGeom prst="rect">
            <a:avLst/>
          </a:prstGeom>
          <a:solidFill>
            <a:srgbClr val="C8D0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2240280"/>
            <a:ext cx="2926080" cy="960120"/>
          </a:xfrm>
          <a:prstGeom prst="rect">
            <a:avLst/>
          </a:prstGeom>
          <a:noFill/>
        </p:spPr>
        <p:txBody>
          <a:bodyPr wrap="square">
            <a:spAutoFit/>
          </a:bodyPr>
          <a:lstStyle/>
          <a:p>
            <a:pPr algn="l">
              <a:defRPr sz="1100" b="0">
                <a:solidFill>
                  <a:srgbClr val="1C2330"/>
                </a:solidFill>
              </a:defRPr>
            </a:pPr>
            <a:r>
              <a:t>✔  Microsoft Fabric / OneLake: Khởi điểm 20 TB dung lượng phân tích tốc độ cao.</a:t>
            </a:r>
          </a:p>
        </p:txBody>
      </p:sp>
      <p:sp>
        <p:nvSpPr>
          <p:cNvPr id="14" name="TextBox 13"/>
          <p:cNvSpPr txBox="1"/>
          <p:nvPr/>
        </p:nvSpPr>
        <p:spPr>
          <a:xfrm>
            <a:off x="960120" y="3291840"/>
            <a:ext cx="2926080" cy="960120"/>
          </a:xfrm>
          <a:prstGeom prst="rect">
            <a:avLst/>
          </a:prstGeom>
          <a:noFill/>
        </p:spPr>
        <p:txBody>
          <a:bodyPr wrap="square">
            <a:spAutoFit/>
          </a:bodyPr>
          <a:lstStyle/>
          <a:p>
            <a:pPr algn="l">
              <a:defRPr sz="1100" b="0">
                <a:solidFill>
                  <a:srgbClr val="1C2330"/>
                </a:solidFill>
              </a:defRPr>
            </a:pPr>
            <a:r>
              <a:t>✔  Microsoft Purview: Quản trị danh mục và gán nhãn an toàn dữ liệu.</a:t>
            </a:r>
          </a:p>
        </p:txBody>
      </p:sp>
      <p:sp>
        <p:nvSpPr>
          <p:cNvPr id="15" name="TextBox 14"/>
          <p:cNvSpPr txBox="1"/>
          <p:nvPr/>
        </p:nvSpPr>
        <p:spPr>
          <a:xfrm>
            <a:off x="960120" y="4343400"/>
            <a:ext cx="2926080" cy="960120"/>
          </a:xfrm>
          <a:prstGeom prst="rect">
            <a:avLst/>
          </a:prstGeom>
          <a:noFill/>
        </p:spPr>
        <p:txBody>
          <a:bodyPr wrap="square">
            <a:spAutoFit/>
          </a:bodyPr>
          <a:lstStyle/>
          <a:p>
            <a:pPr algn="l">
              <a:defRPr sz="1100" b="0">
                <a:solidFill>
                  <a:srgbClr val="1C2330"/>
                </a:solidFill>
              </a:defRPr>
            </a:pPr>
            <a:r>
              <a:t>✔  Power BI Enterprise: Phục vụ trực quan hóa Dashboard toàn tổng.</a:t>
            </a:r>
          </a:p>
        </p:txBody>
      </p:sp>
      <p:sp>
        <p:nvSpPr>
          <p:cNvPr id="16" name="TextBox 15"/>
          <p:cNvSpPr txBox="1"/>
          <p:nvPr/>
        </p:nvSpPr>
        <p:spPr>
          <a:xfrm>
            <a:off x="960120" y="5394960"/>
            <a:ext cx="2926080" cy="960120"/>
          </a:xfrm>
          <a:prstGeom prst="rect">
            <a:avLst/>
          </a:prstGeom>
          <a:noFill/>
        </p:spPr>
        <p:txBody>
          <a:bodyPr wrap="square">
            <a:spAutoFit/>
          </a:bodyPr>
          <a:lstStyle/>
          <a:p>
            <a:pPr algn="l">
              <a:defRPr sz="1100" b="0">
                <a:solidFill>
                  <a:srgbClr val="1C2330"/>
                </a:solidFill>
              </a:defRPr>
            </a:pPr>
            <a:r>
              <a:t>✔  Cấp sẵn Workspace L3 riêng cho Quảng Ngãi đón nhận dữ liệu.</a:t>
            </a:r>
          </a:p>
        </p:txBody>
      </p:sp>
      <p:sp>
        <p:nvSpPr>
          <p:cNvPr id="17" name="Rounded Rectangle 16"/>
          <p:cNvSpPr/>
          <p:nvPr/>
        </p:nvSpPr>
        <p:spPr>
          <a:xfrm>
            <a:off x="4480559" y="1371600"/>
            <a:ext cx="3383280" cy="4846320"/>
          </a:xfrm>
          <a:prstGeom prst="roundRect">
            <a:avLst/>
          </a:prstGeom>
          <a:solidFill>
            <a:srgbClr val="CCFBF1"/>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17135" y="1389888"/>
            <a:ext cx="73152" cy="479145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09159" y="1554480"/>
            <a:ext cx="2926080" cy="502920"/>
          </a:xfrm>
          <a:prstGeom prst="rect">
            <a:avLst/>
          </a:prstGeom>
          <a:noFill/>
        </p:spPr>
        <p:txBody>
          <a:bodyPr wrap="square">
            <a:spAutoFit/>
          </a:bodyPr>
          <a:lstStyle/>
          <a:p>
            <a:pPr algn="l">
              <a:defRPr sz="1200" b="1">
                <a:solidFill>
                  <a:srgbClr val="0D9488"/>
                </a:solidFill>
              </a:defRPr>
            </a:pPr>
            <a:r>
              <a:t>HẠ TẦNG ON-PREMISE (DATACENTER TCT)</a:t>
            </a:r>
          </a:p>
        </p:txBody>
      </p:sp>
      <p:sp>
        <p:nvSpPr>
          <p:cNvPr id="20" name="Rectangle 19"/>
          <p:cNvSpPr/>
          <p:nvPr/>
        </p:nvSpPr>
        <p:spPr>
          <a:xfrm>
            <a:off x="4709159" y="2103120"/>
            <a:ext cx="2834640" cy="9144"/>
          </a:xfrm>
          <a:prstGeom prst="rect">
            <a:avLst/>
          </a:prstGeom>
          <a:solidFill>
            <a:srgbClr val="C8D0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09159" y="2240280"/>
            <a:ext cx="2926080" cy="960120"/>
          </a:xfrm>
          <a:prstGeom prst="rect">
            <a:avLst/>
          </a:prstGeom>
          <a:noFill/>
        </p:spPr>
        <p:txBody>
          <a:bodyPr wrap="square">
            <a:spAutoFit/>
          </a:bodyPr>
          <a:lstStyle/>
          <a:p>
            <a:pPr algn="l">
              <a:defRPr sz="1100" b="0">
                <a:solidFill>
                  <a:srgbClr val="1C2330"/>
                </a:solidFill>
              </a:defRPr>
            </a:pPr>
            <a:r>
              <a:t>✔  Cụm MinIO Lakehouse: Lưu trữ dữ liệu nội bộ on-prem an toàn.</a:t>
            </a:r>
          </a:p>
        </p:txBody>
      </p:sp>
      <p:sp>
        <p:nvSpPr>
          <p:cNvPr id="22" name="TextBox 21"/>
          <p:cNvSpPr txBox="1"/>
          <p:nvPr/>
        </p:nvSpPr>
        <p:spPr>
          <a:xfrm>
            <a:off x="4709159" y="3291840"/>
            <a:ext cx="2926080" cy="960120"/>
          </a:xfrm>
          <a:prstGeom prst="rect">
            <a:avLst/>
          </a:prstGeom>
          <a:noFill/>
        </p:spPr>
        <p:txBody>
          <a:bodyPr wrap="square">
            <a:spAutoFit/>
          </a:bodyPr>
          <a:lstStyle/>
          <a:p>
            <a:pPr algn="l">
              <a:defRPr sz="1100" b="0">
                <a:solidFill>
                  <a:srgbClr val="1C2330"/>
                </a:solidFill>
              </a:defRPr>
            </a:pPr>
            <a:r>
              <a:t>✔  Trục tích hợp doanh nghiệp (ESB): Điều phối dữ liệu tập trung.</a:t>
            </a:r>
          </a:p>
        </p:txBody>
      </p:sp>
      <p:sp>
        <p:nvSpPr>
          <p:cNvPr id="23" name="TextBox 22"/>
          <p:cNvSpPr txBox="1"/>
          <p:nvPr/>
        </p:nvSpPr>
        <p:spPr>
          <a:xfrm>
            <a:off x="4709159" y="4343400"/>
            <a:ext cx="2926080" cy="960120"/>
          </a:xfrm>
          <a:prstGeom prst="rect">
            <a:avLst/>
          </a:prstGeom>
          <a:noFill/>
        </p:spPr>
        <p:txBody>
          <a:bodyPr wrap="square">
            <a:spAutoFit/>
          </a:bodyPr>
          <a:lstStyle/>
          <a:p>
            <a:pPr algn="l">
              <a:defRPr sz="1100" b="0">
                <a:solidFill>
                  <a:srgbClr val="1C2330"/>
                </a:solidFill>
              </a:defRPr>
            </a:pPr>
            <a:r>
              <a:t>✔  Hệ thống MDM Golden Record: Chuẩn hóa dữ liệu chủ toàn PTSC.</a:t>
            </a:r>
          </a:p>
        </p:txBody>
      </p:sp>
      <p:sp>
        <p:nvSpPr>
          <p:cNvPr id="24" name="TextBox 23"/>
          <p:cNvSpPr txBox="1"/>
          <p:nvPr/>
        </p:nvSpPr>
        <p:spPr>
          <a:xfrm>
            <a:off x="4709159" y="5394960"/>
            <a:ext cx="2926080" cy="960120"/>
          </a:xfrm>
          <a:prstGeom prst="rect">
            <a:avLst/>
          </a:prstGeom>
          <a:noFill/>
        </p:spPr>
        <p:txBody>
          <a:bodyPr wrap="square">
            <a:spAutoFit/>
          </a:bodyPr>
          <a:lstStyle/>
          <a:p>
            <a:pPr algn="l">
              <a:defRPr sz="1100" b="0">
                <a:solidFill>
                  <a:srgbClr val="1C2330"/>
                </a:solidFill>
              </a:defRPr>
            </a:pPr>
            <a:r>
              <a:t>✔  SIEM &amp; SOC: Giám sát an ninh và ghi nhận nhật ký (Audit log) 24/7.</a:t>
            </a:r>
          </a:p>
        </p:txBody>
      </p:sp>
      <p:sp>
        <p:nvSpPr>
          <p:cNvPr id="25" name="Rounded Rectangle 24"/>
          <p:cNvSpPr/>
          <p:nvPr/>
        </p:nvSpPr>
        <p:spPr>
          <a:xfrm>
            <a:off x="8229600" y="1371600"/>
            <a:ext cx="3383280" cy="4846320"/>
          </a:xfrm>
          <a:prstGeom prst="roundRect">
            <a:avLst/>
          </a:prstGeom>
          <a:solidFill>
            <a:srgbClr val="E8F8EF"/>
          </a:solidFill>
          <a:ln w="19050">
            <a:solidFill>
              <a:srgbClr val="158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266176" y="1389888"/>
            <a:ext cx="73152" cy="4791456"/>
          </a:xfrm>
          <a:prstGeom prst="rect">
            <a:avLst/>
          </a:prstGeom>
          <a:solidFill>
            <a:srgbClr val="158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58200" y="1554480"/>
            <a:ext cx="2926080" cy="502920"/>
          </a:xfrm>
          <a:prstGeom prst="rect">
            <a:avLst/>
          </a:prstGeom>
          <a:noFill/>
        </p:spPr>
        <p:txBody>
          <a:bodyPr wrap="square">
            <a:spAutoFit/>
          </a:bodyPr>
          <a:lstStyle/>
          <a:p>
            <a:pPr algn="l">
              <a:defRPr sz="1200" b="1">
                <a:solidFill>
                  <a:srgbClr val="158050"/>
                </a:solidFill>
              </a:defRPr>
            </a:pPr>
            <a:r>
              <a:t>BỘ TIÊU CHUẨN ĐÃ HOÀN TẤT</a:t>
            </a:r>
          </a:p>
        </p:txBody>
      </p:sp>
      <p:sp>
        <p:nvSpPr>
          <p:cNvPr id="28" name="Rectangle 27"/>
          <p:cNvSpPr/>
          <p:nvPr/>
        </p:nvSpPr>
        <p:spPr>
          <a:xfrm>
            <a:off x="8458200" y="2103120"/>
            <a:ext cx="2834640" cy="9144"/>
          </a:xfrm>
          <a:prstGeom prst="rect">
            <a:avLst/>
          </a:prstGeom>
          <a:solidFill>
            <a:srgbClr val="C8D0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58200" y="2240280"/>
            <a:ext cx="2926080" cy="960120"/>
          </a:xfrm>
          <a:prstGeom prst="rect">
            <a:avLst/>
          </a:prstGeom>
          <a:noFill/>
        </p:spPr>
        <p:txBody>
          <a:bodyPr wrap="square">
            <a:spAutoFit/>
          </a:bodyPr>
          <a:lstStyle/>
          <a:p>
            <a:pPr algn="l">
              <a:defRPr sz="1100" b="0">
                <a:solidFill>
                  <a:srgbClr val="1C2330"/>
                </a:solidFill>
              </a:defRPr>
            </a:pPr>
            <a:r>
              <a:t>✔  Bộ 29 Danh mục Master Data: Chuẩn hóa mã nhân sự, vật tư, đối tác, dự án...</a:t>
            </a:r>
          </a:p>
        </p:txBody>
      </p:sp>
      <p:sp>
        <p:nvSpPr>
          <p:cNvPr id="30" name="TextBox 29"/>
          <p:cNvSpPr txBox="1"/>
          <p:nvPr/>
        </p:nvSpPr>
        <p:spPr>
          <a:xfrm>
            <a:off x="8458200" y="3291840"/>
            <a:ext cx="2926080" cy="960120"/>
          </a:xfrm>
          <a:prstGeom prst="rect">
            <a:avLst/>
          </a:prstGeom>
          <a:noFill/>
        </p:spPr>
        <p:txBody>
          <a:bodyPr wrap="square">
            <a:spAutoFit/>
          </a:bodyPr>
          <a:lstStyle/>
          <a:p>
            <a:pPr algn="l">
              <a:defRPr sz="1100" b="0">
                <a:solidFill>
                  <a:srgbClr val="1C2330"/>
                </a:solidFill>
              </a:defRPr>
            </a:pPr>
            <a:r>
              <a:t>✔  50 API Chuẩn: Đã xây dựng sẵn để thu thập và tích hợp dữ liệu.</a:t>
            </a:r>
          </a:p>
        </p:txBody>
      </p:sp>
      <p:sp>
        <p:nvSpPr>
          <p:cNvPr id="31" name="TextBox 30"/>
          <p:cNvSpPr txBox="1"/>
          <p:nvPr/>
        </p:nvSpPr>
        <p:spPr>
          <a:xfrm>
            <a:off x="8458200" y="4343400"/>
            <a:ext cx="2926080" cy="960120"/>
          </a:xfrm>
          <a:prstGeom prst="rect">
            <a:avLst/>
          </a:prstGeom>
          <a:noFill/>
        </p:spPr>
        <p:txBody>
          <a:bodyPr wrap="square">
            <a:spAutoFit/>
          </a:bodyPr>
          <a:lstStyle/>
          <a:p>
            <a:pPr algn="l">
              <a:defRPr sz="1100" b="0">
                <a:solidFill>
                  <a:srgbClr val="1C2330"/>
                </a:solidFill>
              </a:defRPr>
            </a:pPr>
            <a:r>
              <a:t>✔  Đã kết nối thành công 8 phần mềm nguồn và 35 quy trình nội bộ TCT.</a:t>
            </a:r>
          </a:p>
        </p:txBody>
      </p:sp>
      <p:sp>
        <p:nvSpPr>
          <p:cNvPr id="32" name="TextBox 31"/>
          <p:cNvSpPr txBox="1"/>
          <p:nvPr/>
        </p:nvSpPr>
        <p:spPr>
          <a:xfrm>
            <a:off x="8458200" y="5394960"/>
            <a:ext cx="2926080" cy="960120"/>
          </a:xfrm>
          <a:prstGeom prst="rect">
            <a:avLst/>
          </a:prstGeom>
          <a:noFill/>
        </p:spPr>
        <p:txBody>
          <a:bodyPr wrap="square">
            <a:spAutoFit/>
          </a:bodyPr>
          <a:lstStyle/>
          <a:p>
            <a:pPr algn="l">
              <a:defRPr sz="1100" b="0">
                <a:solidFill>
                  <a:srgbClr val="1C2330"/>
                </a:solidFill>
              </a:defRPr>
            </a:pPr>
            <a:r>
              <a:t>✔  Sẵn sàng mở rộng đấu nối cho các đơn vị thành viên trong năm 2026.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C23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2004"/>
          </a:xfrm>
          <a:prstGeom prst="rect">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
            <a:ext cx="9144000" cy="228600"/>
          </a:xfrm>
          <a:prstGeom prst="rect">
            <a:avLst/>
          </a:prstGeom>
          <a:noFill/>
        </p:spPr>
        <p:txBody>
          <a:bodyPr wrap="square">
            <a:spAutoFit/>
          </a:bodyPr>
          <a:lstStyle/>
          <a:p>
            <a:pPr algn="l">
              <a:defRPr sz="900" b="1">
                <a:solidFill>
                  <a:srgbClr val="9BB9DC"/>
                </a:solidFill>
              </a:defRPr>
            </a:pPr>
            <a:r>
              <a:t>QUẢN TRỊ 5 CẤP THEO CHUẨN PETROVIETNAM — TRẢ LỜI CÂU HỎI BAN GIÁM ĐỐC</a:t>
            </a:r>
          </a:p>
        </p:txBody>
      </p:sp>
      <p:sp>
        <p:nvSpPr>
          <p:cNvPr id="5" name="TextBox 4"/>
          <p:cNvSpPr txBox="1"/>
          <p:nvPr/>
        </p:nvSpPr>
        <p:spPr>
          <a:xfrm>
            <a:off x="731520" y="347472"/>
            <a:ext cx="10058400" cy="502920"/>
          </a:xfrm>
          <a:prstGeom prst="rect">
            <a:avLst/>
          </a:prstGeom>
          <a:noFill/>
        </p:spPr>
        <p:txBody>
          <a:bodyPr wrap="square">
            <a:spAutoFit/>
          </a:bodyPr>
          <a:lstStyle/>
          <a:p>
            <a:pPr algn="l">
              <a:defRPr sz="1900" b="1">
                <a:solidFill>
                  <a:srgbClr val="FFFFFF"/>
                </a:solidFill>
              </a:defRPr>
            </a:pPr>
            <a:r>
              <a:t>QUY CHẾ QUẢN TRỊ &amp; CHỦ QUYỀN DỮ LIỆU CỦA QUẢNG NGÃI</a:t>
            </a:r>
          </a:p>
        </p:txBody>
      </p:sp>
      <p:sp>
        <p:nvSpPr>
          <p:cNvPr id="6" name="TextBox 5"/>
          <p:cNvSpPr txBox="1"/>
          <p:nvPr/>
        </p:nvSpPr>
        <p:spPr>
          <a:xfrm>
            <a:off x="10972800" y="347472"/>
            <a:ext cx="731520" cy="457200"/>
          </a:xfrm>
          <a:prstGeom prst="rect">
            <a:avLst/>
          </a:prstGeom>
          <a:noFill/>
        </p:spPr>
        <p:txBody>
          <a:bodyPr wrap="square">
            <a:spAutoFit/>
          </a:bodyPr>
          <a:lstStyle/>
          <a:p>
            <a:pPr algn="r">
              <a:defRPr sz="1200" b="1">
                <a:solidFill>
                  <a:srgbClr val="9BB9DC"/>
                </a:solidFill>
              </a:defRPr>
            </a:pPr>
            <a:r>
              <a:t>06</a:t>
            </a:r>
          </a:p>
        </p:txBody>
      </p:sp>
      <p:sp>
        <p:nvSpPr>
          <p:cNvPr id="7" name="Rectangle 6"/>
          <p:cNvSpPr/>
          <p:nvPr/>
        </p:nvSpPr>
        <p:spPr>
          <a:xfrm>
            <a:off x="0" y="6583680"/>
            <a:ext cx="12191695" cy="7315"/>
          </a:xfrm>
          <a:prstGeom prst="rect">
            <a:avLst/>
          </a:prstGeom>
          <a:solidFill>
            <a:srgbClr val="C8D0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601968"/>
            <a:ext cx="10698480" cy="228600"/>
          </a:xfrm>
          <a:prstGeom prst="rect">
            <a:avLst/>
          </a:prstGeom>
          <a:noFill/>
        </p:spPr>
        <p:txBody>
          <a:bodyPr wrap="square">
            <a:spAutoFit/>
          </a:bodyPr>
          <a:lstStyle/>
          <a:p>
            <a:pPr algn="l">
              <a:defRPr sz="800" b="0">
                <a:solidFill>
                  <a:srgbClr val="6C7684"/>
                </a:solidFill>
              </a:defRPr>
            </a:pPr>
            <a:r>
              <a:t>PTSC Quảng Ngãi  |  Báo cáo Data Platform &amp; Trục tích hợp  |  Thực hiện Chỉ đạo số 9 BGĐ</a:t>
            </a:r>
          </a:p>
        </p:txBody>
      </p:sp>
      <p:sp>
        <p:nvSpPr>
          <p:cNvPr id="9" name="Rounded Rectangle 8"/>
          <p:cNvSpPr/>
          <p:nvPr/>
        </p:nvSpPr>
        <p:spPr>
          <a:xfrm>
            <a:off x="731520" y="1280160"/>
            <a:ext cx="10728655" cy="822960"/>
          </a:xfrm>
          <a:prstGeom prst="roundRect">
            <a:avLst/>
          </a:prstGeom>
          <a:solidFill>
            <a:srgbClr val="FFFFFF"/>
          </a:solidFill>
          <a:ln w="10160">
            <a:solidFill>
              <a:srgbClr val="0C23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68096" y="1298448"/>
            <a:ext cx="73152" cy="786384"/>
          </a:xfrm>
          <a:prstGeom prst="rect">
            <a:avLst/>
          </a:prstGeom>
          <a:solidFill>
            <a:srgbClr val="0C23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05840" y="1508760"/>
            <a:ext cx="365760" cy="365760"/>
          </a:xfrm>
          <a:prstGeom prst="ellipse">
            <a:avLst/>
          </a:prstGeom>
          <a:solidFill>
            <a:srgbClr val="0C234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300" b="1">
                <a:solidFill>
                  <a:srgbClr val="FFFFFF"/>
                </a:solidFill>
              </a:defRPr>
            </a:pPr>
            <a:r>
              <a:t>1</a:t>
            </a:r>
          </a:p>
        </p:txBody>
      </p:sp>
      <p:sp>
        <p:nvSpPr>
          <p:cNvPr id="12" name="TextBox 11"/>
          <p:cNvSpPr txBox="1"/>
          <p:nvPr/>
        </p:nvSpPr>
        <p:spPr>
          <a:xfrm>
            <a:off x="1508760" y="1389888"/>
            <a:ext cx="8961120" cy="320040"/>
          </a:xfrm>
          <a:prstGeom prst="rect">
            <a:avLst/>
          </a:prstGeom>
          <a:noFill/>
        </p:spPr>
        <p:txBody>
          <a:bodyPr wrap="square">
            <a:spAutoFit/>
          </a:bodyPr>
          <a:lstStyle/>
          <a:p>
            <a:pPr algn="l">
              <a:defRPr sz="1100" b="1">
                <a:solidFill>
                  <a:srgbClr val="0C2344"/>
                </a:solidFill>
              </a:defRPr>
            </a:pPr>
            <a:r>
              <a:t>Hội đồng Quản trị Dữ liệu TCT</a:t>
            </a:r>
          </a:p>
        </p:txBody>
      </p:sp>
      <p:sp>
        <p:nvSpPr>
          <p:cNvPr id="13" name="TextBox 12"/>
          <p:cNvSpPr txBox="1"/>
          <p:nvPr/>
        </p:nvSpPr>
        <p:spPr>
          <a:xfrm>
            <a:off x="1508760" y="1691640"/>
            <a:ext cx="9601200" cy="365760"/>
          </a:xfrm>
          <a:prstGeom prst="rect">
            <a:avLst/>
          </a:prstGeom>
          <a:noFill/>
        </p:spPr>
        <p:txBody>
          <a:bodyPr wrap="square">
            <a:spAutoFit/>
          </a:bodyPr>
          <a:lstStyle/>
          <a:p>
            <a:pPr algn="l">
              <a:defRPr sz="1000" b="0">
                <a:solidFill>
                  <a:srgbClr val="1C2330"/>
                </a:solidFill>
              </a:defRPr>
            </a:pPr>
            <a:r>
              <a:t>Phê duyệt chính sách, tiêu chuẩn toàn tổng</a:t>
            </a:r>
          </a:p>
        </p:txBody>
      </p:sp>
      <p:sp>
        <p:nvSpPr>
          <p:cNvPr id="14" name="Rounded Rectangle 13"/>
          <p:cNvSpPr/>
          <p:nvPr/>
        </p:nvSpPr>
        <p:spPr>
          <a:xfrm>
            <a:off x="731520" y="2194560"/>
            <a:ext cx="10728655" cy="822960"/>
          </a:xfrm>
          <a:prstGeom prst="roundRect">
            <a:avLst/>
          </a:prstGeom>
          <a:solidFill>
            <a:srgbClr val="FFFFFF"/>
          </a:solidFill>
          <a:ln w="10160">
            <a:solidFill>
              <a:srgbClr val="0C23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68096" y="2212848"/>
            <a:ext cx="73152" cy="786384"/>
          </a:xfrm>
          <a:prstGeom prst="rect">
            <a:avLst/>
          </a:prstGeom>
          <a:solidFill>
            <a:srgbClr val="0C23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05840" y="2423160"/>
            <a:ext cx="365760" cy="365760"/>
          </a:xfrm>
          <a:prstGeom prst="ellipse">
            <a:avLst/>
          </a:prstGeom>
          <a:solidFill>
            <a:srgbClr val="0C234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300" b="1">
                <a:solidFill>
                  <a:srgbClr val="FFFFFF"/>
                </a:solidFill>
              </a:defRPr>
            </a:pPr>
            <a:r>
              <a:t>2</a:t>
            </a:r>
          </a:p>
        </p:txBody>
      </p:sp>
      <p:sp>
        <p:nvSpPr>
          <p:cNvPr id="17" name="TextBox 16"/>
          <p:cNvSpPr txBox="1"/>
          <p:nvPr/>
        </p:nvSpPr>
        <p:spPr>
          <a:xfrm>
            <a:off x="1508760" y="2304288"/>
            <a:ext cx="8961120" cy="320040"/>
          </a:xfrm>
          <a:prstGeom prst="rect">
            <a:avLst/>
          </a:prstGeom>
          <a:noFill/>
        </p:spPr>
        <p:txBody>
          <a:bodyPr wrap="square">
            <a:spAutoFit/>
          </a:bodyPr>
          <a:lstStyle/>
          <a:p>
            <a:pPr algn="l">
              <a:defRPr sz="1100" b="1">
                <a:solidFill>
                  <a:srgbClr val="0C2344"/>
                </a:solidFill>
              </a:defRPr>
            </a:pPr>
            <a:r>
              <a:t>Hội đồng Dữ liệu khối / chuyên ngành</a:t>
            </a:r>
          </a:p>
        </p:txBody>
      </p:sp>
      <p:sp>
        <p:nvSpPr>
          <p:cNvPr id="18" name="TextBox 17"/>
          <p:cNvSpPr txBox="1"/>
          <p:nvPr/>
        </p:nvSpPr>
        <p:spPr>
          <a:xfrm>
            <a:off x="1508760" y="2606040"/>
            <a:ext cx="9601200" cy="365760"/>
          </a:xfrm>
          <a:prstGeom prst="rect">
            <a:avLst/>
          </a:prstGeom>
          <a:noFill/>
        </p:spPr>
        <p:txBody>
          <a:bodyPr wrap="square">
            <a:spAutoFit/>
          </a:bodyPr>
          <a:lstStyle/>
          <a:p>
            <a:pPr algn="l">
              <a:defRPr sz="1000" b="0">
                <a:solidFill>
                  <a:srgbClr val="1C2330"/>
                </a:solidFill>
              </a:defRPr>
            </a:pPr>
            <a:r>
              <a:t>Điều phối và đồng bộ tiêu chuẩn liên miền</a:t>
            </a:r>
          </a:p>
        </p:txBody>
      </p:sp>
      <p:sp>
        <p:nvSpPr>
          <p:cNvPr id="19" name="Rounded Rectangle 18"/>
          <p:cNvSpPr/>
          <p:nvPr/>
        </p:nvSpPr>
        <p:spPr>
          <a:xfrm>
            <a:off x="731520" y="3108960"/>
            <a:ext cx="10728655" cy="1463040"/>
          </a:xfrm>
          <a:prstGeom prst="roundRect">
            <a:avLst/>
          </a:prstGeom>
          <a:solidFill>
            <a:srgbClr val="FFF5E1"/>
          </a:solidFill>
          <a:ln w="25400">
            <a:solidFill>
              <a:srgbClr val="B47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68096" y="3127248"/>
            <a:ext cx="73152" cy="1426464"/>
          </a:xfrm>
          <a:prstGeom prst="rect">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05840" y="3657600"/>
            <a:ext cx="365760" cy="365760"/>
          </a:xfrm>
          <a:prstGeom prst="ellipse">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300" b="1">
                <a:solidFill>
                  <a:srgbClr val="FFFFFF"/>
                </a:solidFill>
              </a:defRPr>
            </a:pPr>
            <a:r>
              <a:t>3</a:t>
            </a:r>
          </a:p>
        </p:txBody>
      </p:sp>
      <p:sp>
        <p:nvSpPr>
          <p:cNvPr id="22" name="TextBox 21"/>
          <p:cNvSpPr txBox="1"/>
          <p:nvPr/>
        </p:nvSpPr>
        <p:spPr>
          <a:xfrm>
            <a:off x="1508760" y="3218688"/>
            <a:ext cx="8961120" cy="320040"/>
          </a:xfrm>
          <a:prstGeom prst="rect">
            <a:avLst/>
          </a:prstGeom>
          <a:noFill/>
        </p:spPr>
        <p:txBody>
          <a:bodyPr wrap="square">
            <a:spAutoFit/>
          </a:bodyPr>
          <a:lstStyle/>
          <a:p>
            <a:pPr algn="l">
              <a:defRPr sz="1200" b="1">
                <a:solidFill>
                  <a:srgbClr val="B47300"/>
                </a:solidFill>
              </a:defRPr>
            </a:pPr>
            <a:r>
              <a:t>CHỦ QUẢN DỮ LIỆU — LÃNH ĐẠO ĐƠN VỊ (QUẢNG NGÃI)</a:t>
            </a:r>
          </a:p>
        </p:txBody>
      </p:sp>
      <p:sp>
        <p:nvSpPr>
          <p:cNvPr id="23" name="TextBox 22"/>
          <p:cNvSpPr txBox="1"/>
          <p:nvPr/>
        </p:nvSpPr>
        <p:spPr>
          <a:xfrm>
            <a:off x="1508760" y="3566160"/>
            <a:ext cx="9601200" cy="914400"/>
          </a:xfrm>
          <a:prstGeom prst="rect">
            <a:avLst/>
          </a:prstGeom>
          <a:noFill/>
        </p:spPr>
        <p:txBody>
          <a:bodyPr wrap="square">
            <a:spAutoFit/>
          </a:bodyPr>
          <a:lstStyle/>
          <a:p>
            <a:pPr algn="l">
              <a:defRPr sz="1100" b="0">
                <a:solidFill>
                  <a:srgbClr val="1C2330"/>
                </a:solidFill>
              </a:defRPr>
            </a:pPr>
            <a:r>
              <a:t>★ SỞ HỮU NGHIỆP VỤ &amp; QUYỀN QUYẾT ĐỊNH (DATA OWNER):</a:t>
            </a:r>
            <a:br/>
            <a:r>
              <a:t>• Phê duyệt phân loại dữ liệu của đơn vị.</a:t>
            </a:r>
            <a:br/>
            <a:r>
              <a:t>• QUYẾT ĐỊNH DỮ LIỆU NÀO ĐƯỢC CHIA SẺ, DỮ LIỆU NÀO Ở LẠI NỘI BỘ.</a:t>
            </a:r>
            <a:br/>
            <a:r>
              <a:t>• Trách nhiệm giải trình cao nhất đặt tại cấp này!</a:t>
            </a:r>
          </a:p>
        </p:txBody>
      </p:sp>
      <p:sp>
        <p:nvSpPr>
          <p:cNvPr id="24" name="Rounded Rectangle 23"/>
          <p:cNvSpPr/>
          <p:nvPr/>
        </p:nvSpPr>
        <p:spPr>
          <a:xfrm>
            <a:off x="731520" y="4663440"/>
            <a:ext cx="10728655" cy="822960"/>
          </a:xfrm>
          <a:prstGeom prst="roundRect">
            <a:avLst/>
          </a:prstGeom>
          <a:solidFill>
            <a:srgbClr val="F3F5F8"/>
          </a:solidFill>
          <a:ln w="10160">
            <a:solidFill>
              <a:srgbClr val="6C76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68096" y="4681728"/>
            <a:ext cx="73152" cy="786384"/>
          </a:xfrm>
          <a:prstGeom prst="rect">
            <a:avLst/>
          </a:prstGeom>
          <a:solidFill>
            <a:srgbClr val="6C76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05840" y="4892040"/>
            <a:ext cx="365760" cy="365760"/>
          </a:xfrm>
          <a:prstGeom prst="ellipse">
            <a:avLst/>
          </a:prstGeom>
          <a:solidFill>
            <a:srgbClr val="6C768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300" b="1">
                <a:solidFill>
                  <a:srgbClr val="FFFFFF"/>
                </a:solidFill>
              </a:defRPr>
            </a:pPr>
            <a:r>
              <a:t>4</a:t>
            </a:r>
          </a:p>
        </p:txBody>
      </p:sp>
      <p:sp>
        <p:nvSpPr>
          <p:cNvPr id="27" name="TextBox 26"/>
          <p:cNvSpPr txBox="1"/>
          <p:nvPr/>
        </p:nvSpPr>
        <p:spPr>
          <a:xfrm>
            <a:off x="1508760" y="4773168"/>
            <a:ext cx="8961120" cy="320040"/>
          </a:xfrm>
          <a:prstGeom prst="rect">
            <a:avLst/>
          </a:prstGeom>
          <a:noFill/>
        </p:spPr>
        <p:txBody>
          <a:bodyPr wrap="square">
            <a:spAutoFit/>
          </a:bodyPr>
          <a:lstStyle/>
          <a:p>
            <a:pPr algn="l">
              <a:defRPr sz="1100" b="1">
                <a:solidFill>
                  <a:srgbClr val="6C7684"/>
                </a:solidFill>
              </a:defRPr>
            </a:pPr>
            <a:r>
              <a:t>Quản trị miền dữ liệu (Data Stewards)</a:t>
            </a:r>
          </a:p>
        </p:txBody>
      </p:sp>
      <p:sp>
        <p:nvSpPr>
          <p:cNvPr id="28" name="TextBox 27"/>
          <p:cNvSpPr txBox="1"/>
          <p:nvPr/>
        </p:nvSpPr>
        <p:spPr>
          <a:xfrm>
            <a:off x="1508760" y="5074920"/>
            <a:ext cx="9601200" cy="365760"/>
          </a:xfrm>
          <a:prstGeom prst="rect">
            <a:avLst/>
          </a:prstGeom>
          <a:noFill/>
        </p:spPr>
        <p:txBody>
          <a:bodyPr wrap="square">
            <a:spAutoFit/>
          </a:bodyPr>
          <a:lstStyle/>
          <a:p>
            <a:pPr algn="l">
              <a:defRPr sz="1000" b="0">
                <a:solidFill>
                  <a:srgbClr val="1C2330"/>
                </a:solidFill>
              </a:defRPr>
            </a:pPr>
            <a:r>
              <a:t>Thực thi ánh xạ, từ điển và làm sạch dữ liệu</a:t>
            </a:r>
          </a:p>
        </p:txBody>
      </p:sp>
      <p:sp>
        <p:nvSpPr>
          <p:cNvPr id="29" name="Rounded Rectangle 28"/>
          <p:cNvSpPr/>
          <p:nvPr/>
        </p:nvSpPr>
        <p:spPr>
          <a:xfrm>
            <a:off x="731520" y="5577840"/>
            <a:ext cx="10728655" cy="822960"/>
          </a:xfrm>
          <a:prstGeom prst="roundRect">
            <a:avLst/>
          </a:prstGeom>
          <a:solidFill>
            <a:srgbClr val="F3F5F8"/>
          </a:solidFill>
          <a:ln w="10160">
            <a:solidFill>
              <a:srgbClr val="6C76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68096" y="5596128"/>
            <a:ext cx="73152" cy="786384"/>
          </a:xfrm>
          <a:prstGeom prst="rect">
            <a:avLst/>
          </a:prstGeom>
          <a:solidFill>
            <a:srgbClr val="6C76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005840" y="5806440"/>
            <a:ext cx="365760" cy="365760"/>
          </a:xfrm>
          <a:prstGeom prst="ellipse">
            <a:avLst/>
          </a:prstGeom>
          <a:solidFill>
            <a:srgbClr val="6C768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300" b="1">
                <a:solidFill>
                  <a:srgbClr val="FFFFFF"/>
                </a:solidFill>
              </a:defRPr>
            </a:pPr>
            <a:r>
              <a:t>5</a:t>
            </a:r>
          </a:p>
        </p:txBody>
      </p:sp>
      <p:sp>
        <p:nvSpPr>
          <p:cNvPr id="32" name="TextBox 31"/>
          <p:cNvSpPr txBox="1"/>
          <p:nvPr/>
        </p:nvSpPr>
        <p:spPr>
          <a:xfrm>
            <a:off x="1508760" y="5687568"/>
            <a:ext cx="8961120" cy="320040"/>
          </a:xfrm>
          <a:prstGeom prst="rect">
            <a:avLst/>
          </a:prstGeom>
          <a:noFill/>
        </p:spPr>
        <p:txBody>
          <a:bodyPr wrap="square">
            <a:spAutoFit/>
          </a:bodyPr>
          <a:lstStyle/>
          <a:p>
            <a:pPr algn="l">
              <a:defRPr sz="1100" b="1">
                <a:solidFill>
                  <a:srgbClr val="6C7684"/>
                </a:solidFill>
              </a:defRPr>
            </a:pPr>
            <a:r>
              <a:t>Ban NCPT&amp;CĐS TCT (Đơn vị vận hành)</a:t>
            </a:r>
          </a:p>
        </p:txBody>
      </p:sp>
      <p:sp>
        <p:nvSpPr>
          <p:cNvPr id="33" name="TextBox 32"/>
          <p:cNvSpPr txBox="1"/>
          <p:nvPr/>
        </p:nvSpPr>
        <p:spPr>
          <a:xfrm>
            <a:off x="1508760" y="5989320"/>
            <a:ext cx="9601200" cy="365760"/>
          </a:xfrm>
          <a:prstGeom prst="rect">
            <a:avLst/>
          </a:prstGeom>
          <a:noFill/>
        </p:spPr>
        <p:txBody>
          <a:bodyPr wrap="square">
            <a:spAutoFit/>
          </a:bodyPr>
          <a:lstStyle/>
          <a:p>
            <a:pPr algn="l">
              <a:defRPr sz="1000" b="0">
                <a:solidFill>
                  <a:srgbClr val="1C2330"/>
                </a:solidFill>
              </a:defRPr>
            </a:pPr>
            <a:r>
              <a:t>Chỉ vận hành kỹ thuật nền tảng — KHÔNG SỞ HỮU DỮ LIỆU</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C23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2004"/>
          </a:xfrm>
          <a:prstGeom prst="rect">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
            <a:ext cx="9144000" cy="228600"/>
          </a:xfrm>
          <a:prstGeom prst="rect">
            <a:avLst/>
          </a:prstGeom>
          <a:noFill/>
        </p:spPr>
        <p:txBody>
          <a:bodyPr wrap="square">
            <a:spAutoFit/>
          </a:bodyPr>
          <a:lstStyle/>
          <a:p>
            <a:pPr algn="l">
              <a:defRPr sz="900" b="1">
                <a:solidFill>
                  <a:srgbClr val="9BB9DC"/>
                </a:solidFill>
              </a:defRPr>
            </a:pPr>
            <a:r>
              <a:t>BẢO MẬT &amp; CHỦ QUYỀN DỮ LIỆU — THEO QUY CHẾ TỔNG CÔNG TY</a:t>
            </a:r>
          </a:p>
        </p:txBody>
      </p:sp>
      <p:sp>
        <p:nvSpPr>
          <p:cNvPr id="5" name="TextBox 4"/>
          <p:cNvSpPr txBox="1"/>
          <p:nvPr/>
        </p:nvSpPr>
        <p:spPr>
          <a:xfrm>
            <a:off x="731520" y="347472"/>
            <a:ext cx="10058400" cy="502920"/>
          </a:xfrm>
          <a:prstGeom prst="rect">
            <a:avLst/>
          </a:prstGeom>
          <a:noFill/>
        </p:spPr>
        <p:txBody>
          <a:bodyPr wrap="square">
            <a:spAutoFit/>
          </a:bodyPr>
          <a:lstStyle/>
          <a:p>
            <a:pPr algn="l">
              <a:defRPr sz="1900" b="1">
                <a:solidFill>
                  <a:srgbClr val="FFFFFF"/>
                </a:solidFill>
              </a:defRPr>
            </a:pPr>
            <a:r>
              <a:t>DỮ LIỆU NÀO ĐƯỢC CHUYỂN ĐI? DỮ LIỆU NÀO Ở LẠI NỘI BỘ?</a:t>
            </a:r>
          </a:p>
        </p:txBody>
      </p:sp>
      <p:sp>
        <p:nvSpPr>
          <p:cNvPr id="6" name="TextBox 5"/>
          <p:cNvSpPr txBox="1"/>
          <p:nvPr/>
        </p:nvSpPr>
        <p:spPr>
          <a:xfrm>
            <a:off x="10972800" y="347472"/>
            <a:ext cx="731520" cy="457200"/>
          </a:xfrm>
          <a:prstGeom prst="rect">
            <a:avLst/>
          </a:prstGeom>
          <a:noFill/>
        </p:spPr>
        <p:txBody>
          <a:bodyPr wrap="square">
            <a:spAutoFit/>
          </a:bodyPr>
          <a:lstStyle/>
          <a:p>
            <a:pPr algn="r">
              <a:defRPr sz="1200" b="1">
                <a:solidFill>
                  <a:srgbClr val="9BB9DC"/>
                </a:solidFill>
              </a:defRPr>
            </a:pPr>
            <a:r>
              <a:t>07</a:t>
            </a:r>
          </a:p>
        </p:txBody>
      </p:sp>
      <p:sp>
        <p:nvSpPr>
          <p:cNvPr id="7" name="Rectangle 6"/>
          <p:cNvSpPr/>
          <p:nvPr/>
        </p:nvSpPr>
        <p:spPr>
          <a:xfrm>
            <a:off x="0" y="6583680"/>
            <a:ext cx="12191695" cy="7315"/>
          </a:xfrm>
          <a:prstGeom prst="rect">
            <a:avLst/>
          </a:prstGeom>
          <a:solidFill>
            <a:srgbClr val="C8D0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601968"/>
            <a:ext cx="10698480" cy="228600"/>
          </a:xfrm>
          <a:prstGeom prst="rect">
            <a:avLst/>
          </a:prstGeom>
          <a:noFill/>
        </p:spPr>
        <p:txBody>
          <a:bodyPr wrap="square">
            <a:spAutoFit/>
          </a:bodyPr>
          <a:lstStyle/>
          <a:p>
            <a:pPr algn="l">
              <a:defRPr sz="800" b="0">
                <a:solidFill>
                  <a:srgbClr val="6C7684"/>
                </a:solidFill>
              </a:defRPr>
            </a:pPr>
            <a:r>
              <a:t>PTSC Quảng Ngãi  |  Báo cáo Data Platform &amp; Trục tích hợp  |  Thực hiện Chỉ đạo số 9 BGĐ</a:t>
            </a:r>
          </a:p>
        </p:txBody>
      </p:sp>
      <p:sp>
        <p:nvSpPr>
          <p:cNvPr id="9" name="Rounded Rectangle 8"/>
          <p:cNvSpPr/>
          <p:nvPr/>
        </p:nvSpPr>
        <p:spPr>
          <a:xfrm>
            <a:off x="731520" y="1371600"/>
            <a:ext cx="5120640" cy="4297680"/>
          </a:xfrm>
          <a:prstGeom prst="roundRect">
            <a:avLst/>
          </a:prstGeom>
          <a:solidFill>
            <a:srgbClr val="E6F0FC"/>
          </a:solidFill>
          <a:ln w="19050">
            <a:solidFill>
              <a:srgbClr val="1E64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371600"/>
            <a:ext cx="5120640" cy="457200"/>
          </a:xfrm>
          <a:prstGeom prst="rect">
            <a:avLst/>
          </a:prstGeom>
          <a:solidFill>
            <a:srgbClr val="1E6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389888"/>
            <a:ext cx="5120640" cy="411480"/>
          </a:xfrm>
          <a:prstGeom prst="rect">
            <a:avLst/>
          </a:prstGeom>
          <a:noFill/>
        </p:spPr>
        <p:txBody>
          <a:bodyPr wrap="square">
            <a:spAutoFit/>
          </a:bodyPr>
          <a:lstStyle/>
          <a:p>
            <a:pPr algn="ctr">
              <a:defRPr sz="1200" b="1">
                <a:solidFill>
                  <a:srgbClr val="FFFFFF"/>
                </a:solidFill>
              </a:defRPr>
            </a:pPr>
            <a:r>
              <a:t>DỮ LIỆU Ở LẠI NỘI BỘ QUẢNG NGÃI (ON-PREM)</a:t>
            </a:r>
          </a:p>
        </p:txBody>
      </p:sp>
      <p:sp>
        <p:nvSpPr>
          <p:cNvPr id="12" name="TextBox 11"/>
          <p:cNvSpPr txBox="1"/>
          <p:nvPr/>
        </p:nvSpPr>
        <p:spPr>
          <a:xfrm>
            <a:off x="1005840" y="2011680"/>
            <a:ext cx="4572000" cy="274320"/>
          </a:xfrm>
          <a:prstGeom prst="rect">
            <a:avLst/>
          </a:prstGeom>
          <a:noFill/>
        </p:spPr>
        <p:txBody>
          <a:bodyPr wrap="square">
            <a:spAutoFit/>
          </a:bodyPr>
          <a:lstStyle/>
          <a:p>
            <a:pPr algn="l">
              <a:defRPr sz="1100" b="1">
                <a:solidFill>
                  <a:srgbClr val="0C2344"/>
                </a:solidFill>
              </a:defRPr>
            </a:pPr>
            <a:r>
              <a:t>🔒  Dữ liệu chuyên ngành chi tiết:</a:t>
            </a:r>
          </a:p>
        </p:txBody>
      </p:sp>
      <p:sp>
        <p:nvSpPr>
          <p:cNvPr id="13" name="TextBox 12"/>
          <p:cNvSpPr txBox="1"/>
          <p:nvPr/>
        </p:nvSpPr>
        <p:spPr>
          <a:xfrm>
            <a:off x="1234440" y="2267712"/>
            <a:ext cx="4297680" cy="594360"/>
          </a:xfrm>
          <a:prstGeom prst="rect">
            <a:avLst/>
          </a:prstGeom>
          <a:noFill/>
        </p:spPr>
        <p:txBody>
          <a:bodyPr wrap="square">
            <a:spAutoFit/>
          </a:bodyPr>
          <a:lstStyle/>
          <a:p>
            <a:pPr algn="l">
              <a:defRPr sz="1000" b="0">
                <a:solidFill>
                  <a:srgbClr val="1C2330"/>
                </a:solidFill>
              </a:defRPr>
            </a:pPr>
            <a:r>
              <a:t>Số liệu sản xuất, nhật trình thi công, chi tiết thiết bị xưởng.</a:t>
            </a:r>
          </a:p>
        </p:txBody>
      </p:sp>
      <p:sp>
        <p:nvSpPr>
          <p:cNvPr id="14" name="TextBox 13"/>
          <p:cNvSpPr txBox="1"/>
          <p:nvPr/>
        </p:nvSpPr>
        <p:spPr>
          <a:xfrm>
            <a:off x="1005840" y="2926080"/>
            <a:ext cx="4572000" cy="274320"/>
          </a:xfrm>
          <a:prstGeom prst="rect">
            <a:avLst/>
          </a:prstGeom>
          <a:noFill/>
        </p:spPr>
        <p:txBody>
          <a:bodyPr wrap="square">
            <a:spAutoFit/>
          </a:bodyPr>
          <a:lstStyle/>
          <a:p>
            <a:pPr algn="l">
              <a:defRPr sz="1100" b="1">
                <a:solidFill>
                  <a:srgbClr val="0C2344"/>
                </a:solidFill>
              </a:defRPr>
            </a:pPr>
            <a:r>
              <a:t>🔒  Dữ liệu nhạy cảm kinh doanh:</a:t>
            </a:r>
          </a:p>
        </p:txBody>
      </p:sp>
      <p:sp>
        <p:nvSpPr>
          <p:cNvPr id="15" name="TextBox 14"/>
          <p:cNvSpPr txBox="1"/>
          <p:nvPr/>
        </p:nvSpPr>
        <p:spPr>
          <a:xfrm>
            <a:off x="1234440" y="3182112"/>
            <a:ext cx="4297680" cy="594360"/>
          </a:xfrm>
          <a:prstGeom prst="rect">
            <a:avLst/>
          </a:prstGeom>
          <a:noFill/>
        </p:spPr>
        <p:txBody>
          <a:bodyPr wrap="square">
            <a:spAutoFit/>
          </a:bodyPr>
          <a:lstStyle/>
          <a:p>
            <a:pPr algn="l">
              <a:defRPr sz="1000" b="0">
                <a:solidFill>
                  <a:srgbClr val="1C2330"/>
                </a:solidFill>
              </a:defRPr>
            </a:pPr>
            <a:r>
              <a:t>Định mức giá thầu, chi phí riêng từng dự án, biên lợi nhuận.</a:t>
            </a:r>
          </a:p>
        </p:txBody>
      </p:sp>
      <p:sp>
        <p:nvSpPr>
          <p:cNvPr id="16" name="TextBox 15"/>
          <p:cNvSpPr txBox="1"/>
          <p:nvPr/>
        </p:nvSpPr>
        <p:spPr>
          <a:xfrm>
            <a:off x="1005840" y="3840480"/>
            <a:ext cx="4572000" cy="274320"/>
          </a:xfrm>
          <a:prstGeom prst="rect">
            <a:avLst/>
          </a:prstGeom>
          <a:noFill/>
        </p:spPr>
        <p:txBody>
          <a:bodyPr wrap="square">
            <a:spAutoFit/>
          </a:bodyPr>
          <a:lstStyle/>
          <a:p>
            <a:pPr algn="l">
              <a:defRPr sz="1100" b="1">
                <a:solidFill>
                  <a:srgbClr val="0C2344"/>
                </a:solidFill>
              </a:defRPr>
            </a:pPr>
            <a:r>
              <a:t>🔒  Dữ liệu cá nhân chưa xử lý:</a:t>
            </a:r>
          </a:p>
        </p:txBody>
      </p:sp>
      <p:sp>
        <p:nvSpPr>
          <p:cNvPr id="17" name="TextBox 16"/>
          <p:cNvSpPr txBox="1"/>
          <p:nvPr/>
        </p:nvSpPr>
        <p:spPr>
          <a:xfrm>
            <a:off x="1234440" y="4096512"/>
            <a:ext cx="4297680" cy="594360"/>
          </a:xfrm>
          <a:prstGeom prst="rect">
            <a:avLst/>
          </a:prstGeom>
          <a:noFill/>
        </p:spPr>
        <p:txBody>
          <a:bodyPr wrap="square">
            <a:spAutoFit/>
          </a:bodyPr>
          <a:lstStyle/>
          <a:p>
            <a:pPr algn="l">
              <a:defRPr sz="1000" b="0">
                <a:solidFill>
                  <a:srgbClr val="1C2330"/>
                </a:solidFill>
              </a:defRPr>
            </a:pPr>
            <a:r>
              <a:t>Hồ sơ nhân sự chi tiết, lương thưởng, CCCD (theo Luật BVDLCN).</a:t>
            </a:r>
          </a:p>
        </p:txBody>
      </p:sp>
      <p:sp>
        <p:nvSpPr>
          <p:cNvPr id="18" name="TextBox 17"/>
          <p:cNvSpPr txBox="1"/>
          <p:nvPr/>
        </p:nvSpPr>
        <p:spPr>
          <a:xfrm>
            <a:off x="1005840" y="4754880"/>
            <a:ext cx="4572000" cy="274320"/>
          </a:xfrm>
          <a:prstGeom prst="rect">
            <a:avLst/>
          </a:prstGeom>
          <a:noFill/>
        </p:spPr>
        <p:txBody>
          <a:bodyPr wrap="square">
            <a:spAutoFit/>
          </a:bodyPr>
          <a:lstStyle/>
          <a:p>
            <a:pPr algn="l">
              <a:defRPr sz="1100" b="1">
                <a:solidFill>
                  <a:srgbClr val="0C2344"/>
                </a:solidFill>
              </a:defRPr>
            </a:pPr>
            <a:r>
              <a:t>🔒  Toàn bộ cơ sở dữ liệu gốc:</a:t>
            </a:r>
          </a:p>
        </p:txBody>
      </p:sp>
      <p:sp>
        <p:nvSpPr>
          <p:cNvPr id="19" name="TextBox 18"/>
          <p:cNvSpPr txBox="1"/>
          <p:nvPr/>
        </p:nvSpPr>
        <p:spPr>
          <a:xfrm>
            <a:off x="1234440" y="5010912"/>
            <a:ext cx="4297680" cy="594360"/>
          </a:xfrm>
          <a:prstGeom prst="rect">
            <a:avLst/>
          </a:prstGeom>
          <a:noFill/>
        </p:spPr>
        <p:txBody>
          <a:bodyPr wrap="square">
            <a:spAutoFit/>
          </a:bodyPr>
          <a:lstStyle/>
          <a:p>
            <a:pPr algn="l">
              <a:defRPr sz="1000" b="0">
                <a:solidFill>
                  <a:srgbClr val="1C2330"/>
                </a:solidFill>
              </a:defRPr>
            </a:pPr>
            <a:r>
              <a:t>Kế toán, Nhân sự, Vật tư giữ nguyên tại chỗ, bảo mật 100%.</a:t>
            </a:r>
          </a:p>
        </p:txBody>
      </p:sp>
      <p:sp>
        <p:nvSpPr>
          <p:cNvPr id="20" name="Rounded Rectangle 19"/>
          <p:cNvSpPr/>
          <p:nvPr/>
        </p:nvSpPr>
        <p:spPr>
          <a:xfrm>
            <a:off x="6217920" y="1371600"/>
            <a:ext cx="5212080" cy="4297680"/>
          </a:xfrm>
          <a:prstGeom prst="roundRect">
            <a:avLst/>
          </a:prstGeom>
          <a:solidFill>
            <a:srgbClr val="E8F8EF"/>
          </a:solidFill>
          <a:ln w="19050">
            <a:solidFill>
              <a:srgbClr val="158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1371600"/>
            <a:ext cx="5212080" cy="457200"/>
          </a:xfrm>
          <a:prstGeom prst="rect">
            <a:avLst/>
          </a:prstGeom>
          <a:solidFill>
            <a:srgbClr val="158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17920" y="1389888"/>
            <a:ext cx="5212080" cy="411480"/>
          </a:xfrm>
          <a:prstGeom prst="rect">
            <a:avLst/>
          </a:prstGeom>
          <a:noFill/>
        </p:spPr>
        <p:txBody>
          <a:bodyPr wrap="square">
            <a:spAutoFit/>
          </a:bodyPr>
          <a:lstStyle/>
          <a:p>
            <a:pPr algn="ctr">
              <a:defRPr sz="1200" b="1">
                <a:solidFill>
                  <a:srgbClr val="FFFFFF"/>
                </a:solidFill>
              </a:defRPr>
            </a:pPr>
            <a:r>
              <a:t>DỮ LIỆU ĐƯỢC PHÉP ĐỒNG BỘ VỀ TCT</a:t>
            </a:r>
          </a:p>
        </p:txBody>
      </p:sp>
      <p:sp>
        <p:nvSpPr>
          <p:cNvPr id="23" name="TextBox 22"/>
          <p:cNvSpPr txBox="1"/>
          <p:nvPr/>
        </p:nvSpPr>
        <p:spPr>
          <a:xfrm>
            <a:off x="6492240" y="2011680"/>
            <a:ext cx="4663440" cy="274320"/>
          </a:xfrm>
          <a:prstGeom prst="rect">
            <a:avLst/>
          </a:prstGeom>
          <a:noFill/>
        </p:spPr>
        <p:txBody>
          <a:bodyPr wrap="square">
            <a:spAutoFit/>
          </a:bodyPr>
          <a:lstStyle/>
          <a:p>
            <a:pPr algn="l">
              <a:defRPr sz="1100" b="1">
                <a:solidFill>
                  <a:srgbClr val="158050"/>
                </a:solidFill>
              </a:defRPr>
            </a:pPr>
            <a:r>
              <a:t>✔  29 Danh mục Master Data:</a:t>
            </a:r>
          </a:p>
        </p:txBody>
      </p:sp>
      <p:sp>
        <p:nvSpPr>
          <p:cNvPr id="24" name="TextBox 23"/>
          <p:cNvSpPr txBox="1"/>
          <p:nvPr/>
        </p:nvSpPr>
        <p:spPr>
          <a:xfrm>
            <a:off x="6720840" y="2267712"/>
            <a:ext cx="4389120" cy="594360"/>
          </a:xfrm>
          <a:prstGeom prst="rect">
            <a:avLst/>
          </a:prstGeom>
          <a:noFill/>
        </p:spPr>
        <p:txBody>
          <a:bodyPr wrap="square">
            <a:spAutoFit/>
          </a:bodyPr>
          <a:lstStyle/>
          <a:p>
            <a:pPr algn="l">
              <a:defRPr sz="1000" b="0">
                <a:solidFill>
                  <a:srgbClr val="1C2330"/>
                </a:solidFill>
              </a:defRPr>
            </a:pPr>
            <a:r>
              <a:t>Mã khách hàng, đối tác, danh mục vật tư dùng chung (đã ánh xạ).</a:t>
            </a:r>
          </a:p>
        </p:txBody>
      </p:sp>
      <p:sp>
        <p:nvSpPr>
          <p:cNvPr id="25" name="TextBox 24"/>
          <p:cNvSpPr txBox="1"/>
          <p:nvPr/>
        </p:nvSpPr>
        <p:spPr>
          <a:xfrm>
            <a:off x="6492240" y="2926080"/>
            <a:ext cx="4663440" cy="274320"/>
          </a:xfrm>
          <a:prstGeom prst="rect">
            <a:avLst/>
          </a:prstGeom>
          <a:noFill/>
        </p:spPr>
        <p:txBody>
          <a:bodyPr wrap="square">
            <a:spAutoFit/>
          </a:bodyPr>
          <a:lstStyle/>
          <a:p>
            <a:pPr algn="l">
              <a:defRPr sz="1100" b="1">
                <a:solidFill>
                  <a:srgbClr val="158050"/>
                </a:solidFill>
              </a:defRPr>
            </a:pPr>
            <a:r>
              <a:t>✔  Báo cáo số liệu tổng hợp:</a:t>
            </a:r>
          </a:p>
        </p:txBody>
      </p:sp>
      <p:sp>
        <p:nvSpPr>
          <p:cNvPr id="26" name="TextBox 25"/>
          <p:cNvSpPr txBox="1"/>
          <p:nvPr/>
        </p:nvSpPr>
        <p:spPr>
          <a:xfrm>
            <a:off x="6720840" y="3182112"/>
            <a:ext cx="4389120" cy="594360"/>
          </a:xfrm>
          <a:prstGeom prst="rect">
            <a:avLst/>
          </a:prstGeom>
          <a:noFill/>
        </p:spPr>
        <p:txBody>
          <a:bodyPr wrap="square">
            <a:spAutoFit/>
          </a:bodyPr>
          <a:lstStyle/>
          <a:p>
            <a:pPr algn="l">
              <a:defRPr sz="1000" b="0">
                <a:solidFill>
                  <a:srgbClr val="1C2330"/>
                </a:solidFill>
              </a:defRPr>
            </a:pPr>
            <a:r>
              <a:t>Doanh thu, chi phí tổng hợp, tồn kho chung phục vụ hợp nhất toàn PTSC.</a:t>
            </a:r>
          </a:p>
        </p:txBody>
      </p:sp>
      <p:sp>
        <p:nvSpPr>
          <p:cNvPr id="27" name="TextBox 26"/>
          <p:cNvSpPr txBox="1"/>
          <p:nvPr/>
        </p:nvSpPr>
        <p:spPr>
          <a:xfrm>
            <a:off x="6492240" y="3840480"/>
            <a:ext cx="4663440" cy="274320"/>
          </a:xfrm>
          <a:prstGeom prst="rect">
            <a:avLst/>
          </a:prstGeom>
          <a:noFill/>
        </p:spPr>
        <p:txBody>
          <a:bodyPr wrap="square">
            <a:spAutoFit/>
          </a:bodyPr>
          <a:lstStyle/>
          <a:p>
            <a:pPr algn="l">
              <a:defRPr sz="1100" b="1">
                <a:solidFill>
                  <a:srgbClr val="158050"/>
                </a:solidFill>
              </a:defRPr>
            </a:pPr>
            <a:r>
              <a:t>✔  Dữ liệu đã che mờ (Masking):</a:t>
            </a:r>
          </a:p>
        </p:txBody>
      </p:sp>
      <p:sp>
        <p:nvSpPr>
          <p:cNvPr id="28" name="TextBox 27"/>
          <p:cNvSpPr txBox="1"/>
          <p:nvPr/>
        </p:nvSpPr>
        <p:spPr>
          <a:xfrm>
            <a:off x="6720840" y="4096512"/>
            <a:ext cx="4389120" cy="594360"/>
          </a:xfrm>
          <a:prstGeom prst="rect">
            <a:avLst/>
          </a:prstGeom>
          <a:noFill/>
        </p:spPr>
        <p:txBody>
          <a:bodyPr wrap="square">
            <a:spAutoFit/>
          </a:bodyPr>
          <a:lstStyle/>
          <a:p>
            <a:pPr algn="l">
              <a:defRPr sz="1000" b="0">
                <a:solidFill>
                  <a:srgbClr val="1C2330"/>
                </a:solidFill>
              </a:defRPr>
            </a:pPr>
            <a:r>
              <a:t>Mã hóa thông tin nhạy cảm trước khi truyền (tuân thủ Nghị định 13).</a:t>
            </a:r>
          </a:p>
        </p:txBody>
      </p:sp>
      <p:sp>
        <p:nvSpPr>
          <p:cNvPr id="29" name="TextBox 28"/>
          <p:cNvSpPr txBox="1"/>
          <p:nvPr/>
        </p:nvSpPr>
        <p:spPr>
          <a:xfrm>
            <a:off x="6492240" y="4754880"/>
            <a:ext cx="4663440" cy="274320"/>
          </a:xfrm>
          <a:prstGeom prst="rect">
            <a:avLst/>
          </a:prstGeom>
          <a:noFill/>
        </p:spPr>
        <p:txBody>
          <a:bodyPr wrap="square">
            <a:spAutoFit/>
          </a:bodyPr>
          <a:lstStyle/>
          <a:p>
            <a:pPr algn="l">
              <a:defRPr sz="1100" b="1">
                <a:solidFill>
                  <a:srgbClr val="158050"/>
                </a:solidFill>
              </a:defRPr>
            </a:pPr>
            <a:r>
              <a:t>✔  Đổ vào Tenant riêng cách ly:</a:t>
            </a:r>
          </a:p>
        </p:txBody>
      </p:sp>
      <p:sp>
        <p:nvSpPr>
          <p:cNvPr id="30" name="TextBox 29"/>
          <p:cNvSpPr txBox="1"/>
          <p:nvPr/>
        </p:nvSpPr>
        <p:spPr>
          <a:xfrm>
            <a:off x="6720840" y="5010912"/>
            <a:ext cx="4389120" cy="594360"/>
          </a:xfrm>
          <a:prstGeom prst="rect">
            <a:avLst/>
          </a:prstGeom>
          <a:noFill/>
        </p:spPr>
        <p:txBody>
          <a:bodyPr wrap="square">
            <a:spAutoFit/>
          </a:bodyPr>
          <a:lstStyle/>
          <a:p>
            <a:pPr algn="l">
              <a:defRPr sz="1000" b="0">
                <a:solidFill>
                  <a:srgbClr val="1C2330"/>
                </a:solidFill>
              </a:defRPr>
            </a:pPr>
            <a:r>
              <a:t>Chỉ Quảng Ngãi xem được số liệu chi tiết của mình trên Cloud TCT.</a:t>
            </a:r>
          </a:p>
        </p:txBody>
      </p:sp>
      <p:sp>
        <p:nvSpPr>
          <p:cNvPr id="31" name="Rounded Rectangle 30"/>
          <p:cNvSpPr/>
          <p:nvPr/>
        </p:nvSpPr>
        <p:spPr>
          <a:xfrm>
            <a:off x="731520" y="5806440"/>
            <a:ext cx="10698480" cy="640080"/>
          </a:xfrm>
          <a:prstGeom prst="roundRect">
            <a:avLst/>
          </a:prstGeom>
          <a:solidFill>
            <a:srgbClr val="FFF5E1"/>
          </a:solidFill>
          <a:ln w="12700">
            <a:solidFill>
              <a:srgbClr val="B47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68096" y="5824728"/>
            <a:ext cx="64008" cy="603504"/>
          </a:xfrm>
          <a:prstGeom prst="rect">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05840" y="5852160"/>
            <a:ext cx="10241280" cy="548640"/>
          </a:xfrm>
          <a:prstGeom prst="rect">
            <a:avLst/>
          </a:prstGeom>
          <a:noFill/>
        </p:spPr>
        <p:txBody>
          <a:bodyPr wrap="square">
            <a:spAutoFit/>
          </a:bodyPr>
          <a:lstStyle/>
          <a:p>
            <a:pPr algn="ctr">
              <a:defRPr sz="1150" b="1">
                <a:solidFill>
                  <a:srgbClr val="0C2344"/>
                </a:solidFill>
              </a:defRPr>
            </a:pPr>
            <a:r>
              <a:t>NGUYÊN TẮC QUY ĐỊNH CỦA TCT: Dữ liệu quan trọng &amp; nhạy cảm ở lại On-prem tại Đơn vị; Cloud TCT chỉ nhận dữ liệu tổng hợp và danh mục chuẩn hóa. Quảng Ngãi giữ toàn quyền kiểm soát!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C23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2004"/>
          </a:xfrm>
          <a:prstGeom prst="rect">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
            <a:ext cx="9144000" cy="228600"/>
          </a:xfrm>
          <a:prstGeom prst="rect">
            <a:avLst/>
          </a:prstGeom>
          <a:noFill/>
        </p:spPr>
        <p:txBody>
          <a:bodyPr wrap="square">
            <a:spAutoFit/>
          </a:bodyPr>
          <a:lstStyle/>
          <a:p>
            <a:pPr algn="l">
              <a:defRPr sz="900" b="1">
                <a:solidFill>
                  <a:srgbClr val="9BB9DC"/>
                </a:solidFill>
              </a:defRPr>
            </a:pPr>
            <a:r>
              <a:t>MÔ HÌNH KỸ THUẬT — ĐÁP ỨNG ĐÚNG CHUẨN HYBRID CỦA TCT</a:t>
            </a:r>
          </a:p>
        </p:txBody>
      </p:sp>
      <p:sp>
        <p:nvSpPr>
          <p:cNvPr id="5" name="TextBox 4"/>
          <p:cNvSpPr txBox="1"/>
          <p:nvPr/>
        </p:nvSpPr>
        <p:spPr>
          <a:xfrm>
            <a:off x="731520" y="347472"/>
            <a:ext cx="10058400" cy="502920"/>
          </a:xfrm>
          <a:prstGeom prst="rect">
            <a:avLst/>
          </a:prstGeom>
          <a:noFill/>
        </p:spPr>
        <p:txBody>
          <a:bodyPr wrap="square">
            <a:spAutoFit/>
          </a:bodyPr>
          <a:lstStyle/>
          <a:p>
            <a:pPr algn="l">
              <a:defRPr sz="1900" b="1">
                <a:solidFill>
                  <a:srgbClr val="FFFFFF"/>
                </a:solidFill>
              </a:defRPr>
            </a:pPr>
            <a:r>
              <a:t>TRỤC TÍCH HỢP HYBRID: KẾT NỐI TỪ QUẢNG NGÃI LÊN MINIO &amp; FABRIC</a:t>
            </a:r>
          </a:p>
        </p:txBody>
      </p:sp>
      <p:sp>
        <p:nvSpPr>
          <p:cNvPr id="6" name="TextBox 5"/>
          <p:cNvSpPr txBox="1"/>
          <p:nvPr/>
        </p:nvSpPr>
        <p:spPr>
          <a:xfrm>
            <a:off x="10972800" y="347472"/>
            <a:ext cx="731520" cy="457200"/>
          </a:xfrm>
          <a:prstGeom prst="rect">
            <a:avLst/>
          </a:prstGeom>
          <a:noFill/>
        </p:spPr>
        <p:txBody>
          <a:bodyPr wrap="square">
            <a:spAutoFit/>
          </a:bodyPr>
          <a:lstStyle/>
          <a:p>
            <a:pPr algn="r">
              <a:defRPr sz="1200" b="1">
                <a:solidFill>
                  <a:srgbClr val="9BB9DC"/>
                </a:solidFill>
              </a:defRPr>
            </a:pPr>
            <a:r>
              <a:t>08</a:t>
            </a:r>
          </a:p>
        </p:txBody>
      </p:sp>
      <p:sp>
        <p:nvSpPr>
          <p:cNvPr id="7" name="Rectangle 6"/>
          <p:cNvSpPr/>
          <p:nvPr/>
        </p:nvSpPr>
        <p:spPr>
          <a:xfrm>
            <a:off x="0" y="6583680"/>
            <a:ext cx="12191695" cy="7315"/>
          </a:xfrm>
          <a:prstGeom prst="rect">
            <a:avLst/>
          </a:prstGeom>
          <a:solidFill>
            <a:srgbClr val="C8D0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601968"/>
            <a:ext cx="10698480" cy="228600"/>
          </a:xfrm>
          <a:prstGeom prst="rect">
            <a:avLst/>
          </a:prstGeom>
          <a:noFill/>
        </p:spPr>
        <p:txBody>
          <a:bodyPr wrap="square">
            <a:spAutoFit/>
          </a:bodyPr>
          <a:lstStyle/>
          <a:p>
            <a:pPr algn="l">
              <a:defRPr sz="800" b="0">
                <a:solidFill>
                  <a:srgbClr val="6C7684"/>
                </a:solidFill>
              </a:defRPr>
            </a:pPr>
            <a:r>
              <a:t>PTSC Quảng Ngãi  |  Báo cáo Data Platform &amp; Trục tích hợp  |  Thực hiện Chỉ đạo số 9 BGĐ</a:t>
            </a:r>
          </a:p>
        </p:txBody>
      </p:sp>
      <p:sp>
        <p:nvSpPr>
          <p:cNvPr id="9" name="Rounded Rectangle 8"/>
          <p:cNvSpPr/>
          <p:nvPr/>
        </p:nvSpPr>
        <p:spPr>
          <a:xfrm>
            <a:off x="274320" y="1234440"/>
            <a:ext cx="2468880" cy="4983480"/>
          </a:xfrm>
          <a:prstGeom prst="roundRect">
            <a:avLst/>
          </a:prstGeom>
          <a:solidFill>
            <a:srgbClr val="E6F0FC"/>
          </a:solidFill>
          <a:ln w="12700">
            <a:solidFill>
              <a:srgbClr val="1E64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1261872"/>
            <a:ext cx="2468880" cy="320040"/>
          </a:xfrm>
          <a:prstGeom prst="rect">
            <a:avLst/>
          </a:prstGeom>
          <a:noFill/>
        </p:spPr>
        <p:txBody>
          <a:bodyPr wrap="square">
            <a:spAutoFit/>
          </a:bodyPr>
          <a:lstStyle/>
          <a:p>
            <a:pPr algn="ctr">
              <a:defRPr sz="900" b="1">
                <a:solidFill>
                  <a:srgbClr val="1E64BE"/>
                </a:solidFill>
              </a:defRPr>
            </a:pPr>
            <a:r>
              <a:t>1. NGUỒN DỮ LIỆU QN</a:t>
            </a:r>
          </a:p>
        </p:txBody>
      </p:sp>
      <p:sp>
        <p:nvSpPr>
          <p:cNvPr id="11" name="Rounded Rectangle 10"/>
          <p:cNvSpPr/>
          <p:nvPr/>
        </p:nvSpPr>
        <p:spPr>
          <a:xfrm>
            <a:off x="502920" y="1783080"/>
            <a:ext cx="2011680" cy="777240"/>
          </a:xfrm>
          <a:prstGeom prst="roundRect">
            <a:avLst/>
          </a:prstGeom>
          <a:solidFill>
            <a:srgbClr val="FFFFFF"/>
          </a:solidFill>
          <a:ln w="10160">
            <a:solidFill>
              <a:srgbClr val="1E64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1874520"/>
            <a:ext cx="1828800" cy="320040"/>
          </a:xfrm>
          <a:prstGeom prst="rect">
            <a:avLst/>
          </a:prstGeom>
          <a:noFill/>
        </p:spPr>
        <p:txBody>
          <a:bodyPr wrap="square">
            <a:spAutoFit/>
          </a:bodyPr>
          <a:lstStyle/>
          <a:p>
            <a:pPr algn="ctr">
              <a:defRPr sz="1050" b="1">
                <a:solidFill>
                  <a:srgbClr val="0C2344"/>
                </a:solidFill>
              </a:defRPr>
            </a:pPr>
            <a:r>
              <a:t>Kế toán – Tài chính</a:t>
            </a:r>
          </a:p>
        </p:txBody>
      </p:sp>
      <p:sp>
        <p:nvSpPr>
          <p:cNvPr id="13" name="TextBox 12"/>
          <p:cNvSpPr txBox="1"/>
          <p:nvPr/>
        </p:nvSpPr>
        <p:spPr>
          <a:xfrm>
            <a:off x="594360" y="2194560"/>
            <a:ext cx="1828800" cy="274320"/>
          </a:xfrm>
          <a:prstGeom prst="rect">
            <a:avLst/>
          </a:prstGeom>
          <a:noFill/>
        </p:spPr>
        <p:txBody>
          <a:bodyPr wrap="square">
            <a:spAutoFit/>
          </a:bodyPr>
          <a:lstStyle/>
          <a:p>
            <a:pPr algn="ctr">
              <a:defRPr sz="850" b="0">
                <a:solidFill>
                  <a:srgbClr val="6C7684"/>
                </a:solidFill>
              </a:defRPr>
            </a:pPr>
            <a:r>
              <a:t>Cơ sở dữ liệu</a:t>
            </a:r>
          </a:p>
        </p:txBody>
      </p:sp>
      <p:sp>
        <p:nvSpPr>
          <p:cNvPr id="14" name="Right Arrow 13"/>
          <p:cNvSpPr/>
          <p:nvPr/>
        </p:nvSpPr>
        <p:spPr>
          <a:xfrm>
            <a:off x="2560320" y="2011680"/>
            <a:ext cx="320040" cy="201168"/>
          </a:xfrm>
          <a:prstGeom prst="rightArrow">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02920" y="2880360"/>
            <a:ext cx="2011680" cy="777240"/>
          </a:xfrm>
          <a:prstGeom prst="roundRect">
            <a:avLst/>
          </a:prstGeom>
          <a:solidFill>
            <a:srgbClr val="FFFFFF"/>
          </a:solidFill>
          <a:ln w="10160">
            <a:solidFill>
              <a:srgbClr val="1E64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2971800"/>
            <a:ext cx="1828800" cy="320040"/>
          </a:xfrm>
          <a:prstGeom prst="rect">
            <a:avLst/>
          </a:prstGeom>
          <a:noFill/>
        </p:spPr>
        <p:txBody>
          <a:bodyPr wrap="square">
            <a:spAutoFit/>
          </a:bodyPr>
          <a:lstStyle/>
          <a:p>
            <a:pPr algn="ctr">
              <a:defRPr sz="1050" b="1">
                <a:solidFill>
                  <a:srgbClr val="0C2344"/>
                </a:solidFill>
              </a:defRPr>
            </a:pPr>
            <a:r>
              <a:t>Quản lý Nhân sự</a:t>
            </a:r>
          </a:p>
        </p:txBody>
      </p:sp>
      <p:sp>
        <p:nvSpPr>
          <p:cNvPr id="17" name="TextBox 16"/>
          <p:cNvSpPr txBox="1"/>
          <p:nvPr/>
        </p:nvSpPr>
        <p:spPr>
          <a:xfrm>
            <a:off x="594360" y="3291840"/>
            <a:ext cx="1828800" cy="274320"/>
          </a:xfrm>
          <a:prstGeom prst="rect">
            <a:avLst/>
          </a:prstGeom>
          <a:noFill/>
        </p:spPr>
        <p:txBody>
          <a:bodyPr wrap="square">
            <a:spAutoFit/>
          </a:bodyPr>
          <a:lstStyle/>
          <a:p>
            <a:pPr algn="ctr">
              <a:defRPr sz="850" b="0">
                <a:solidFill>
                  <a:srgbClr val="6C7684"/>
                </a:solidFill>
              </a:defRPr>
            </a:pPr>
            <a:r>
              <a:t>Cơ sở dữ liệu</a:t>
            </a:r>
          </a:p>
        </p:txBody>
      </p:sp>
      <p:sp>
        <p:nvSpPr>
          <p:cNvPr id="18" name="Right Arrow 17"/>
          <p:cNvSpPr/>
          <p:nvPr/>
        </p:nvSpPr>
        <p:spPr>
          <a:xfrm>
            <a:off x="2560320" y="3108960"/>
            <a:ext cx="320040" cy="201168"/>
          </a:xfrm>
          <a:prstGeom prst="rightArrow">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02920" y="3977639"/>
            <a:ext cx="2011680" cy="777240"/>
          </a:xfrm>
          <a:prstGeom prst="roundRect">
            <a:avLst/>
          </a:prstGeom>
          <a:solidFill>
            <a:srgbClr val="FFFFFF"/>
          </a:solidFill>
          <a:ln w="10160">
            <a:solidFill>
              <a:srgbClr val="1E64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4069079"/>
            <a:ext cx="1828800" cy="320040"/>
          </a:xfrm>
          <a:prstGeom prst="rect">
            <a:avLst/>
          </a:prstGeom>
          <a:noFill/>
        </p:spPr>
        <p:txBody>
          <a:bodyPr wrap="square">
            <a:spAutoFit/>
          </a:bodyPr>
          <a:lstStyle/>
          <a:p>
            <a:pPr algn="ctr">
              <a:defRPr sz="1050" b="1">
                <a:solidFill>
                  <a:srgbClr val="0C2344"/>
                </a:solidFill>
              </a:defRPr>
            </a:pPr>
            <a:r>
              <a:t>Vật tư – Kho xưởng</a:t>
            </a:r>
          </a:p>
        </p:txBody>
      </p:sp>
      <p:sp>
        <p:nvSpPr>
          <p:cNvPr id="21" name="TextBox 20"/>
          <p:cNvSpPr txBox="1"/>
          <p:nvPr/>
        </p:nvSpPr>
        <p:spPr>
          <a:xfrm>
            <a:off x="594360" y="4389119"/>
            <a:ext cx="1828800" cy="274320"/>
          </a:xfrm>
          <a:prstGeom prst="rect">
            <a:avLst/>
          </a:prstGeom>
          <a:noFill/>
        </p:spPr>
        <p:txBody>
          <a:bodyPr wrap="square">
            <a:spAutoFit/>
          </a:bodyPr>
          <a:lstStyle/>
          <a:p>
            <a:pPr algn="ctr">
              <a:defRPr sz="850" b="0">
                <a:solidFill>
                  <a:srgbClr val="6C7684"/>
                </a:solidFill>
              </a:defRPr>
            </a:pPr>
            <a:r>
              <a:t>Cơ sở dữ liệu</a:t>
            </a:r>
          </a:p>
        </p:txBody>
      </p:sp>
      <p:sp>
        <p:nvSpPr>
          <p:cNvPr id="22" name="Right Arrow 21"/>
          <p:cNvSpPr/>
          <p:nvPr/>
        </p:nvSpPr>
        <p:spPr>
          <a:xfrm>
            <a:off x="2560320" y="4206239"/>
            <a:ext cx="320040" cy="201168"/>
          </a:xfrm>
          <a:prstGeom prst="rightArrow">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2920" y="5074920"/>
            <a:ext cx="2011680" cy="777240"/>
          </a:xfrm>
          <a:prstGeom prst="roundRect">
            <a:avLst/>
          </a:prstGeom>
          <a:solidFill>
            <a:srgbClr val="FFFFFF"/>
          </a:solidFill>
          <a:ln w="10160">
            <a:solidFill>
              <a:srgbClr val="1E64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4360" y="5166360"/>
            <a:ext cx="1828800" cy="320040"/>
          </a:xfrm>
          <a:prstGeom prst="rect">
            <a:avLst/>
          </a:prstGeom>
          <a:noFill/>
        </p:spPr>
        <p:txBody>
          <a:bodyPr wrap="square">
            <a:spAutoFit/>
          </a:bodyPr>
          <a:lstStyle/>
          <a:p>
            <a:pPr algn="ctr">
              <a:defRPr sz="1050" b="1">
                <a:solidFill>
                  <a:srgbClr val="0C2344"/>
                </a:solidFill>
              </a:defRPr>
            </a:pPr>
            <a:r>
              <a:t>Hợp đồng – Dự án</a:t>
            </a:r>
          </a:p>
        </p:txBody>
      </p:sp>
      <p:sp>
        <p:nvSpPr>
          <p:cNvPr id="25" name="TextBox 24"/>
          <p:cNvSpPr txBox="1"/>
          <p:nvPr/>
        </p:nvSpPr>
        <p:spPr>
          <a:xfrm>
            <a:off x="594360" y="5486400"/>
            <a:ext cx="1828800" cy="274320"/>
          </a:xfrm>
          <a:prstGeom prst="rect">
            <a:avLst/>
          </a:prstGeom>
          <a:noFill/>
        </p:spPr>
        <p:txBody>
          <a:bodyPr wrap="square">
            <a:spAutoFit/>
          </a:bodyPr>
          <a:lstStyle/>
          <a:p>
            <a:pPr algn="ctr">
              <a:defRPr sz="850" b="0">
                <a:solidFill>
                  <a:srgbClr val="6C7684"/>
                </a:solidFill>
              </a:defRPr>
            </a:pPr>
            <a:r>
              <a:t>Cơ sở dữ liệu</a:t>
            </a:r>
          </a:p>
        </p:txBody>
      </p:sp>
      <p:sp>
        <p:nvSpPr>
          <p:cNvPr id="26" name="Right Arrow 25"/>
          <p:cNvSpPr/>
          <p:nvPr/>
        </p:nvSpPr>
        <p:spPr>
          <a:xfrm>
            <a:off x="2560320" y="5303520"/>
            <a:ext cx="320040" cy="201168"/>
          </a:xfrm>
          <a:prstGeom prst="rightArrow">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3017520" y="1234440"/>
            <a:ext cx="3200400" cy="4983480"/>
          </a:xfrm>
          <a:prstGeom prst="roundRect">
            <a:avLst/>
          </a:prstGeom>
          <a:solidFill>
            <a:srgbClr val="FFF5E1"/>
          </a:solidFill>
          <a:ln w="19050">
            <a:solidFill>
              <a:srgbClr val="B47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017520" y="1261872"/>
            <a:ext cx="3200400" cy="320040"/>
          </a:xfrm>
          <a:prstGeom prst="rect">
            <a:avLst/>
          </a:prstGeom>
          <a:noFill/>
        </p:spPr>
        <p:txBody>
          <a:bodyPr wrap="square">
            <a:spAutoFit/>
          </a:bodyPr>
          <a:lstStyle/>
          <a:p>
            <a:pPr algn="ctr">
              <a:defRPr sz="900" b="1">
                <a:solidFill>
                  <a:srgbClr val="B47300"/>
                </a:solidFill>
              </a:defRPr>
            </a:pPr>
            <a:r>
              <a:t>2. TRẠM TRUNG CHUYỂN (VM tại QN)</a:t>
            </a:r>
          </a:p>
        </p:txBody>
      </p:sp>
      <p:sp>
        <p:nvSpPr>
          <p:cNvPr id="29" name="Rounded Rectangle 28"/>
          <p:cNvSpPr/>
          <p:nvPr/>
        </p:nvSpPr>
        <p:spPr>
          <a:xfrm>
            <a:off x="3246120" y="1783080"/>
            <a:ext cx="2743200" cy="777240"/>
          </a:xfrm>
          <a:prstGeom prst="roundRect">
            <a:avLst/>
          </a:prstGeom>
          <a:solidFill>
            <a:srgbClr val="FFFFFF"/>
          </a:solidFill>
          <a:ln w="10160">
            <a:solidFill>
              <a:srgbClr val="B47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337560" y="1984248"/>
            <a:ext cx="365760" cy="365760"/>
          </a:xfrm>
          <a:prstGeom prst="ellipse">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300" b="1">
                <a:solidFill>
                  <a:srgbClr val="FFFFFF"/>
                </a:solidFill>
              </a:defRPr>
            </a:pPr>
            <a:r>
              <a:t>1</a:t>
            </a:r>
          </a:p>
        </p:txBody>
      </p:sp>
      <p:sp>
        <p:nvSpPr>
          <p:cNvPr id="31" name="TextBox 30"/>
          <p:cNvSpPr txBox="1"/>
          <p:nvPr/>
        </p:nvSpPr>
        <p:spPr>
          <a:xfrm>
            <a:off x="3794760" y="1856232"/>
            <a:ext cx="2103120" cy="320040"/>
          </a:xfrm>
          <a:prstGeom prst="rect">
            <a:avLst/>
          </a:prstGeom>
          <a:noFill/>
        </p:spPr>
        <p:txBody>
          <a:bodyPr wrap="square">
            <a:spAutoFit/>
          </a:bodyPr>
          <a:lstStyle/>
          <a:p>
            <a:pPr algn="l">
              <a:defRPr sz="1050" b="1">
                <a:solidFill>
                  <a:srgbClr val="0C2344"/>
                </a:solidFill>
              </a:defRPr>
            </a:pPr>
            <a:r>
              <a:t>Trích xuất (Read-Only)</a:t>
            </a:r>
          </a:p>
        </p:txBody>
      </p:sp>
      <p:sp>
        <p:nvSpPr>
          <p:cNvPr id="32" name="TextBox 31"/>
          <p:cNvSpPr txBox="1"/>
          <p:nvPr/>
        </p:nvSpPr>
        <p:spPr>
          <a:xfrm>
            <a:off x="3794760" y="2167128"/>
            <a:ext cx="2103120" cy="365760"/>
          </a:xfrm>
          <a:prstGeom prst="rect">
            <a:avLst/>
          </a:prstGeom>
          <a:noFill/>
        </p:spPr>
        <p:txBody>
          <a:bodyPr wrap="square">
            <a:spAutoFit/>
          </a:bodyPr>
          <a:lstStyle/>
          <a:p>
            <a:pPr algn="l">
              <a:defRPr sz="850" b="0">
                <a:solidFill>
                  <a:srgbClr val="6C7684"/>
                </a:solidFill>
              </a:defRPr>
            </a:pPr>
            <a:r>
              <a:t>Chỉ đọc bản sao dữ liệu</a:t>
            </a:r>
            <a:br/>
            <a:r>
              <a:t>Không làm chậm hệ thống gốc</a:t>
            </a:r>
          </a:p>
        </p:txBody>
      </p:sp>
      <p:sp>
        <p:nvSpPr>
          <p:cNvPr id="33" name="Rounded Rectangle 32"/>
          <p:cNvSpPr/>
          <p:nvPr/>
        </p:nvSpPr>
        <p:spPr>
          <a:xfrm>
            <a:off x="3246120" y="2880360"/>
            <a:ext cx="2743200" cy="777240"/>
          </a:xfrm>
          <a:prstGeom prst="roundRect">
            <a:avLst/>
          </a:prstGeom>
          <a:solidFill>
            <a:srgbClr val="FFFFFF"/>
          </a:solidFill>
          <a:ln w="10160">
            <a:solidFill>
              <a:srgbClr val="B47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3337560" y="3081528"/>
            <a:ext cx="365760" cy="365760"/>
          </a:xfrm>
          <a:prstGeom prst="ellipse">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300" b="1">
                <a:solidFill>
                  <a:srgbClr val="FFFFFF"/>
                </a:solidFill>
              </a:defRPr>
            </a:pPr>
            <a:r>
              <a:t>2</a:t>
            </a:r>
          </a:p>
        </p:txBody>
      </p:sp>
      <p:sp>
        <p:nvSpPr>
          <p:cNvPr id="35" name="TextBox 34"/>
          <p:cNvSpPr txBox="1"/>
          <p:nvPr/>
        </p:nvSpPr>
        <p:spPr>
          <a:xfrm>
            <a:off x="3794760" y="2953512"/>
            <a:ext cx="2103120" cy="320040"/>
          </a:xfrm>
          <a:prstGeom prst="rect">
            <a:avLst/>
          </a:prstGeom>
          <a:noFill/>
        </p:spPr>
        <p:txBody>
          <a:bodyPr wrap="square">
            <a:spAutoFit/>
          </a:bodyPr>
          <a:lstStyle/>
          <a:p>
            <a:pPr algn="l">
              <a:defRPr sz="1050" b="1">
                <a:solidFill>
                  <a:srgbClr val="0C2344"/>
                </a:solidFill>
              </a:defRPr>
            </a:pPr>
            <a:r>
              <a:t>Ánh xạ 29 Master Data</a:t>
            </a:r>
          </a:p>
        </p:txBody>
      </p:sp>
      <p:sp>
        <p:nvSpPr>
          <p:cNvPr id="36" name="TextBox 35"/>
          <p:cNvSpPr txBox="1"/>
          <p:nvPr/>
        </p:nvSpPr>
        <p:spPr>
          <a:xfrm>
            <a:off x="3794760" y="3264408"/>
            <a:ext cx="2103120" cy="365760"/>
          </a:xfrm>
          <a:prstGeom prst="rect">
            <a:avLst/>
          </a:prstGeom>
          <a:noFill/>
        </p:spPr>
        <p:txBody>
          <a:bodyPr wrap="square">
            <a:spAutoFit/>
          </a:bodyPr>
          <a:lstStyle/>
          <a:p>
            <a:pPr algn="l">
              <a:defRPr sz="850" b="0">
                <a:solidFill>
                  <a:srgbClr val="6C7684"/>
                </a:solidFill>
              </a:defRPr>
            </a:pPr>
            <a:r>
              <a:t>Quy đổi mã nội bộ khớp</a:t>
            </a:r>
            <a:br/>
            <a:r>
              <a:t>chuẩn Petrovietnam / PTSC</a:t>
            </a:r>
          </a:p>
        </p:txBody>
      </p:sp>
      <p:sp>
        <p:nvSpPr>
          <p:cNvPr id="37" name="Rounded Rectangle 36"/>
          <p:cNvSpPr/>
          <p:nvPr/>
        </p:nvSpPr>
        <p:spPr>
          <a:xfrm>
            <a:off x="3246120" y="3977639"/>
            <a:ext cx="2743200" cy="777240"/>
          </a:xfrm>
          <a:prstGeom prst="roundRect">
            <a:avLst/>
          </a:prstGeom>
          <a:solidFill>
            <a:srgbClr val="FFFFFF"/>
          </a:solidFill>
          <a:ln w="10160">
            <a:solidFill>
              <a:srgbClr val="B47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3337560" y="4178807"/>
            <a:ext cx="365760" cy="365760"/>
          </a:xfrm>
          <a:prstGeom prst="ellipse">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300" b="1">
                <a:solidFill>
                  <a:srgbClr val="FFFFFF"/>
                </a:solidFill>
              </a:defRPr>
            </a:pPr>
            <a:r>
              <a:t>3</a:t>
            </a:r>
          </a:p>
        </p:txBody>
      </p:sp>
      <p:sp>
        <p:nvSpPr>
          <p:cNvPr id="39" name="TextBox 38"/>
          <p:cNvSpPr txBox="1"/>
          <p:nvPr/>
        </p:nvSpPr>
        <p:spPr>
          <a:xfrm>
            <a:off x="3794760" y="4050791"/>
            <a:ext cx="2103120" cy="320040"/>
          </a:xfrm>
          <a:prstGeom prst="rect">
            <a:avLst/>
          </a:prstGeom>
          <a:noFill/>
        </p:spPr>
        <p:txBody>
          <a:bodyPr wrap="square">
            <a:spAutoFit/>
          </a:bodyPr>
          <a:lstStyle/>
          <a:p>
            <a:pPr algn="l">
              <a:defRPr sz="1050" b="1">
                <a:solidFill>
                  <a:srgbClr val="0C2344"/>
                </a:solidFill>
              </a:defRPr>
            </a:pPr>
            <a:r>
              <a:t>Che mờ (Data Masking)</a:t>
            </a:r>
          </a:p>
        </p:txBody>
      </p:sp>
      <p:sp>
        <p:nvSpPr>
          <p:cNvPr id="40" name="TextBox 39"/>
          <p:cNvSpPr txBox="1"/>
          <p:nvPr/>
        </p:nvSpPr>
        <p:spPr>
          <a:xfrm>
            <a:off x="3794760" y="4361687"/>
            <a:ext cx="2103120" cy="365760"/>
          </a:xfrm>
          <a:prstGeom prst="rect">
            <a:avLst/>
          </a:prstGeom>
          <a:noFill/>
        </p:spPr>
        <p:txBody>
          <a:bodyPr wrap="square">
            <a:spAutoFit/>
          </a:bodyPr>
          <a:lstStyle/>
          <a:p>
            <a:pPr algn="l">
              <a:defRPr sz="850" b="0">
                <a:solidFill>
                  <a:srgbClr val="6C7684"/>
                </a:solidFill>
              </a:defRPr>
            </a:pPr>
            <a:r>
              <a:t>Bảo vệ thông tin cá nhân</a:t>
            </a:r>
            <a:br/>
            <a:r>
              <a:t>theo Nghị định 13 &amp; Luật BVDLCN</a:t>
            </a:r>
          </a:p>
        </p:txBody>
      </p:sp>
      <p:sp>
        <p:nvSpPr>
          <p:cNvPr id="41" name="Rounded Rectangle 40"/>
          <p:cNvSpPr/>
          <p:nvPr/>
        </p:nvSpPr>
        <p:spPr>
          <a:xfrm>
            <a:off x="3246120" y="5074920"/>
            <a:ext cx="2743200" cy="777240"/>
          </a:xfrm>
          <a:prstGeom prst="roundRect">
            <a:avLst/>
          </a:prstGeom>
          <a:solidFill>
            <a:srgbClr val="FFFFFF"/>
          </a:solidFill>
          <a:ln w="10160">
            <a:solidFill>
              <a:srgbClr val="B47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3337560" y="5276088"/>
            <a:ext cx="365760" cy="365760"/>
          </a:xfrm>
          <a:prstGeom prst="ellipse">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300" b="1">
                <a:solidFill>
                  <a:srgbClr val="FFFFFF"/>
                </a:solidFill>
              </a:defRPr>
            </a:pPr>
            <a:r>
              <a:t>4</a:t>
            </a:r>
          </a:p>
        </p:txBody>
      </p:sp>
      <p:sp>
        <p:nvSpPr>
          <p:cNvPr id="43" name="TextBox 42"/>
          <p:cNvSpPr txBox="1"/>
          <p:nvPr/>
        </p:nvSpPr>
        <p:spPr>
          <a:xfrm>
            <a:off x="3794760" y="5148072"/>
            <a:ext cx="2103120" cy="320040"/>
          </a:xfrm>
          <a:prstGeom prst="rect">
            <a:avLst/>
          </a:prstGeom>
          <a:noFill/>
        </p:spPr>
        <p:txBody>
          <a:bodyPr wrap="square">
            <a:spAutoFit/>
          </a:bodyPr>
          <a:lstStyle/>
          <a:p>
            <a:pPr algn="l">
              <a:defRPr sz="1050" b="1">
                <a:solidFill>
                  <a:srgbClr val="0C2344"/>
                </a:solidFill>
              </a:defRPr>
            </a:pPr>
            <a:r>
              <a:t>Mã hóa &amp; Đóng gói</a:t>
            </a:r>
          </a:p>
        </p:txBody>
      </p:sp>
      <p:sp>
        <p:nvSpPr>
          <p:cNvPr id="44" name="TextBox 43"/>
          <p:cNvSpPr txBox="1"/>
          <p:nvPr/>
        </p:nvSpPr>
        <p:spPr>
          <a:xfrm>
            <a:off x="3794760" y="5458968"/>
            <a:ext cx="2103120" cy="365760"/>
          </a:xfrm>
          <a:prstGeom prst="rect">
            <a:avLst/>
          </a:prstGeom>
          <a:noFill/>
        </p:spPr>
        <p:txBody>
          <a:bodyPr wrap="square">
            <a:spAutoFit/>
          </a:bodyPr>
          <a:lstStyle/>
          <a:p>
            <a:pPr algn="l">
              <a:defRPr sz="850" b="0">
                <a:solidFill>
                  <a:srgbClr val="6C7684"/>
                </a:solidFill>
              </a:defRPr>
            </a:pPr>
            <a:r>
              <a:t>Chuẩn bảo mật AES-256</a:t>
            </a:r>
            <a:br/>
            <a:r>
              <a:t>Sẵn sàng truyền qua VPN</a:t>
            </a:r>
          </a:p>
        </p:txBody>
      </p:sp>
      <p:sp>
        <p:nvSpPr>
          <p:cNvPr id="45" name="Right Arrow 44"/>
          <p:cNvSpPr/>
          <p:nvPr/>
        </p:nvSpPr>
        <p:spPr>
          <a:xfrm>
            <a:off x="6309360" y="3337560"/>
            <a:ext cx="365760" cy="201168"/>
          </a:xfrm>
          <a:prstGeom prst="rightArrow">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6766560" y="2103120"/>
            <a:ext cx="1371600" cy="2743200"/>
          </a:xfrm>
          <a:prstGeom prst="roundRect">
            <a:avLst/>
          </a:prstGeom>
          <a:solidFill>
            <a:srgbClr val="F3F5F8"/>
          </a:solidFill>
          <a:ln w="12700">
            <a:solidFill>
              <a:srgbClr val="0C23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766560" y="2377440"/>
            <a:ext cx="1371600" cy="320040"/>
          </a:xfrm>
          <a:prstGeom prst="rect">
            <a:avLst/>
          </a:prstGeom>
          <a:noFill/>
        </p:spPr>
        <p:txBody>
          <a:bodyPr wrap="square">
            <a:spAutoFit/>
          </a:bodyPr>
          <a:lstStyle/>
          <a:p>
            <a:pPr algn="ctr">
              <a:defRPr sz="900" b="1">
                <a:solidFill>
                  <a:srgbClr val="0C2344"/>
                </a:solidFill>
              </a:defRPr>
            </a:pPr>
            <a:r>
              <a:t>3. ĐƯỜNG TRUYỀN</a:t>
            </a:r>
          </a:p>
        </p:txBody>
      </p:sp>
      <p:sp>
        <p:nvSpPr>
          <p:cNvPr id="48" name="TextBox 47"/>
          <p:cNvSpPr txBox="1"/>
          <p:nvPr/>
        </p:nvSpPr>
        <p:spPr>
          <a:xfrm>
            <a:off x="6766560" y="2697480"/>
            <a:ext cx="1371600" cy="320040"/>
          </a:xfrm>
          <a:prstGeom prst="rect">
            <a:avLst/>
          </a:prstGeom>
          <a:noFill/>
        </p:spPr>
        <p:txBody>
          <a:bodyPr wrap="square">
            <a:spAutoFit/>
          </a:bodyPr>
          <a:lstStyle/>
          <a:p>
            <a:pPr algn="ctr">
              <a:defRPr sz="1000" b="1">
                <a:solidFill>
                  <a:srgbClr val="0C2344"/>
                </a:solidFill>
              </a:defRPr>
            </a:pPr>
            <a:r>
              <a:t>VPN Site-to-Site</a:t>
            </a:r>
          </a:p>
        </p:txBody>
      </p:sp>
      <p:sp>
        <p:nvSpPr>
          <p:cNvPr id="49" name="TextBox 48"/>
          <p:cNvSpPr txBox="1"/>
          <p:nvPr/>
        </p:nvSpPr>
        <p:spPr>
          <a:xfrm>
            <a:off x="6766560" y="3200400"/>
            <a:ext cx="1371600" cy="822960"/>
          </a:xfrm>
          <a:prstGeom prst="rect">
            <a:avLst/>
          </a:prstGeom>
          <a:noFill/>
        </p:spPr>
        <p:txBody>
          <a:bodyPr wrap="square">
            <a:spAutoFit/>
          </a:bodyPr>
          <a:lstStyle/>
          <a:p>
            <a:pPr algn="ctr">
              <a:defRPr sz="850" b="0">
                <a:solidFill>
                  <a:srgbClr val="6C7684"/>
                </a:solidFill>
              </a:defRPr>
            </a:pPr>
            <a:r>
              <a:t>Kênh riêng mã hóa</a:t>
            </a:r>
            <a:br/>
            <a:r>
              <a:t>Tuân thủ quy hoạch</a:t>
            </a:r>
            <a:br/>
            <a:r>
              <a:t>8 Zones TCT</a:t>
            </a:r>
          </a:p>
        </p:txBody>
      </p:sp>
      <p:sp>
        <p:nvSpPr>
          <p:cNvPr id="50" name="Right Arrow 49"/>
          <p:cNvSpPr/>
          <p:nvPr/>
        </p:nvSpPr>
        <p:spPr>
          <a:xfrm>
            <a:off x="8229600" y="3337560"/>
            <a:ext cx="365760" cy="201168"/>
          </a:xfrm>
          <a:prstGeom prst="rightArrow">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8686800" y="1234440"/>
            <a:ext cx="3200400" cy="4983480"/>
          </a:xfrm>
          <a:prstGeom prst="roundRect">
            <a:avLst/>
          </a:prstGeom>
          <a:solidFill>
            <a:srgbClr val="E8F8EF"/>
          </a:solidFill>
          <a:ln w="12700">
            <a:solidFill>
              <a:srgbClr val="158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686800" y="1261872"/>
            <a:ext cx="3200400" cy="320040"/>
          </a:xfrm>
          <a:prstGeom prst="rect">
            <a:avLst/>
          </a:prstGeom>
          <a:noFill/>
        </p:spPr>
        <p:txBody>
          <a:bodyPr wrap="square">
            <a:spAutoFit/>
          </a:bodyPr>
          <a:lstStyle/>
          <a:p>
            <a:pPr algn="ctr">
              <a:defRPr sz="900" b="1">
                <a:solidFill>
                  <a:srgbClr val="158050"/>
                </a:solidFill>
              </a:defRPr>
            </a:pPr>
            <a:r>
              <a:t>4. HẠ TẦNG HYBRID CỦA TCT</a:t>
            </a:r>
          </a:p>
        </p:txBody>
      </p:sp>
      <p:sp>
        <p:nvSpPr>
          <p:cNvPr id="53" name="Rounded Rectangle 52"/>
          <p:cNvSpPr/>
          <p:nvPr/>
        </p:nvSpPr>
        <p:spPr>
          <a:xfrm>
            <a:off x="8915400" y="1783080"/>
            <a:ext cx="2743200" cy="1280160"/>
          </a:xfrm>
          <a:prstGeom prst="roundRect">
            <a:avLst/>
          </a:prstGeom>
          <a:solidFill>
            <a:srgbClr val="FFFFFF"/>
          </a:solidFill>
          <a:ln w="1016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915400" y="1874519"/>
            <a:ext cx="2743200" cy="274320"/>
          </a:xfrm>
          <a:prstGeom prst="rect">
            <a:avLst/>
          </a:prstGeom>
          <a:noFill/>
        </p:spPr>
        <p:txBody>
          <a:bodyPr wrap="square">
            <a:spAutoFit/>
          </a:bodyPr>
          <a:lstStyle/>
          <a:p>
            <a:pPr algn="ctr">
              <a:defRPr sz="950" b="1">
                <a:solidFill>
                  <a:srgbClr val="0D9488"/>
                </a:solidFill>
              </a:defRPr>
            </a:pPr>
            <a:r>
              <a:t>ON-PREMISE (Datacenter TCT)</a:t>
            </a:r>
          </a:p>
        </p:txBody>
      </p:sp>
      <p:sp>
        <p:nvSpPr>
          <p:cNvPr id="55" name="TextBox 54"/>
          <p:cNvSpPr txBox="1"/>
          <p:nvPr/>
        </p:nvSpPr>
        <p:spPr>
          <a:xfrm>
            <a:off x="8915400" y="2148840"/>
            <a:ext cx="2743200" cy="320040"/>
          </a:xfrm>
          <a:prstGeom prst="rect">
            <a:avLst/>
          </a:prstGeom>
          <a:noFill/>
        </p:spPr>
        <p:txBody>
          <a:bodyPr wrap="square">
            <a:spAutoFit/>
          </a:bodyPr>
          <a:lstStyle/>
          <a:p>
            <a:pPr algn="ctr">
              <a:defRPr sz="1050" b="1">
                <a:solidFill>
                  <a:srgbClr val="0C2344"/>
                </a:solidFill>
              </a:defRPr>
            </a:pPr>
            <a:r>
              <a:t>MinIO Lakehouse + MDM</a:t>
            </a:r>
          </a:p>
        </p:txBody>
      </p:sp>
      <p:sp>
        <p:nvSpPr>
          <p:cNvPr id="56" name="TextBox 55"/>
          <p:cNvSpPr txBox="1"/>
          <p:nvPr/>
        </p:nvSpPr>
        <p:spPr>
          <a:xfrm>
            <a:off x="8915400" y="2468880"/>
            <a:ext cx="2743200" cy="502920"/>
          </a:xfrm>
          <a:prstGeom prst="rect">
            <a:avLst/>
          </a:prstGeom>
          <a:noFill/>
        </p:spPr>
        <p:txBody>
          <a:bodyPr wrap="square">
            <a:spAutoFit/>
          </a:bodyPr>
          <a:lstStyle/>
          <a:p>
            <a:pPr algn="ctr">
              <a:defRPr sz="850" b="0">
                <a:solidFill>
                  <a:srgbClr val="6C7684"/>
                </a:solidFill>
              </a:defRPr>
            </a:pPr>
            <a:r>
              <a:t>Lưu trữ dữ liệu gốc an toàn, kiểm soát truy cập</a:t>
            </a:r>
          </a:p>
        </p:txBody>
      </p:sp>
      <p:sp>
        <p:nvSpPr>
          <p:cNvPr id="57" name="Down Arrow 56"/>
          <p:cNvSpPr/>
          <p:nvPr/>
        </p:nvSpPr>
        <p:spPr>
          <a:xfrm>
            <a:off x="10149840" y="3154680"/>
            <a:ext cx="274320" cy="201168"/>
          </a:xfrm>
          <a:prstGeom prst="downArrow">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8915400" y="3520440"/>
            <a:ext cx="2743200" cy="1371600"/>
          </a:xfrm>
          <a:prstGeom prst="roundRect">
            <a:avLst/>
          </a:prstGeom>
          <a:solidFill>
            <a:srgbClr val="FFFFFF"/>
          </a:solidFill>
          <a:ln w="10160">
            <a:solidFill>
              <a:srgbClr val="1E64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915400" y="3611880"/>
            <a:ext cx="2743200" cy="274320"/>
          </a:xfrm>
          <a:prstGeom prst="rect">
            <a:avLst/>
          </a:prstGeom>
          <a:noFill/>
        </p:spPr>
        <p:txBody>
          <a:bodyPr wrap="square">
            <a:spAutoFit/>
          </a:bodyPr>
          <a:lstStyle/>
          <a:p>
            <a:pPr algn="ctr">
              <a:defRPr sz="950" b="1">
                <a:solidFill>
                  <a:srgbClr val="1E64BE"/>
                </a:solidFill>
              </a:defRPr>
            </a:pPr>
            <a:r>
              <a:t>CLOUD (Azure / Fabric 20TB)</a:t>
            </a:r>
          </a:p>
        </p:txBody>
      </p:sp>
      <p:sp>
        <p:nvSpPr>
          <p:cNvPr id="60" name="TextBox 59"/>
          <p:cNvSpPr txBox="1"/>
          <p:nvPr/>
        </p:nvSpPr>
        <p:spPr>
          <a:xfrm>
            <a:off x="8915400" y="3886200"/>
            <a:ext cx="2743200" cy="320040"/>
          </a:xfrm>
          <a:prstGeom prst="rect">
            <a:avLst/>
          </a:prstGeom>
          <a:noFill/>
        </p:spPr>
        <p:txBody>
          <a:bodyPr wrap="square">
            <a:spAutoFit/>
          </a:bodyPr>
          <a:lstStyle/>
          <a:p>
            <a:pPr algn="ctr">
              <a:defRPr sz="1050" b="1">
                <a:solidFill>
                  <a:srgbClr val="0C2344"/>
                </a:solidFill>
              </a:defRPr>
            </a:pPr>
            <a:r>
              <a:t>Workspace L3 Quảng Ngãi</a:t>
            </a:r>
          </a:p>
        </p:txBody>
      </p:sp>
      <p:sp>
        <p:nvSpPr>
          <p:cNvPr id="61" name="TextBox 60"/>
          <p:cNvSpPr txBox="1"/>
          <p:nvPr/>
        </p:nvSpPr>
        <p:spPr>
          <a:xfrm>
            <a:off x="8915400" y="4206240"/>
            <a:ext cx="2743200" cy="594360"/>
          </a:xfrm>
          <a:prstGeom prst="rect">
            <a:avLst/>
          </a:prstGeom>
          <a:noFill/>
        </p:spPr>
        <p:txBody>
          <a:bodyPr wrap="square">
            <a:spAutoFit/>
          </a:bodyPr>
          <a:lstStyle/>
          <a:p>
            <a:pPr algn="ctr">
              <a:defRPr sz="850" b="0">
                <a:solidFill>
                  <a:srgbClr val="6C7684"/>
                </a:solidFill>
              </a:defRPr>
            </a:pPr>
            <a:r>
              <a:t>Không gian riêng cách ly hoàn toàn bằng RBAC</a:t>
            </a:r>
          </a:p>
        </p:txBody>
      </p:sp>
      <p:sp>
        <p:nvSpPr>
          <p:cNvPr id="62" name="Down Arrow 61"/>
          <p:cNvSpPr/>
          <p:nvPr/>
        </p:nvSpPr>
        <p:spPr>
          <a:xfrm>
            <a:off x="10149840" y="4983480"/>
            <a:ext cx="274320" cy="201168"/>
          </a:xfrm>
          <a:prstGeom prst="downArrow">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ounded Rectangle 62"/>
          <p:cNvSpPr/>
          <p:nvPr/>
        </p:nvSpPr>
        <p:spPr>
          <a:xfrm>
            <a:off x="8915400" y="5349240"/>
            <a:ext cx="2743200" cy="777240"/>
          </a:xfrm>
          <a:prstGeom prst="roundRect">
            <a:avLst/>
          </a:prstGeom>
          <a:solidFill>
            <a:srgbClr val="0C23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915400" y="5440680"/>
            <a:ext cx="2743200" cy="274320"/>
          </a:xfrm>
          <a:prstGeom prst="rect">
            <a:avLst/>
          </a:prstGeom>
          <a:noFill/>
        </p:spPr>
        <p:txBody>
          <a:bodyPr wrap="square">
            <a:spAutoFit/>
          </a:bodyPr>
          <a:lstStyle/>
          <a:p>
            <a:pPr algn="ctr">
              <a:defRPr sz="1000" b="1">
                <a:solidFill>
                  <a:srgbClr val="FDE047"/>
                </a:solidFill>
              </a:defRPr>
            </a:pPr>
            <a:r>
              <a:t>DASHBOARD POWER BI</a:t>
            </a:r>
          </a:p>
        </p:txBody>
      </p:sp>
      <p:sp>
        <p:nvSpPr>
          <p:cNvPr id="65" name="TextBox 64"/>
          <p:cNvSpPr txBox="1"/>
          <p:nvPr/>
        </p:nvSpPr>
        <p:spPr>
          <a:xfrm>
            <a:off x="8915400" y="5715000"/>
            <a:ext cx="2743200" cy="320040"/>
          </a:xfrm>
          <a:prstGeom prst="rect">
            <a:avLst/>
          </a:prstGeom>
          <a:noFill/>
        </p:spPr>
        <p:txBody>
          <a:bodyPr wrap="square">
            <a:spAutoFit/>
          </a:bodyPr>
          <a:lstStyle/>
          <a:p>
            <a:pPr algn="ctr">
              <a:defRPr sz="850" b="0">
                <a:solidFill>
                  <a:srgbClr val="FFFFFF"/>
                </a:solidFill>
              </a:defRPr>
            </a:pPr>
            <a:r>
              <a:t>Ban Giám đốc xem báo cáo trên PC / Mobile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C23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2004"/>
          </a:xfrm>
          <a:prstGeom prst="rect">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
            <a:ext cx="9144000" cy="228600"/>
          </a:xfrm>
          <a:prstGeom prst="rect">
            <a:avLst/>
          </a:prstGeom>
          <a:noFill/>
        </p:spPr>
        <p:txBody>
          <a:bodyPr wrap="square">
            <a:spAutoFit/>
          </a:bodyPr>
          <a:lstStyle/>
          <a:p>
            <a:pPr algn="l">
              <a:defRPr sz="900" b="1">
                <a:solidFill>
                  <a:srgbClr val="9BB9DC"/>
                </a:solidFill>
              </a:defRPr>
            </a:pPr>
            <a:r>
              <a:t>PHÂN TÍCH — TRẢ LỜI CÂU HỎI TRỌNG TÂM TRONG CHỈ ĐẠO SỐ 9</a:t>
            </a:r>
          </a:p>
        </p:txBody>
      </p:sp>
      <p:sp>
        <p:nvSpPr>
          <p:cNvPr id="5" name="TextBox 4"/>
          <p:cNvSpPr txBox="1"/>
          <p:nvPr/>
        </p:nvSpPr>
        <p:spPr>
          <a:xfrm>
            <a:off x="731520" y="347472"/>
            <a:ext cx="10058400" cy="502920"/>
          </a:xfrm>
          <a:prstGeom prst="rect">
            <a:avLst/>
          </a:prstGeom>
          <a:noFill/>
        </p:spPr>
        <p:txBody>
          <a:bodyPr wrap="square">
            <a:spAutoFit/>
          </a:bodyPr>
          <a:lstStyle/>
          <a:p>
            <a:pPr algn="l">
              <a:defRPr sz="1900" b="1">
                <a:solidFill>
                  <a:srgbClr val="FFFFFF"/>
                </a:solidFill>
              </a:defRPr>
            </a:pPr>
            <a:r>
              <a:t>SO SÁNH 2 PHƯƠNG ÁN THEO CHỈ ĐẠO CỦA BAN GIÁM ĐỐC</a:t>
            </a:r>
          </a:p>
        </p:txBody>
      </p:sp>
      <p:sp>
        <p:nvSpPr>
          <p:cNvPr id="6" name="TextBox 5"/>
          <p:cNvSpPr txBox="1"/>
          <p:nvPr/>
        </p:nvSpPr>
        <p:spPr>
          <a:xfrm>
            <a:off x="10972800" y="347472"/>
            <a:ext cx="731520" cy="457200"/>
          </a:xfrm>
          <a:prstGeom prst="rect">
            <a:avLst/>
          </a:prstGeom>
          <a:noFill/>
        </p:spPr>
        <p:txBody>
          <a:bodyPr wrap="square">
            <a:spAutoFit/>
          </a:bodyPr>
          <a:lstStyle/>
          <a:p>
            <a:pPr algn="r">
              <a:defRPr sz="1200" b="1">
                <a:solidFill>
                  <a:srgbClr val="9BB9DC"/>
                </a:solidFill>
              </a:defRPr>
            </a:pPr>
            <a:r>
              <a:t>09</a:t>
            </a:r>
          </a:p>
        </p:txBody>
      </p:sp>
      <p:sp>
        <p:nvSpPr>
          <p:cNvPr id="7" name="Rectangle 6"/>
          <p:cNvSpPr/>
          <p:nvPr/>
        </p:nvSpPr>
        <p:spPr>
          <a:xfrm>
            <a:off x="0" y="6583680"/>
            <a:ext cx="12191695" cy="7315"/>
          </a:xfrm>
          <a:prstGeom prst="rect">
            <a:avLst/>
          </a:prstGeom>
          <a:solidFill>
            <a:srgbClr val="C8D0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601968"/>
            <a:ext cx="10698480" cy="228600"/>
          </a:xfrm>
          <a:prstGeom prst="rect">
            <a:avLst/>
          </a:prstGeom>
          <a:noFill/>
        </p:spPr>
        <p:txBody>
          <a:bodyPr wrap="square">
            <a:spAutoFit/>
          </a:bodyPr>
          <a:lstStyle/>
          <a:p>
            <a:pPr algn="l">
              <a:defRPr sz="800" b="0">
                <a:solidFill>
                  <a:srgbClr val="6C7684"/>
                </a:solidFill>
              </a:defRPr>
            </a:pPr>
            <a:r>
              <a:t>PTSC Quảng Ngãi  |  Báo cáo Data Platform &amp; Trục tích hợp  |  Thực hiện Chỉ đạo số 9 BGĐ</a:t>
            </a:r>
          </a:p>
        </p:txBody>
      </p:sp>
      <p:sp>
        <p:nvSpPr>
          <p:cNvPr id="9" name="Rounded Rectangle 8"/>
          <p:cNvSpPr/>
          <p:nvPr/>
        </p:nvSpPr>
        <p:spPr>
          <a:xfrm>
            <a:off x="731520" y="1371600"/>
            <a:ext cx="5120640" cy="4846320"/>
          </a:xfrm>
          <a:prstGeom prst="roundRect">
            <a:avLst/>
          </a:prstGeom>
          <a:solidFill>
            <a:srgbClr val="FCEBEB"/>
          </a:solidFill>
          <a:ln w="19050">
            <a:solidFill>
              <a:srgbClr val="B428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371600"/>
            <a:ext cx="5120640" cy="457200"/>
          </a:xfrm>
          <a:prstGeom prst="rect">
            <a:avLst/>
          </a:prstGeom>
          <a:solidFill>
            <a:srgbClr val="B4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371600"/>
            <a:ext cx="5120640" cy="457200"/>
          </a:xfrm>
          <a:prstGeom prst="rect">
            <a:avLst/>
          </a:prstGeom>
          <a:noFill/>
        </p:spPr>
        <p:txBody>
          <a:bodyPr wrap="square">
            <a:spAutoFit/>
          </a:bodyPr>
          <a:lstStyle/>
          <a:p>
            <a:pPr algn="ctr">
              <a:defRPr sz="1200" b="1">
                <a:solidFill>
                  <a:srgbClr val="FFFFFF"/>
                </a:solidFill>
              </a:defRPr>
            </a:pPr>
            <a:r>
              <a:t>PHƯƠNG ÁN 1:  Thuê TCT triển khai hộ từ A-Z</a:t>
            </a:r>
          </a:p>
        </p:txBody>
      </p:sp>
      <p:sp>
        <p:nvSpPr>
          <p:cNvPr id="12" name="TextBox 11"/>
          <p:cNvSpPr txBox="1"/>
          <p:nvPr/>
        </p:nvSpPr>
        <p:spPr>
          <a:xfrm>
            <a:off x="1005840" y="2011680"/>
            <a:ext cx="4572000" cy="274320"/>
          </a:xfrm>
          <a:prstGeom prst="rect">
            <a:avLst/>
          </a:prstGeom>
          <a:noFill/>
        </p:spPr>
        <p:txBody>
          <a:bodyPr wrap="square">
            <a:spAutoFit/>
          </a:bodyPr>
          <a:lstStyle/>
          <a:p>
            <a:pPr algn="l">
              <a:defRPr sz="1100" b="1">
                <a:solidFill>
                  <a:srgbClr val="B42828"/>
                </a:solidFill>
              </a:defRPr>
            </a:pPr>
            <a:r>
              <a:t>✕  TCT không đủ nhân lực hỗ trợ:</a:t>
            </a:r>
          </a:p>
        </p:txBody>
      </p:sp>
      <p:sp>
        <p:nvSpPr>
          <p:cNvPr id="13" name="TextBox 12"/>
          <p:cNvSpPr txBox="1"/>
          <p:nvPr/>
        </p:nvSpPr>
        <p:spPr>
          <a:xfrm>
            <a:off x="1234440" y="2267712"/>
            <a:ext cx="4297680" cy="594360"/>
          </a:xfrm>
          <a:prstGeom prst="rect">
            <a:avLst/>
          </a:prstGeom>
          <a:noFill/>
        </p:spPr>
        <p:txBody>
          <a:bodyPr wrap="square">
            <a:spAutoFit/>
          </a:bodyPr>
          <a:lstStyle/>
          <a:p>
            <a:pPr algn="l">
              <a:defRPr sz="950" b="0">
                <a:solidFill>
                  <a:srgbClr val="1C2330"/>
                </a:solidFill>
              </a:defRPr>
            </a:pPr>
            <a:r>
              <a:t>Ban CNTT TCT chỉ làm hạ tầng lõi Hub; không có người xuống QN khảo sát từng CSDL phần mềm của mình.</a:t>
            </a:r>
          </a:p>
        </p:txBody>
      </p:sp>
      <p:sp>
        <p:nvSpPr>
          <p:cNvPr id="14" name="TextBox 13"/>
          <p:cNvSpPr txBox="1"/>
          <p:nvPr/>
        </p:nvSpPr>
        <p:spPr>
          <a:xfrm>
            <a:off x="1005840" y="2971800"/>
            <a:ext cx="4572000" cy="274320"/>
          </a:xfrm>
          <a:prstGeom prst="rect">
            <a:avLst/>
          </a:prstGeom>
          <a:noFill/>
        </p:spPr>
        <p:txBody>
          <a:bodyPr wrap="square">
            <a:spAutoFit/>
          </a:bodyPr>
          <a:lstStyle/>
          <a:p>
            <a:pPr algn="l">
              <a:defRPr sz="1100" b="1">
                <a:solidFill>
                  <a:srgbClr val="B42828"/>
                </a:solidFill>
              </a:defRPr>
            </a:pPr>
            <a:r>
              <a:t>✕  Bị động và nguy cơ trễ hạn 2026:</a:t>
            </a:r>
          </a:p>
        </p:txBody>
      </p:sp>
      <p:sp>
        <p:nvSpPr>
          <p:cNvPr id="15" name="TextBox 14"/>
          <p:cNvSpPr txBox="1"/>
          <p:nvPr/>
        </p:nvSpPr>
        <p:spPr>
          <a:xfrm>
            <a:off x="1234440" y="3227832"/>
            <a:ext cx="4297680" cy="594360"/>
          </a:xfrm>
          <a:prstGeom prst="rect">
            <a:avLst/>
          </a:prstGeom>
          <a:noFill/>
        </p:spPr>
        <p:txBody>
          <a:bodyPr wrap="square">
            <a:spAutoFit/>
          </a:bodyPr>
          <a:lstStyle/>
          <a:p>
            <a:pPr algn="l">
              <a:defRPr sz="950" b="0">
                <a:solidFill>
                  <a:srgbClr val="1C2330"/>
                </a:solidFill>
              </a:defRPr>
            </a:pPr>
            <a:r>
              <a:t>TCT phải mở rộng cho hàng chục đơn vị. Nếu xếp hàng chờ TCT, QN chắc chắn không kịp tiến độ.</a:t>
            </a:r>
          </a:p>
        </p:txBody>
      </p:sp>
      <p:sp>
        <p:nvSpPr>
          <p:cNvPr id="16" name="TextBox 15"/>
          <p:cNvSpPr txBox="1"/>
          <p:nvPr/>
        </p:nvSpPr>
        <p:spPr>
          <a:xfrm>
            <a:off x="1005840" y="3931920"/>
            <a:ext cx="4572000" cy="274320"/>
          </a:xfrm>
          <a:prstGeom prst="rect">
            <a:avLst/>
          </a:prstGeom>
          <a:noFill/>
        </p:spPr>
        <p:txBody>
          <a:bodyPr wrap="square">
            <a:spAutoFit/>
          </a:bodyPr>
          <a:lstStyle/>
          <a:p>
            <a:pPr algn="l">
              <a:defRPr sz="1100" b="1">
                <a:solidFill>
                  <a:srgbClr val="B42828"/>
                </a:solidFill>
              </a:defRPr>
            </a:pPr>
            <a:r>
              <a:t>✕  Thiếu báo cáo quản trị riêng cho BGĐ:</a:t>
            </a:r>
          </a:p>
        </p:txBody>
      </p:sp>
      <p:sp>
        <p:nvSpPr>
          <p:cNvPr id="17" name="TextBox 16"/>
          <p:cNvSpPr txBox="1"/>
          <p:nvPr/>
        </p:nvSpPr>
        <p:spPr>
          <a:xfrm>
            <a:off x="1234440" y="4187952"/>
            <a:ext cx="4297680" cy="594360"/>
          </a:xfrm>
          <a:prstGeom prst="rect">
            <a:avLst/>
          </a:prstGeom>
          <a:noFill/>
        </p:spPr>
        <p:txBody>
          <a:bodyPr wrap="square">
            <a:spAutoFit/>
          </a:bodyPr>
          <a:lstStyle/>
          <a:p>
            <a:pPr algn="l">
              <a:defRPr sz="950" b="0">
                <a:solidFill>
                  <a:srgbClr val="1C2330"/>
                </a:solidFill>
              </a:defRPr>
            </a:pPr>
            <a:r>
              <a:t>TCT chỉ xây báo cáo tài chính vĩ mô cho Tập đoàn; không giải quyết được bài toán tồn xưởng, nhân công dự án của QN.</a:t>
            </a:r>
          </a:p>
        </p:txBody>
      </p:sp>
      <p:sp>
        <p:nvSpPr>
          <p:cNvPr id="18" name="TextBox 17"/>
          <p:cNvSpPr txBox="1"/>
          <p:nvPr/>
        </p:nvSpPr>
        <p:spPr>
          <a:xfrm>
            <a:off x="1005840" y="4892040"/>
            <a:ext cx="4572000" cy="274320"/>
          </a:xfrm>
          <a:prstGeom prst="rect">
            <a:avLst/>
          </a:prstGeom>
          <a:noFill/>
        </p:spPr>
        <p:txBody>
          <a:bodyPr wrap="square">
            <a:spAutoFit/>
          </a:bodyPr>
          <a:lstStyle/>
          <a:p>
            <a:pPr algn="l">
              <a:defRPr sz="1100" b="1">
                <a:solidFill>
                  <a:srgbClr val="B42828"/>
                </a:solidFill>
              </a:defRPr>
            </a:pPr>
            <a:r>
              <a:t>✕  Chi phí phân bổ không chủ động:</a:t>
            </a:r>
          </a:p>
        </p:txBody>
      </p:sp>
      <p:sp>
        <p:nvSpPr>
          <p:cNvPr id="19" name="TextBox 18"/>
          <p:cNvSpPr txBox="1"/>
          <p:nvPr/>
        </p:nvSpPr>
        <p:spPr>
          <a:xfrm>
            <a:off x="1234440" y="5148072"/>
            <a:ext cx="4297680" cy="594360"/>
          </a:xfrm>
          <a:prstGeom prst="rect">
            <a:avLst/>
          </a:prstGeom>
          <a:noFill/>
        </p:spPr>
        <p:txBody>
          <a:bodyPr wrap="square">
            <a:spAutoFit/>
          </a:bodyPr>
          <a:lstStyle/>
          <a:p>
            <a:pPr algn="l">
              <a:defRPr sz="950" b="0">
                <a:solidFill>
                  <a:srgbClr val="1C2330"/>
                </a:solidFill>
              </a:defRPr>
            </a:pPr>
            <a:r>
              <a:t>Phải gánh phân bổ chi phí dịch vụ từ TCT mà không kiểm soát được hạng mục chi tiết.</a:t>
            </a:r>
          </a:p>
        </p:txBody>
      </p:sp>
      <p:sp>
        <p:nvSpPr>
          <p:cNvPr id="20" name="Rounded Rectangle 19"/>
          <p:cNvSpPr/>
          <p:nvPr/>
        </p:nvSpPr>
        <p:spPr>
          <a:xfrm>
            <a:off x="6217920" y="1371600"/>
            <a:ext cx="5212080" cy="4846320"/>
          </a:xfrm>
          <a:prstGeom prst="roundRect">
            <a:avLst/>
          </a:prstGeom>
          <a:solidFill>
            <a:srgbClr val="E8F8EF"/>
          </a:solidFill>
          <a:ln w="19050">
            <a:solidFill>
              <a:srgbClr val="158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1371600"/>
            <a:ext cx="5212080" cy="457200"/>
          </a:xfrm>
          <a:prstGeom prst="rect">
            <a:avLst/>
          </a:prstGeom>
          <a:solidFill>
            <a:srgbClr val="158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17920" y="1371600"/>
            <a:ext cx="5212080" cy="457200"/>
          </a:xfrm>
          <a:prstGeom prst="rect">
            <a:avLst/>
          </a:prstGeom>
          <a:noFill/>
        </p:spPr>
        <p:txBody>
          <a:bodyPr wrap="square">
            <a:spAutoFit/>
          </a:bodyPr>
          <a:lstStyle/>
          <a:p>
            <a:pPr algn="ctr">
              <a:defRPr sz="1200" b="1">
                <a:solidFill>
                  <a:srgbClr val="FFFFFF"/>
                </a:solidFill>
              </a:defRPr>
            </a:pPr>
            <a:r>
              <a:t>PHƯƠNG ÁN 2:  Phát triển riêng đồng bộ TCT (CÓ NCC)   ĐỀ XUẤT</a:t>
            </a:r>
          </a:p>
        </p:txBody>
      </p:sp>
      <p:sp>
        <p:nvSpPr>
          <p:cNvPr id="23" name="TextBox 22"/>
          <p:cNvSpPr txBox="1"/>
          <p:nvPr/>
        </p:nvSpPr>
        <p:spPr>
          <a:xfrm>
            <a:off x="6492240" y="2011680"/>
            <a:ext cx="4663440" cy="274320"/>
          </a:xfrm>
          <a:prstGeom prst="rect">
            <a:avLst/>
          </a:prstGeom>
          <a:noFill/>
        </p:spPr>
        <p:txBody>
          <a:bodyPr wrap="square">
            <a:spAutoFit/>
          </a:bodyPr>
          <a:lstStyle/>
          <a:p>
            <a:pPr algn="l">
              <a:defRPr sz="1100" b="1">
                <a:solidFill>
                  <a:srgbClr val="158050"/>
                </a:solidFill>
              </a:defRPr>
            </a:pPr>
            <a:r>
              <a:t>✔  NCC làm việc trực tiếp tại Quảng Ngãi:</a:t>
            </a:r>
          </a:p>
        </p:txBody>
      </p:sp>
      <p:sp>
        <p:nvSpPr>
          <p:cNvPr id="24" name="TextBox 23"/>
          <p:cNvSpPr txBox="1"/>
          <p:nvPr/>
        </p:nvSpPr>
        <p:spPr>
          <a:xfrm>
            <a:off x="6720840" y="2267712"/>
            <a:ext cx="4389120" cy="594360"/>
          </a:xfrm>
          <a:prstGeom prst="rect">
            <a:avLst/>
          </a:prstGeom>
          <a:noFill/>
        </p:spPr>
        <p:txBody>
          <a:bodyPr wrap="square">
            <a:spAutoFit/>
          </a:bodyPr>
          <a:lstStyle/>
          <a:p>
            <a:pPr algn="l">
              <a:defRPr sz="950" b="0">
                <a:solidFill>
                  <a:srgbClr val="1C2330"/>
                </a:solidFill>
              </a:defRPr>
            </a:pPr>
            <a:r>
              <a:t>Khảo sát, thiết kế và đấu nối trúng các phần mềm đặc thù mà công ty đang dùng hàng ngày.</a:t>
            </a:r>
          </a:p>
        </p:txBody>
      </p:sp>
      <p:sp>
        <p:nvSpPr>
          <p:cNvPr id="25" name="TextBox 24"/>
          <p:cNvSpPr txBox="1"/>
          <p:nvPr/>
        </p:nvSpPr>
        <p:spPr>
          <a:xfrm>
            <a:off x="6492240" y="2971800"/>
            <a:ext cx="4663440" cy="274320"/>
          </a:xfrm>
          <a:prstGeom prst="rect">
            <a:avLst/>
          </a:prstGeom>
          <a:noFill/>
        </p:spPr>
        <p:txBody>
          <a:bodyPr wrap="square">
            <a:spAutoFit/>
          </a:bodyPr>
          <a:lstStyle/>
          <a:p>
            <a:pPr algn="l">
              <a:defRPr sz="1100" b="1">
                <a:solidFill>
                  <a:srgbClr val="158050"/>
                </a:solidFill>
              </a:defRPr>
            </a:pPr>
            <a:r>
              <a:t>✔  Chủ động 100% tiến độ:</a:t>
            </a:r>
          </a:p>
        </p:txBody>
      </p:sp>
      <p:sp>
        <p:nvSpPr>
          <p:cNvPr id="26" name="TextBox 25"/>
          <p:cNvSpPr txBox="1"/>
          <p:nvPr/>
        </p:nvSpPr>
        <p:spPr>
          <a:xfrm>
            <a:off x="6720840" y="3227832"/>
            <a:ext cx="4389120" cy="594360"/>
          </a:xfrm>
          <a:prstGeom prst="rect">
            <a:avLst/>
          </a:prstGeom>
          <a:noFill/>
        </p:spPr>
        <p:txBody>
          <a:bodyPr wrap="square">
            <a:spAutoFit/>
          </a:bodyPr>
          <a:lstStyle/>
          <a:p>
            <a:pPr algn="l">
              <a:defRPr sz="950" b="0">
                <a:solidFill>
                  <a:srgbClr val="1C2330"/>
                </a:solidFill>
              </a:defRPr>
            </a:pPr>
            <a:r>
              <a:t>Cam kết hoàn thành trạm trung chuyển trong 3–4 tháng, đảm bảo hoàn thành đúng mốc hạn 2026 của TCT.</a:t>
            </a:r>
          </a:p>
        </p:txBody>
      </p:sp>
      <p:sp>
        <p:nvSpPr>
          <p:cNvPr id="27" name="TextBox 26"/>
          <p:cNvSpPr txBox="1"/>
          <p:nvPr/>
        </p:nvSpPr>
        <p:spPr>
          <a:xfrm>
            <a:off x="6492240" y="3931920"/>
            <a:ext cx="4663440" cy="274320"/>
          </a:xfrm>
          <a:prstGeom prst="rect">
            <a:avLst/>
          </a:prstGeom>
          <a:noFill/>
        </p:spPr>
        <p:txBody>
          <a:bodyPr wrap="square">
            <a:spAutoFit/>
          </a:bodyPr>
          <a:lstStyle/>
          <a:p>
            <a:pPr algn="l">
              <a:defRPr sz="1100" b="1">
                <a:solidFill>
                  <a:srgbClr val="158050"/>
                </a:solidFill>
              </a:defRPr>
            </a:pPr>
            <a:r>
              <a:t>✔  Thiết kế Dashboard đo ni đóng giày cho BGĐ:</a:t>
            </a:r>
          </a:p>
        </p:txBody>
      </p:sp>
      <p:sp>
        <p:nvSpPr>
          <p:cNvPr id="28" name="TextBox 27"/>
          <p:cNvSpPr txBox="1"/>
          <p:nvPr/>
        </p:nvSpPr>
        <p:spPr>
          <a:xfrm>
            <a:off x="6720840" y="4187952"/>
            <a:ext cx="4389120" cy="594360"/>
          </a:xfrm>
          <a:prstGeom prst="rect">
            <a:avLst/>
          </a:prstGeom>
          <a:noFill/>
        </p:spPr>
        <p:txBody>
          <a:bodyPr wrap="square">
            <a:spAutoFit/>
          </a:bodyPr>
          <a:lstStyle/>
          <a:p>
            <a:pPr algn="l">
              <a:defRPr sz="950" b="0">
                <a:solidFill>
                  <a:srgbClr val="1C2330"/>
                </a:solidFill>
              </a:defRPr>
            </a:pPr>
            <a:r>
              <a:t>Vừa đồng bộ chuẩn cho TCT, vừa có báo cáo quản trị chuyên sâu phục vụ điều hành của Ban Giám đốc QN.</a:t>
            </a:r>
          </a:p>
        </p:txBody>
      </p:sp>
      <p:sp>
        <p:nvSpPr>
          <p:cNvPr id="29" name="TextBox 28"/>
          <p:cNvSpPr txBox="1"/>
          <p:nvPr/>
        </p:nvSpPr>
        <p:spPr>
          <a:xfrm>
            <a:off x="6492240" y="4892040"/>
            <a:ext cx="4663440" cy="274320"/>
          </a:xfrm>
          <a:prstGeom prst="rect">
            <a:avLst/>
          </a:prstGeom>
          <a:noFill/>
        </p:spPr>
        <p:txBody>
          <a:bodyPr wrap="square">
            <a:spAutoFit/>
          </a:bodyPr>
          <a:lstStyle/>
          <a:p>
            <a:pPr algn="l">
              <a:defRPr sz="1100" b="1">
                <a:solidFill>
                  <a:srgbClr val="158050"/>
                </a:solidFill>
              </a:defRPr>
            </a:pPr>
            <a:r>
              <a:t>✔  Tối ưu chi phí &amp; Chủ động kiểm soát:</a:t>
            </a:r>
          </a:p>
        </p:txBody>
      </p:sp>
      <p:sp>
        <p:nvSpPr>
          <p:cNvPr id="30" name="TextBox 29"/>
          <p:cNvSpPr txBox="1"/>
          <p:nvPr/>
        </p:nvSpPr>
        <p:spPr>
          <a:xfrm>
            <a:off x="6720840" y="5148072"/>
            <a:ext cx="4389120" cy="594360"/>
          </a:xfrm>
          <a:prstGeom prst="rect">
            <a:avLst/>
          </a:prstGeom>
          <a:noFill/>
        </p:spPr>
        <p:txBody>
          <a:bodyPr wrap="square">
            <a:spAutoFit/>
          </a:bodyPr>
          <a:lstStyle/>
          <a:p>
            <a:pPr algn="l">
              <a:defRPr sz="950" b="0">
                <a:solidFill>
                  <a:srgbClr val="1C2330"/>
                </a:solidFill>
              </a:defRPr>
            </a:pPr>
            <a:r>
              <a:t>Tận dụng hạ tầng đám mây TCT đã mua sẵn; chi phí thuê NCC được đấu thầu cạnh tranh rõ ràng.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C23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2004"/>
          </a:xfrm>
          <a:prstGeom prst="rect">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
            <a:ext cx="9144000" cy="228600"/>
          </a:xfrm>
          <a:prstGeom prst="rect">
            <a:avLst/>
          </a:prstGeom>
          <a:noFill/>
        </p:spPr>
        <p:txBody>
          <a:bodyPr wrap="square">
            <a:spAutoFit/>
          </a:bodyPr>
          <a:lstStyle/>
          <a:p>
            <a:pPr algn="l">
              <a:defRPr sz="900" b="1">
                <a:solidFill>
                  <a:srgbClr val="9BB9DC"/>
                </a:solidFill>
              </a:defRPr>
            </a:pPr>
            <a:r>
              <a:t>TÀI CHÍNH — BÁM SÁT PHƯƠNG ÁN 3 CỦA TỔNG CÔNG TY</a:t>
            </a:r>
          </a:p>
        </p:txBody>
      </p:sp>
      <p:sp>
        <p:nvSpPr>
          <p:cNvPr id="5" name="TextBox 4"/>
          <p:cNvSpPr txBox="1"/>
          <p:nvPr/>
        </p:nvSpPr>
        <p:spPr>
          <a:xfrm>
            <a:off x="731520" y="347472"/>
            <a:ext cx="10058400" cy="502920"/>
          </a:xfrm>
          <a:prstGeom prst="rect">
            <a:avLst/>
          </a:prstGeom>
          <a:noFill/>
        </p:spPr>
        <p:txBody>
          <a:bodyPr wrap="square">
            <a:spAutoFit/>
          </a:bodyPr>
          <a:lstStyle/>
          <a:p>
            <a:pPr algn="l">
              <a:defRPr sz="1900" b="1">
                <a:solidFill>
                  <a:srgbClr val="FFFFFF"/>
                </a:solidFill>
              </a:defRPr>
            </a:pPr>
            <a:r>
              <a:t>CƠ CHẾ ĐẦU TƯ &amp; CẤU TRÚC CHI PHÍ THEO ĐỊNH HƯỚNG TCT</a:t>
            </a:r>
          </a:p>
        </p:txBody>
      </p:sp>
      <p:sp>
        <p:nvSpPr>
          <p:cNvPr id="6" name="TextBox 5"/>
          <p:cNvSpPr txBox="1"/>
          <p:nvPr/>
        </p:nvSpPr>
        <p:spPr>
          <a:xfrm>
            <a:off x="10972800" y="347472"/>
            <a:ext cx="731520" cy="457200"/>
          </a:xfrm>
          <a:prstGeom prst="rect">
            <a:avLst/>
          </a:prstGeom>
          <a:noFill/>
        </p:spPr>
        <p:txBody>
          <a:bodyPr wrap="square">
            <a:spAutoFit/>
          </a:bodyPr>
          <a:lstStyle/>
          <a:p>
            <a:pPr algn="r">
              <a:defRPr sz="1200" b="1">
                <a:solidFill>
                  <a:srgbClr val="9BB9DC"/>
                </a:solidFill>
              </a:defRPr>
            </a:pPr>
            <a:r>
              <a:t>10</a:t>
            </a:r>
          </a:p>
        </p:txBody>
      </p:sp>
      <p:sp>
        <p:nvSpPr>
          <p:cNvPr id="7" name="Rectangle 6"/>
          <p:cNvSpPr/>
          <p:nvPr/>
        </p:nvSpPr>
        <p:spPr>
          <a:xfrm>
            <a:off x="0" y="6583680"/>
            <a:ext cx="12191695" cy="7315"/>
          </a:xfrm>
          <a:prstGeom prst="rect">
            <a:avLst/>
          </a:prstGeom>
          <a:solidFill>
            <a:srgbClr val="C8D0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601968"/>
            <a:ext cx="10698480" cy="228600"/>
          </a:xfrm>
          <a:prstGeom prst="rect">
            <a:avLst/>
          </a:prstGeom>
          <a:noFill/>
        </p:spPr>
        <p:txBody>
          <a:bodyPr wrap="square">
            <a:spAutoFit/>
          </a:bodyPr>
          <a:lstStyle/>
          <a:p>
            <a:pPr algn="l">
              <a:defRPr sz="800" b="0">
                <a:solidFill>
                  <a:srgbClr val="6C7684"/>
                </a:solidFill>
              </a:defRPr>
            </a:pPr>
            <a:r>
              <a:t>PTSC Quảng Ngãi  |  Báo cáo Data Platform &amp; Trục tích hợp  |  Thực hiện Chỉ đạo số 9 BGĐ</a:t>
            </a:r>
          </a:p>
        </p:txBody>
      </p:sp>
      <p:graphicFrame>
        <p:nvGraphicFramePr>
          <p:cNvPr id="9" name="Table 8"/>
          <p:cNvGraphicFramePr>
            <a:graphicFrameLocks noGrp="1"/>
          </p:cNvGraphicFramePr>
          <p:nvPr/>
        </p:nvGraphicFramePr>
        <p:xfrm>
          <a:off x="731520" y="1280160"/>
          <a:ext cx="10728655" cy="3657600"/>
        </p:xfrm>
        <a:graphic>
          <a:graphicData uri="http://schemas.openxmlformats.org/drawingml/2006/table">
            <a:tbl>
              <a:tblPr firstRow="1" bandRow="1">
                <a:tableStyleId>{5C22544A-7EE6-4342-B048-85BDC9FD1C3A}</a:tableStyleId>
              </a:tblPr>
              <a:tblGrid>
                <a:gridCol w="457200"/>
                <a:gridCol w="3474720"/>
                <a:gridCol w="4419295"/>
                <a:gridCol w="2377440"/>
              </a:tblGrid>
              <a:tr h="457200">
                <a:tc>
                  <a:txBody>
                    <a:bodyPr/>
                    <a:lstStyle/>
                    <a:p>
                      <a:pPr algn="ctr">
                        <a:defRPr sz="1050" b="1">
                          <a:solidFill>
                            <a:srgbClr val="FFFFFF"/>
                          </a:solidFill>
                        </a:defRPr>
                      </a:pPr>
                      <a:r>
                        <a:t>STT</a:t>
                      </a:r>
                    </a:p>
                  </a:txBody>
                  <a:tcPr>
                    <a:solidFill>
                      <a:srgbClr val="0C2344"/>
                    </a:solidFill>
                  </a:tcPr>
                </a:tc>
                <a:tc>
                  <a:txBody>
                    <a:bodyPr/>
                    <a:lstStyle/>
                    <a:p>
                      <a:pPr algn="ctr">
                        <a:defRPr sz="1050" b="1">
                          <a:solidFill>
                            <a:srgbClr val="FFFFFF"/>
                          </a:solidFill>
                        </a:defRPr>
                      </a:pPr>
                      <a:r>
                        <a:t>Cấu phần chi phí (Theo chuẩn TCT)</a:t>
                      </a:r>
                    </a:p>
                  </a:txBody>
                  <a:tcPr>
                    <a:solidFill>
                      <a:srgbClr val="0C2344"/>
                    </a:solidFill>
                  </a:tcPr>
                </a:tc>
                <a:tc>
                  <a:txBody>
                    <a:bodyPr/>
                    <a:lstStyle/>
                    <a:p>
                      <a:pPr algn="ctr">
                        <a:defRPr sz="1050" b="1">
                          <a:solidFill>
                            <a:srgbClr val="FFFFFF"/>
                          </a:solidFill>
                        </a:defRPr>
                      </a:pPr>
                      <a:r>
                        <a:t>Nội dung &amp; Trách nhiệm thực hiện</a:t>
                      </a:r>
                    </a:p>
                  </a:txBody>
                  <a:tcPr>
                    <a:solidFill>
                      <a:srgbClr val="0C2344"/>
                    </a:solidFill>
                  </a:tcPr>
                </a:tc>
                <a:tc>
                  <a:txBody>
                    <a:bodyPr/>
                    <a:lstStyle/>
                    <a:p>
                      <a:pPr algn="ctr">
                        <a:defRPr sz="1050" b="1">
                          <a:solidFill>
                            <a:srgbClr val="FFFFFF"/>
                          </a:solidFill>
                        </a:defRPr>
                      </a:pPr>
                      <a:r>
                        <a:t>Dự toán ngân sách</a:t>
                      </a:r>
                    </a:p>
                  </a:txBody>
                  <a:tcPr>
                    <a:solidFill>
                      <a:srgbClr val="0C2344"/>
                    </a:solidFill>
                  </a:tcPr>
                </a:tc>
              </a:tr>
              <a:tr h="457200">
                <a:tc>
                  <a:txBody>
                    <a:bodyPr/>
                    <a:lstStyle/>
                    <a:p>
                      <a:pPr algn="ctr">
                        <a:defRPr sz="950">
                          <a:solidFill>
                            <a:srgbClr val="1C2330"/>
                          </a:solidFill>
                        </a:defRPr>
                      </a:pPr>
                      <a:r>
                        <a:t>1</a:t>
                      </a:r>
                    </a:p>
                  </a:txBody>
                  <a:tcPr>
                    <a:solidFill>
                      <a:srgbClr val="FFFFFF"/>
                    </a:solidFill>
                  </a:tcPr>
                </a:tc>
                <a:tc>
                  <a:txBody>
                    <a:bodyPr/>
                    <a:lstStyle/>
                    <a:p>
                      <a:pPr>
                        <a:defRPr sz="950">
                          <a:solidFill>
                            <a:srgbClr val="1C2330"/>
                          </a:solidFill>
                        </a:defRPr>
                      </a:pPr>
                      <a:r>
                        <a:t>Hạ tầng phần cứng tại Đơn vị</a:t>
                      </a:r>
                    </a:p>
                  </a:txBody>
                  <a:tcPr>
                    <a:solidFill>
                      <a:srgbClr val="FFFFFF"/>
                    </a:solidFill>
                  </a:tcPr>
                </a:tc>
                <a:tc>
                  <a:txBody>
                    <a:bodyPr/>
                    <a:lstStyle/>
                    <a:p>
                      <a:pPr>
                        <a:defRPr sz="950">
                          <a:solidFill>
                            <a:srgbClr val="1C2330"/>
                          </a:solidFill>
                        </a:defRPr>
                      </a:pPr>
                      <a:r>
                        <a:t>Tận dụng máy chủ ảo (VM) sẵn có của Quảng Ngãi</a:t>
                      </a:r>
                    </a:p>
                  </a:txBody>
                  <a:tcPr>
                    <a:solidFill>
                      <a:srgbClr val="FFFFFF"/>
                    </a:solidFill>
                  </a:tcPr>
                </a:tc>
                <a:tc>
                  <a:txBody>
                    <a:bodyPr/>
                    <a:lstStyle/>
                    <a:p>
                      <a:pPr algn="ctr">
                        <a:defRPr sz="950" b="1">
                          <a:solidFill>
                            <a:srgbClr val="158050"/>
                          </a:solidFill>
                        </a:defRPr>
                      </a:pPr>
                      <a:r>
                        <a:t>0 VNĐ (Đơn vị tự có)</a:t>
                      </a:r>
                    </a:p>
                  </a:txBody>
                  <a:tcPr>
                    <a:solidFill>
                      <a:srgbClr val="FFFFFF"/>
                    </a:solidFill>
                  </a:tcPr>
                </a:tc>
              </a:tr>
              <a:tr h="457200">
                <a:tc>
                  <a:txBody>
                    <a:bodyPr/>
                    <a:lstStyle/>
                    <a:p>
                      <a:pPr algn="ctr">
                        <a:defRPr sz="950">
                          <a:solidFill>
                            <a:srgbClr val="1C2330"/>
                          </a:solidFill>
                        </a:defRPr>
                      </a:pPr>
                      <a:r>
                        <a:t>2</a:t>
                      </a:r>
                    </a:p>
                  </a:txBody>
                  <a:tcPr>
                    <a:solidFill>
                      <a:srgbClr val="F3F5F8"/>
                    </a:solidFill>
                  </a:tcPr>
                </a:tc>
                <a:tc>
                  <a:txBody>
                    <a:bodyPr/>
                    <a:lstStyle/>
                    <a:p>
                      <a:pPr>
                        <a:defRPr sz="950">
                          <a:solidFill>
                            <a:srgbClr val="1C2330"/>
                          </a:solidFill>
                        </a:defRPr>
                      </a:pPr>
                      <a:r>
                        <a:t>Hạ tầng Cloud Hub &amp; Bản quyền khung</a:t>
                      </a:r>
                    </a:p>
                  </a:txBody>
                  <a:tcPr>
                    <a:solidFill>
                      <a:srgbClr val="F3F5F8"/>
                    </a:solidFill>
                  </a:tcPr>
                </a:tc>
                <a:tc>
                  <a:txBody>
                    <a:bodyPr/>
                    <a:lstStyle/>
                    <a:p>
                      <a:pPr>
                        <a:defRPr sz="950">
                          <a:solidFill>
                            <a:srgbClr val="1C2330"/>
                          </a:solidFill>
                        </a:defRPr>
                      </a:pPr>
                      <a:r>
                        <a:t>Microsoft Fabric, MinIO, Purview, MDM do TCT đầu tư sẵn</a:t>
                      </a:r>
                    </a:p>
                  </a:txBody>
                  <a:tcPr>
                    <a:solidFill>
                      <a:srgbClr val="F3F5F8"/>
                    </a:solidFill>
                  </a:tcPr>
                </a:tc>
                <a:tc>
                  <a:txBody>
                    <a:bodyPr/>
                    <a:lstStyle/>
                    <a:p>
                      <a:pPr algn="ctr">
                        <a:defRPr sz="950" b="1">
                          <a:solidFill>
                            <a:srgbClr val="158050"/>
                          </a:solidFill>
                        </a:defRPr>
                      </a:pPr>
                      <a:r>
                        <a:t>TCT ĐÃ ĐẦU TƯ</a:t>
                      </a:r>
                    </a:p>
                  </a:txBody>
                  <a:tcPr>
                    <a:solidFill>
                      <a:srgbClr val="F3F5F8"/>
                    </a:solidFill>
                  </a:tcPr>
                </a:tc>
              </a:tr>
              <a:tr h="457200">
                <a:tc>
                  <a:txBody>
                    <a:bodyPr/>
                    <a:lstStyle/>
                    <a:p>
                      <a:pPr algn="ctr">
                        <a:defRPr sz="950">
                          <a:solidFill>
                            <a:srgbClr val="1C2330"/>
                          </a:solidFill>
                        </a:defRPr>
                      </a:pPr>
                      <a:r>
                        <a:t>3</a:t>
                      </a:r>
                    </a:p>
                  </a:txBody>
                  <a:tcPr>
                    <a:solidFill>
                      <a:srgbClr val="FFFFFF"/>
                    </a:solidFill>
                  </a:tcPr>
                </a:tc>
                <a:tc>
                  <a:txBody>
                    <a:bodyPr/>
                    <a:lstStyle/>
                    <a:p>
                      <a:pPr>
                        <a:defRPr sz="950">
                          <a:solidFill>
                            <a:srgbClr val="1C2330"/>
                          </a:solidFill>
                        </a:defRPr>
                      </a:pPr>
                      <a:r>
                        <a:t>Dịch vụ: Khảo sát &amp; Thiết kế kiến trúc</a:t>
                      </a:r>
                    </a:p>
                  </a:txBody>
                  <a:tcPr>
                    <a:solidFill>
                      <a:srgbClr val="FFFFFF"/>
                    </a:solidFill>
                  </a:tcPr>
                </a:tc>
                <a:tc>
                  <a:txBody>
                    <a:bodyPr/>
                    <a:lstStyle/>
                    <a:p>
                      <a:pPr>
                        <a:defRPr sz="950">
                          <a:solidFill>
                            <a:srgbClr val="1C2330"/>
                          </a:solidFill>
                        </a:defRPr>
                      </a:pPr>
                      <a:r>
                        <a:t>Khảo sát CSDL 4 phần mềm + Lập bảng ánh xạ 29 Master Data</a:t>
                      </a:r>
                    </a:p>
                  </a:txBody>
                  <a:tcPr>
                    <a:solidFill>
                      <a:srgbClr val="FFFFFF"/>
                    </a:solidFill>
                  </a:tcPr>
                </a:tc>
                <a:tc>
                  <a:txBody>
                    <a:bodyPr/>
                    <a:lstStyle/>
                    <a:p>
                      <a:pPr algn="ctr">
                        <a:defRPr sz="950" b="1">
                          <a:solidFill>
                            <a:srgbClr val="B47300"/>
                          </a:solidFill>
                        </a:defRPr>
                      </a:pPr>
                      <a:r>
                        <a:t>[Chờ NCC báo giá sau khảo sát]</a:t>
                      </a:r>
                    </a:p>
                  </a:txBody>
                  <a:tcPr>
                    <a:solidFill>
                      <a:srgbClr val="FFFFFF"/>
                    </a:solidFill>
                  </a:tcPr>
                </a:tc>
              </a:tr>
              <a:tr h="457200">
                <a:tc>
                  <a:txBody>
                    <a:bodyPr/>
                    <a:lstStyle/>
                    <a:p>
                      <a:pPr algn="ctr">
                        <a:defRPr sz="950">
                          <a:solidFill>
                            <a:srgbClr val="1C2330"/>
                          </a:solidFill>
                        </a:defRPr>
                      </a:pPr>
                      <a:r>
                        <a:t>4</a:t>
                      </a:r>
                    </a:p>
                  </a:txBody>
                  <a:tcPr>
                    <a:solidFill>
                      <a:srgbClr val="F3F5F8"/>
                    </a:solidFill>
                  </a:tcPr>
                </a:tc>
                <a:tc>
                  <a:txBody>
                    <a:bodyPr/>
                    <a:lstStyle/>
                    <a:p>
                      <a:pPr>
                        <a:defRPr sz="950">
                          <a:solidFill>
                            <a:srgbClr val="1C2330"/>
                          </a:solidFill>
                        </a:defRPr>
                      </a:pPr>
                      <a:r>
                        <a:t>Dịch vụ: Xây dựng Trục tích hợp &amp; ETL</a:t>
                      </a:r>
                    </a:p>
                  </a:txBody>
                  <a:tcPr>
                    <a:solidFill>
                      <a:srgbClr val="F3F5F8"/>
                    </a:solidFill>
                  </a:tcPr>
                </a:tc>
                <a:tc>
                  <a:txBody>
                    <a:bodyPr/>
                    <a:lstStyle/>
                    <a:p>
                      <a:pPr>
                        <a:defRPr sz="950">
                          <a:solidFill>
                            <a:srgbClr val="1C2330"/>
                          </a:solidFill>
                        </a:defRPr>
                      </a:pPr>
                      <a:r>
                        <a:t>Lập trình đường ống trích xuất, làm sạch, mã hóa VPN lên TCT</a:t>
                      </a:r>
                    </a:p>
                  </a:txBody>
                  <a:tcPr>
                    <a:solidFill>
                      <a:srgbClr val="F3F5F8"/>
                    </a:solidFill>
                  </a:tcPr>
                </a:tc>
                <a:tc>
                  <a:txBody>
                    <a:bodyPr/>
                    <a:lstStyle/>
                    <a:p>
                      <a:pPr algn="ctr">
                        <a:defRPr sz="950" b="1">
                          <a:solidFill>
                            <a:srgbClr val="B47300"/>
                          </a:solidFill>
                        </a:defRPr>
                      </a:pPr>
                      <a:r>
                        <a:t>[Chờ NCC báo giá sau khảo sát]</a:t>
                      </a:r>
                    </a:p>
                  </a:txBody>
                  <a:tcPr>
                    <a:solidFill>
                      <a:srgbClr val="F3F5F8"/>
                    </a:solidFill>
                  </a:tcPr>
                </a:tc>
              </a:tr>
              <a:tr h="457200">
                <a:tc>
                  <a:txBody>
                    <a:bodyPr/>
                    <a:lstStyle/>
                    <a:p>
                      <a:pPr algn="ctr">
                        <a:defRPr sz="950">
                          <a:solidFill>
                            <a:srgbClr val="1C2330"/>
                          </a:solidFill>
                        </a:defRPr>
                      </a:pPr>
                      <a:r>
                        <a:t>5</a:t>
                      </a:r>
                    </a:p>
                  </a:txBody>
                  <a:tcPr>
                    <a:solidFill>
                      <a:srgbClr val="FFFFFF"/>
                    </a:solidFill>
                  </a:tcPr>
                </a:tc>
                <a:tc>
                  <a:txBody>
                    <a:bodyPr/>
                    <a:lstStyle/>
                    <a:p>
                      <a:pPr>
                        <a:defRPr sz="950">
                          <a:solidFill>
                            <a:srgbClr val="1C2330"/>
                          </a:solidFill>
                        </a:defRPr>
                      </a:pPr>
                      <a:r>
                        <a:t>Dịch vụ: Xây dựng Dashboard Power BI</a:t>
                      </a:r>
                    </a:p>
                  </a:txBody>
                  <a:tcPr>
                    <a:solidFill>
                      <a:srgbClr val="FFFFFF"/>
                    </a:solidFill>
                  </a:tcPr>
                </a:tc>
                <a:tc>
                  <a:txBody>
                    <a:bodyPr/>
                    <a:lstStyle/>
                    <a:p>
                      <a:pPr>
                        <a:defRPr sz="950">
                          <a:solidFill>
                            <a:srgbClr val="1C2330"/>
                          </a:solidFill>
                        </a:defRPr>
                      </a:pPr>
                      <a:r>
                        <a:t>Xây dựng các bảng báo cáo quản trị phục vụ Ban Giám đốc QN</a:t>
                      </a:r>
                    </a:p>
                  </a:txBody>
                  <a:tcPr>
                    <a:solidFill>
                      <a:srgbClr val="FFFFFF"/>
                    </a:solidFill>
                  </a:tcPr>
                </a:tc>
                <a:tc>
                  <a:txBody>
                    <a:bodyPr/>
                    <a:lstStyle/>
                    <a:p>
                      <a:pPr algn="ctr">
                        <a:defRPr sz="950" b="1">
                          <a:solidFill>
                            <a:srgbClr val="B47300"/>
                          </a:solidFill>
                        </a:defRPr>
                      </a:pPr>
                      <a:r>
                        <a:t>[Chờ NCC báo giá sau khảo sát]</a:t>
                      </a:r>
                    </a:p>
                  </a:txBody>
                  <a:tcPr>
                    <a:solidFill>
                      <a:srgbClr val="FFFFFF"/>
                    </a:solidFill>
                  </a:tcPr>
                </a:tc>
              </a:tr>
              <a:tr h="457200">
                <a:tc>
                  <a:txBody>
                    <a:bodyPr/>
                    <a:lstStyle/>
                    <a:p>
                      <a:pPr algn="ctr">
                        <a:defRPr sz="950">
                          <a:solidFill>
                            <a:srgbClr val="1C2330"/>
                          </a:solidFill>
                        </a:defRPr>
                      </a:pPr>
                      <a:r>
                        <a:t>6</a:t>
                      </a:r>
                    </a:p>
                  </a:txBody>
                  <a:tcPr>
                    <a:solidFill>
                      <a:srgbClr val="F3F5F8"/>
                    </a:solidFill>
                  </a:tcPr>
                </a:tc>
                <a:tc>
                  <a:txBody>
                    <a:bodyPr/>
                    <a:lstStyle/>
                    <a:p>
                      <a:pPr>
                        <a:defRPr sz="950">
                          <a:solidFill>
                            <a:srgbClr val="1C2330"/>
                          </a:solidFill>
                        </a:defRPr>
                      </a:pPr>
                      <a:r>
                        <a:t>Đào tạo chuyển giao &amp; Bảo hành</a:t>
                      </a:r>
                    </a:p>
                  </a:txBody>
                  <a:tcPr>
                    <a:solidFill>
                      <a:srgbClr val="F3F5F8"/>
                    </a:solidFill>
                  </a:tcPr>
                </a:tc>
                <a:tc>
                  <a:txBody>
                    <a:bodyPr/>
                    <a:lstStyle/>
                    <a:p>
                      <a:pPr>
                        <a:defRPr sz="950">
                          <a:solidFill>
                            <a:srgbClr val="1C2330"/>
                          </a:solidFill>
                        </a:defRPr>
                      </a:pPr>
                      <a:r>
                        <a:t>Bàn giao mã nguồn, đào tạo đội ngũ IT Quảng Ngãi làm chủ 100%</a:t>
                      </a:r>
                    </a:p>
                  </a:txBody>
                  <a:tcPr>
                    <a:solidFill>
                      <a:srgbClr val="F3F5F8"/>
                    </a:solidFill>
                  </a:tcPr>
                </a:tc>
                <a:tc>
                  <a:txBody>
                    <a:bodyPr/>
                    <a:lstStyle/>
                    <a:p>
                      <a:pPr algn="ctr">
                        <a:defRPr sz="950" b="1">
                          <a:solidFill>
                            <a:srgbClr val="B47300"/>
                          </a:solidFill>
                        </a:defRPr>
                      </a:pPr>
                      <a:r>
                        <a:t>[Chờ NCC báo giá sau khảo sát]</a:t>
                      </a:r>
                    </a:p>
                  </a:txBody>
                  <a:tcPr>
                    <a:solidFill>
                      <a:srgbClr val="F3F5F8"/>
                    </a:solidFill>
                  </a:tcPr>
                </a:tc>
              </a:tr>
              <a:tr h="457200">
                <a:tc>
                  <a:txBody>
                    <a:bodyPr/>
                    <a:lstStyle/>
                    <a:p>
                      <a:pPr algn="ctr">
                        <a:defRPr sz="950">
                          <a:solidFill>
                            <a:srgbClr val="1C2330"/>
                          </a:solidFill>
                        </a:defRPr>
                      </a:pPr>
                      <a:r>
                        <a:t>7</a:t>
                      </a:r>
                    </a:p>
                  </a:txBody>
                  <a:tcPr>
                    <a:solidFill>
                      <a:srgbClr val="FFFFFF"/>
                    </a:solidFill>
                  </a:tcPr>
                </a:tc>
                <a:tc>
                  <a:txBody>
                    <a:bodyPr/>
                    <a:lstStyle/>
                    <a:p>
                      <a:pPr>
                        <a:defRPr sz="950">
                          <a:solidFill>
                            <a:srgbClr val="1C2330"/>
                          </a:solidFill>
                        </a:defRPr>
                      </a:pPr>
                      <a:r>
                        <a:t>Chi phí vận hành nền tảng hàng năm</a:t>
                      </a:r>
                    </a:p>
                  </a:txBody>
                  <a:tcPr>
                    <a:solidFill>
                      <a:srgbClr val="FFFFFF"/>
                    </a:solidFill>
                  </a:tcPr>
                </a:tc>
                <a:tc>
                  <a:txBody>
                    <a:bodyPr/>
                    <a:lstStyle/>
                    <a:p>
                      <a:pPr>
                        <a:defRPr sz="950">
                          <a:solidFill>
                            <a:srgbClr val="1C2330"/>
                          </a:solidFill>
                        </a:defRPr>
                      </a:pPr>
                      <a:r>
                        <a:t>TCT phân bổ chi phí theo mức độ sử dụng thực tế (Usage-based)</a:t>
                      </a:r>
                    </a:p>
                  </a:txBody>
                  <a:tcPr>
                    <a:solidFill>
                      <a:srgbClr val="FFFFFF"/>
                    </a:solidFill>
                  </a:tcPr>
                </a:tc>
                <a:tc>
                  <a:txBody>
                    <a:bodyPr/>
                    <a:lstStyle/>
                    <a:p>
                      <a:pPr algn="ctr">
                        <a:defRPr sz="950" b="1">
                          <a:solidFill>
                            <a:srgbClr val="1E64BE"/>
                          </a:solidFill>
                        </a:defRPr>
                      </a:pPr>
                      <a:r>
                        <a:t>Theo cơ chế TCT ban hành</a:t>
                      </a:r>
                    </a:p>
                  </a:txBody>
                  <a:tcPr>
                    <a:solidFill>
                      <a:srgbClr val="FFFFFF"/>
                    </a:solidFill>
                  </a:tcPr>
                </a:tc>
              </a:tr>
            </a:tbl>
          </a:graphicData>
        </a:graphic>
      </p:graphicFrame>
      <p:sp>
        <p:nvSpPr>
          <p:cNvPr id="10" name="Rounded Rectangle 9"/>
          <p:cNvSpPr/>
          <p:nvPr/>
        </p:nvSpPr>
        <p:spPr>
          <a:xfrm>
            <a:off x="731520" y="5120640"/>
            <a:ext cx="10728655" cy="1280160"/>
          </a:xfrm>
          <a:prstGeom prst="roundRect">
            <a:avLst/>
          </a:prstGeom>
          <a:solidFill>
            <a:srgbClr val="E6F0FC"/>
          </a:solidFill>
          <a:ln w="12700">
            <a:solidFill>
              <a:srgbClr val="1E64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68096" y="5138928"/>
            <a:ext cx="73152" cy="1243584"/>
          </a:xfrm>
          <a:prstGeom prst="rect">
            <a:avLst/>
          </a:prstGeom>
          <a:solidFill>
            <a:srgbClr val="1E6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5193792"/>
            <a:ext cx="10058400" cy="274320"/>
          </a:xfrm>
          <a:prstGeom prst="rect">
            <a:avLst/>
          </a:prstGeom>
          <a:noFill/>
        </p:spPr>
        <p:txBody>
          <a:bodyPr wrap="square">
            <a:spAutoFit/>
          </a:bodyPr>
          <a:lstStyle/>
          <a:p>
            <a:pPr algn="l">
              <a:defRPr sz="1100" b="1">
                <a:solidFill>
                  <a:srgbClr val="0C2344"/>
                </a:solidFill>
              </a:defRPr>
            </a:pPr>
            <a:r>
              <a:t>NGUYÊN TẮC MINH BẠCH VỀ CHI PHÍ TRÌNH BAN GIÁM ĐỐC:</a:t>
            </a:r>
          </a:p>
        </p:txBody>
      </p:sp>
      <p:sp>
        <p:nvSpPr>
          <p:cNvPr id="13" name="TextBox 12"/>
          <p:cNvSpPr txBox="1"/>
          <p:nvPr/>
        </p:nvSpPr>
        <p:spPr>
          <a:xfrm>
            <a:off x="1051560" y="5486400"/>
            <a:ext cx="10058400" cy="822960"/>
          </a:xfrm>
          <a:prstGeom prst="rect">
            <a:avLst/>
          </a:prstGeom>
          <a:noFill/>
        </p:spPr>
        <p:txBody>
          <a:bodyPr wrap="square">
            <a:spAutoFit/>
          </a:bodyPr>
          <a:lstStyle/>
          <a:p>
            <a:pPr algn="l">
              <a:defRPr sz="950" b="0">
                <a:solidFill>
                  <a:srgbClr val="1C2330"/>
                </a:solidFill>
              </a:defRPr>
            </a:pPr>
            <a:r>
              <a:t>• Phần cứng &amp; Bản quyền: Quảng Ngãi tiết kiệm hàng tỷ đồng nhờ tận dụng hạ tầng TCT đã mua sẵn và máy chủ hiện hữu.</a:t>
            </a:r>
            <a:br/>
            <a:r>
              <a:t>• Chi phí thuê NCC triển khai: Sẽ được xác định chính xác sau khi hoàn thành Giai đoạn 1 (Khảo sát nội bộ) và nhận báo giá cạnh tranh từ các NCC uy tín.</a:t>
            </a:r>
            <a:br/>
            <a:r>
              <a:t>• Chi phí vận hành: Áp dụng Phương án 3 của TCT (phân bổ theo mức sử dụng; đơn vị chưa có nguồn TCT hỗ trợ đầu tư trước ghi nợ).</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C23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2004"/>
          </a:xfrm>
          <a:prstGeom prst="rect">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
            <a:ext cx="9144000" cy="228600"/>
          </a:xfrm>
          <a:prstGeom prst="rect">
            <a:avLst/>
          </a:prstGeom>
          <a:noFill/>
        </p:spPr>
        <p:txBody>
          <a:bodyPr wrap="square">
            <a:spAutoFit/>
          </a:bodyPr>
          <a:lstStyle/>
          <a:p>
            <a:pPr algn="l">
              <a:defRPr sz="900" b="1">
                <a:solidFill>
                  <a:srgbClr val="9BB9DC"/>
                </a:solidFill>
              </a:defRPr>
            </a:pPr>
            <a:r>
              <a:t>ĐẦU RA CỤ THỂ — HIỆU QUẢ KHI DỰ ÁN HOÀN THÀNH</a:t>
            </a:r>
          </a:p>
        </p:txBody>
      </p:sp>
      <p:sp>
        <p:nvSpPr>
          <p:cNvPr id="5" name="TextBox 4"/>
          <p:cNvSpPr txBox="1"/>
          <p:nvPr/>
        </p:nvSpPr>
        <p:spPr>
          <a:xfrm>
            <a:off x="731520" y="347472"/>
            <a:ext cx="10058400" cy="502920"/>
          </a:xfrm>
          <a:prstGeom prst="rect">
            <a:avLst/>
          </a:prstGeom>
          <a:noFill/>
        </p:spPr>
        <p:txBody>
          <a:bodyPr wrap="square">
            <a:spAutoFit/>
          </a:bodyPr>
          <a:lstStyle/>
          <a:p>
            <a:pPr algn="l">
              <a:defRPr sz="1900" b="1">
                <a:solidFill>
                  <a:srgbClr val="FFFFFF"/>
                </a:solidFill>
              </a:defRPr>
            </a:pPr>
            <a:r>
              <a:t>GIÁ TRỊ MANG LẠI CHO CÔNG TÁC ĐIỀU HÀNH BAN GIÁM ĐỐC</a:t>
            </a:r>
          </a:p>
        </p:txBody>
      </p:sp>
      <p:sp>
        <p:nvSpPr>
          <p:cNvPr id="6" name="TextBox 5"/>
          <p:cNvSpPr txBox="1"/>
          <p:nvPr/>
        </p:nvSpPr>
        <p:spPr>
          <a:xfrm>
            <a:off x="10972800" y="347472"/>
            <a:ext cx="731520" cy="457200"/>
          </a:xfrm>
          <a:prstGeom prst="rect">
            <a:avLst/>
          </a:prstGeom>
          <a:noFill/>
        </p:spPr>
        <p:txBody>
          <a:bodyPr wrap="square">
            <a:spAutoFit/>
          </a:bodyPr>
          <a:lstStyle/>
          <a:p>
            <a:pPr algn="r">
              <a:defRPr sz="1200" b="1">
                <a:solidFill>
                  <a:srgbClr val="9BB9DC"/>
                </a:solidFill>
              </a:defRPr>
            </a:pPr>
            <a:r>
              <a:t>11</a:t>
            </a:r>
          </a:p>
        </p:txBody>
      </p:sp>
      <p:sp>
        <p:nvSpPr>
          <p:cNvPr id="7" name="Rectangle 6"/>
          <p:cNvSpPr/>
          <p:nvPr/>
        </p:nvSpPr>
        <p:spPr>
          <a:xfrm>
            <a:off x="0" y="6583680"/>
            <a:ext cx="12191695" cy="7315"/>
          </a:xfrm>
          <a:prstGeom prst="rect">
            <a:avLst/>
          </a:prstGeom>
          <a:solidFill>
            <a:srgbClr val="C8D0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601968"/>
            <a:ext cx="10698480" cy="228600"/>
          </a:xfrm>
          <a:prstGeom prst="rect">
            <a:avLst/>
          </a:prstGeom>
          <a:noFill/>
        </p:spPr>
        <p:txBody>
          <a:bodyPr wrap="square">
            <a:spAutoFit/>
          </a:bodyPr>
          <a:lstStyle/>
          <a:p>
            <a:pPr algn="l">
              <a:defRPr sz="800" b="0">
                <a:solidFill>
                  <a:srgbClr val="6C7684"/>
                </a:solidFill>
              </a:defRPr>
            </a:pPr>
            <a:r>
              <a:t>PTSC Quảng Ngãi  |  Báo cáo Data Platform &amp; Trục tích hợp  |  Thực hiện Chỉ đạo số 9 BGĐ</a:t>
            </a:r>
          </a:p>
        </p:txBody>
      </p:sp>
      <p:sp>
        <p:nvSpPr>
          <p:cNvPr id="9" name="Rounded Rectangle 8"/>
          <p:cNvSpPr/>
          <p:nvPr/>
        </p:nvSpPr>
        <p:spPr>
          <a:xfrm>
            <a:off x="731520" y="1371600"/>
            <a:ext cx="2468880" cy="4754880"/>
          </a:xfrm>
          <a:prstGeom prst="roundRect">
            <a:avLst/>
          </a:prstGeom>
          <a:solidFill>
            <a:srgbClr val="E6F0FC"/>
          </a:solidFill>
          <a:ln w="19050">
            <a:solidFill>
              <a:srgbClr val="1E64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68096" y="1389888"/>
            <a:ext cx="73152" cy="4700016"/>
          </a:xfrm>
          <a:prstGeom prst="rect">
            <a:avLst/>
          </a:prstGeom>
          <a:solidFill>
            <a:srgbClr val="1E6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60120" y="1554480"/>
            <a:ext cx="365760" cy="365760"/>
          </a:xfrm>
          <a:prstGeom prst="ellipse">
            <a:avLst/>
          </a:prstGeom>
          <a:solidFill>
            <a:srgbClr val="1E64BE"/>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300" b="1">
                <a:solidFill>
                  <a:srgbClr val="FFFFFF"/>
                </a:solidFill>
              </a:defRPr>
            </a:pPr>
            <a:r>
              <a:t>1</a:t>
            </a:r>
          </a:p>
        </p:txBody>
      </p:sp>
      <p:sp>
        <p:nvSpPr>
          <p:cNvPr id="12" name="TextBox 11"/>
          <p:cNvSpPr txBox="1"/>
          <p:nvPr/>
        </p:nvSpPr>
        <p:spPr>
          <a:xfrm>
            <a:off x="868680" y="2103120"/>
            <a:ext cx="2194560" cy="731520"/>
          </a:xfrm>
          <a:prstGeom prst="rect">
            <a:avLst/>
          </a:prstGeom>
          <a:noFill/>
        </p:spPr>
        <p:txBody>
          <a:bodyPr wrap="square">
            <a:spAutoFit/>
          </a:bodyPr>
          <a:lstStyle/>
          <a:p>
            <a:pPr algn="ctr">
              <a:defRPr sz="1300" b="1">
                <a:solidFill>
                  <a:srgbClr val="1E64BE"/>
                </a:solidFill>
              </a:defRPr>
            </a:pPr>
            <a:r>
              <a:t>BÁO CÁO ĐIỀU HÀNH</a:t>
            </a:r>
            <a:br/>
            <a:r>
              <a:t>TRỰC QUAN REAL-TIME</a:t>
            </a:r>
          </a:p>
        </p:txBody>
      </p:sp>
      <p:sp>
        <p:nvSpPr>
          <p:cNvPr id="13" name="Rectangle 12"/>
          <p:cNvSpPr/>
          <p:nvPr/>
        </p:nvSpPr>
        <p:spPr>
          <a:xfrm>
            <a:off x="1097280" y="2926080"/>
            <a:ext cx="1737360" cy="9144"/>
          </a:xfrm>
          <a:prstGeom prst="rect">
            <a:avLst/>
          </a:prstGeom>
          <a:solidFill>
            <a:srgbClr val="C8D0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3108960"/>
            <a:ext cx="2103120" cy="2743200"/>
          </a:xfrm>
          <a:prstGeom prst="rect">
            <a:avLst/>
          </a:prstGeom>
          <a:noFill/>
        </p:spPr>
        <p:txBody>
          <a:bodyPr wrap="square">
            <a:spAutoFit/>
          </a:bodyPr>
          <a:lstStyle/>
          <a:p>
            <a:pPr algn="ctr">
              <a:defRPr sz="1100" b="0">
                <a:solidFill>
                  <a:srgbClr val="1C2330"/>
                </a:solidFill>
              </a:defRPr>
            </a:pPr>
            <a:r>
              <a:t>Dashboard Power BI cập nhật tự động mỗi ngày.</a:t>
            </a:r>
            <a:br/>
            <a:r>
              <a:t>Ban Giám đốc xem trực quan trên máy tính hoặc iPad/di động mọi lúc mọi nơi.</a:t>
            </a:r>
          </a:p>
        </p:txBody>
      </p:sp>
      <p:sp>
        <p:nvSpPr>
          <p:cNvPr id="15" name="Rounded Rectangle 14"/>
          <p:cNvSpPr/>
          <p:nvPr/>
        </p:nvSpPr>
        <p:spPr>
          <a:xfrm>
            <a:off x="3520439" y="1371600"/>
            <a:ext cx="2468880" cy="4754880"/>
          </a:xfrm>
          <a:prstGeom prst="roundRect">
            <a:avLst/>
          </a:prstGeom>
          <a:solidFill>
            <a:srgbClr val="CCFBF1"/>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57015" y="1389888"/>
            <a:ext cx="73152" cy="470001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749039" y="1554480"/>
            <a:ext cx="365760" cy="365760"/>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300" b="1">
                <a:solidFill>
                  <a:srgbClr val="FFFFFF"/>
                </a:solidFill>
              </a:defRPr>
            </a:pPr>
            <a:r>
              <a:t>2</a:t>
            </a:r>
          </a:p>
        </p:txBody>
      </p:sp>
      <p:sp>
        <p:nvSpPr>
          <p:cNvPr id="18" name="TextBox 17"/>
          <p:cNvSpPr txBox="1"/>
          <p:nvPr/>
        </p:nvSpPr>
        <p:spPr>
          <a:xfrm>
            <a:off x="3657599" y="2103120"/>
            <a:ext cx="2194560" cy="731520"/>
          </a:xfrm>
          <a:prstGeom prst="rect">
            <a:avLst/>
          </a:prstGeom>
          <a:noFill/>
        </p:spPr>
        <p:txBody>
          <a:bodyPr wrap="square">
            <a:spAutoFit/>
          </a:bodyPr>
          <a:lstStyle/>
          <a:p>
            <a:pPr algn="ctr">
              <a:defRPr sz="1300" b="1">
                <a:solidFill>
                  <a:srgbClr val="0D9488"/>
                </a:solidFill>
              </a:defRPr>
            </a:pPr>
            <a:r>
              <a:t>DỮ LIỆU TỰ ĐỘNG</a:t>
            </a:r>
            <a:br/>
            <a:r>
              <a:t>KHÔNG PHỤ THUỘC EXCEL</a:t>
            </a:r>
          </a:p>
        </p:txBody>
      </p:sp>
      <p:sp>
        <p:nvSpPr>
          <p:cNvPr id="19" name="Rectangle 18"/>
          <p:cNvSpPr/>
          <p:nvPr/>
        </p:nvSpPr>
        <p:spPr>
          <a:xfrm>
            <a:off x="3886199" y="2926080"/>
            <a:ext cx="1737360" cy="9144"/>
          </a:xfrm>
          <a:prstGeom prst="rect">
            <a:avLst/>
          </a:prstGeom>
          <a:solidFill>
            <a:srgbClr val="C8D0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03319" y="3108960"/>
            <a:ext cx="2103120" cy="2743200"/>
          </a:xfrm>
          <a:prstGeom prst="rect">
            <a:avLst/>
          </a:prstGeom>
          <a:noFill/>
        </p:spPr>
        <p:txBody>
          <a:bodyPr wrap="square">
            <a:spAutoFit/>
          </a:bodyPr>
          <a:lstStyle/>
          <a:p>
            <a:pPr algn="ctr">
              <a:defRPr sz="1100" b="0">
                <a:solidFill>
                  <a:srgbClr val="1C2330"/>
                </a:solidFill>
              </a:defRPr>
            </a:pPr>
            <a:r>
              <a:t>Chấm dứt việc phòng ban mất 3–5 ngày làm báo cáo thủ công.</a:t>
            </a:r>
            <a:br/>
            <a:r>
              <a:t>Số liệu tự động trích xuất và đẩy về hệ thống.</a:t>
            </a:r>
          </a:p>
        </p:txBody>
      </p:sp>
      <p:sp>
        <p:nvSpPr>
          <p:cNvPr id="21" name="Rounded Rectangle 20"/>
          <p:cNvSpPr/>
          <p:nvPr/>
        </p:nvSpPr>
        <p:spPr>
          <a:xfrm>
            <a:off x="6309359" y="1371600"/>
            <a:ext cx="2468880" cy="4754880"/>
          </a:xfrm>
          <a:prstGeom prst="roundRect">
            <a:avLst/>
          </a:prstGeom>
          <a:solidFill>
            <a:srgbClr val="E8F8EF"/>
          </a:solidFill>
          <a:ln w="19050">
            <a:solidFill>
              <a:srgbClr val="158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345935" y="1389888"/>
            <a:ext cx="73152" cy="4700016"/>
          </a:xfrm>
          <a:prstGeom prst="rect">
            <a:avLst/>
          </a:prstGeom>
          <a:solidFill>
            <a:srgbClr val="158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537959" y="1554480"/>
            <a:ext cx="365760" cy="365760"/>
          </a:xfrm>
          <a:prstGeom prst="ellipse">
            <a:avLst/>
          </a:prstGeom>
          <a:solidFill>
            <a:srgbClr val="15805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300" b="1">
                <a:solidFill>
                  <a:srgbClr val="FFFFFF"/>
                </a:solidFill>
              </a:defRPr>
            </a:pPr>
            <a:r>
              <a:t>3</a:t>
            </a:r>
          </a:p>
        </p:txBody>
      </p:sp>
      <p:sp>
        <p:nvSpPr>
          <p:cNvPr id="24" name="TextBox 23"/>
          <p:cNvSpPr txBox="1"/>
          <p:nvPr/>
        </p:nvSpPr>
        <p:spPr>
          <a:xfrm>
            <a:off x="6446519" y="2103120"/>
            <a:ext cx="2194560" cy="731520"/>
          </a:xfrm>
          <a:prstGeom prst="rect">
            <a:avLst/>
          </a:prstGeom>
          <a:noFill/>
        </p:spPr>
        <p:txBody>
          <a:bodyPr wrap="square">
            <a:spAutoFit/>
          </a:bodyPr>
          <a:lstStyle/>
          <a:p>
            <a:pPr algn="ctr">
              <a:defRPr sz="1300" b="1">
                <a:solidFill>
                  <a:srgbClr val="158050"/>
                </a:solidFill>
              </a:defRPr>
            </a:pPr>
            <a:r>
              <a:t>MỘT NGUỒN SỰ THẬT</a:t>
            </a:r>
            <a:br/>
            <a:r>
              <a:t>CHUẨN XÁC DUY NHẤT</a:t>
            </a:r>
          </a:p>
        </p:txBody>
      </p:sp>
      <p:sp>
        <p:nvSpPr>
          <p:cNvPr id="25" name="Rectangle 24"/>
          <p:cNvSpPr/>
          <p:nvPr/>
        </p:nvSpPr>
        <p:spPr>
          <a:xfrm>
            <a:off x="6675119" y="2926080"/>
            <a:ext cx="1737360" cy="9144"/>
          </a:xfrm>
          <a:prstGeom prst="rect">
            <a:avLst/>
          </a:prstGeom>
          <a:solidFill>
            <a:srgbClr val="C8D0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92239" y="3108960"/>
            <a:ext cx="2103120" cy="2743200"/>
          </a:xfrm>
          <a:prstGeom prst="rect">
            <a:avLst/>
          </a:prstGeom>
          <a:noFill/>
        </p:spPr>
        <p:txBody>
          <a:bodyPr wrap="square">
            <a:spAutoFit/>
          </a:bodyPr>
          <a:lstStyle/>
          <a:p>
            <a:pPr algn="ctr">
              <a:defRPr sz="1100" b="0">
                <a:solidFill>
                  <a:srgbClr val="1C2330"/>
                </a:solidFill>
              </a:defRPr>
            </a:pPr>
            <a:r>
              <a:t>Kế toán, Vật tư, Nhân sự đều đồng bộ cùng 1 con số.</a:t>
            </a:r>
            <a:br/>
            <a:r>
              <a:t>Không còn hiện tượng số liệu vênh nhau khi giải trình.</a:t>
            </a:r>
          </a:p>
        </p:txBody>
      </p:sp>
      <p:sp>
        <p:nvSpPr>
          <p:cNvPr id="27" name="Rounded Rectangle 26"/>
          <p:cNvSpPr/>
          <p:nvPr/>
        </p:nvSpPr>
        <p:spPr>
          <a:xfrm>
            <a:off x="9098280" y="1371600"/>
            <a:ext cx="2468880" cy="4754880"/>
          </a:xfrm>
          <a:prstGeom prst="roundRect">
            <a:avLst/>
          </a:prstGeom>
          <a:solidFill>
            <a:srgbClr val="FFF5E1"/>
          </a:solidFill>
          <a:ln w="19050">
            <a:solidFill>
              <a:srgbClr val="B47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134856" y="1389888"/>
            <a:ext cx="73152" cy="4700016"/>
          </a:xfrm>
          <a:prstGeom prst="rect">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326880" y="1554480"/>
            <a:ext cx="365760" cy="365760"/>
          </a:xfrm>
          <a:prstGeom prst="ellipse">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300" b="1">
                <a:solidFill>
                  <a:srgbClr val="FFFFFF"/>
                </a:solidFill>
              </a:defRPr>
            </a:pPr>
            <a:r>
              <a:t>4</a:t>
            </a:r>
          </a:p>
        </p:txBody>
      </p:sp>
      <p:sp>
        <p:nvSpPr>
          <p:cNvPr id="30" name="TextBox 29"/>
          <p:cNvSpPr txBox="1"/>
          <p:nvPr/>
        </p:nvSpPr>
        <p:spPr>
          <a:xfrm>
            <a:off x="9235440" y="2103120"/>
            <a:ext cx="2194560" cy="731520"/>
          </a:xfrm>
          <a:prstGeom prst="rect">
            <a:avLst/>
          </a:prstGeom>
          <a:noFill/>
        </p:spPr>
        <p:txBody>
          <a:bodyPr wrap="square">
            <a:spAutoFit/>
          </a:bodyPr>
          <a:lstStyle/>
          <a:p>
            <a:pPr algn="ctr">
              <a:defRPr sz="1300" b="1">
                <a:solidFill>
                  <a:srgbClr val="B47300"/>
                </a:solidFill>
              </a:defRPr>
            </a:pPr>
            <a:r>
              <a:t>HOÀN THÀNH ĐÚNG HẠN</a:t>
            </a:r>
            <a:br/>
            <a:r>
              <a:t>CHỈ TIÊU CĐS TCT GIAO</a:t>
            </a:r>
          </a:p>
        </p:txBody>
      </p:sp>
      <p:sp>
        <p:nvSpPr>
          <p:cNvPr id="31" name="Rectangle 30"/>
          <p:cNvSpPr/>
          <p:nvPr/>
        </p:nvSpPr>
        <p:spPr>
          <a:xfrm>
            <a:off x="9464040" y="2926080"/>
            <a:ext cx="1737360" cy="9144"/>
          </a:xfrm>
          <a:prstGeom prst="rect">
            <a:avLst/>
          </a:prstGeom>
          <a:solidFill>
            <a:srgbClr val="C8D0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81160" y="3108960"/>
            <a:ext cx="2103120" cy="2743200"/>
          </a:xfrm>
          <a:prstGeom prst="rect">
            <a:avLst/>
          </a:prstGeom>
          <a:noFill/>
        </p:spPr>
        <p:txBody>
          <a:bodyPr wrap="square">
            <a:spAutoFit/>
          </a:bodyPr>
          <a:lstStyle/>
          <a:p>
            <a:pPr algn="ctr">
              <a:defRPr sz="1100" b="0">
                <a:solidFill>
                  <a:srgbClr val="1C2330"/>
                </a:solidFill>
              </a:defRPr>
            </a:pPr>
            <a:r>
              <a:t>Đáp ứng đúng hạn Nghị quyết số 10 HĐQT PTSC.</a:t>
            </a:r>
            <a:br/>
            <a:r>
              <a:t>Tuân thủ đầy đủ Luật Dữ liệu và Luật Bảo vệ DLCN mới.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C23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2004"/>
          </a:xfrm>
          <a:prstGeom prst="rect">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
            <a:ext cx="9144000" cy="228600"/>
          </a:xfrm>
          <a:prstGeom prst="rect">
            <a:avLst/>
          </a:prstGeom>
          <a:noFill/>
        </p:spPr>
        <p:txBody>
          <a:bodyPr wrap="square">
            <a:spAutoFit/>
          </a:bodyPr>
          <a:lstStyle/>
          <a:p>
            <a:pPr algn="l">
              <a:defRPr sz="900" b="1">
                <a:solidFill>
                  <a:srgbClr val="9BB9DC"/>
                </a:solidFill>
              </a:defRPr>
            </a:pPr>
            <a:r>
              <a:t>LỘ TRÌNH — TỪNG BƯỚC RÕ RÀNG, KIỂM SOÁT RỦI RO</a:t>
            </a:r>
          </a:p>
        </p:txBody>
      </p:sp>
      <p:sp>
        <p:nvSpPr>
          <p:cNvPr id="5" name="TextBox 4"/>
          <p:cNvSpPr txBox="1"/>
          <p:nvPr/>
        </p:nvSpPr>
        <p:spPr>
          <a:xfrm>
            <a:off x="731520" y="347472"/>
            <a:ext cx="10058400" cy="502920"/>
          </a:xfrm>
          <a:prstGeom prst="rect">
            <a:avLst/>
          </a:prstGeom>
          <a:noFill/>
        </p:spPr>
        <p:txBody>
          <a:bodyPr wrap="square">
            <a:spAutoFit/>
          </a:bodyPr>
          <a:lstStyle/>
          <a:p>
            <a:pPr algn="l">
              <a:defRPr sz="1900" b="1">
                <a:solidFill>
                  <a:srgbClr val="FFFFFF"/>
                </a:solidFill>
              </a:defRPr>
            </a:pPr>
            <a:r>
              <a:t>KẾ HOẠCH TRIỂN KHAI 3 GIAI ĐOẠN</a:t>
            </a:r>
          </a:p>
        </p:txBody>
      </p:sp>
      <p:sp>
        <p:nvSpPr>
          <p:cNvPr id="6" name="TextBox 5"/>
          <p:cNvSpPr txBox="1"/>
          <p:nvPr/>
        </p:nvSpPr>
        <p:spPr>
          <a:xfrm>
            <a:off x="10972800" y="347472"/>
            <a:ext cx="731520" cy="457200"/>
          </a:xfrm>
          <a:prstGeom prst="rect">
            <a:avLst/>
          </a:prstGeom>
          <a:noFill/>
        </p:spPr>
        <p:txBody>
          <a:bodyPr wrap="square">
            <a:spAutoFit/>
          </a:bodyPr>
          <a:lstStyle/>
          <a:p>
            <a:pPr algn="r">
              <a:defRPr sz="1200" b="1">
                <a:solidFill>
                  <a:srgbClr val="9BB9DC"/>
                </a:solidFill>
              </a:defRPr>
            </a:pPr>
            <a:r>
              <a:t>12</a:t>
            </a:r>
          </a:p>
        </p:txBody>
      </p:sp>
      <p:sp>
        <p:nvSpPr>
          <p:cNvPr id="7" name="Rectangle 6"/>
          <p:cNvSpPr/>
          <p:nvPr/>
        </p:nvSpPr>
        <p:spPr>
          <a:xfrm>
            <a:off x="0" y="6583680"/>
            <a:ext cx="12191695" cy="7315"/>
          </a:xfrm>
          <a:prstGeom prst="rect">
            <a:avLst/>
          </a:prstGeom>
          <a:solidFill>
            <a:srgbClr val="C8D0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601968"/>
            <a:ext cx="10698480" cy="228600"/>
          </a:xfrm>
          <a:prstGeom prst="rect">
            <a:avLst/>
          </a:prstGeom>
          <a:noFill/>
        </p:spPr>
        <p:txBody>
          <a:bodyPr wrap="square">
            <a:spAutoFit/>
          </a:bodyPr>
          <a:lstStyle/>
          <a:p>
            <a:pPr algn="l">
              <a:defRPr sz="800" b="0">
                <a:solidFill>
                  <a:srgbClr val="6C7684"/>
                </a:solidFill>
              </a:defRPr>
            </a:pPr>
            <a:r>
              <a:t>PTSC Quảng Ngãi  |  Báo cáo Data Platform &amp; Trục tích hợp  |  Thực hiện Chỉ đạo số 9 BGĐ</a:t>
            </a:r>
          </a:p>
        </p:txBody>
      </p:sp>
      <p:sp>
        <p:nvSpPr>
          <p:cNvPr id="9" name="Rounded Rectangle 8"/>
          <p:cNvSpPr/>
          <p:nvPr/>
        </p:nvSpPr>
        <p:spPr>
          <a:xfrm>
            <a:off x="731520" y="1371600"/>
            <a:ext cx="3383280" cy="4754880"/>
          </a:xfrm>
          <a:prstGeom prst="roundRect">
            <a:avLst/>
          </a:prstGeom>
          <a:solidFill>
            <a:srgbClr val="E6F0FC"/>
          </a:solidFill>
          <a:ln w="19050">
            <a:solidFill>
              <a:srgbClr val="1E64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68096" y="1389888"/>
            <a:ext cx="73152" cy="4700016"/>
          </a:xfrm>
          <a:prstGeom prst="rect">
            <a:avLst/>
          </a:prstGeom>
          <a:solidFill>
            <a:srgbClr val="1E6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508760"/>
            <a:ext cx="2926080" cy="274320"/>
          </a:xfrm>
          <a:prstGeom prst="rect">
            <a:avLst/>
          </a:prstGeom>
          <a:noFill/>
        </p:spPr>
        <p:txBody>
          <a:bodyPr wrap="square">
            <a:spAutoFit/>
          </a:bodyPr>
          <a:lstStyle/>
          <a:p>
            <a:pPr algn="l">
              <a:defRPr sz="1000" b="1">
                <a:solidFill>
                  <a:srgbClr val="1E64BE"/>
                </a:solidFill>
              </a:defRPr>
            </a:pPr>
            <a:r>
              <a:t>GIAI ĐOẠN 1</a:t>
            </a:r>
          </a:p>
        </p:txBody>
      </p:sp>
      <p:sp>
        <p:nvSpPr>
          <p:cNvPr id="12" name="TextBox 11"/>
          <p:cNvSpPr txBox="1"/>
          <p:nvPr/>
        </p:nvSpPr>
        <p:spPr>
          <a:xfrm>
            <a:off x="960120" y="1755648"/>
            <a:ext cx="2926080" cy="274320"/>
          </a:xfrm>
          <a:prstGeom prst="rect">
            <a:avLst/>
          </a:prstGeom>
          <a:noFill/>
        </p:spPr>
        <p:txBody>
          <a:bodyPr wrap="square">
            <a:spAutoFit/>
          </a:bodyPr>
          <a:lstStyle/>
          <a:p>
            <a:pPr algn="l">
              <a:defRPr sz="1300" b="1">
                <a:solidFill>
                  <a:srgbClr val="0C2344"/>
                </a:solidFill>
              </a:defRPr>
            </a:pPr>
            <a:r>
              <a:t>Tháng 3 – 4 / 2026</a:t>
            </a:r>
          </a:p>
        </p:txBody>
      </p:sp>
      <p:sp>
        <p:nvSpPr>
          <p:cNvPr id="13" name="TextBox 12"/>
          <p:cNvSpPr txBox="1"/>
          <p:nvPr/>
        </p:nvSpPr>
        <p:spPr>
          <a:xfrm>
            <a:off x="960120" y="2057400"/>
            <a:ext cx="2926080" cy="365760"/>
          </a:xfrm>
          <a:prstGeom prst="rect">
            <a:avLst/>
          </a:prstGeom>
          <a:noFill/>
        </p:spPr>
        <p:txBody>
          <a:bodyPr wrap="square">
            <a:spAutoFit/>
          </a:bodyPr>
          <a:lstStyle/>
          <a:p>
            <a:pPr algn="l">
              <a:defRPr sz="1300" b="1">
                <a:solidFill>
                  <a:srgbClr val="1E64BE"/>
                </a:solidFill>
              </a:defRPr>
            </a:pPr>
            <a:r>
              <a:t>KHẢO SÁT &amp; ĐỀ BÀI KỸ THUẬT</a:t>
            </a:r>
          </a:p>
        </p:txBody>
      </p:sp>
      <p:sp>
        <p:nvSpPr>
          <p:cNvPr id="14" name="Rounded Rectangle 13"/>
          <p:cNvSpPr/>
          <p:nvPr/>
        </p:nvSpPr>
        <p:spPr>
          <a:xfrm>
            <a:off x="960120" y="2487168"/>
            <a:ext cx="2834640" cy="320040"/>
          </a:xfrm>
          <a:prstGeom prst="roundRect">
            <a:avLst/>
          </a:prstGeom>
          <a:solidFill>
            <a:srgbClr val="1E6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2487168"/>
            <a:ext cx="2834640" cy="320040"/>
          </a:xfrm>
          <a:prstGeom prst="rect">
            <a:avLst/>
          </a:prstGeom>
          <a:noFill/>
        </p:spPr>
        <p:txBody>
          <a:bodyPr wrap="square">
            <a:spAutoFit/>
          </a:bodyPr>
          <a:lstStyle/>
          <a:p>
            <a:pPr algn="ctr">
              <a:defRPr sz="900" b="1">
                <a:solidFill>
                  <a:srgbClr val="FFFFFF"/>
                </a:solidFill>
              </a:defRPr>
            </a:pPr>
            <a:r>
              <a:t>Nội bộ tự chủ trì  •  Chi phí 0 đ</a:t>
            </a:r>
          </a:p>
        </p:txBody>
      </p:sp>
      <p:sp>
        <p:nvSpPr>
          <p:cNvPr id="16" name="TextBox 15"/>
          <p:cNvSpPr txBox="1"/>
          <p:nvPr/>
        </p:nvSpPr>
        <p:spPr>
          <a:xfrm>
            <a:off x="1005840" y="3017520"/>
            <a:ext cx="2834640" cy="457200"/>
          </a:xfrm>
          <a:prstGeom prst="rect">
            <a:avLst/>
          </a:prstGeom>
          <a:noFill/>
        </p:spPr>
        <p:txBody>
          <a:bodyPr wrap="square">
            <a:spAutoFit/>
          </a:bodyPr>
          <a:lstStyle/>
          <a:p>
            <a:pPr algn="l">
              <a:defRPr sz="1100" b="0">
                <a:solidFill>
                  <a:srgbClr val="1C2330"/>
                </a:solidFill>
              </a:defRPr>
            </a:pPr>
            <a:r>
              <a:t>—  Thành lập Tổ công tác Data Platform nội bộ</a:t>
            </a:r>
          </a:p>
        </p:txBody>
      </p:sp>
      <p:sp>
        <p:nvSpPr>
          <p:cNvPr id="17" name="TextBox 16"/>
          <p:cNvSpPr txBox="1"/>
          <p:nvPr/>
        </p:nvSpPr>
        <p:spPr>
          <a:xfrm>
            <a:off x="1005840" y="3520439"/>
            <a:ext cx="2834640" cy="457200"/>
          </a:xfrm>
          <a:prstGeom prst="rect">
            <a:avLst/>
          </a:prstGeom>
          <a:noFill/>
        </p:spPr>
        <p:txBody>
          <a:bodyPr wrap="square">
            <a:spAutoFit/>
          </a:bodyPr>
          <a:lstStyle/>
          <a:p>
            <a:pPr algn="l">
              <a:defRPr sz="1100" b="0">
                <a:solidFill>
                  <a:srgbClr val="1C2330"/>
                </a:solidFill>
              </a:defRPr>
            </a:pPr>
            <a:r>
              <a:t>—  Khảo sát CSDL 4 phần mềm nghiệp vụ</a:t>
            </a:r>
          </a:p>
        </p:txBody>
      </p:sp>
      <p:sp>
        <p:nvSpPr>
          <p:cNvPr id="18" name="TextBox 17"/>
          <p:cNvSpPr txBox="1"/>
          <p:nvPr/>
        </p:nvSpPr>
        <p:spPr>
          <a:xfrm>
            <a:off x="1005840" y="4023360"/>
            <a:ext cx="2834640" cy="457200"/>
          </a:xfrm>
          <a:prstGeom prst="rect">
            <a:avLst/>
          </a:prstGeom>
          <a:noFill/>
        </p:spPr>
        <p:txBody>
          <a:bodyPr wrap="square">
            <a:spAutoFit/>
          </a:bodyPr>
          <a:lstStyle/>
          <a:p>
            <a:pPr algn="l">
              <a:defRPr sz="1100" b="0">
                <a:solidFill>
                  <a:srgbClr val="1C2330"/>
                </a:solidFill>
              </a:defRPr>
            </a:pPr>
            <a:r>
              <a:t>—  Rà soát và lập bảng ánh xạ 29 Master Data TCT</a:t>
            </a:r>
          </a:p>
        </p:txBody>
      </p:sp>
      <p:sp>
        <p:nvSpPr>
          <p:cNvPr id="19" name="TextBox 18"/>
          <p:cNvSpPr txBox="1"/>
          <p:nvPr/>
        </p:nvSpPr>
        <p:spPr>
          <a:xfrm>
            <a:off x="1005840" y="4526280"/>
            <a:ext cx="2834640" cy="457200"/>
          </a:xfrm>
          <a:prstGeom prst="rect">
            <a:avLst/>
          </a:prstGeom>
          <a:noFill/>
        </p:spPr>
        <p:txBody>
          <a:bodyPr wrap="square">
            <a:spAutoFit/>
          </a:bodyPr>
          <a:lstStyle/>
          <a:p>
            <a:pPr algn="l">
              <a:defRPr sz="1100" b="0">
                <a:solidFill>
                  <a:srgbClr val="1C2330"/>
                </a:solidFill>
              </a:defRPr>
            </a:pPr>
            <a:r>
              <a:t>—  Lập Hồ sơ yêu cầu kỹ thuật (TOR) để mời thầu NCC</a:t>
            </a:r>
          </a:p>
        </p:txBody>
      </p:sp>
      <p:sp>
        <p:nvSpPr>
          <p:cNvPr id="20" name="TextBox 19"/>
          <p:cNvSpPr txBox="1"/>
          <p:nvPr/>
        </p:nvSpPr>
        <p:spPr>
          <a:xfrm>
            <a:off x="1005840" y="5029200"/>
            <a:ext cx="2834640" cy="457200"/>
          </a:xfrm>
          <a:prstGeom prst="rect">
            <a:avLst/>
          </a:prstGeom>
          <a:noFill/>
        </p:spPr>
        <p:txBody>
          <a:bodyPr wrap="square">
            <a:spAutoFit/>
          </a:bodyPr>
          <a:lstStyle/>
          <a:p>
            <a:pPr algn="l">
              <a:defRPr sz="1100" b="0">
                <a:solidFill>
                  <a:srgbClr val="6C7684"/>
                </a:solidFill>
              </a:defRPr>
            </a:pPr>
            <a:r>
              <a:t>—  *(Chi tiết xem file Kế hoạch Giai đoạn 1 đính kèm)*</a:t>
            </a:r>
          </a:p>
        </p:txBody>
      </p:sp>
      <p:sp>
        <p:nvSpPr>
          <p:cNvPr id="21" name="Right Arrow 20"/>
          <p:cNvSpPr/>
          <p:nvPr/>
        </p:nvSpPr>
        <p:spPr>
          <a:xfrm>
            <a:off x="4160520" y="3474720"/>
            <a:ext cx="457200" cy="274320"/>
          </a:xfrm>
          <a:prstGeom prst="rightArrow">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480559" y="1371600"/>
            <a:ext cx="3383280" cy="4754880"/>
          </a:xfrm>
          <a:prstGeom prst="roundRect">
            <a:avLst/>
          </a:prstGeom>
          <a:solidFill>
            <a:srgbClr val="FFF5E1"/>
          </a:solidFill>
          <a:ln w="19050">
            <a:solidFill>
              <a:srgbClr val="B47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517135" y="1389888"/>
            <a:ext cx="73152" cy="4700016"/>
          </a:xfrm>
          <a:prstGeom prst="rect">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09159" y="1508760"/>
            <a:ext cx="2926080" cy="274320"/>
          </a:xfrm>
          <a:prstGeom prst="rect">
            <a:avLst/>
          </a:prstGeom>
          <a:noFill/>
        </p:spPr>
        <p:txBody>
          <a:bodyPr wrap="square">
            <a:spAutoFit/>
          </a:bodyPr>
          <a:lstStyle/>
          <a:p>
            <a:pPr algn="l">
              <a:defRPr sz="1000" b="1">
                <a:solidFill>
                  <a:srgbClr val="B47300"/>
                </a:solidFill>
              </a:defRPr>
            </a:pPr>
            <a:r>
              <a:t>GIAI ĐOẠN 2</a:t>
            </a:r>
          </a:p>
        </p:txBody>
      </p:sp>
      <p:sp>
        <p:nvSpPr>
          <p:cNvPr id="25" name="TextBox 24"/>
          <p:cNvSpPr txBox="1"/>
          <p:nvPr/>
        </p:nvSpPr>
        <p:spPr>
          <a:xfrm>
            <a:off x="4709159" y="1755648"/>
            <a:ext cx="2926080" cy="274320"/>
          </a:xfrm>
          <a:prstGeom prst="rect">
            <a:avLst/>
          </a:prstGeom>
          <a:noFill/>
        </p:spPr>
        <p:txBody>
          <a:bodyPr wrap="square">
            <a:spAutoFit/>
          </a:bodyPr>
          <a:lstStyle/>
          <a:p>
            <a:pPr algn="l">
              <a:defRPr sz="1300" b="1">
                <a:solidFill>
                  <a:srgbClr val="0C2344"/>
                </a:solidFill>
              </a:defRPr>
            </a:pPr>
            <a:r>
              <a:t>Tháng 5 – 7 / 2026</a:t>
            </a:r>
          </a:p>
        </p:txBody>
      </p:sp>
      <p:sp>
        <p:nvSpPr>
          <p:cNvPr id="26" name="TextBox 25"/>
          <p:cNvSpPr txBox="1"/>
          <p:nvPr/>
        </p:nvSpPr>
        <p:spPr>
          <a:xfrm>
            <a:off x="4709159" y="2057400"/>
            <a:ext cx="2926080" cy="365760"/>
          </a:xfrm>
          <a:prstGeom prst="rect">
            <a:avLst/>
          </a:prstGeom>
          <a:noFill/>
        </p:spPr>
        <p:txBody>
          <a:bodyPr wrap="square">
            <a:spAutoFit/>
          </a:bodyPr>
          <a:lstStyle/>
          <a:p>
            <a:pPr algn="l">
              <a:defRPr sz="1300" b="1">
                <a:solidFill>
                  <a:srgbClr val="B47300"/>
                </a:solidFill>
              </a:defRPr>
            </a:pPr>
            <a:r>
              <a:t>LỰA CHỌN NCC &amp; TRIỂN KHAI</a:t>
            </a:r>
          </a:p>
        </p:txBody>
      </p:sp>
      <p:sp>
        <p:nvSpPr>
          <p:cNvPr id="27" name="Rounded Rectangle 26"/>
          <p:cNvSpPr/>
          <p:nvPr/>
        </p:nvSpPr>
        <p:spPr>
          <a:xfrm>
            <a:off x="4709159" y="2487168"/>
            <a:ext cx="2834640" cy="320040"/>
          </a:xfrm>
          <a:prstGeom prst="roundRect">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09159" y="2487168"/>
            <a:ext cx="2834640" cy="320040"/>
          </a:xfrm>
          <a:prstGeom prst="rect">
            <a:avLst/>
          </a:prstGeom>
          <a:noFill/>
        </p:spPr>
        <p:txBody>
          <a:bodyPr wrap="square">
            <a:spAutoFit/>
          </a:bodyPr>
          <a:lstStyle/>
          <a:p>
            <a:pPr algn="ctr">
              <a:defRPr sz="900" b="1">
                <a:solidFill>
                  <a:srgbClr val="FFFFFF"/>
                </a:solidFill>
              </a:defRPr>
            </a:pPr>
            <a:r>
              <a:t>Giai đoạn chính  •  Thuê NCC</a:t>
            </a:r>
          </a:p>
        </p:txBody>
      </p:sp>
      <p:sp>
        <p:nvSpPr>
          <p:cNvPr id="29" name="TextBox 28"/>
          <p:cNvSpPr txBox="1"/>
          <p:nvPr/>
        </p:nvSpPr>
        <p:spPr>
          <a:xfrm>
            <a:off x="4754879" y="3017520"/>
            <a:ext cx="2834640" cy="457200"/>
          </a:xfrm>
          <a:prstGeom prst="rect">
            <a:avLst/>
          </a:prstGeom>
          <a:noFill/>
        </p:spPr>
        <p:txBody>
          <a:bodyPr wrap="square">
            <a:spAutoFit/>
          </a:bodyPr>
          <a:lstStyle/>
          <a:p>
            <a:pPr algn="l">
              <a:defRPr sz="1100" b="0">
                <a:solidFill>
                  <a:srgbClr val="1C2330"/>
                </a:solidFill>
              </a:defRPr>
            </a:pPr>
            <a:r>
              <a:t>—  Lựa chọn NCC có giải pháp tối ưu, giá cạnh tranh</a:t>
            </a:r>
          </a:p>
        </p:txBody>
      </p:sp>
      <p:sp>
        <p:nvSpPr>
          <p:cNvPr id="30" name="TextBox 29"/>
          <p:cNvSpPr txBox="1"/>
          <p:nvPr/>
        </p:nvSpPr>
        <p:spPr>
          <a:xfrm>
            <a:off x="4754879" y="3520439"/>
            <a:ext cx="2834640" cy="457200"/>
          </a:xfrm>
          <a:prstGeom prst="rect">
            <a:avLst/>
          </a:prstGeom>
          <a:noFill/>
        </p:spPr>
        <p:txBody>
          <a:bodyPr wrap="square">
            <a:spAutoFit/>
          </a:bodyPr>
          <a:lstStyle/>
          <a:p>
            <a:pPr algn="l">
              <a:defRPr sz="1100" b="0">
                <a:solidFill>
                  <a:srgbClr val="1C2330"/>
                </a:solidFill>
              </a:defRPr>
            </a:pPr>
            <a:r>
              <a:t>—  Cài đặt Trạm trung chuyển dữ liệu trên VM nội bộ</a:t>
            </a:r>
          </a:p>
        </p:txBody>
      </p:sp>
      <p:sp>
        <p:nvSpPr>
          <p:cNvPr id="31" name="TextBox 30"/>
          <p:cNvSpPr txBox="1"/>
          <p:nvPr/>
        </p:nvSpPr>
        <p:spPr>
          <a:xfrm>
            <a:off x="4754879" y="4023360"/>
            <a:ext cx="2834640" cy="457200"/>
          </a:xfrm>
          <a:prstGeom prst="rect">
            <a:avLst/>
          </a:prstGeom>
          <a:noFill/>
        </p:spPr>
        <p:txBody>
          <a:bodyPr wrap="square">
            <a:spAutoFit/>
          </a:bodyPr>
          <a:lstStyle/>
          <a:p>
            <a:pPr algn="l">
              <a:defRPr sz="1100" b="0">
                <a:solidFill>
                  <a:srgbClr val="1C2330"/>
                </a:solidFill>
              </a:defRPr>
            </a:pPr>
            <a:r>
              <a:t>—  Lập trình đường ống ETL tự động &amp; mã hóa VPN</a:t>
            </a:r>
          </a:p>
        </p:txBody>
      </p:sp>
      <p:sp>
        <p:nvSpPr>
          <p:cNvPr id="32" name="TextBox 31"/>
          <p:cNvSpPr txBox="1"/>
          <p:nvPr/>
        </p:nvSpPr>
        <p:spPr>
          <a:xfrm>
            <a:off x="4754879" y="4526280"/>
            <a:ext cx="2834640" cy="457200"/>
          </a:xfrm>
          <a:prstGeom prst="rect">
            <a:avLst/>
          </a:prstGeom>
          <a:noFill/>
        </p:spPr>
        <p:txBody>
          <a:bodyPr wrap="square">
            <a:spAutoFit/>
          </a:bodyPr>
          <a:lstStyle/>
          <a:p>
            <a:pPr algn="l">
              <a:defRPr sz="1100" b="0">
                <a:solidFill>
                  <a:srgbClr val="1C2330"/>
                </a:solidFill>
              </a:defRPr>
            </a:pPr>
            <a:r>
              <a:t>—  Kiểm thử thông luồng dữ liệu lên MinIO &amp; Fabric TCT</a:t>
            </a:r>
          </a:p>
        </p:txBody>
      </p:sp>
      <p:sp>
        <p:nvSpPr>
          <p:cNvPr id="33" name="Right Arrow 32"/>
          <p:cNvSpPr/>
          <p:nvPr/>
        </p:nvSpPr>
        <p:spPr>
          <a:xfrm>
            <a:off x="7909559" y="3474720"/>
            <a:ext cx="457200" cy="274320"/>
          </a:xfrm>
          <a:prstGeom prst="rightArrow">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229600" y="1371600"/>
            <a:ext cx="3383280" cy="4754880"/>
          </a:xfrm>
          <a:prstGeom prst="roundRect">
            <a:avLst/>
          </a:prstGeom>
          <a:solidFill>
            <a:srgbClr val="E8F8EF"/>
          </a:solidFill>
          <a:ln w="19050">
            <a:solidFill>
              <a:srgbClr val="158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266176" y="1389888"/>
            <a:ext cx="73152" cy="4700016"/>
          </a:xfrm>
          <a:prstGeom prst="rect">
            <a:avLst/>
          </a:prstGeom>
          <a:solidFill>
            <a:srgbClr val="158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458200" y="1508760"/>
            <a:ext cx="2926080" cy="274320"/>
          </a:xfrm>
          <a:prstGeom prst="rect">
            <a:avLst/>
          </a:prstGeom>
          <a:noFill/>
        </p:spPr>
        <p:txBody>
          <a:bodyPr wrap="square">
            <a:spAutoFit/>
          </a:bodyPr>
          <a:lstStyle/>
          <a:p>
            <a:pPr algn="l">
              <a:defRPr sz="1000" b="1">
                <a:solidFill>
                  <a:srgbClr val="158050"/>
                </a:solidFill>
              </a:defRPr>
            </a:pPr>
            <a:r>
              <a:t>GIAI ĐOẠN 3</a:t>
            </a:r>
          </a:p>
        </p:txBody>
      </p:sp>
      <p:sp>
        <p:nvSpPr>
          <p:cNvPr id="37" name="TextBox 36"/>
          <p:cNvSpPr txBox="1"/>
          <p:nvPr/>
        </p:nvSpPr>
        <p:spPr>
          <a:xfrm>
            <a:off x="8458200" y="1755648"/>
            <a:ext cx="2926080" cy="274320"/>
          </a:xfrm>
          <a:prstGeom prst="rect">
            <a:avLst/>
          </a:prstGeom>
          <a:noFill/>
        </p:spPr>
        <p:txBody>
          <a:bodyPr wrap="square">
            <a:spAutoFit/>
          </a:bodyPr>
          <a:lstStyle/>
          <a:p>
            <a:pPr algn="l">
              <a:defRPr sz="1300" b="1">
                <a:solidFill>
                  <a:srgbClr val="0C2344"/>
                </a:solidFill>
              </a:defRPr>
            </a:pPr>
            <a:r>
              <a:t>Tháng 8 / 2026 →</a:t>
            </a:r>
          </a:p>
        </p:txBody>
      </p:sp>
      <p:sp>
        <p:nvSpPr>
          <p:cNvPr id="38" name="TextBox 37"/>
          <p:cNvSpPr txBox="1"/>
          <p:nvPr/>
        </p:nvSpPr>
        <p:spPr>
          <a:xfrm>
            <a:off x="8458200" y="2057400"/>
            <a:ext cx="2926080" cy="365760"/>
          </a:xfrm>
          <a:prstGeom prst="rect">
            <a:avLst/>
          </a:prstGeom>
          <a:noFill/>
        </p:spPr>
        <p:txBody>
          <a:bodyPr wrap="square">
            <a:spAutoFit/>
          </a:bodyPr>
          <a:lstStyle/>
          <a:p>
            <a:pPr algn="l">
              <a:defRPr sz="1300" b="1">
                <a:solidFill>
                  <a:srgbClr val="158050"/>
                </a:solidFill>
              </a:defRPr>
            </a:pPr>
            <a:r>
              <a:t>BÀN GIAO &amp; KHAI THÁC</a:t>
            </a:r>
          </a:p>
        </p:txBody>
      </p:sp>
      <p:sp>
        <p:nvSpPr>
          <p:cNvPr id="39" name="Rounded Rectangle 38"/>
          <p:cNvSpPr/>
          <p:nvPr/>
        </p:nvSpPr>
        <p:spPr>
          <a:xfrm>
            <a:off x="8458200" y="2487168"/>
            <a:ext cx="2834640" cy="320040"/>
          </a:xfrm>
          <a:prstGeom prst="roundRect">
            <a:avLst/>
          </a:prstGeom>
          <a:solidFill>
            <a:srgbClr val="158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58200" y="2487168"/>
            <a:ext cx="2834640" cy="320040"/>
          </a:xfrm>
          <a:prstGeom prst="rect">
            <a:avLst/>
          </a:prstGeom>
          <a:noFill/>
        </p:spPr>
        <p:txBody>
          <a:bodyPr wrap="square">
            <a:spAutoFit/>
          </a:bodyPr>
          <a:lstStyle/>
          <a:p>
            <a:pPr algn="ctr">
              <a:defRPr sz="900" b="1">
                <a:solidFill>
                  <a:srgbClr val="FFFFFF"/>
                </a:solidFill>
              </a:defRPr>
            </a:pPr>
            <a:r>
              <a:t>IT làm chủ 100% vận hành</a:t>
            </a:r>
          </a:p>
        </p:txBody>
      </p:sp>
      <p:sp>
        <p:nvSpPr>
          <p:cNvPr id="41" name="TextBox 40"/>
          <p:cNvSpPr txBox="1"/>
          <p:nvPr/>
        </p:nvSpPr>
        <p:spPr>
          <a:xfrm>
            <a:off x="8503920" y="3017520"/>
            <a:ext cx="2834640" cy="457200"/>
          </a:xfrm>
          <a:prstGeom prst="rect">
            <a:avLst/>
          </a:prstGeom>
          <a:noFill/>
        </p:spPr>
        <p:txBody>
          <a:bodyPr wrap="square">
            <a:spAutoFit/>
          </a:bodyPr>
          <a:lstStyle/>
          <a:p>
            <a:pPr algn="l">
              <a:defRPr sz="1100" b="0">
                <a:solidFill>
                  <a:srgbClr val="1C2330"/>
                </a:solidFill>
              </a:defRPr>
            </a:pPr>
            <a:r>
              <a:t>—  Nghiệm thu hệ thống Trục tích hợp dữ liệu</a:t>
            </a:r>
          </a:p>
        </p:txBody>
      </p:sp>
      <p:sp>
        <p:nvSpPr>
          <p:cNvPr id="42" name="TextBox 41"/>
          <p:cNvSpPr txBox="1"/>
          <p:nvPr/>
        </p:nvSpPr>
        <p:spPr>
          <a:xfrm>
            <a:off x="8503920" y="3520439"/>
            <a:ext cx="2834640" cy="457200"/>
          </a:xfrm>
          <a:prstGeom prst="rect">
            <a:avLst/>
          </a:prstGeom>
          <a:noFill/>
        </p:spPr>
        <p:txBody>
          <a:bodyPr wrap="square">
            <a:spAutoFit/>
          </a:bodyPr>
          <a:lstStyle/>
          <a:p>
            <a:pPr algn="l">
              <a:defRPr sz="1100" b="0">
                <a:solidFill>
                  <a:srgbClr val="1C2330"/>
                </a:solidFill>
              </a:defRPr>
            </a:pPr>
            <a:r>
              <a:t>—  NCC bàn giao toàn bộ mã nguồn &amp; tài liệu kiến trúc</a:t>
            </a:r>
          </a:p>
        </p:txBody>
      </p:sp>
      <p:sp>
        <p:nvSpPr>
          <p:cNvPr id="43" name="TextBox 42"/>
          <p:cNvSpPr txBox="1"/>
          <p:nvPr/>
        </p:nvSpPr>
        <p:spPr>
          <a:xfrm>
            <a:off x="8503920" y="4023360"/>
            <a:ext cx="2834640" cy="457200"/>
          </a:xfrm>
          <a:prstGeom prst="rect">
            <a:avLst/>
          </a:prstGeom>
          <a:noFill/>
        </p:spPr>
        <p:txBody>
          <a:bodyPr wrap="square">
            <a:spAutoFit/>
          </a:bodyPr>
          <a:lstStyle/>
          <a:p>
            <a:pPr algn="l">
              <a:defRPr sz="1100" b="0">
                <a:solidFill>
                  <a:srgbClr val="1C2330"/>
                </a:solidFill>
              </a:defRPr>
            </a:pPr>
            <a:r>
              <a:t>—  Đào tạo chuyển giao kỹ thuật cho IT Quảng Ngãi</a:t>
            </a:r>
          </a:p>
        </p:txBody>
      </p:sp>
      <p:sp>
        <p:nvSpPr>
          <p:cNvPr id="44" name="TextBox 43"/>
          <p:cNvSpPr txBox="1"/>
          <p:nvPr/>
        </p:nvSpPr>
        <p:spPr>
          <a:xfrm>
            <a:off x="8503920" y="4526280"/>
            <a:ext cx="2834640" cy="457200"/>
          </a:xfrm>
          <a:prstGeom prst="rect">
            <a:avLst/>
          </a:prstGeom>
          <a:noFill/>
        </p:spPr>
        <p:txBody>
          <a:bodyPr wrap="square">
            <a:spAutoFit/>
          </a:bodyPr>
          <a:lstStyle/>
          <a:p>
            <a:pPr algn="l">
              <a:defRPr sz="1100" b="0">
                <a:solidFill>
                  <a:srgbClr val="1C2330"/>
                </a:solidFill>
              </a:defRPr>
            </a:pPr>
            <a:r>
              <a:t>—  Xây dựng và đưa vào sử dụng Dashboard Power BI</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C23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2004"/>
          </a:xfrm>
          <a:prstGeom prst="rect">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
            <a:ext cx="9144000" cy="228600"/>
          </a:xfrm>
          <a:prstGeom prst="rect">
            <a:avLst/>
          </a:prstGeom>
          <a:noFill/>
        </p:spPr>
        <p:txBody>
          <a:bodyPr wrap="square">
            <a:spAutoFit/>
          </a:bodyPr>
          <a:lstStyle/>
          <a:p>
            <a:pPr algn="l">
              <a:defRPr sz="900" b="1">
                <a:solidFill>
                  <a:srgbClr val="9BB9DC"/>
                </a:solidFill>
              </a:defRPr>
            </a:pPr>
            <a:r>
              <a:t>ĐỀ XUẤT — 3 NỘI DUNG XIN CHỦ TRƯƠNG ĐỂ TRIỂN KHAI</a:t>
            </a:r>
          </a:p>
        </p:txBody>
      </p:sp>
      <p:sp>
        <p:nvSpPr>
          <p:cNvPr id="5" name="TextBox 4"/>
          <p:cNvSpPr txBox="1"/>
          <p:nvPr/>
        </p:nvSpPr>
        <p:spPr>
          <a:xfrm>
            <a:off x="731520" y="347472"/>
            <a:ext cx="10058400" cy="502920"/>
          </a:xfrm>
          <a:prstGeom prst="rect">
            <a:avLst/>
          </a:prstGeom>
          <a:noFill/>
        </p:spPr>
        <p:txBody>
          <a:bodyPr wrap="square">
            <a:spAutoFit/>
          </a:bodyPr>
          <a:lstStyle/>
          <a:p>
            <a:pPr algn="l">
              <a:defRPr sz="1900" b="1">
                <a:solidFill>
                  <a:srgbClr val="FFFFFF"/>
                </a:solidFill>
              </a:defRPr>
            </a:pPr>
            <a:r>
              <a:t>KIẾN NGHỊ BAN GIÁM ĐỐC XEM XÉT VÀ CHỈ ĐẠO</a:t>
            </a:r>
          </a:p>
        </p:txBody>
      </p:sp>
      <p:sp>
        <p:nvSpPr>
          <p:cNvPr id="6" name="TextBox 5"/>
          <p:cNvSpPr txBox="1"/>
          <p:nvPr/>
        </p:nvSpPr>
        <p:spPr>
          <a:xfrm>
            <a:off x="10972800" y="347472"/>
            <a:ext cx="731520" cy="457200"/>
          </a:xfrm>
          <a:prstGeom prst="rect">
            <a:avLst/>
          </a:prstGeom>
          <a:noFill/>
        </p:spPr>
        <p:txBody>
          <a:bodyPr wrap="square">
            <a:spAutoFit/>
          </a:bodyPr>
          <a:lstStyle/>
          <a:p>
            <a:pPr algn="r">
              <a:defRPr sz="1200" b="1">
                <a:solidFill>
                  <a:srgbClr val="9BB9DC"/>
                </a:solidFill>
              </a:defRPr>
            </a:pPr>
            <a:r>
              <a:t>13</a:t>
            </a:r>
          </a:p>
        </p:txBody>
      </p:sp>
      <p:sp>
        <p:nvSpPr>
          <p:cNvPr id="7" name="Rectangle 6"/>
          <p:cNvSpPr/>
          <p:nvPr/>
        </p:nvSpPr>
        <p:spPr>
          <a:xfrm>
            <a:off x="0" y="6583680"/>
            <a:ext cx="12191695" cy="7315"/>
          </a:xfrm>
          <a:prstGeom prst="rect">
            <a:avLst/>
          </a:prstGeom>
          <a:solidFill>
            <a:srgbClr val="C8D0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601968"/>
            <a:ext cx="10698480" cy="228600"/>
          </a:xfrm>
          <a:prstGeom prst="rect">
            <a:avLst/>
          </a:prstGeom>
          <a:noFill/>
        </p:spPr>
        <p:txBody>
          <a:bodyPr wrap="square">
            <a:spAutoFit/>
          </a:bodyPr>
          <a:lstStyle/>
          <a:p>
            <a:pPr algn="l">
              <a:defRPr sz="800" b="0">
                <a:solidFill>
                  <a:srgbClr val="6C7684"/>
                </a:solidFill>
              </a:defRPr>
            </a:pPr>
            <a:r>
              <a:t>PTSC Quảng Ngãi  |  Báo cáo Data Platform &amp; Trục tích hợp  |  Thực hiện Chỉ đạo số 9 BGĐ</a:t>
            </a:r>
          </a:p>
        </p:txBody>
      </p:sp>
      <p:sp>
        <p:nvSpPr>
          <p:cNvPr id="9" name="Rounded Rectangle 8"/>
          <p:cNvSpPr/>
          <p:nvPr/>
        </p:nvSpPr>
        <p:spPr>
          <a:xfrm>
            <a:off x="731520" y="1371600"/>
            <a:ext cx="3383280" cy="4114800"/>
          </a:xfrm>
          <a:prstGeom prst="roundRect">
            <a:avLst/>
          </a:prstGeom>
          <a:solidFill>
            <a:srgbClr val="E6F0FC"/>
          </a:solidFill>
          <a:ln w="25400">
            <a:solidFill>
              <a:srgbClr val="1E64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68096" y="1389888"/>
            <a:ext cx="73152" cy="4059936"/>
          </a:xfrm>
          <a:prstGeom prst="rect">
            <a:avLst/>
          </a:prstGeom>
          <a:solidFill>
            <a:srgbClr val="1E6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05840" y="1554480"/>
            <a:ext cx="365760" cy="365760"/>
          </a:xfrm>
          <a:prstGeom prst="ellipse">
            <a:avLst/>
          </a:prstGeom>
          <a:solidFill>
            <a:srgbClr val="1E64BE"/>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300" b="1">
                <a:solidFill>
                  <a:srgbClr val="FFFFFF"/>
                </a:solidFill>
              </a:defRPr>
            </a:pPr>
            <a:r>
              <a:t>1</a:t>
            </a:r>
          </a:p>
        </p:txBody>
      </p:sp>
      <p:sp>
        <p:nvSpPr>
          <p:cNvPr id="12" name="TextBox 11"/>
          <p:cNvSpPr txBox="1"/>
          <p:nvPr/>
        </p:nvSpPr>
        <p:spPr>
          <a:xfrm>
            <a:off x="1508760" y="1554480"/>
            <a:ext cx="2377440" cy="640080"/>
          </a:xfrm>
          <a:prstGeom prst="rect">
            <a:avLst/>
          </a:prstGeom>
          <a:noFill/>
        </p:spPr>
        <p:txBody>
          <a:bodyPr wrap="square">
            <a:spAutoFit/>
          </a:bodyPr>
          <a:lstStyle/>
          <a:p>
            <a:pPr algn="l">
              <a:defRPr sz="1350" b="1">
                <a:solidFill>
                  <a:srgbClr val="1E64BE"/>
                </a:solidFill>
              </a:defRPr>
            </a:pPr>
            <a:r>
              <a:t>CHẤP THUẬN PHƯƠNG ÁN 2:</a:t>
            </a:r>
          </a:p>
        </p:txBody>
      </p:sp>
      <p:sp>
        <p:nvSpPr>
          <p:cNvPr id="13" name="Rectangle 12"/>
          <p:cNvSpPr/>
          <p:nvPr/>
        </p:nvSpPr>
        <p:spPr>
          <a:xfrm>
            <a:off x="1005840" y="2331720"/>
            <a:ext cx="2834640" cy="9144"/>
          </a:xfrm>
          <a:prstGeom prst="rect">
            <a:avLst/>
          </a:prstGeom>
          <a:solidFill>
            <a:srgbClr val="C8D0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2514600"/>
            <a:ext cx="2834640" cy="2560320"/>
          </a:xfrm>
          <a:prstGeom prst="rect">
            <a:avLst/>
          </a:prstGeom>
          <a:noFill/>
        </p:spPr>
        <p:txBody>
          <a:bodyPr wrap="square">
            <a:spAutoFit/>
          </a:bodyPr>
          <a:lstStyle/>
          <a:p>
            <a:pPr algn="l">
              <a:defRPr sz="1200" b="0">
                <a:solidFill>
                  <a:srgbClr val="1C2330"/>
                </a:solidFill>
              </a:defRPr>
            </a:pPr>
            <a:r>
              <a:t>Phê duyệt chủ trương: Công ty chủ động phát triển Trục tích hợp dữ liệu riêng đồng bộ với TCT (thuê Nhà cung cấp chuyên nghiệp tư vấn &amp; triển khai) để đảm bảo tiến độ năm 2026.</a:t>
            </a:r>
          </a:p>
        </p:txBody>
      </p:sp>
      <p:sp>
        <p:nvSpPr>
          <p:cNvPr id="15" name="Rounded Rectangle 14"/>
          <p:cNvSpPr/>
          <p:nvPr/>
        </p:nvSpPr>
        <p:spPr>
          <a:xfrm>
            <a:off x="4480559" y="1371600"/>
            <a:ext cx="3383280" cy="4114800"/>
          </a:xfrm>
          <a:prstGeom prst="roundRect">
            <a:avLst/>
          </a:prstGeom>
          <a:solidFill>
            <a:srgbClr val="FFF5E1"/>
          </a:solidFill>
          <a:ln w="25400">
            <a:solidFill>
              <a:srgbClr val="B47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17135" y="1389888"/>
            <a:ext cx="73152" cy="4059936"/>
          </a:xfrm>
          <a:prstGeom prst="rect">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754879" y="1554480"/>
            <a:ext cx="365760" cy="365760"/>
          </a:xfrm>
          <a:prstGeom prst="ellipse">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300" b="1">
                <a:solidFill>
                  <a:srgbClr val="FFFFFF"/>
                </a:solidFill>
              </a:defRPr>
            </a:pPr>
            <a:r>
              <a:t>2</a:t>
            </a:r>
          </a:p>
        </p:txBody>
      </p:sp>
      <p:sp>
        <p:nvSpPr>
          <p:cNvPr id="18" name="TextBox 17"/>
          <p:cNvSpPr txBox="1"/>
          <p:nvPr/>
        </p:nvSpPr>
        <p:spPr>
          <a:xfrm>
            <a:off x="5257799" y="1554480"/>
            <a:ext cx="2377440" cy="640080"/>
          </a:xfrm>
          <a:prstGeom prst="rect">
            <a:avLst/>
          </a:prstGeom>
          <a:noFill/>
        </p:spPr>
        <p:txBody>
          <a:bodyPr wrap="square">
            <a:spAutoFit/>
          </a:bodyPr>
          <a:lstStyle/>
          <a:p>
            <a:pPr algn="l">
              <a:defRPr sz="1350" b="1">
                <a:solidFill>
                  <a:srgbClr val="B47300"/>
                </a:solidFill>
              </a:defRPr>
            </a:pPr>
            <a:r>
              <a:t>THÀNH LẬP TỔ CÔNG TÁC NỘI BỘ:</a:t>
            </a:r>
          </a:p>
        </p:txBody>
      </p:sp>
      <p:sp>
        <p:nvSpPr>
          <p:cNvPr id="19" name="Rectangle 18"/>
          <p:cNvSpPr/>
          <p:nvPr/>
        </p:nvSpPr>
        <p:spPr>
          <a:xfrm>
            <a:off x="4754879" y="2331720"/>
            <a:ext cx="2834640" cy="9144"/>
          </a:xfrm>
          <a:prstGeom prst="rect">
            <a:avLst/>
          </a:prstGeom>
          <a:solidFill>
            <a:srgbClr val="C8D0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54879" y="2514600"/>
            <a:ext cx="2834640" cy="2560320"/>
          </a:xfrm>
          <a:prstGeom prst="rect">
            <a:avLst/>
          </a:prstGeom>
          <a:noFill/>
        </p:spPr>
        <p:txBody>
          <a:bodyPr wrap="square">
            <a:spAutoFit/>
          </a:bodyPr>
          <a:lstStyle/>
          <a:p>
            <a:pPr algn="l">
              <a:defRPr sz="1200" b="0">
                <a:solidFill>
                  <a:srgbClr val="1C2330"/>
                </a:solidFill>
              </a:defRPr>
            </a:pPr>
            <a:r>
              <a:t>Thành lập Tổ công tác Data Platform gồm Bộ phận CNTT (chủ trì kỹ thuật) và các cán bộ phụ trách dữ liệu (Key users) từ Kế toán, Vật tư, Nhân sự để bắt đầu ngay Giai đoạn 1 (chi phí 0 VNĐ).</a:t>
            </a:r>
          </a:p>
        </p:txBody>
      </p:sp>
      <p:sp>
        <p:nvSpPr>
          <p:cNvPr id="21" name="Rounded Rectangle 20"/>
          <p:cNvSpPr/>
          <p:nvPr/>
        </p:nvSpPr>
        <p:spPr>
          <a:xfrm>
            <a:off x="8229600" y="1371600"/>
            <a:ext cx="3383280" cy="4114800"/>
          </a:xfrm>
          <a:prstGeom prst="roundRect">
            <a:avLst/>
          </a:prstGeom>
          <a:solidFill>
            <a:srgbClr val="E8F8EF"/>
          </a:solidFill>
          <a:ln w="25400">
            <a:solidFill>
              <a:srgbClr val="158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266176" y="1389888"/>
            <a:ext cx="73152" cy="4059936"/>
          </a:xfrm>
          <a:prstGeom prst="rect">
            <a:avLst/>
          </a:prstGeom>
          <a:solidFill>
            <a:srgbClr val="158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503920" y="1554480"/>
            <a:ext cx="365760" cy="365760"/>
          </a:xfrm>
          <a:prstGeom prst="ellipse">
            <a:avLst/>
          </a:prstGeom>
          <a:solidFill>
            <a:srgbClr val="15805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300" b="1">
                <a:solidFill>
                  <a:srgbClr val="FFFFFF"/>
                </a:solidFill>
              </a:defRPr>
            </a:pPr>
            <a:r>
              <a:t>3</a:t>
            </a:r>
          </a:p>
        </p:txBody>
      </p:sp>
      <p:sp>
        <p:nvSpPr>
          <p:cNvPr id="24" name="TextBox 23"/>
          <p:cNvSpPr txBox="1"/>
          <p:nvPr/>
        </p:nvSpPr>
        <p:spPr>
          <a:xfrm>
            <a:off x="9006840" y="1554480"/>
            <a:ext cx="2377440" cy="640080"/>
          </a:xfrm>
          <a:prstGeom prst="rect">
            <a:avLst/>
          </a:prstGeom>
          <a:noFill/>
        </p:spPr>
        <p:txBody>
          <a:bodyPr wrap="square">
            <a:spAutoFit/>
          </a:bodyPr>
          <a:lstStyle/>
          <a:p>
            <a:pPr algn="l">
              <a:defRPr sz="1350" b="1">
                <a:solidFill>
                  <a:srgbClr val="158050"/>
                </a:solidFill>
              </a:defRPr>
            </a:pPr>
            <a:r>
              <a:t>CHO PHÉP TIẾP XÚC NCC LẤY BÁO GIÁ:</a:t>
            </a:r>
          </a:p>
        </p:txBody>
      </p:sp>
      <p:sp>
        <p:nvSpPr>
          <p:cNvPr id="25" name="Rectangle 24"/>
          <p:cNvSpPr/>
          <p:nvPr/>
        </p:nvSpPr>
        <p:spPr>
          <a:xfrm>
            <a:off x="8503920" y="2331720"/>
            <a:ext cx="2834640" cy="9144"/>
          </a:xfrm>
          <a:prstGeom prst="rect">
            <a:avLst/>
          </a:prstGeom>
          <a:solidFill>
            <a:srgbClr val="C8D0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3920" y="2514600"/>
            <a:ext cx="2834640" cy="2560320"/>
          </a:xfrm>
          <a:prstGeom prst="rect">
            <a:avLst/>
          </a:prstGeom>
          <a:noFill/>
        </p:spPr>
        <p:txBody>
          <a:bodyPr wrap="square">
            <a:spAutoFit/>
          </a:bodyPr>
          <a:lstStyle/>
          <a:p>
            <a:pPr algn="l">
              <a:defRPr sz="1200" b="0">
                <a:solidFill>
                  <a:srgbClr val="1C2330"/>
                </a:solidFill>
              </a:defRPr>
            </a:pPr>
            <a:r>
              <a:t>Cho phép Tổ công tác khảo sát thị trường, truyền đạt đúng khung kiến trúc và bài toán kỹ thuật để lấy báo giá cạnh tranh từ các NCC uy tín, hoàn thiện dự toán chi tiết trình Ban Giám đốc phê duyệt trước khi ký kết.</a:t>
            </a:r>
          </a:p>
        </p:txBody>
      </p:sp>
      <p:sp>
        <p:nvSpPr>
          <p:cNvPr id="27" name="Rounded Rectangle 26"/>
          <p:cNvSpPr/>
          <p:nvPr/>
        </p:nvSpPr>
        <p:spPr>
          <a:xfrm>
            <a:off x="731520" y="5760720"/>
            <a:ext cx="10698480" cy="594360"/>
          </a:xfrm>
          <a:prstGeom prst="roundRect">
            <a:avLst/>
          </a:prstGeom>
          <a:solidFill>
            <a:srgbClr val="E8F8EF"/>
          </a:solidFill>
          <a:ln w="19050">
            <a:solidFill>
              <a:srgbClr val="158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68096" y="5779008"/>
            <a:ext cx="64008" cy="530352"/>
          </a:xfrm>
          <a:prstGeom prst="rect">
            <a:avLst/>
          </a:prstGeom>
          <a:solidFill>
            <a:srgbClr val="158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05840" y="5760720"/>
            <a:ext cx="10241280" cy="594360"/>
          </a:xfrm>
          <a:prstGeom prst="rect">
            <a:avLst/>
          </a:prstGeom>
          <a:noFill/>
        </p:spPr>
        <p:txBody>
          <a:bodyPr wrap="square">
            <a:spAutoFit/>
          </a:bodyPr>
          <a:lstStyle/>
          <a:p>
            <a:pPr algn="ctr">
              <a:defRPr sz="1200" b="1">
                <a:solidFill>
                  <a:srgbClr val="166434"/>
                </a:solidFill>
              </a:defRPr>
            </a:pPr>
            <a:r>
              <a:t>Kính trình Ban Giám đốc xem xét, thông qua chủ trương để đơn vị kịp tiến độ kết nối năm 2026 của Tổng công ty!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23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011680"/>
            <a:ext cx="12191695" cy="32004"/>
          </a:xfrm>
          <a:prstGeom prst="rect">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572000"/>
            <a:ext cx="12191695" cy="13716"/>
          </a:xfrm>
          <a:prstGeom prst="rect">
            <a:avLst/>
          </a:prstGeom>
          <a:solidFill>
            <a:srgbClr val="3C5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377440"/>
            <a:ext cx="10332720" cy="914400"/>
          </a:xfrm>
          <a:prstGeom prst="rect">
            <a:avLst/>
          </a:prstGeom>
          <a:noFill/>
        </p:spPr>
        <p:txBody>
          <a:bodyPr wrap="square">
            <a:spAutoFit/>
          </a:bodyPr>
          <a:lstStyle/>
          <a:p>
            <a:pPr algn="l">
              <a:defRPr sz="2800" b="1">
                <a:solidFill>
                  <a:srgbClr val="FFFFFF"/>
                </a:solidFill>
              </a:defRPr>
            </a:pPr>
            <a:r>
              <a:t>XIN TRÂN TRỌNG CẢM ƠN</a:t>
            </a:r>
            <a:br/>
            <a:r>
              <a:t>BAN GIÁM ĐỐC</a:t>
            </a:r>
          </a:p>
        </p:txBody>
      </p:sp>
      <p:sp>
        <p:nvSpPr>
          <p:cNvPr id="6" name="TextBox 5"/>
          <p:cNvSpPr txBox="1"/>
          <p:nvPr/>
        </p:nvSpPr>
        <p:spPr>
          <a:xfrm>
            <a:off x="914400" y="3657600"/>
            <a:ext cx="10332720" cy="457200"/>
          </a:xfrm>
          <a:prstGeom prst="rect">
            <a:avLst/>
          </a:prstGeom>
          <a:noFill/>
        </p:spPr>
        <p:txBody>
          <a:bodyPr wrap="square">
            <a:spAutoFit/>
          </a:bodyPr>
          <a:lstStyle/>
          <a:p>
            <a:pPr algn="l">
              <a:defRPr sz="1500" b="0">
                <a:solidFill>
                  <a:srgbClr val="C8D7EB"/>
                </a:solidFill>
              </a:defRPr>
            </a:pPr>
            <a:r>
              <a:t>Kính mời Ban Giám đốc cho ý kiến chỉ đạo.</a:t>
            </a:r>
          </a:p>
        </p:txBody>
      </p:sp>
      <p:sp>
        <p:nvSpPr>
          <p:cNvPr id="7" name="TextBox 6"/>
          <p:cNvSpPr txBox="1"/>
          <p:nvPr/>
        </p:nvSpPr>
        <p:spPr>
          <a:xfrm>
            <a:off x="914400" y="4846320"/>
            <a:ext cx="10332720" cy="365760"/>
          </a:xfrm>
          <a:prstGeom prst="rect">
            <a:avLst/>
          </a:prstGeom>
          <a:noFill/>
        </p:spPr>
        <p:txBody>
          <a:bodyPr wrap="square">
            <a:spAutoFit/>
          </a:bodyPr>
          <a:lstStyle/>
          <a:p>
            <a:pPr algn="l">
              <a:defRPr sz="1100" b="0">
                <a:solidFill>
                  <a:srgbClr val="9BB9DC"/>
                </a:solidFill>
              </a:defRPr>
            </a:pPr>
            <a:r>
              <a:t>Tài liệu đính kèm:  Kế hoạch chi tiết Giai đoạn 1, 2, 3</a:t>
            </a:r>
          </a:p>
        </p:txBody>
      </p:sp>
      <p:sp>
        <p:nvSpPr>
          <p:cNvPr id="8" name="TextBox 7"/>
          <p:cNvSpPr txBox="1"/>
          <p:nvPr/>
        </p:nvSpPr>
        <p:spPr>
          <a:xfrm>
            <a:off x="914400" y="5212080"/>
            <a:ext cx="10332720" cy="365760"/>
          </a:xfrm>
          <a:prstGeom prst="rect">
            <a:avLst/>
          </a:prstGeom>
          <a:noFill/>
        </p:spPr>
        <p:txBody>
          <a:bodyPr wrap="square">
            <a:spAutoFit/>
          </a:bodyPr>
          <a:lstStyle/>
          <a:p>
            <a:pPr algn="l">
              <a:defRPr sz="1100" b="0">
                <a:solidFill>
                  <a:srgbClr val="9BB9DC"/>
                </a:solidFill>
              </a:defRPr>
            </a:pPr>
            <a:r>
              <a:t>Đơn vị thực hiện:  Tổ Công tác CĐS – Bộ phận CNTT PTSC Quảng Ngãi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