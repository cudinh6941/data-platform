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đốc, bộ phận CNTT xin báo cáo phương án triển khai Nền tảng Dữ liệu theo chỉ đạo số 9 của Ban Giám đốc. Bài báo cáo gồm 4 phần: Tổng quan giải pháp, hiện trạng Quảng Ngãi, kiến trúc kết nối và kế hoạch hành động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TCT nêu rõ 5 lý do bắt buộc mở rộng: Dữ liệu nằm ở đơn vị, báo cáo hợp nhất thủ công, Master Data không thống nhất, yêu cầu pháp lý mới, và thời điểm tối ưu sau GĐ1.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3 tầng theo chuẩn IMIP Data Platform của TCT: Thu thập (Airbyte/Debezium) → Chuẩn hóa (Lakehouse MinIO + MDM) → Phân tích (Fabric + Power BI). Các phần mềm nghiệp vụ hiện hữu giữ nguyên, nhân viên không cần thay đổi quy trình làm việc.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tài liệu Hội thảo TCT: Nền tảng IMIP đã tích hợp 8 phần mềm nguồn, 35 quy trình liên phòng ban và 50 API chuẩn. Quảng Ngãi kế thừa toàn bộ bộ triển khai mẫu này.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slide 7 của tài liệu TCT: Spoke tái sử dụng chính nền tảng IMIP Data Platform ở cấu hình quy mô nhỏ — đồng nhất công nghệ, kỹ năng vận hành và bộ triển khai mẫu khi nhân rộng. L3 không phát sinh CAPEX hạ tầng riêng.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thách thức cần giải quyết: phần mềm cát cứ, chưa đồng bộ Master Data, và đội IT chưa có chuyên môn Data Engineering. Đây là lý do cần thuê NCC chuyên nghiệp hỗ trợ.</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Quy chế Quản trị Dữ liệu PTSC (7 chương, 30 điều, 13 phụ lục): Chủ quản Dữ liệu Cấp 3 (Lãnh đạo Đơn vị) là cấp phê duyệt 10/12 quy trình số hóa trên Data Platform. Ban NCPT&amp;CĐS Cấp 5 chỉ vận hành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loại 6 chiều theo Quy chế TCT: Tính chất chia sẻ, mức độ quan trọng, tính chất bí mật, dữ liệu cá nhân, nguồn gốc, vòng đời. Mỗi tài sản dữ liệu mang 6 nhãn, Cấp 3 (Lãnh đạo đơn vị) phê duyệt phần lớn.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Đồng bộ qua ESB / API chuẩn (near real-time hoặc batch) theo kiến trúc TCT. Spoke tái sử dụng bộ triển khai mẫu IMIP Data Platform.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sánh 2 phương án: PA1 phụ thuộc TCT — bất khả thi về tiến độ và không có Dashboard riêng. PA2 chủ động thuê NCC — kiểm soát tiến độ, thiết kế riêng cho QN, bàn giao mã nguồn.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cấu phần chi phí theo khung TCT. L3 không phát sinh CAPEX hạ tầng riêng. Hạng mục 3–6 chờ NCC báo giá sau khảo sát GĐ1.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GĐ1 nội bộ tự làm, chi phí 0 VNĐ, thời gian 6–8 tuần. Kết quả đầu ra: Data Catalog, Bảng ánh xạ 29 MD, Danh sách trường cần Masking, và TOR để mời NCC báo giá.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GĐ2 có NCC chuyên môn cắm chốt. IT QN giám sát và tiếp nhận chuyển giao kỹ thuật song song. Thời gian: 8–12 tuần. Kết quả: ETL Pipeline vận hành ổn định ≥ 30 ngày trên dữ liệu thực.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 tiết kỹ thuật kết nối Hub: VPN Site-to-Site + đăng ký Endpoint trên ESB + đẩy file Parquet lên MinIO S3 API hoặc gọi API chuẩn WSO2 + MDM tự động kiểm tra Golden Record + SIEM giám sát 24/7.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GĐ3: Nghiệm thu, bàn giao mã nguồn 100%, đào tạo IT QN và đưa vào sử dụng chính thức. Dashboard phục vụ giao ban Ban Giám đốc hàng sáng.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3 giai đoạn: GĐ1 nội bộ tự làm (2 tháng, 0 VNĐ) → GĐ2 NCC triển khai ETL + kết nối Hub (4 tháng) → GĐ3 bàn giao, đào tạo, khai thác (2 tháng+).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tỏa 2 mối lo: Các phòng ban không bị quá tải (chỉ 2-3 buổi phỏng vấn), và an toàn tuyệt đối khi thuê NCC (Read-only, NDA, bàn giao mã nguồn 100%).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đốc, bộ phận CNTT kính đề xuất 3 chủ trương trên để triển khai ngay Giai đoạn 1 nội bộ, đảm bảo tiến độ chung của Tổng công ty. Trân trọng cảm ơn Ban Giám đốc!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36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03520"/>
            <a:ext cx="12191695" cy="13716"/>
          </a:xfrm>
          <a:prstGeom prst="rect">
            <a:avLst/>
          </a:prstGeom>
          <a:solidFill>
            <a:srgbClr val="3C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058400" cy="365760"/>
          </a:xfrm>
          <a:prstGeom prst="rect">
            <a:avLst/>
          </a:prstGeom>
          <a:noFill/>
        </p:spPr>
        <p:txBody>
          <a:bodyPr wrap="square">
            <a:spAutoFit/>
          </a:bodyPr>
          <a:lstStyle/>
          <a:p>
            <a:pPr algn="l">
              <a:defRPr sz="1300" b="1">
                <a:solidFill>
                  <a:srgbClr val="B4C8E1"/>
                </a:solidFill>
              </a:defRPr>
            </a:pPr>
            <a:r>
              <a:t>BÁO CÁO BAN GIÁM ĐỐC  —  THỰC HIỆN CHỈ ĐẠO MỤC 9</a:t>
            </a:r>
          </a:p>
        </p:txBody>
      </p:sp>
      <p:sp>
        <p:nvSpPr>
          <p:cNvPr id="6" name="TextBox 5"/>
          <p:cNvSpPr txBox="1"/>
          <p:nvPr/>
        </p:nvSpPr>
        <p:spPr>
          <a:xfrm>
            <a:off x="914400" y="2286000"/>
            <a:ext cx="10058400" cy="1463040"/>
          </a:xfrm>
          <a:prstGeom prst="rect">
            <a:avLst/>
          </a:prstGeom>
          <a:noFill/>
        </p:spPr>
        <p:txBody>
          <a:bodyPr wrap="square">
            <a:spAutoFit/>
          </a:bodyPr>
          <a:lstStyle/>
          <a:p>
            <a:pPr algn="l">
              <a:defRPr sz="3000" b="1">
                <a:solidFill>
                  <a:srgbClr val="FFFFFF"/>
                </a:solidFill>
              </a:defRPr>
            </a:pPr>
            <a:r>
              <a:t>PHƯƠNG ÁN TRIỂN KHAI NỀN TẢNG DỮ LIỆU</a:t>
            </a:r>
            <a:br/>
            <a:r>
              <a:t>VÀ TRỤC TÍCH HỢP CÔNG TY – TỔNG CÔNG TY</a:t>
            </a:r>
          </a:p>
        </p:txBody>
      </p:sp>
      <p:sp>
        <p:nvSpPr>
          <p:cNvPr id="7" name="Rectangle 6"/>
          <p:cNvSpPr/>
          <p:nvPr/>
        </p:nvSpPr>
        <p:spPr>
          <a:xfrm>
            <a:off x="914400" y="4023360"/>
            <a:ext cx="2286000" cy="36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51960"/>
            <a:ext cx="10058400" cy="256032"/>
          </a:xfrm>
          <a:prstGeom prst="rect">
            <a:avLst/>
          </a:prstGeom>
          <a:noFill/>
        </p:spPr>
        <p:txBody>
          <a:bodyPr wrap="square">
            <a:spAutoFit/>
          </a:bodyPr>
          <a:lstStyle/>
          <a:p>
            <a:pPr algn="l">
              <a:defRPr sz="1050" b="0">
                <a:solidFill>
                  <a:srgbClr val="C8D7EB"/>
                </a:solidFill>
              </a:defRPr>
            </a:pPr>
            <a:r>
              <a:t>—  Phần A — Tổng quan Nền tảng Dữ liệu: Bối cảnh, bản chất và tài nguyên sẵn có từ Tổng công ty</a:t>
            </a:r>
          </a:p>
        </p:txBody>
      </p:sp>
      <p:sp>
        <p:nvSpPr>
          <p:cNvPr id="9" name="TextBox 8"/>
          <p:cNvSpPr txBox="1"/>
          <p:nvPr/>
        </p:nvSpPr>
        <p:spPr>
          <a:xfrm>
            <a:off x="914400" y="4507992"/>
            <a:ext cx="10058400" cy="256032"/>
          </a:xfrm>
          <a:prstGeom prst="rect">
            <a:avLst/>
          </a:prstGeom>
          <a:noFill/>
        </p:spPr>
        <p:txBody>
          <a:bodyPr wrap="square">
            <a:spAutoFit/>
          </a:bodyPr>
          <a:lstStyle/>
          <a:p>
            <a:pPr algn="l">
              <a:defRPr sz="1050" b="0">
                <a:solidFill>
                  <a:srgbClr val="C8D7EB"/>
                </a:solidFill>
              </a:defRPr>
            </a:pPr>
            <a:r>
              <a:t>—  Phần B — Hiện trạng tại PTSC Quảng Ngãi: Vị thế L3, thách thức nội bộ, chủ quyền dữ liệu</a:t>
            </a:r>
          </a:p>
        </p:txBody>
      </p:sp>
      <p:sp>
        <p:nvSpPr>
          <p:cNvPr id="10" name="TextBox 9"/>
          <p:cNvSpPr txBox="1"/>
          <p:nvPr/>
        </p:nvSpPr>
        <p:spPr>
          <a:xfrm>
            <a:off x="914400" y="4764024"/>
            <a:ext cx="10058400" cy="256032"/>
          </a:xfrm>
          <a:prstGeom prst="rect">
            <a:avLst/>
          </a:prstGeom>
          <a:noFill/>
        </p:spPr>
        <p:txBody>
          <a:bodyPr wrap="square">
            <a:spAutoFit/>
          </a:bodyPr>
          <a:lstStyle/>
          <a:p>
            <a:pPr algn="l">
              <a:defRPr sz="1050" b="0">
                <a:solidFill>
                  <a:srgbClr val="C8D7EB"/>
                </a:solidFill>
              </a:defRPr>
            </a:pPr>
            <a:r>
              <a:t>—  Phần C — Kiến trúc kết nối &amp; Phương án triển khai: Luồng tích hợp, so sánh phương án, dự toán</a:t>
            </a:r>
          </a:p>
        </p:txBody>
      </p:sp>
      <p:sp>
        <p:nvSpPr>
          <p:cNvPr id="11" name="TextBox 10"/>
          <p:cNvSpPr txBox="1"/>
          <p:nvPr/>
        </p:nvSpPr>
        <p:spPr>
          <a:xfrm>
            <a:off x="914400" y="5020056"/>
            <a:ext cx="10058400" cy="256032"/>
          </a:xfrm>
          <a:prstGeom prst="rect">
            <a:avLst/>
          </a:prstGeom>
          <a:noFill/>
        </p:spPr>
        <p:txBody>
          <a:bodyPr wrap="square">
            <a:spAutoFit/>
          </a:bodyPr>
          <a:lstStyle/>
          <a:p>
            <a:pPr algn="l">
              <a:defRPr sz="1050" b="0">
                <a:solidFill>
                  <a:srgbClr val="C8D7EB"/>
                </a:solidFill>
              </a:defRPr>
            </a:pPr>
            <a:r>
              <a:t>—  Phần D — Kế hoạch hành động chi tiết: Các bước triển khai cụ thể, kết nối Hub và kiến nghị</a:t>
            </a:r>
          </a:p>
        </p:txBody>
      </p:sp>
      <p:sp>
        <p:nvSpPr>
          <p:cNvPr id="12" name="TextBox 11"/>
          <p:cNvSpPr txBox="1"/>
          <p:nvPr/>
        </p:nvSpPr>
        <p:spPr>
          <a:xfrm>
            <a:off x="914400" y="5532120"/>
            <a:ext cx="10058400" cy="274320"/>
          </a:xfrm>
          <a:prstGeom prst="rect">
            <a:avLst/>
          </a:prstGeom>
          <a:noFill/>
        </p:spPr>
        <p:txBody>
          <a:bodyPr wrap="square">
            <a:spAutoFit/>
          </a:bodyPr>
          <a:lstStyle/>
          <a:p>
            <a:pPr algn="l">
              <a:defRPr sz="1150" b="0">
                <a:solidFill>
                  <a:srgbClr val="FFFFFF"/>
                </a:solidFill>
              </a:defRPr>
            </a:pPr>
            <a:r>
              <a:t>Đơn vị thực hiện:  Tổ Công tác Chuyển đổi số &amp; CNTT  –  PTSC Quảng Ngãi</a:t>
            </a:r>
          </a:p>
        </p:txBody>
      </p:sp>
      <p:sp>
        <p:nvSpPr>
          <p:cNvPr id="13" name="TextBox 12"/>
          <p:cNvSpPr txBox="1"/>
          <p:nvPr/>
        </p:nvSpPr>
        <p:spPr>
          <a:xfrm>
            <a:off x="914400" y="5852160"/>
            <a:ext cx="10058400" cy="274320"/>
          </a:xfrm>
          <a:prstGeom prst="rect">
            <a:avLst/>
          </a:prstGeom>
          <a:noFill/>
        </p:spPr>
        <p:txBody>
          <a:bodyPr wrap="square">
            <a:spAutoFit/>
          </a:bodyPr>
          <a:lstStyle/>
          <a:p>
            <a:pPr algn="l">
              <a:defRPr sz="1150" b="1">
                <a:solidFill>
                  <a:srgbClr val="FDE047"/>
                </a:solidFill>
              </a:defRPr>
            </a:pPr>
            <a:r>
              <a:t>Kính trình:  Ban Giám đốc Công ty PTSC Quảng Ngãi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A: TỔNG QUAN GIẢI PHÁP — CĂN CỨ CHIẾN LƯỢC</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BỐI CẢNH: TẠI SAO TỔNG CÔNG TY TRIỂN KHAI NỀN TẢNG DỮ LIỆU?</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01</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5120640" cy="493776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298448"/>
            <a:ext cx="5120640" cy="411480"/>
          </a:xfrm>
          <a:prstGeom prst="rect">
            <a:avLst/>
          </a:prstGeom>
          <a:noFill/>
        </p:spPr>
        <p:txBody>
          <a:bodyPr wrap="square">
            <a:spAutoFit/>
          </a:bodyPr>
          <a:lstStyle/>
          <a:p>
            <a:pPr algn="ctr">
              <a:defRPr sz="1200" b="1">
                <a:solidFill>
                  <a:srgbClr val="FFFFFF"/>
                </a:solidFill>
              </a:defRPr>
            </a:pPr>
            <a:r>
              <a:t>THỰC TRẠNG CẦN GIẢI QUYẾT</a:t>
            </a:r>
          </a:p>
        </p:txBody>
      </p:sp>
      <p:sp>
        <p:nvSpPr>
          <p:cNvPr id="12" name="Rounded Rectangle 11"/>
          <p:cNvSpPr/>
          <p:nvPr/>
        </p:nvSpPr>
        <p:spPr>
          <a:xfrm>
            <a:off x="91440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75104"/>
            <a:ext cx="4389120" cy="256032"/>
          </a:xfrm>
          <a:prstGeom prst="rect">
            <a:avLst/>
          </a:prstGeom>
          <a:noFill/>
        </p:spPr>
        <p:txBody>
          <a:bodyPr wrap="square">
            <a:spAutoFit/>
          </a:bodyPr>
          <a:lstStyle/>
          <a:p>
            <a:pPr algn="l">
              <a:defRPr sz="1100" b="1">
                <a:solidFill>
                  <a:srgbClr val="B42828"/>
                </a:solidFill>
              </a:defRPr>
            </a:pPr>
            <a:r>
              <a:t>Dữ liệu phân tán tại các đơn vị thành viên</a:t>
            </a:r>
          </a:p>
        </p:txBody>
      </p:sp>
      <p:sp>
        <p:nvSpPr>
          <p:cNvPr id="14" name="TextBox 13"/>
          <p:cNvSpPr txBox="1"/>
          <p:nvPr/>
        </p:nvSpPr>
        <p:spPr>
          <a:xfrm>
            <a:off x="1097280" y="2221992"/>
            <a:ext cx="4389120" cy="502920"/>
          </a:xfrm>
          <a:prstGeom prst="rect">
            <a:avLst/>
          </a:prstGeom>
          <a:noFill/>
        </p:spPr>
        <p:txBody>
          <a:bodyPr wrap="square">
            <a:spAutoFit/>
          </a:bodyPr>
          <a:lstStyle/>
          <a:p>
            <a:pPr algn="l">
              <a:defRPr sz="1000" b="0">
                <a:solidFill>
                  <a:srgbClr val="1C2330"/>
                </a:solidFill>
              </a:defRPr>
            </a:pPr>
            <a:r>
              <a:t>Phần lớn số liệu sản xuất – kinh doanh phát sinh tại ĐVTV. Không tập hợp được thì giá trị nền tảng chỉ dừng ở Văn phòng TCT.</a:t>
            </a:r>
          </a:p>
        </p:txBody>
      </p:sp>
      <p:sp>
        <p:nvSpPr>
          <p:cNvPr id="15" name="Rounded Rectangle 14"/>
          <p:cNvSpPr/>
          <p:nvPr/>
        </p:nvSpPr>
        <p:spPr>
          <a:xfrm>
            <a:off x="91440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980944"/>
            <a:ext cx="4389120" cy="256032"/>
          </a:xfrm>
          <a:prstGeom prst="rect">
            <a:avLst/>
          </a:prstGeom>
          <a:noFill/>
        </p:spPr>
        <p:txBody>
          <a:bodyPr wrap="square">
            <a:spAutoFit/>
          </a:bodyPr>
          <a:lstStyle/>
          <a:p>
            <a:pPr algn="l">
              <a:defRPr sz="1100" b="1">
                <a:solidFill>
                  <a:srgbClr val="B42828"/>
                </a:solidFill>
              </a:defRPr>
            </a:pPr>
            <a:r>
              <a:t>Báo cáo hợp nhất mang tính thủ công</a:t>
            </a:r>
          </a:p>
        </p:txBody>
      </p:sp>
      <p:sp>
        <p:nvSpPr>
          <p:cNvPr id="17" name="TextBox 16"/>
          <p:cNvSpPr txBox="1"/>
          <p:nvPr/>
        </p:nvSpPr>
        <p:spPr>
          <a:xfrm>
            <a:off x="1097280" y="3227832"/>
            <a:ext cx="4389120" cy="502920"/>
          </a:xfrm>
          <a:prstGeom prst="rect">
            <a:avLst/>
          </a:prstGeom>
          <a:noFill/>
        </p:spPr>
        <p:txBody>
          <a:bodyPr wrap="square">
            <a:spAutoFit/>
          </a:bodyPr>
          <a:lstStyle/>
          <a:p>
            <a:pPr algn="l">
              <a:defRPr sz="1000" b="0">
                <a:solidFill>
                  <a:srgbClr val="1C2330"/>
                </a:solidFill>
              </a:defRPr>
            </a:pPr>
            <a:r>
              <a:t>Tổng hợp tài chính, nhân sự, SXKD toàn Tổng công ty và báo cáo Tập đoàn PVN hiện chậm, thiếu nhất quán danh mục.</a:t>
            </a:r>
          </a:p>
        </p:txBody>
      </p:sp>
      <p:sp>
        <p:nvSpPr>
          <p:cNvPr id="18" name="Rounded Rectangle 17"/>
          <p:cNvSpPr/>
          <p:nvPr/>
        </p:nvSpPr>
        <p:spPr>
          <a:xfrm>
            <a:off x="91440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86784"/>
            <a:ext cx="4389120" cy="256032"/>
          </a:xfrm>
          <a:prstGeom prst="rect">
            <a:avLst/>
          </a:prstGeom>
          <a:noFill/>
        </p:spPr>
        <p:txBody>
          <a:bodyPr wrap="square">
            <a:spAutoFit/>
          </a:bodyPr>
          <a:lstStyle/>
          <a:p>
            <a:pPr algn="l">
              <a:defRPr sz="1100" b="1">
                <a:solidFill>
                  <a:srgbClr val="B42828"/>
                </a:solidFill>
              </a:defRPr>
            </a:pPr>
            <a:r>
              <a:t>Dữ liệu chủ (Master Data) không thống nhất</a:t>
            </a:r>
          </a:p>
        </p:txBody>
      </p:sp>
      <p:sp>
        <p:nvSpPr>
          <p:cNvPr id="20" name="TextBox 19"/>
          <p:cNvSpPr txBox="1"/>
          <p:nvPr/>
        </p:nvSpPr>
        <p:spPr>
          <a:xfrm>
            <a:off x="1097280" y="4233672"/>
            <a:ext cx="4389120" cy="502920"/>
          </a:xfrm>
          <a:prstGeom prst="rect">
            <a:avLst/>
          </a:prstGeom>
          <a:noFill/>
        </p:spPr>
        <p:txBody>
          <a:bodyPr wrap="square">
            <a:spAutoFit/>
          </a:bodyPr>
          <a:lstStyle/>
          <a:p>
            <a:pPr algn="l">
              <a:defRPr sz="1000" b="0">
                <a:solidFill>
                  <a:srgbClr val="1C2330"/>
                </a:solidFill>
              </a:defRPr>
            </a:pPr>
            <a:r>
              <a:t>Mã khách hàng, nhà cung cấp, vật tư, dự án lệch nhau giữa các đơn vị, gây sai lệch hợp nhất và cản trở phân tích liên đơn vị.</a:t>
            </a:r>
          </a:p>
        </p:txBody>
      </p:sp>
      <p:sp>
        <p:nvSpPr>
          <p:cNvPr id="21" name="Rounded Rectangle 20"/>
          <p:cNvSpPr/>
          <p:nvPr/>
        </p:nvSpPr>
        <p:spPr>
          <a:xfrm>
            <a:off x="91440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992624"/>
            <a:ext cx="4389120" cy="256032"/>
          </a:xfrm>
          <a:prstGeom prst="rect">
            <a:avLst/>
          </a:prstGeom>
          <a:noFill/>
        </p:spPr>
        <p:txBody>
          <a:bodyPr wrap="square">
            <a:spAutoFit/>
          </a:bodyPr>
          <a:lstStyle/>
          <a:p>
            <a:pPr algn="l">
              <a:defRPr sz="1100" b="1">
                <a:solidFill>
                  <a:srgbClr val="B42828"/>
                </a:solidFill>
              </a:defRPr>
            </a:pPr>
            <a:r>
              <a:t>Áp lực tuân thủ pháp lý mới</a:t>
            </a:r>
          </a:p>
        </p:txBody>
      </p:sp>
      <p:sp>
        <p:nvSpPr>
          <p:cNvPr id="23" name="TextBox 22"/>
          <p:cNvSpPr txBox="1"/>
          <p:nvPr/>
        </p:nvSpPr>
        <p:spPr>
          <a:xfrm>
            <a:off x="1097280" y="5239512"/>
            <a:ext cx="4389120" cy="502920"/>
          </a:xfrm>
          <a:prstGeom prst="rect">
            <a:avLst/>
          </a:prstGeom>
          <a:noFill/>
        </p:spPr>
        <p:txBody>
          <a:bodyPr wrap="square">
            <a:spAutoFit/>
          </a:bodyPr>
          <a:lstStyle/>
          <a:p>
            <a:pPr algn="l">
              <a:defRPr sz="1000" b="0">
                <a:solidFill>
                  <a:srgbClr val="1C2330"/>
                </a:solidFill>
              </a:defRPr>
            </a:pPr>
            <a:r>
              <a:t>Luật BVDLCN 91/2025/QH15, Luật An ninh mạng, Luật Dữ liệu, Quy chế Quản trị Dữ liệu Petrovietnam — yêu cầu quản trị thống nhất.</a:t>
            </a:r>
          </a:p>
        </p:txBody>
      </p:sp>
      <p:sp>
        <p:nvSpPr>
          <p:cNvPr id="24" name="Right Arrow 23"/>
          <p:cNvSpPr/>
          <p:nvPr/>
        </p:nvSpPr>
        <p:spPr>
          <a:xfrm>
            <a:off x="6035040" y="347472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75120" y="1280160"/>
            <a:ext cx="4754880" cy="49377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75120" y="1280160"/>
            <a:ext cx="475488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1298448"/>
            <a:ext cx="4754880" cy="411480"/>
          </a:xfrm>
          <a:prstGeom prst="rect">
            <a:avLst/>
          </a:prstGeom>
          <a:noFill/>
        </p:spPr>
        <p:txBody>
          <a:bodyPr wrap="square">
            <a:spAutoFit/>
          </a:bodyPr>
          <a:lstStyle/>
          <a:p>
            <a:pPr algn="ctr">
              <a:defRPr sz="1200" b="1">
                <a:solidFill>
                  <a:srgbClr val="FFFFFF"/>
                </a:solidFill>
              </a:defRPr>
            </a:pPr>
            <a:r>
              <a:t>MỤC TIÊU CHIẾN LƯỢC CỦA TCT</a:t>
            </a:r>
          </a:p>
        </p:txBody>
      </p:sp>
      <p:sp>
        <p:nvSpPr>
          <p:cNvPr id="28" name="Rounded Rectangle 27"/>
          <p:cNvSpPr/>
          <p:nvPr/>
        </p:nvSpPr>
        <p:spPr>
          <a:xfrm>
            <a:off x="6858000" y="1920240"/>
            <a:ext cx="438912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0" y="1975104"/>
            <a:ext cx="4023360" cy="256032"/>
          </a:xfrm>
          <a:prstGeom prst="rect">
            <a:avLst/>
          </a:prstGeom>
          <a:noFill/>
        </p:spPr>
        <p:txBody>
          <a:bodyPr wrap="square">
            <a:spAutoFit/>
          </a:bodyPr>
          <a:lstStyle/>
          <a:p>
            <a:pPr algn="l">
              <a:defRPr sz="1100" b="1">
                <a:solidFill>
                  <a:srgbClr val="158050"/>
                </a:solidFill>
              </a:defRPr>
            </a:pPr>
            <a:r>
              <a:t>Xây dựng Kho dữ liệu dùng chung (Data Lakehouse)</a:t>
            </a:r>
          </a:p>
        </p:txBody>
      </p:sp>
      <p:sp>
        <p:nvSpPr>
          <p:cNvPr id="30" name="TextBox 29"/>
          <p:cNvSpPr txBox="1"/>
          <p:nvPr/>
        </p:nvSpPr>
        <p:spPr>
          <a:xfrm>
            <a:off x="7040880" y="2221992"/>
            <a:ext cx="4023360" cy="502920"/>
          </a:xfrm>
          <a:prstGeom prst="rect">
            <a:avLst/>
          </a:prstGeom>
          <a:noFill/>
        </p:spPr>
        <p:txBody>
          <a:bodyPr wrap="square">
            <a:spAutoFit/>
          </a:bodyPr>
          <a:lstStyle/>
          <a:p>
            <a:pPr algn="l">
              <a:defRPr sz="1000" b="0">
                <a:solidFill>
                  <a:srgbClr val="1C2330"/>
                </a:solidFill>
              </a:defRPr>
            </a:pPr>
            <a:r>
              <a:t>Tập hợp dữ liệu toàn Tổng công ty vào một hệ thống trung tâm an toàn, phục vụ phân tích và ra quyết định.</a:t>
            </a:r>
          </a:p>
        </p:txBody>
      </p:sp>
      <p:sp>
        <p:nvSpPr>
          <p:cNvPr id="31" name="Rounded Rectangle 30"/>
          <p:cNvSpPr/>
          <p:nvPr/>
        </p:nvSpPr>
        <p:spPr>
          <a:xfrm>
            <a:off x="6858000" y="2926080"/>
            <a:ext cx="438912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0" y="2980944"/>
            <a:ext cx="4023360" cy="256032"/>
          </a:xfrm>
          <a:prstGeom prst="rect">
            <a:avLst/>
          </a:prstGeom>
          <a:noFill/>
        </p:spPr>
        <p:txBody>
          <a:bodyPr wrap="square">
            <a:spAutoFit/>
          </a:bodyPr>
          <a:lstStyle/>
          <a:p>
            <a:pPr algn="l">
              <a:defRPr sz="1100" b="1">
                <a:solidFill>
                  <a:srgbClr val="158050"/>
                </a:solidFill>
              </a:defRPr>
            </a:pPr>
            <a:r>
              <a:t>Ban hành 29 Danh mục Dữ liệu chủ (Master Data)</a:t>
            </a:r>
          </a:p>
        </p:txBody>
      </p:sp>
      <p:sp>
        <p:nvSpPr>
          <p:cNvPr id="33" name="TextBox 32"/>
          <p:cNvSpPr txBox="1"/>
          <p:nvPr/>
        </p:nvSpPr>
        <p:spPr>
          <a:xfrm>
            <a:off x="7040880" y="3227832"/>
            <a:ext cx="4023360" cy="502920"/>
          </a:xfrm>
          <a:prstGeom prst="rect">
            <a:avLst/>
          </a:prstGeom>
          <a:noFill/>
        </p:spPr>
        <p:txBody>
          <a:bodyPr wrap="square">
            <a:spAutoFit/>
          </a:bodyPr>
          <a:lstStyle/>
          <a:p>
            <a:pPr algn="l">
              <a:defRPr sz="1000" b="0">
                <a:solidFill>
                  <a:srgbClr val="1C2330"/>
                </a:solidFill>
              </a:defRPr>
            </a:pPr>
            <a:r>
              <a:t>Thiết lập bộ mã thống nhất: 1 mã nhân viên, 1 mã vật tư, 1 mã dự án duy nhất xuyên suốt toàn Tổng công ty.</a:t>
            </a:r>
          </a:p>
        </p:txBody>
      </p:sp>
      <p:sp>
        <p:nvSpPr>
          <p:cNvPr id="34" name="Rounded Rectangle 33"/>
          <p:cNvSpPr/>
          <p:nvPr/>
        </p:nvSpPr>
        <p:spPr>
          <a:xfrm>
            <a:off x="6858000" y="3931920"/>
            <a:ext cx="438912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0" y="3986784"/>
            <a:ext cx="4023360" cy="256032"/>
          </a:xfrm>
          <a:prstGeom prst="rect">
            <a:avLst/>
          </a:prstGeom>
          <a:noFill/>
        </p:spPr>
        <p:txBody>
          <a:bodyPr wrap="square">
            <a:spAutoFit/>
          </a:bodyPr>
          <a:lstStyle/>
          <a:p>
            <a:pPr algn="l">
              <a:defRPr sz="1100" b="1">
                <a:solidFill>
                  <a:srgbClr val="158050"/>
                </a:solidFill>
              </a:defRPr>
            </a:pPr>
            <a:r>
              <a:t>Tự động hóa báo cáo hợp nhất toàn Tổng</a:t>
            </a:r>
          </a:p>
        </p:txBody>
      </p:sp>
      <p:sp>
        <p:nvSpPr>
          <p:cNvPr id="36" name="TextBox 35"/>
          <p:cNvSpPr txBox="1"/>
          <p:nvPr/>
        </p:nvSpPr>
        <p:spPr>
          <a:xfrm>
            <a:off x="7040880" y="4233672"/>
            <a:ext cx="4023360" cy="502920"/>
          </a:xfrm>
          <a:prstGeom prst="rect">
            <a:avLst/>
          </a:prstGeom>
          <a:noFill/>
        </p:spPr>
        <p:txBody>
          <a:bodyPr wrap="square">
            <a:spAutoFit/>
          </a:bodyPr>
          <a:lstStyle/>
          <a:p>
            <a:pPr algn="l">
              <a:defRPr sz="1000" b="0">
                <a:solidFill>
                  <a:srgbClr val="1C2330"/>
                </a:solidFill>
              </a:defRPr>
            </a:pPr>
            <a:r>
              <a:t>Chuyển từ tổng hợp thủ công sang báo cáo quản trị (Dashboard) cập nhật tự động, phục vụ điều hành tức thời.</a:t>
            </a:r>
          </a:p>
        </p:txBody>
      </p:sp>
      <p:sp>
        <p:nvSpPr>
          <p:cNvPr id="37" name="Rounded Rectangle 36"/>
          <p:cNvSpPr/>
          <p:nvPr/>
        </p:nvSpPr>
        <p:spPr>
          <a:xfrm>
            <a:off x="6858000" y="4937760"/>
            <a:ext cx="438912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40880" y="4992624"/>
            <a:ext cx="4023360" cy="256032"/>
          </a:xfrm>
          <a:prstGeom prst="rect">
            <a:avLst/>
          </a:prstGeom>
          <a:noFill/>
        </p:spPr>
        <p:txBody>
          <a:bodyPr wrap="square">
            <a:spAutoFit/>
          </a:bodyPr>
          <a:lstStyle/>
          <a:p>
            <a:pPr algn="l">
              <a:defRPr sz="1100" b="1">
                <a:solidFill>
                  <a:srgbClr val="158050"/>
                </a:solidFill>
              </a:defRPr>
            </a:pPr>
            <a:r>
              <a:t>Nghị quyết 10/NQ-HĐQT: Mốc 2026–2027 bắt buộc</a:t>
            </a:r>
          </a:p>
        </p:txBody>
      </p:sp>
      <p:sp>
        <p:nvSpPr>
          <p:cNvPr id="39" name="TextBox 38"/>
          <p:cNvSpPr txBox="1"/>
          <p:nvPr/>
        </p:nvSpPr>
        <p:spPr>
          <a:xfrm>
            <a:off x="7040880" y="5239512"/>
            <a:ext cx="4023360" cy="502920"/>
          </a:xfrm>
          <a:prstGeom prst="rect">
            <a:avLst/>
          </a:prstGeom>
          <a:noFill/>
        </p:spPr>
        <p:txBody>
          <a:bodyPr wrap="square">
            <a:spAutoFit/>
          </a:bodyPr>
          <a:lstStyle/>
          <a:p>
            <a:pPr algn="l">
              <a:defRPr sz="1000" b="0">
                <a:solidFill>
                  <a:srgbClr val="1C2330"/>
                </a:solidFill>
              </a:defRPr>
            </a:pPr>
            <a:r>
              <a:t>Các đơn vị thành viên (bao gồm PTSC Quảng Ngãi) phải hoàn thành kết nối trong giai đoạn này — đây là KPI CĐS.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A: TỔNG QUAN GIẢI PHÁP — ĐỊNH NGHĨA &amp; CẤU TRÚC</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NỀN TẢNG DỮ LIỆU (DATA PLATFORM) — BẢN CHẤT KIẾN TRÚC 3 TẦNG</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02</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34440"/>
            <a:ext cx="10698480" cy="68580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280160"/>
            <a:ext cx="10149840" cy="594360"/>
          </a:xfrm>
          <a:prstGeom prst="rect">
            <a:avLst/>
          </a:prstGeom>
          <a:noFill/>
        </p:spPr>
        <p:txBody>
          <a:bodyPr wrap="square">
            <a:spAutoFit/>
          </a:bodyPr>
          <a:lstStyle/>
          <a:p>
            <a:pPr algn="ctr">
              <a:defRPr sz="1100" b="1">
                <a:solidFill>
                  <a:srgbClr val="0C2344"/>
                </a:solidFill>
              </a:defRPr>
            </a:pPr>
            <a:r>
              <a:t>Nền tảng Dữ liệu không phải phần mềm mới thay thế hệ thống hiện hữu. Các phần mềm nghiệp vụ (Kế toán, Nhân sự, Vật tư) vẫn giữ nguyên.</a:t>
            </a:r>
            <a:br/>
            <a:r>
              <a:t>Bản chất: Hạ tầng tự động hóa thu thập, chuẩn hóa và trực quan hóa dữ liệu — vận hành ngầm, không ảnh hưởng đến quy trình làm việc hiện tại.</a:t>
            </a:r>
          </a:p>
        </p:txBody>
      </p:sp>
      <p:sp>
        <p:nvSpPr>
          <p:cNvPr id="11" name="Rounded Rectangle 10"/>
          <p:cNvSpPr/>
          <p:nvPr/>
        </p:nvSpPr>
        <p:spPr>
          <a:xfrm>
            <a:off x="731520" y="2103120"/>
            <a:ext cx="3383280" cy="425196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103120"/>
            <a:ext cx="3383280" cy="59436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130552"/>
            <a:ext cx="3383280" cy="256032"/>
          </a:xfrm>
          <a:prstGeom prst="rect">
            <a:avLst/>
          </a:prstGeom>
          <a:noFill/>
        </p:spPr>
        <p:txBody>
          <a:bodyPr wrap="square">
            <a:spAutoFit/>
          </a:bodyPr>
          <a:lstStyle/>
          <a:p>
            <a:pPr algn="ctr">
              <a:defRPr sz="1100" b="1">
                <a:solidFill>
                  <a:srgbClr val="FFFFFF"/>
                </a:solidFill>
              </a:defRPr>
            </a:pPr>
            <a:r>
              <a:t>TẦNG 1: THU THẬP TỰ ĐỘNG</a:t>
            </a:r>
          </a:p>
        </p:txBody>
      </p:sp>
      <p:sp>
        <p:nvSpPr>
          <p:cNvPr id="14" name="TextBox 13"/>
          <p:cNvSpPr txBox="1"/>
          <p:nvPr/>
        </p:nvSpPr>
        <p:spPr>
          <a:xfrm>
            <a:off x="731520" y="2377440"/>
            <a:ext cx="3383280" cy="201168"/>
          </a:xfrm>
          <a:prstGeom prst="rect">
            <a:avLst/>
          </a:prstGeom>
          <a:noFill/>
        </p:spPr>
        <p:txBody>
          <a:bodyPr wrap="square">
            <a:spAutoFit/>
          </a:bodyPr>
          <a:lstStyle/>
          <a:p>
            <a:pPr algn="ctr">
              <a:defRPr sz="900" b="0">
                <a:solidFill>
                  <a:srgbClr val="DCEBFF"/>
                </a:solidFill>
              </a:defRPr>
            </a:pPr>
            <a:r>
              <a:t>(Data Ingestion)</a:t>
            </a:r>
          </a:p>
        </p:txBody>
      </p:sp>
      <p:sp>
        <p:nvSpPr>
          <p:cNvPr id="15" name="Rounded Rectangle 14"/>
          <p:cNvSpPr/>
          <p:nvPr/>
        </p:nvSpPr>
        <p:spPr>
          <a:xfrm>
            <a:off x="868680" y="2788920"/>
            <a:ext cx="3108960" cy="320040"/>
          </a:xfrm>
          <a:prstGeom prst="roundRect">
            <a:avLst/>
          </a:prstGeom>
          <a:solidFill>
            <a:srgbClr val="FFFFFF"/>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16352"/>
            <a:ext cx="3108960" cy="256032"/>
          </a:xfrm>
          <a:prstGeom prst="rect">
            <a:avLst/>
          </a:prstGeom>
          <a:noFill/>
        </p:spPr>
        <p:txBody>
          <a:bodyPr wrap="square">
            <a:spAutoFit/>
          </a:bodyPr>
          <a:lstStyle/>
          <a:p>
            <a:pPr algn="ctr">
              <a:defRPr sz="950" b="1">
                <a:solidFill>
                  <a:srgbClr val="1E64BE"/>
                </a:solidFill>
              </a:defRPr>
            </a:pPr>
            <a:r>
              <a:t>Kết nối &amp; trích xuất dữ liệu</a:t>
            </a:r>
          </a:p>
        </p:txBody>
      </p:sp>
      <p:sp>
        <p:nvSpPr>
          <p:cNvPr id="17" name="TextBox 16"/>
          <p:cNvSpPr txBox="1"/>
          <p:nvPr/>
        </p:nvSpPr>
        <p:spPr>
          <a:xfrm>
            <a:off x="914400" y="3246120"/>
            <a:ext cx="3017520" cy="685800"/>
          </a:xfrm>
          <a:prstGeom prst="rect">
            <a:avLst/>
          </a:prstGeom>
          <a:noFill/>
        </p:spPr>
        <p:txBody>
          <a:bodyPr wrap="square">
            <a:spAutoFit/>
          </a:bodyPr>
          <a:lstStyle/>
          <a:p>
            <a:pPr algn="l">
              <a:defRPr sz="1000" b="0">
                <a:solidFill>
                  <a:srgbClr val="1C2330"/>
                </a:solidFill>
              </a:defRPr>
            </a:pPr>
            <a:r>
              <a:t>• Kết nối vào các CSDL nghiệp vụ hiện có (Kế toán, HRM, Vật tư, Dự án)</a:t>
            </a:r>
          </a:p>
        </p:txBody>
      </p:sp>
      <p:sp>
        <p:nvSpPr>
          <p:cNvPr id="18" name="TextBox 17"/>
          <p:cNvSpPr txBox="1"/>
          <p:nvPr/>
        </p:nvSpPr>
        <p:spPr>
          <a:xfrm>
            <a:off x="914400" y="3977639"/>
            <a:ext cx="3017520" cy="685800"/>
          </a:xfrm>
          <a:prstGeom prst="rect">
            <a:avLst/>
          </a:prstGeom>
          <a:noFill/>
        </p:spPr>
        <p:txBody>
          <a:bodyPr wrap="square">
            <a:spAutoFit/>
          </a:bodyPr>
          <a:lstStyle/>
          <a:p>
            <a:pPr algn="l">
              <a:defRPr sz="1000" b="0">
                <a:solidFill>
                  <a:srgbClr val="1C2330"/>
                </a:solidFill>
              </a:defRPr>
            </a:pPr>
            <a:r>
              <a:t>• Trích xuất bản sao chỉ đọc (Read-Only) — không can thiệp dữ liệu gốc</a:t>
            </a:r>
          </a:p>
        </p:txBody>
      </p:sp>
      <p:sp>
        <p:nvSpPr>
          <p:cNvPr id="19" name="TextBox 18"/>
          <p:cNvSpPr txBox="1"/>
          <p:nvPr/>
        </p:nvSpPr>
        <p:spPr>
          <a:xfrm>
            <a:off x="914400" y="4709160"/>
            <a:ext cx="3017520" cy="685800"/>
          </a:xfrm>
          <a:prstGeom prst="rect">
            <a:avLst/>
          </a:prstGeom>
          <a:noFill/>
        </p:spPr>
        <p:txBody>
          <a:bodyPr wrap="square">
            <a:spAutoFit/>
          </a:bodyPr>
          <a:lstStyle/>
          <a:p>
            <a:pPr algn="l">
              <a:defRPr sz="1000" b="0">
                <a:solidFill>
                  <a:srgbClr val="1C2330"/>
                </a:solidFill>
              </a:defRPr>
            </a:pPr>
            <a:r>
              <a:t>• Vận hành tự động theo lịch (batch hàng đêm hoặc near real-time)</a:t>
            </a:r>
          </a:p>
        </p:txBody>
      </p:sp>
      <p:sp>
        <p:nvSpPr>
          <p:cNvPr id="20" name="TextBox 19"/>
          <p:cNvSpPr txBox="1"/>
          <p:nvPr/>
        </p:nvSpPr>
        <p:spPr>
          <a:xfrm>
            <a:off x="914400" y="5440680"/>
            <a:ext cx="3017520" cy="685800"/>
          </a:xfrm>
          <a:prstGeom prst="rect">
            <a:avLst/>
          </a:prstGeom>
          <a:noFill/>
        </p:spPr>
        <p:txBody>
          <a:bodyPr wrap="square">
            <a:spAutoFit/>
          </a:bodyPr>
          <a:lstStyle/>
          <a:p>
            <a:pPr algn="l">
              <a:defRPr sz="1000" b="0">
                <a:solidFill>
                  <a:srgbClr val="1C2330"/>
                </a:solidFill>
              </a:defRPr>
            </a:pPr>
            <a:r>
              <a:t>• Công nghệ: Airbyte, Debezium hoặc API Connector tùy nguồn dữ liệu</a:t>
            </a:r>
          </a:p>
        </p:txBody>
      </p:sp>
      <p:sp>
        <p:nvSpPr>
          <p:cNvPr id="21" name="Rounded Rectangle 20"/>
          <p:cNvSpPr/>
          <p:nvPr/>
        </p:nvSpPr>
        <p:spPr>
          <a:xfrm>
            <a:off x="4434840" y="2103120"/>
            <a:ext cx="3383280" cy="4251960"/>
          </a:xfrm>
          <a:prstGeom prst="roundRect">
            <a:avLst/>
          </a:prstGeom>
          <a:solidFill>
            <a:srgbClr val="E6F8F6"/>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2103120"/>
            <a:ext cx="338328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2130552"/>
            <a:ext cx="3383280" cy="256032"/>
          </a:xfrm>
          <a:prstGeom prst="rect">
            <a:avLst/>
          </a:prstGeom>
          <a:noFill/>
        </p:spPr>
        <p:txBody>
          <a:bodyPr wrap="square">
            <a:spAutoFit/>
          </a:bodyPr>
          <a:lstStyle/>
          <a:p>
            <a:pPr algn="ctr">
              <a:defRPr sz="1100" b="1">
                <a:solidFill>
                  <a:srgbClr val="FFFFFF"/>
                </a:solidFill>
              </a:defRPr>
            </a:pPr>
            <a:r>
              <a:t>TẦNG 2: CHUẨN HÓA &amp; LƯU TRỮ</a:t>
            </a:r>
          </a:p>
        </p:txBody>
      </p:sp>
      <p:sp>
        <p:nvSpPr>
          <p:cNvPr id="24" name="TextBox 23"/>
          <p:cNvSpPr txBox="1"/>
          <p:nvPr/>
        </p:nvSpPr>
        <p:spPr>
          <a:xfrm>
            <a:off x="4434840" y="2377440"/>
            <a:ext cx="3383280" cy="201168"/>
          </a:xfrm>
          <a:prstGeom prst="rect">
            <a:avLst/>
          </a:prstGeom>
          <a:noFill/>
        </p:spPr>
        <p:txBody>
          <a:bodyPr wrap="square">
            <a:spAutoFit/>
          </a:bodyPr>
          <a:lstStyle/>
          <a:p>
            <a:pPr algn="ctr">
              <a:defRPr sz="900" b="0">
                <a:solidFill>
                  <a:srgbClr val="DCEBFF"/>
                </a:solidFill>
              </a:defRPr>
            </a:pPr>
            <a:r>
              <a:t>(Data Lakehouse + MDM)</a:t>
            </a:r>
          </a:p>
        </p:txBody>
      </p:sp>
      <p:sp>
        <p:nvSpPr>
          <p:cNvPr id="25" name="Rounded Rectangle 24"/>
          <p:cNvSpPr/>
          <p:nvPr/>
        </p:nvSpPr>
        <p:spPr>
          <a:xfrm>
            <a:off x="4572000" y="2788920"/>
            <a:ext cx="3108960" cy="32004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2816352"/>
            <a:ext cx="3108960" cy="256032"/>
          </a:xfrm>
          <a:prstGeom prst="rect">
            <a:avLst/>
          </a:prstGeom>
          <a:noFill/>
        </p:spPr>
        <p:txBody>
          <a:bodyPr wrap="square">
            <a:spAutoFit/>
          </a:bodyPr>
          <a:lstStyle/>
          <a:p>
            <a:pPr algn="ctr">
              <a:defRPr sz="950" b="1">
                <a:solidFill>
                  <a:srgbClr val="0D9488"/>
                </a:solidFill>
              </a:defRPr>
            </a:pPr>
            <a:r>
              <a:t>Làm sạch, quy đổi mã &amp; lưu trữ</a:t>
            </a:r>
          </a:p>
        </p:txBody>
      </p:sp>
      <p:sp>
        <p:nvSpPr>
          <p:cNvPr id="27" name="TextBox 26"/>
          <p:cNvSpPr txBox="1"/>
          <p:nvPr/>
        </p:nvSpPr>
        <p:spPr>
          <a:xfrm>
            <a:off x="4617720" y="3246120"/>
            <a:ext cx="3017520" cy="685800"/>
          </a:xfrm>
          <a:prstGeom prst="rect">
            <a:avLst/>
          </a:prstGeom>
          <a:noFill/>
        </p:spPr>
        <p:txBody>
          <a:bodyPr wrap="square">
            <a:spAutoFit/>
          </a:bodyPr>
          <a:lstStyle/>
          <a:p>
            <a:pPr algn="l">
              <a:defRPr sz="1000" b="0">
                <a:solidFill>
                  <a:srgbClr val="1C2330"/>
                </a:solidFill>
              </a:defRPr>
            </a:pPr>
            <a:r>
              <a:t>• Gom dữ liệu vào Hồ dữ liệu tập trung (Lakehouse — MinIO + Apache Iceberg)</a:t>
            </a:r>
          </a:p>
        </p:txBody>
      </p:sp>
      <p:sp>
        <p:nvSpPr>
          <p:cNvPr id="28" name="TextBox 27"/>
          <p:cNvSpPr txBox="1"/>
          <p:nvPr/>
        </p:nvSpPr>
        <p:spPr>
          <a:xfrm>
            <a:off x="4617720" y="3977639"/>
            <a:ext cx="3017520" cy="685800"/>
          </a:xfrm>
          <a:prstGeom prst="rect">
            <a:avLst/>
          </a:prstGeom>
          <a:noFill/>
        </p:spPr>
        <p:txBody>
          <a:bodyPr wrap="square">
            <a:spAutoFit/>
          </a:bodyPr>
          <a:lstStyle/>
          <a:p>
            <a:pPr algn="l">
              <a:defRPr sz="1000" b="0">
                <a:solidFill>
                  <a:srgbClr val="1C2330"/>
                </a:solidFill>
              </a:defRPr>
            </a:pPr>
            <a:r>
              <a:t>• Khử trùng lặp, phát hiện thiếu sót, kiểm tra chất lượng (dbt, Great Expectations)</a:t>
            </a:r>
          </a:p>
        </p:txBody>
      </p:sp>
      <p:sp>
        <p:nvSpPr>
          <p:cNvPr id="29" name="TextBox 28"/>
          <p:cNvSpPr txBox="1"/>
          <p:nvPr/>
        </p:nvSpPr>
        <p:spPr>
          <a:xfrm>
            <a:off x="4617720" y="4709160"/>
            <a:ext cx="3017520" cy="685800"/>
          </a:xfrm>
          <a:prstGeom prst="rect">
            <a:avLst/>
          </a:prstGeom>
          <a:noFill/>
        </p:spPr>
        <p:txBody>
          <a:bodyPr wrap="square">
            <a:spAutoFit/>
          </a:bodyPr>
          <a:lstStyle/>
          <a:p>
            <a:pPr algn="l">
              <a:defRPr sz="1000" b="0">
                <a:solidFill>
                  <a:srgbClr val="1C2330"/>
                </a:solidFill>
              </a:defRPr>
            </a:pPr>
            <a:r>
              <a:t>• Ánh xạ tự động theo 29 Danh mục Dữ liệu chủ của TCT (MDM Golden Record)</a:t>
            </a:r>
          </a:p>
        </p:txBody>
      </p:sp>
      <p:sp>
        <p:nvSpPr>
          <p:cNvPr id="30" name="TextBox 29"/>
          <p:cNvSpPr txBox="1"/>
          <p:nvPr/>
        </p:nvSpPr>
        <p:spPr>
          <a:xfrm>
            <a:off x="4617720" y="5440680"/>
            <a:ext cx="3017520" cy="685800"/>
          </a:xfrm>
          <a:prstGeom prst="rect">
            <a:avLst/>
          </a:prstGeom>
          <a:noFill/>
        </p:spPr>
        <p:txBody>
          <a:bodyPr wrap="square">
            <a:spAutoFit/>
          </a:bodyPr>
          <a:lstStyle/>
          <a:p>
            <a:pPr algn="l">
              <a:defRPr sz="1000" b="0">
                <a:solidFill>
                  <a:srgbClr val="1C2330"/>
                </a:solidFill>
              </a:defRPr>
            </a:pPr>
            <a:r>
              <a:t>• Kết quả: Một nguồn dữ liệu chuẩn duy nhất (Single Source of Truth)</a:t>
            </a:r>
          </a:p>
        </p:txBody>
      </p:sp>
      <p:sp>
        <p:nvSpPr>
          <p:cNvPr id="31" name="Rounded Rectangle 30"/>
          <p:cNvSpPr/>
          <p:nvPr/>
        </p:nvSpPr>
        <p:spPr>
          <a:xfrm>
            <a:off x="8138160" y="2103120"/>
            <a:ext cx="3383280" cy="42519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2103120"/>
            <a:ext cx="3383280" cy="59436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2130552"/>
            <a:ext cx="3383280" cy="256032"/>
          </a:xfrm>
          <a:prstGeom prst="rect">
            <a:avLst/>
          </a:prstGeom>
          <a:noFill/>
        </p:spPr>
        <p:txBody>
          <a:bodyPr wrap="square">
            <a:spAutoFit/>
          </a:bodyPr>
          <a:lstStyle/>
          <a:p>
            <a:pPr algn="ctr">
              <a:defRPr sz="1100" b="1">
                <a:solidFill>
                  <a:srgbClr val="FFFFFF"/>
                </a:solidFill>
              </a:defRPr>
            </a:pPr>
            <a:r>
              <a:t>TẦNG 3: PHÂN TÍCH &amp; BÁO CÁO</a:t>
            </a:r>
          </a:p>
        </p:txBody>
      </p:sp>
      <p:sp>
        <p:nvSpPr>
          <p:cNvPr id="34" name="TextBox 33"/>
          <p:cNvSpPr txBox="1"/>
          <p:nvPr/>
        </p:nvSpPr>
        <p:spPr>
          <a:xfrm>
            <a:off x="8138160" y="2377440"/>
            <a:ext cx="3383280" cy="201168"/>
          </a:xfrm>
          <a:prstGeom prst="rect">
            <a:avLst/>
          </a:prstGeom>
          <a:noFill/>
        </p:spPr>
        <p:txBody>
          <a:bodyPr wrap="square">
            <a:spAutoFit/>
          </a:bodyPr>
          <a:lstStyle/>
          <a:p>
            <a:pPr algn="ctr">
              <a:defRPr sz="900" b="0">
                <a:solidFill>
                  <a:srgbClr val="DCEBFF"/>
                </a:solidFill>
              </a:defRPr>
            </a:pPr>
            <a:r>
              <a:t>(Analytics &amp; Power BI)</a:t>
            </a:r>
          </a:p>
        </p:txBody>
      </p:sp>
      <p:sp>
        <p:nvSpPr>
          <p:cNvPr id="35" name="Rounded Rectangle 34"/>
          <p:cNvSpPr/>
          <p:nvPr/>
        </p:nvSpPr>
        <p:spPr>
          <a:xfrm>
            <a:off x="8275320" y="2788920"/>
            <a:ext cx="3108960" cy="320040"/>
          </a:xfrm>
          <a:prstGeom prst="roundRect">
            <a:avLst/>
          </a:prstGeom>
          <a:solidFill>
            <a:srgbClr val="FFFFFF"/>
          </a:solidFill>
          <a:ln w="127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2816352"/>
            <a:ext cx="3108960" cy="256032"/>
          </a:xfrm>
          <a:prstGeom prst="rect">
            <a:avLst/>
          </a:prstGeom>
          <a:noFill/>
        </p:spPr>
        <p:txBody>
          <a:bodyPr wrap="square">
            <a:spAutoFit/>
          </a:bodyPr>
          <a:lstStyle/>
          <a:p>
            <a:pPr algn="ctr">
              <a:defRPr sz="950" b="1">
                <a:solidFill>
                  <a:srgbClr val="158050"/>
                </a:solidFill>
              </a:defRPr>
            </a:pPr>
            <a:r>
              <a:t>Trực quan hóa &amp; hỗ trợ ra quyết định</a:t>
            </a:r>
          </a:p>
        </p:txBody>
      </p:sp>
      <p:sp>
        <p:nvSpPr>
          <p:cNvPr id="37" name="TextBox 36"/>
          <p:cNvSpPr txBox="1"/>
          <p:nvPr/>
        </p:nvSpPr>
        <p:spPr>
          <a:xfrm>
            <a:off x="8321040" y="3246120"/>
            <a:ext cx="3017520" cy="685800"/>
          </a:xfrm>
          <a:prstGeom prst="rect">
            <a:avLst/>
          </a:prstGeom>
          <a:noFill/>
        </p:spPr>
        <p:txBody>
          <a:bodyPr wrap="square">
            <a:spAutoFit/>
          </a:bodyPr>
          <a:lstStyle/>
          <a:p>
            <a:pPr algn="l">
              <a:defRPr sz="1000" b="0">
                <a:solidFill>
                  <a:srgbClr val="1C2330"/>
                </a:solidFill>
              </a:defRPr>
            </a:pPr>
            <a:r>
              <a:t>• Xây dựng mô hình dữ liệu phân tích (Star Schema) trên Microsoft Fabric</a:t>
            </a:r>
          </a:p>
        </p:txBody>
      </p:sp>
      <p:sp>
        <p:nvSpPr>
          <p:cNvPr id="38" name="TextBox 37"/>
          <p:cNvSpPr txBox="1"/>
          <p:nvPr/>
        </p:nvSpPr>
        <p:spPr>
          <a:xfrm>
            <a:off x="8321040" y="3977639"/>
            <a:ext cx="3017520" cy="685800"/>
          </a:xfrm>
          <a:prstGeom prst="rect">
            <a:avLst/>
          </a:prstGeom>
          <a:noFill/>
        </p:spPr>
        <p:txBody>
          <a:bodyPr wrap="square">
            <a:spAutoFit/>
          </a:bodyPr>
          <a:lstStyle/>
          <a:p>
            <a:pPr algn="l">
              <a:defRPr sz="1000" b="0">
                <a:solidFill>
                  <a:srgbClr val="1C2330"/>
                </a:solidFill>
              </a:defRPr>
            </a:pPr>
            <a:r>
              <a:t>• Xuất ra Dashboard quản trị trực quan qua Power BI Enterprise</a:t>
            </a:r>
          </a:p>
        </p:txBody>
      </p:sp>
      <p:sp>
        <p:nvSpPr>
          <p:cNvPr id="39" name="TextBox 38"/>
          <p:cNvSpPr txBox="1"/>
          <p:nvPr/>
        </p:nvSpPr>
        <p:spPr>
          <a:xfrm>
            <a:off x="8321040" y="4709160"/>
            <a:ext cx="3017520" cy="685800"/>
          </a:xfrm>
          <a:prstGeom prst="rect">
            <a:avLst/>
          </a:prstGeom>
          <a:noFill/>
        </p:spPr>
        <p:txBody>
          <a:bodyPr wrap="square">
            <a:spAutoFit/>
          </a:bodyPr>
          <a:lstStyle/>
          <a:p>
            <a:pPr algn="l">
              <a:defRPr sz="1000" b="0">
                <a:solidFill>
                  <a:srgbClr val="1C2330"/>
                </a:solidFill>
              </a:defRPr>
            </a:pPr>
            <a:r>
              <a:t>• Truy cập đa thiết bị: Laptop, iPad, Điện thoại di động</a:t>
            </a:r>
          </a:p>
        </p:txBody>
      </p:sp>
      <p:sp>
        <p:nvSpPr>
          <p:cNvPr id="40" name="TextBox 39"/>
          <p:cNvSpPr txBox="1"/>
          <p:nvPr/>
        </p:nvSpPr>
        <p:spPr>
          <a:xfrm>
            <a:off x="8321040" y="5440680"/>
            <a:ext cx="3017520" cy="685800"/>
          </a:xfrm>
          <a:prstGeom prst="rect">
            <a:avLst/>
          </a:prstGeom>
          <a:noFill/>
        </p:spPr>
        <p:txBody>
          <a:bodyPr wrap="square">
            <a:spAutoFit/>
          </a:bodyPr>
          <a:lstStyle/>
          <a:p>
            <a:pPr algn="l">
              <a:defRPr sz="1000" b="0">
                <a:solidFill>
                  <a:srgbClr val="1C2330"/>
                </a:solidFill>
              </a:defRPr>
            </a:pPr>
            <a:r>
              <a:t>• Phân quyền truy cập theo vai trò (RBAC): Lãnh đạo, Phòng ban, Chuyên viên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A: TỔNG QUAN GIẢI PHÁP — HẠ TẦNG HYBRID IMIP</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TÀI NGUYÊN SẴN CÓ: TỔNG CÔNG TY ĐÃ ĐẦU TƯ VÀ BÀN GIAO NHỮNG GÌ?</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03</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5120640" cy="393192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5720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298448"/>
            <a:ext cx="5120640" cy="365760"/>
          </a:xfrm>
          <a:prstGeom prst="rect">
            <a:avLst/>
          </a:prstGeom>
          <a:noFill/>
        </p:spPr>
        <p:txBody>
          <a:bodyPr wrap="square">
            <a:spAutoFit/>
          </a:bodyPr>
          <a:lstStyle/>
          <a:p>
            <a:pPr algn="ctr">
              <a:defRPr sz="1200" b="1">
                <a:solidFill>
                  <a:srgbClr val="FFFFFF"/>
                </a:solidFill>
              </a:defRPr>
            </a:pPr>
            <a:r>
              <a:t>HẠ TẦNG CLOUD — MICROSOFT AZURE</a:t>
            </a:r>
          </a:p>
        </p:txBody>
      </p:sp>
      <p:sp>
        <p:nvSpPr>
          <p:cNvPr id="12" name="Rounded Rectangle 11"/>
          <p:cNvSpPr/>
          <p:nvPr/>
        </p:nvSpPr>
        <p:spPr>
          <a:xfrm>
            <a:off x="914400" y="1874519"/>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11095"/>
            <a:ext cx="4480560" cy="228600"/>
          </a:xfrm>
          <a:prstGeom prst="rect">
            <a:avLst/>
          </a:prstGeom>
          <a:noFill/>
        </p:spPr>
        <p:txBody>
          <a:bodyPr wrap="square">
            <a:spAutoFit/>
          </a:bodyPr>
          <a:lstStyle/>
          <a:p>
            <a:pPr algn="l">
              <a:defRPr sz="1050" b="1">
                <a:solidFill>
                  <a:srgbClr val="1E64BE"/>
                </a:solidFill>
              </a:defRPr>
            </a:pPr>
            <a:r>
              <a:t>Microsoft Fabric / OneLake (20 TB khởi điểm)</a:t>
            </a:r>
          </a:p>
        </p:txBody>
      </p:sp>
      <p:sp>
        <p:nvSpPr>
          <p:cNvPr id="14" name="TextBox 13"/>
          <p:cNvSpPr txBox="1"/>
          <p:nvPr/>
        </p:nvSpPr>
        <p:spPr>
          <a:xfrm>
            <a:off x="1051560" y="2121407"/>
            <a:ext cx="4480560" cy="411480"/>
          </a:xfrm>
          <a:prstGeom prst="rect">
            <a:avLst/>
          </a:prstGeom>
          <a:noFill/>
        </p:spPr>
        <p:txBody>
          <a:bodyPr wrap="square">
            <a:spAutoFit/>
          </a:bodyPr>
          <a:lstStyle/>
          <a:p>
            <a:pPr algn="l">
              <a:defRPr sz="950" b="0">
                <a:solidFill>
                  <a:srgbClr val="1C2330"/>
                </a:solidFill>
              </a:defRPr>
            </a:pPr>
            <a:r>
              <a:t>Kho dữ liệu đám mây tối ưu cho phân tích quy mô lớn, hỗ trợ AI/ML và mở rộng linh hoạt.</a:t>
            </a:r>
          </a:p>
        </p:txBody>
      </p:sp>
      <p:sp>
        <p:nvSpPr>
          <p:cNvPr id="15" name="Rounded Rectangle 14"/>
          <p:cNvSpPr/>
          <p:nvPr/>
        </p:nvSpPr>
        <p:spPr>
          <a:xfrm>
            <a:off x="914400" y="2679191"/>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715767"/>
            <a:ext cx="4480560" cy="228600"/>
          </a:xfrm>
          <a:prstGeom prst="rect">
            <a:avLst/>
          </a:prstGeom>
          <a:noFill/>
        </p:spPr>
        <p:txBody>
          <a:bodyPr wrap="square">
            <a:spAutoFit/>
          </a:bodyPr>
          <a:lstStyle/>
          <a:p>
            <a:pPr algn="l">
              <a:defRPr sz="1050" b="1">
                <a:solidFill>
                  <a:srgbClr val="1E64BE"/>
                </a:solidFill>
              </a:defRPr>
            </a:pPr>
            <a:r>
              <a:t>Workspace L3 riêng biệt cho Quảng Ngãi</a:t>
            </a:r>
          </a:p>
        </p:txBody>
      </p:sp>
      <p:sp>
        <p:nvSpPr>
          <p:cNvPr id="17" name="TextBox 16"/>
          <p:cNvSpPr txBox="1"/>
          <p:nvPr/>
        </p:nvSpPr>
        <p:spPr>
          <a:xfrm>
            <a:off x="1051560" y="2926079"/>
            <a:ext cx="4480560" cy="411480"/>
          </a:xfrm>
          <a:prstGeom prst="rect">
            <a:avLst/>
          </a:prstGeom>
          <a:noFill/>
        </p:spPr>
        <p:txBody>
          <a:bodyPr wrap="square">
            <a:spAutoFit/>
          </a:bodyPr>
          <a:lstStyle/>
          <a:p>
            <a:pPr algn="l">
              <a:defRPr sz="950" b="0">
                <a:solidFill>
                  <a:srgbClr val="1C2330"/>
                </a:solidFill>
              </a:defRPr>
            </a:pPr>
            <a:r>
              <a:t>Phân vùng cách ly hoàn toàn — dữ liệu của QN không trộn lẫn với các đơn vị thành viên khác.</a:t>
            </a:r>
          </a:p>
        </p:txBody>
      </p:sp>
      <p:sp>
        <p:nvSpPr>
          <p:cNvPr id="18" name="Rounded Rectangle 17"/>
          <p:cNvSpPr/>
          <p:nvPr/>
        </p:nvSpPr>
        <p:spPr>
          <a:xfrm>
            <a:off x="914400" y="3483863"/>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520439"/>
            <a:ext cx="4480560" cy="228600"/>
          </a:xfrm>
          <a:prstGeom prst="rect">
            <a:avLst/>
          </a:prstGeom>
          <a:noFill/>
        </p:spPr>
        <p:txBody>
          <a:bodyPr wrap="square">
            <a:spAutoFit/>
          </a:bodyPr>
          <a:lstStyle/>
          <a:p>
            <a:pPr algn="l">
              <a:defRPr sz="1050" b="1">
                <a:solidFill>
                  <a:srgbClr val="1E64BE"/>
                </a:solidFill>
              </a:defRPr>
            </a:pPr>
            <a:r>
              <a:t>Bản quyền Power BI Enterprise (70 người dùng)</a:t>
            </a:r>
          </a:p>
        </p:txBody>
      </p:sp>
      <p:sp>
        <p:nvSpPr>
          <p:cNvPr id="20" name="TextBox 19"/>
          <p:cNvSpPr txBox="1"/>
          <p:nvPr/>
        </p:nvSpPr>
        <p:spPr>
          <a:xfrm>
            <a:off x="1051560" y="3730751"/>
            <a:ext cx="4480560" cy="411480"/>
          </a:xfrm>
          <a:prstGeom prst="rect">
            <a:avLst/>
          </a:prstGeom>
          <a:noFill/>
        </p:spPr>
        <p:txBody>
          <a:bodyPr wrap="square">
            <a:spAutoFit/>
          </a:bodyPr>
          <a:lstStyle/>
          <a:p>
            <a:pPr algn="l">
              <a:defRPr sz="950" b="0">
                <a:solidFill>
                  <a:srgbClr val="1C2330"/>
                </a:solidFill>
              </a:defRPr>
            </a:pPr>
            <a:r>
              <a:t>Đã bao gồm license khai thác báo cáo quản trị cho lãnh đạo và cán bộ nghiệp vụ.</a:t>
            </a:r>
          </a:p>
        </p:txBody>
      </p:sp>
      <p:sp>
        <p:nvSpPr>
          <p:cNvPr id="21" name="Rounded Rectangle 20"/>
          <p:cNvSpPr/>
          <p:nvPr/>
        </p:nvSpPr>
        <p:spPr>
          <a:xfrm>
            <a:off x="914400" y="4288536"/>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325112"/>
            <a:ext cx="4480560" cy="228600"/>
          </a:xfrm>
          <a:prstGeom prst="rect">
            <a:avLst/>
          </a:prstGeom>
          <a:noFill/>
        </p:spPr>
        <p:txBody>
          <a:bodyPr wrap="square">
            <a:spAutoFit/>
          </a:bodyPr>
          <a:lstStyle/>
          <a:p>
            <a:pPr algn="l">
              <a:defRPr sz="1050" b="1">
                <a:solidFill>
                  <a:srgbClr val="1E64BE"/>
                </a:solidFill>
              </a:defRPr>
            </a:pPr>
            <a:r>
              <a:t>Microsoft Purview</a:t>
            </a:r>
          </a:p>
        </p:txBody>
      </p:sp>
      <p:sp>
        <p:nvSpPr>
          <p:cNvPr id="23" name="TextBox 22"/>
          <p:cNvSpPr txBox="1"/>
          <p:nvPr/>
        </p:nvSpPr>
        <p:spPr>
          <a:xfrm>
            <a:off x="1051560" y="4535424"/>
            <a:ext cx="4480560" cy="411480"/>
          </a:xfrm>
          <a:prstGeom prst="rect">
            <a:avLst/>
          </a:prstGeom>
          <a:noFill/>
        </p:spPr>
        <p:txBody>
          <a:bodyPr wrap="square">
            <a:spAutoFit/>
          </a:bodyPr>
          <a:lstStyle/>
          <a:p>
            <a:pPr algn="l">
              <a:defRPr sz="950" b="0">
                <a:solidFill>
                  <a:srgbClr val="1C2330"/>
                </a:solidFill>
              </a:defRPr>
            </a:pPr>
            <a:r>
              <a:t>Quản trị danh mục dữ liệu (Data Catalog), phân loại và gắn nhãn bảo mật tự động.</a:t>
            </a:r>
          </a:p>
        </p:txBody>
      </p:sp>
      <p:sp>
        <p:nvSpPr>
          <p:cNvPr id="24" name="Rounded Rectangle 23"/>
          <p:cNvSpPr/>
          <p:nvPr/>
        </p:nvSpPr>
        <p:spPr>
          <a:xfrm>
            <a:off x="6309360" y="1280160"/>
            <a:ext cx="5120640" cy="3931920"/>
          </a:xfrm>
          <a:prstGeom prst="roundRect">
            <a:avLst/>
          </a:prstGeom>
          <a:solidFill>
            <a:srgbClr val="F3F5F8"/>
          </a:solidFill>
          <a:ln w="1905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280160"/>
            <a:ext cx="5120640" cy="45720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298448"/>
            <a:ext cx="5120640" cy="365760"/>
          </a:xfrm>
          <a:prstGeom prst="rect">
            <a:avLst/>
          </a:prstGeom>
          <a:noFill/>
        </p:spPr>
        <p:txBody>
          <a:bodyPr wrap="square">
            <a:spAutoFit/>
          </a:bodyPr>
          <a:lstStyle/>
          <a:p>
            <a:pPr algn="ctr">
              <a:defRPr sz="1200" b="1">
                <a:solidFill>
                  <a:srgbClr val="FFFFFF"/>
                </a:solidFill>
              </a:defRPr>
            </a:pPr>
            <a:r>
              <a:t>HẠ TẦNG ON-PREMISE — DATACENTER TCT</a:t>
            </a:r>
          </a:p>
        </p:txBody>
      </p:sp>
      <p:sp>
        <p:nvSpPr>
          <p:cNvPr id="27" name="Rounded Rectangle 26"/>
          <p:cNvSpPr/>
          <p:nvPr/>
        </p:nvSpPr>
        <p:spPr>
          <a:xfrm>
            <a:off x="6492240" y="1874519"/>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1911095"/>
            <a:ext cx="4480560" cy="228600"/>
          </a:xfrm>
          <a:prstGeom prst="rect">
            <a:avLst/>
          </a:prstGeom>
          <a:noFill/>
        </p:spPr>
        <p:txBody>
          <a:bodyPr wrap="square">
            <a:spAutoFit/>
          </a:bodyPr>
          <a:lstStyle/>
          <a:p>
            <a:pPr algn="l">
              <a:defRPr sz="1050" b="1">
                <a:solidFill>
                  <a:srgbClr val="0C2344"/>
                </a:solidFill>
              </a:defRPr>
            </a:pPr>
            <a:r>
              <a:t>Hồ dữ liệu MinIO Lakehouse (Apache Iceberg)</a:t>
            </a:r>
          </a:p>
        </p:txBody>
      </p:sp>
      <p:sp>
        <p:nvSpPr>
          <p:cNvPr id="29" name="TextBox 28"/>
          <p:cNvSpPr txBox="1"/>
          <p:nvPr/>
        </p:nvSpPr>
        <p:spPr>
          <a:xfrm>
            <a:off x="6629400" y="2121407"/>
            <a:ext cx="4480560" cy="411480"/>
          </a:xfrm>
          <a:prstGeom prst="rect">
            <a:avLst/>
          </a:prstGeom>
          <a:noFill/>
        </p:spPr>
        <p:txBody>
          <a:bodyPr wrap="square">
            <a:spAutoFit/>
          </a:bodyPr>
          <a:lstStyle/>
          <a:p>
            <a:pPr algn="l">
              <a:defRPr sz="950" b="0">
                <a:solidFill>
                  <a:srgbClr val="1C2330"/>
                </a:solidFill>
              </a:defRPr>
            </a:pPr>
            <a:r>
              <a:t>Lưu trữ on-premise tại Datacenter TCT, tuân thủ Luật Dữ liệu — dữ liệu gốc nằm trong lãnh thổ Việt Nam.</a:t>
            </a:r>
          </a:p>
        </p:txBody>
      </p:sp>
      <p:sp>
        <p:nvSpPr>
          <p:cNvPr id="30" name="Rounded Rectangle 29"/>
          <p:cNvSpPr/>
          <p:nvPr/>
        </p:nvSpPr>
        <p:spPr>
          <a:xfrm>
            <a:off x="6492240" y="2679191"/>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9400" y="2715767"/>
            <a:ext cx="4480560" cy="228600"/>
          </a:xfrm>
          <a:prstGeom prst="rect">
            <a:avLst/>
          </a:prstGeom>
          <a:noFill/>
        </p:spPr>
        <p:txBody>
          <a:bodyPr wrap="square">
            <a:spAutoFit/>
          </a:bodyPr>
          <a:lstStyle/>
          <a:p>
            <a:pPr algn="l">
              <a:defRPr sz="1050" b="1">
                <a:solidFill>
                  <a:srgbClr val="0C2344"/>
                </a:solidFill>
              </a:defRPr>
            </a:pPr>
            <a:r>
              <a:t>Trục tích hợp doanh nghiệp ESB (WSO2)</a:t>
            </a:r>
          </a:p>
        </p:txBody>
      </p:sp>
      <p:sp>
        <p:nvSpPr>
          <p:cNvPr id="32" name="TextBox 31"/>
          <p:cNvSpPr txBox="1"/>
          <p:nvPr/>
        </p:nvSpPr>
        <p:spPr>
          <a:xfrm>
            <a:off x="6629400" y="2926079"/>
            <a:ext cx="4480560" cy="411480"/>
          </a:xfrm>
          <a:prstGeom prst="rect">
            <a:avLst/>
          </a:prstGeom>
          <a:noFill/>
        </p:spPr>
        <p:txBody>
          <a:bodyPr wrap="square">
            <a:spAutoFit/>
          </a:bodyPr>
          <a:lstStyle/>
          <a:p>
            <a:pPr algn="l">
              <a:defRPr sz="950" b="0">
                <a:solidFill>
                  <a:srgbClr val="1C2330"/>
                </a:solidFill>
              </a:defRPr>
            </a:pPr>
            <a:r>
              <a:t>Truyền nhận thông điệp thời gian thực giữa 8 phần mềm nguồn và 35 quy trình liên phòng ban.</a:t>
            </a:r>
          </a:p>
        </p:txBody>
      </p:sp>
      <p:sp>
        <p:nvSpPr>
          <p:cNvPr id="33" name="Rounded Rectangle 32"/>
          <p:cNvSpPr/>
          <p:nvPr/>
        </p:nvSpPr>
        <p:spPr>
          <a:xfrm>
            <a:off x="6492240" y="3483863"/>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3520439"/>
            <a:ext cx="4480560" cy="228600"/>
          </a:xfrm>
          <a:prstGeom prst="rect">
            <a:avLst/>
          </a:prstGeom>
          <a:noFill/>
        </p:spPr>
        <p:txBody>
          <a:bodyPr wrap="square">
            <a:spAutoFit/>
          </a:bodyPr>
          <a:lstStyle/>
          <a:p>
            <a:pPr algn="l">
              <a:defRPr sz="1050" b="1">
                <a:solidFill>
                  <a:srgbClr val="0C2344"/>
                </a:solidFill>
              </a:defRPr>
            </a:pPr>
            <a:r>
              <a:t>Hệ thống MDM — 29 Danh mục &amp; 50 API chuẩn</a:t>
            </a:r>
          </a:p>
        </p:txBody>
      </p:sp>
      <p:sp>
        <p:nvSpPr>
          <p:cNvPr id="35" name="TextBox 34"/>
          <p:cNvSpPr txBox="1"/>
          <p:nvPr/>
        </p:nvSpPr>
        <p:spPr>
          <a:xfrm>
            <a:off x="6629400" y="3730751"/>
            <a:ext cx="4480560" cy="411480"/>
          </a:xfrm>
          <a:prstGeom prst="rect">
            <a:avLst/>
          </a:prstGeom>
          <a:noFill/>
        </p:spPr>
        <p:txBody>
          <a:bodyPr wrap="square">
            <a:spAutoFit/>
          </a:bodyPr>
          <a:lstStyle/>
          <a:p>
            <a:pPr algn="l">
              <a:defRPr sz="950" b="0">
                <a:solidFill>
                  <a:srgbClr val="1C2330"/>
                </a:solidFill>
              </a:defRPr>
            </a:pPr>
            <a:r>
              <a:t>Quản trị Bản ghi vàng (Golden Record); 50 API chuẩn đã sẵn sàng để đơn vị kết nối.</a:t>
            </a:r>
          </a:p>
        </p:txBody>
      </p:sp>
      <p:sp>
        <p:nvSpPr>
          <p:cNvPr id="36" name="Rounded Rectangle 35"/>
          <p:cNvSpPr/>
          <p:nvPr/>
        </p:nvSpPr>
        <p:spPr>
          <a:xfrm>
            <a:off x="6492240" y="4288536"/>
            <a:ext cx="4754880" cy="713232"/>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325112"/>
            <a:ext cx="4480560" cy="228600"/>
          </a:xfrm>
          <a:prstGeom prst="rect">
            <a:avLst/>
          </a:prstGeom>
          <a:noFill/>
        </p:spPr>
        <p:txBody>
          <a:bodyPr wrap="square">
            <a:spAutoFit/>
          </a:bodyPr>
          <a:lstStyle/>
          <a:p>
            <a:pPr algn="l">
              <a:defRPr sz="1050" b="1">
                <a:solidFill>
                  <a:srgbClr val="0C2344"/>
                </a:solidFill>
              </a:defRPr>
            </a:pPr>
            <a:r>
              <a:t>Trung tâm Giám sát ATTT (SIEM &amp; SOC)</a:t>
            </a:r>
          </a:p>
        </p:txBody>
      </p:sp>
      <p:sp>
        <p:nvSpPr>
          <p:cNvPr id="38" name="TextBox 37"/>
          <p:cNvSpPr txBox="1"/>
          <p:nvPr/>
        </p:nvSpPr>
        <p:spPr>
          <a:xfrm>
            <a:off x="6629400" y="4535424"/>
            <a:ext cx="4480560" cy="411480"/>
          </a:xfrm>
          <a:prstGeom prst="rect">
            <a:avLst/>
          </a:prstGeom>
          <a:noFill/>
        </p:spPr>
        <p:txBody>
          <a:bodyPr wrap="square">
            <a:spAutoFit/>
          </a:bodyPr>
          <a:lstStyle/>
          <a:p>
            <a:pPr algn="l">
              <a:defRPr sz="950" b="0">
                <a:solidFill>
                  <a:srgbClr val="1C2330"/>
                </a:solidFill>
              </a:defRPr>
            </a:pPr>
            <a:r>
              <a:t>Giám sát an toàn thông tin 24/7, tuân thủ kiến trúc 8 Vùng mạng (Zones) của TCT.</a:t>
            </a:r>
          </a:p>
        </p:txBody>
      </p:sp>
      <p:sp>
        <p:nvSpPr>
          <p:cNvPr id="39" name="Rounded Rectangle 38"/>
          <p:cNvSpPr/>
          <p:nvPr/>
        </p:nvSpPr>
        <p:spPr>
          <a:xfrm>
            <a:off x="731520" y="5394960"/>
            <a:ext cx="10698480" cy="8686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440680"/>
            <a:ext cx="10149840" cy="777240"/>
          </a:xfrm>
          <a:prstGeom prst="rect">
            <a:avLst/>
          </a:prstGeom>
          <a:noFill/>
        </p:spPr>
        <p:txBody>
          <a:bodyPr wrap="square">
            <a:spAutoFit/>
          </a:bodyPr>
          <a:lstStyle/>
          <a:p>
            <a:pPr algn="ctr">
              <a:defRPr sz="1100" b="1">
                <a:solidFill>
                  <a:srgbClr val="0C2344"/>
                </a:solidFill>
              </a:defRPr>
            </a:pPr>
            <a:r>
              <a:t>KẾT LUẬN: Tổng công ty đã hoàn tất đầu tư hạ tầng Hybrid (Cloud + On-premise) và bộ tiêu chuẩn kỹ thuật.</a:t>
            </a:r>
            <a:br/>
            <a:r>
              <a:t>PTSC Quảng Ngãi không phải mua sắm máy chủ lưu trữ — chỉ cần xây dựng Trạm trung chuyển (Spoke) để đấu nối vào hệ sinh thái TCT.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B: HIỆN TRẠNG TẠI QUẢNG NGÃI — PHÂN LOẠI ĐƠN VỊ</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VỊ THẾ PTSC QUẢNG NGÃI: LEVEL 3 TRONG MÔ HÌNH HUB-SPOKE</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04</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371600"/>
            <a:ext cx="2514600" cy="411480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2514600" cy="502920"/>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17320"/>
            <a:ext cx="2514600" cy="411480"/>
          </a:xfrm>
          <a:prstGeom prst="rect">
            <a:avLst/>
          </a:prstGeom>
          <a:noFill/>
        </p:spPr>
        <p:txBody>
          <a:bodyPr wrap="square">
            <a:spAutoFit/>
          </a:bodyPr>
          <a:lstStyle/>
          <a:p>
            <a:pPr algn="ctr">
              <a:defRPr sz="1200" b="1">
                <a:solidFill>
                  <a:srgbClr val="FFFFFF"/>
                </a:solidFill>
              </a:defRPr>
            </a:pPr>
            <a:r>
              <a:t>L1 — CHI NHÁNH</a:t>
            </a:r>
          </a:p>
        </p:txBody>
      </p:sp>
      <p:sp>
        <p:nvSpPr>
          <p:cNvPr id="12" name="TextBox 11"/>
          <p:cNvSpPr txBox="1"/>
          <p:nvPr/>
        </p:nvSpPr>
        <p:spPr>
          <a:xfrm>
            <a:off x="822960" y="2011680"/>
            <a:ext cx="2331720" cy="3200400"/>
          </a:xfrm>
          <a:prstGeom prst="rect">
            <a:avLst/>
          </a:prstGeom>
          <a:noFill/>
        </p:spPr>
        <p:txBody>
          <a:bodyPr wrap="square">
            <a:spAutoFit/>
          </a:bodyPr>
          <a:lstStyle/>
          <a:p>
            <a:pPr algn="l">
              <a:defRPr sz="1000" b="0">
                <a:solidFill>
                  <a:srgbClr val="1C2330"/>
                </a:solidFill>
              </a:defRPr>
            </a:pPr>
            <a:r>
              <a:t>Vận hành như một Ban TCT.</a:t>
            </a:r>
            <a:br/>
            <a:r>
              <a:t>Dùng chung toàn bộ hệ thống,</a:t>
            </a:r>
            <a:br/>
            <a:r>
              <a:t>không dựng Spoke riêng.</a:t>
            </a:r>
          </a:p>
        </p:txBody>
      </p:sp>
      <p:sp>
        <p:nvSpPr>
          <p:cNvPr id="13" name="Rounded Rectangle 12"/>
          <p:cNvSpPr/>
          <p:nvPr/>
        </p:nvSpPr>
        <p:spPr>
          <a:xfrm>
            <a:off x="3429000" y="1371600"/>
            <a:ext cx="2514600" cy="411480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371600"/>
            <a:ext cx="2514600" cy="502920"/>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1417320"/>
            <a:ext cx="2514600" cy="411480"/>
          </a:xfrm>
          <a:prstGeom prst="rect">
            <a:avLst/>
          </a:prstGeom>
          <a:noFill/>
        </p:spPr>
        <p:txBody>
          <a:bodyPr wrap="square">
            <a:spAutoFit/>
          </a:bodyPr>
          <a:lstStyle/>
          <a:p>
            <a:pPr algn="ctr">
              <a:defRPr sz="1200" b="1">
                <a:solidFill>
                  <a:srgbClr val="FFFFFF"/>
                </a:solidFill>
              </a:defRPr>
            </a:pPr>
            <a:r>
              <a:t>L2 — ĐƠN VỊ NHỎ</a:t>
            </a:r>
          </a:p>
        </p:txBody>
      </p:sp>
      <p:sp>
        <p:nvSpPr>
          <p:cNvPr id="16" name="TextBox 15"/>
          <p:cNvSpPr txBox="1"/>
          <p:nvPr/>
        </p:nvSpPr>
        <p:spPr>
          <a:xfrm>
            <a:off x="3520440" y="2011680"/>
            <a:ext cx="2331720" cy="3200400"/>
          </a:xfrm>
          <a:prstGeom prst="rect">
            <a:avLst/>
          </a:prstGeom>
          <a:noFill/>
        </p:spPr>
        <p:txBody>
          <a:bodyPr wrap="square">
            <a:spAutoFit/>
          </a:bodyPr>
          <a:lstStyle/>
          <a:p>
            <a:pPr algn="l">
              <a:defRPr sz="1000" b="0">
                <a:solidFill>
                  <a:srgbClr val="1C2330"/>
                </a:solidFill>
              </a:defRPr>
            </a:pPr>
            <a:r>
              <a:t>Tenant trên Hub (không dựng Spoke).</a:t>
            </a:r>
            <a:br/>
            <a:r>
              <a:t>Chỉ cần Agent thu thập hoặc</a:t>
            </a:r>
            <a:br/>
            <a:r>
              <a:t>kéo dữ liệu trực tiếp qua API.</a:t>
            </a:r>
          </a:p>
        </p:txBody>
      </p:sp>
      <p:sp>
        <p:nvSpPr>
          <p:cNvPr id="17" name="Rounded Rectangle 16"/>
          <p:cNvSpPr/>
          <p:nvPr/>
        </p:nvSpPr>
        <p:spPr>
          <a:xfrm>
            <a:off x="6126480" y="1371600"/>
            <a:ext cx="2514600" cy="4114800"/>
          </a:xfrm>
          <a:prstGeom prst="roundRect">
            <a:avLst/>
          </a:prstGeom>
          <a:solidFill>
            <a:srgbClr val="E6F0FC"/>
          </a:solidFill>
          <a:ln w="317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371600"/>
            <a:ext cx="2514600" cy="50292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417320"/>
            <a:ext cx="2514600" cy="411480"/>
          </a:xfrm>
          <a:prstGeom prst="rect">
            <a:avLst/>
          </a:prstGeom>
          <a:noFill/>
        </p:spPr>
        <p:txBody>
          <a:bodyPr wrap="square">
            <a:spAutoFit/>
          </a:bodyPr>
          <a:lstStyle/>
          <a:p>
            <a:pPr algn="ctr">
              <a:defRPr sz="1200" b="1">
                <a:solidFill>
                  <a:srgbClr val="FFFFFF"/>
                </a:solidFill>
              </a:defRPr>
            </a:pPr>
            <a:r>
              <a:t>L3 — ĐƠN VỊ LỚN</a:t>
            </a:r>
          </a:p>
        </p:txBody>
      </p:sp>
      <p:sp>
        <p:nvSpPr>
          <p:cNvPr id="20" name="TextBox 19"/>
          <p:cNvSpPr txBox="1"/>
          <p:nvPr/>
        </p:nvSpPr>
        <p:spPr>
          <a:xfrm>
            <a:off x="6217920" y="1965960"/>
            <a:ext cx="2331720" cy="457200"/>
          </a:xfrm>
          <a:prstGeom prst="rect">
            <a:avLst/>
          </a:prstGeom>
          <a:noFill/>
        </p:spPr>
        <p:txBody>
          <a:bodyPr wrap="square">
            <a:spAutoFit/>
          </a:bodyPr>
          <a:lstStyle/>
          <a:p>
            <a:pPr algn="ctr">
              <a:defRPr sz="1100" b="1">
                <a:solidFill>
                  <a:srgbClr val="1E64BE"/>
                </a:solidFill>
              </a:defRPr>
            </a:pPr>
            <a:r>
              <a:t>(PTSC QUẢNG NGÃI)</a:t>
            </a:r>
          </a:p>
        </p:txBody>
      </p:sp>
      <p:sp>
        <p:nvSpPr>
          <p:cNvPr id="21" name="TextBox 20"/>
          <p:cNvSpPr txBox="1"/>
          <p:nvPr/>
        </p:nvSpPr>
        <p:spPr>
          <a:xfrm>
            <a:off x="6217920" y="2514600"/>
            <a:ext cx="2331720" cy="2743200"/>
          </a:xfrm>
          <a:prstGeom prst="rect">
            <a:avLst/>
          </a:prstGeom>
          <a:noFill/>
        </p:spPr>
        <p:txBody>
          <a:bodyPr wrap="square">
            <a:spAutoFit/>
          </a:bodyPr>
          <a:lstStyle/>
          <a:p>
            <a:pPr algn="l">
              <a:defRPr sz="1000" b="0">
                <a:solidFill>
                  <a:srgbClr val="1C2330"/>
                </a:solidFill>
              </a:defRPr>
            </a:pPr>
            <a:r>
              <a:t>Được cấp Workspace L3 riêng biệt.</a:t>
            </a:r>
            <a:br/>
            <a:r>
              <a:t>Không cần đầu tư hạ tầng dHCI.</a:t>
            </a:r>
            <a:br/>
            <a:r>
              <a:t>Spoke tái sử dụng nền tảng IMIP</a:t>
            </a:r>
            <a:br/>
            <a:r>
              <a:t>(cấu hình quy mô nhỏ) — đồng nhất</a:t>
            </a:r>
            <a:br/>
            <a:r>
              <a:t>công nghệ và kỹ năng vận hành.</a:t>
            </a:r>
          </a:p>
        </p:txBody>
      </p:sp>
      <p:sp>
        <p:nvSpPr>
          <p:cNvPr id="22" name="Rounded Rectangle 21"/>
          <p:cNvSpPr/>
          <p:nvPr/>
        </p:nvSpPr>
        <p:spPr>
          <a:xfrm>
            <a:off x="8823960" y="1371600"/>
            <a:ext cx="2514600" cy="411480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23960" y="1371600"/>
            <a:ext cx="2514600" cy="502920"/>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3960" y="1417320"/>
            <a:ext cx="2514600" cy="411480"/>
          </a:xfrm>
          <a:prstGeom prst="rect">
            <a:avLst/>
          </a:prstGeom>
          <a:noFill/>
        </p:spPr>
        <p:txBody>
          <a:bodyPr wrap="square">
            <a:spAutoFit/>
          </a:bodyPr>
          <a:lstStyle/>
          <a:p>
            <a:pPr algn="ctr">
              <a:defRPr sz="1200" b="1">
                <a:solidFill>
                  <a:srgbClr val="FFFFFF"/>
                </a:solidFill>
              </a:defRPr>
            </a:pPr>
            <a:r>
              <a:t>L4 — ĐẶC BIỆT LỚN</a:t>
            </a:r>
          </a:p>
        </p:txBody>
      </p:sp>
      <p:sp>
        <p:nvSpPr>
          <p:cNvPr id="25" name="TextBox 24"/>
          <p:cNvSpPr txBox="1"/>
          <p:nvPr/>
        </p:nvSpPr>
        <p:spPr>
          <a:xfrm>
            <a:off x="8915400" y="1965960"/>
            <a:ext cx="2331720" cy="457200"/>
          </a:xfrm>
          <a:prstGeom prst="rect">
            <a:avLst/>
          </a:prstGeom>
          <a:noFill/>
        </p:spPr>
        <p:txBody>
          <a:bodyPr wrap="square">
            <a:spAutoFit/>
          </a:bodyPr>
          <a:lstStyle/>
          <a:p>
            <a:pPr algn="ctr">
              <a:defRPr sz="1100" b="1">
                <a:solidFill>
                  <a:srgbClr val="6C7684"/>
                </a:solidFill>
              </a:defRPr>
            </a:pPr>
            <a:r>
              <a:t>(PTSC M&amp;C)</a:t>
            </a:r>
          </a:p>
        </p:txBody>
      </p:sp>
      <p:sp>
        <p:nvSpPr>
          <p:cNvPr id="26" name="TextBox 25"/>
          <p:cNvSpPr txBox="1"/>
          <p:nvPr/>
        </p:nvSpPr>
        <p:spPr>
          <a:xfrm>
            <a:off x="8915400" y="2514600"/>
            <a:ext cx="2331720" cy="2743200"/>
          </a:xfrm>
          <a:prstGeom prst="rect">
            <a:avLst/>
          </a:prstGeom>
          <a:noFill/>
        </p:spPr>
        <p:txBody>
          <a:bodyPr wrap="square">
            <a:spAutoFit/>
          </a:bodyPr>
          <a:lstStyle/>
          <a:p>
            <a:pPr algn="l">
              <a:defRPr sz="1000" b="0">
                <a:solidFill>
                  <a:srgbClr val="1C2330"/>
                </a:solidFill>
              </a:defRPr>
            </a:pPr>
            <a:r>
              <a:t>Tự đầu tư cụm dHCI riêng tại chỗ.</a:t>
            </a:r>
            <a:br/>
            <a:r>
              <a:t>Vận hành Data Platform đầy đủ</a:t>
            </a:r>
            <a:br/>
            <a:r>
              <a:t>tại đơn vị.</a:t>
            </a:r>
          </a:p>
        </p:txBody>
      </p:sp>
      <p:sp>
        <p:nvSpPr>
          <p:cNvPr id="27" name="Rounded Rectangle 26"/>
          <p:cNvSpPr/>
          <p:nvPr/>
        </p:nvSpPr>
        <p:spPr>
          <a:xfrm>
            <a:off x="731520" y="5669280"/>
            <a:ext cx="10698480" cy="68580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15000"/>
            <a:ext cx="10149840" cy="594360"/>
          </a:xfrm>
          <a:prstGeom prst="rect">
            <a:avLst/>
          </a:prstGeom>
          <a:noFill/>
        </p:spPr>
        <p:txBody>
          <a:bodyPr wrap="square">
            <a:spAutoFit/>
          </a:bodyPr>
          <a:lstStyle/>
          <a:p>
            <a:pPr algn="ctr">
              <a:defRPr sz="1100" b="1">
                <a:solidFill>
                  <a:srgbClr val="158050"/>
                </a:solidFill>
              </a:defRPr>
            </a:pPr>
            <a:r>
              <a:t>Là Level 3, PTSC Quảng Ngãi vừa có không gian lưu trữ độc lập (Workspace L3), vừa không phát sinh chi phí đầu tư</a:t>
            </a:r>
            <a:br/>
            <a:r>
              <a:t>phần cứng (CAPEX). Chi phí vận hành nền tảng phân bổ theo mức sử dụng thực tế (Usage-based).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B: HIỆN TRẠNG TẠI QUẢNG NGÃI — PHÂN TÍCH NỘI BỘ</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HIỆN TRẠNG DỮ LIỆU TẠI PTSC QUẢNG NGÃI: 3 THÁCH THỨC CẦN GIẢI QUYẾT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05</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2331720" cy="9144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298448"/>
            <a:ext cx="73152" cy="8778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353312"/>
            <a:ext cx="1920240" cy="731520"/>
          </a:xfrm>
          <a:prstGeom prst="rect">
            <a:avLst/>
          </a:prstGeom>
          <a:noFill/>
        </p:spPr>
        <p:txBody>
          <a:bodyPr wrap="square">
            <a:spAutoFit/>
          </a:bodyPr>
          <a:lstStyle/>
          <a:p>
            <a:pPr algn="ctr">
              <a:defRPr sz="1200" b="1">
                <a:solidFill>
                  <a:srgbClr val="0C2344"/>
                </a:solidFill>
              </a:defRPr>
            </a:pPr>
            <a:r>
              <a:t>Phần mềm</a:t>
            </a:r>
            <a:br/>
            <a:r>
              <a:t>KẾ TOÁN</a:t>
            </a:r>
          </a:p>
        </p:txBody>
      </p:sp>
      <p:sp>
        <p:nvSpPr>
          <p:cNvPr id="12" name="TextBox 11"/>
          <p:cNvSpPr txBox="1"/>
          <p:nvPr/>
        </p:nvSpPr>
        <p:spPr>
          <a:xfrm>
            <a:off x="2834640" y="1463040"/>
            <a:ext cx="457200" cy="365760"/>
          </a:xfrm>
          <a:prstGeom prst="rect">
            <a:avLst/>
          </a:prstGeom>
          <a:noFill/>
        </p:spPr>
        <p:txBody>
          <a:bodyPr wrap="square">
            <a:spAutoFit/>
          </a:bodyPr>
          <a:lstStyle/>
          <a:p>
            <a:pPr algn="ctr">
              <a:defRPr sz="1600" b="1">
                <a:solidFill>
                  <a:srgbClr val="B42828"/>
                </a:solidFill>
              </a:defRPr>
            </a:pPr>
            <a:r>
              <a:t>✕</a:t>
            </a:r>
          </a:p>
        </p:txBody>
      </p:sp>
      <p:sp>
        <p:nvSpPr>
          <p:cNvPr id="13" name="Rounded Rectangle 12"/>
          <p:cNvSpPr/>
          <p:nvPr/>
        </p:nvSpPr>
        <p:spPr>
          <a:xfrm>
            <a:off x="3429000" y="1280160"/>
            <a:ext cx="2331720" cy="9144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298448"/>
            <a:ext cx="73152" cy="8778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1353312"/>
            <a:ext cx="1920240" cy="731520"/>
          </a:xfrm>
          <a:prstGeom prst="rect">
            <a:avLst/>
          </a:prstGeom>
          <a:noFill/>
        </p:spPr>
        <p:txBody>
          <a:bodyPr wrap="square">
            <a:spAutoFit/>
          </a:bodyPr>
          <a:lstStyle/>
          <a:p>
            <a:pPr algn="ctr">
              <a:defRPr sz="1200" b="1">
                <a:solidFill>
                  <a:srgbClr val="0C2344"/>
                </a:solidFill>
              </a:defRPr>
            </a:pPr>
            <a:r>
              <a:t>Phần mềm</a:t>
            </a:r>
            <a:br/>
            <a:r>
              <a:t>NHÂN SỰ</a:t>
            </a:r>
          </a:p>
        </p:txBody>
      </p:sp>
      <p:sp>
        <p:nvSpPr>
          <p:cNvPr id="16" name="TextBox 15"/>
          <p:cNvSpPr txBox="1"/>
          <p:nvPr/>
        </p:nvSpPr>
        <p:spPr>
          <a:xfrm>
            <a:off x="5532120" y="1463040"/>
            <a:ext cx="457200" cy="365760"/>
          </a:xfrm>
          <a:prstGeom prst="rect">
            <a:avLst/>
          </a:prstGeom>
          <a:noFill/>
        </p:spPr>
        <p:txBody>
          <a:bodyPr wrap="square">
            <a:spAutoFit/>
          </a:bodyPr>
          <a:lstStyle/>
          <a:p>
            <a:pPr algn="ctr">
              <a:defRPr sz="1600" b="1">
                <a:solidFill>
                  <a:srgbClr val="B42828"/>
                </a:solidFill>
              </a:defRPr>
            </a:pPr>
            <a:r>
              <a:t>✕</a:t>
            </a:r>
          </a:p>
        </p:txBody>
      </p:sp>
      <p:sp>
        <p:nvSpPr>
          <p:cNvPr id="17" name="Rounded Rectangle 16"/>
          <p:cNvSpPr/>
          <p:nvPr/>
        </p:nvSpPr>
        <p:spPr>
          <a:xfrm>
            <a:off x="6126480" y="1280160"/>
            <a:ext cx="2331720" cy="9144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6" y="1298448"/>
            <a:ext cx="73152" cy="8778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353312"/>
            <a:ext cx="1920240" cy="731520"/>
          </a:xfrm>
          <a:prstGeom prst="rect">
            <a:avLst/>
          </a:prstGeom>
          <a:noFill/>
        </p:spPr>
        <p:txBody>
          <a:bodyPr wrap="square">
            <a:spAutoFit/>
          </a:bodyPr>
          <a:lstStyle/>
          <a:p>
            <a:pPr algn="ctr">
              <a:defRPr sz="1200" b="1">
                <a:solidFill>
                  <a:srgbClr val="0C2344"/>
                </a:solidFill>
              </a:defRPr>
            </a:pPr>
            <a:r>
              <a:t>Phần mềm</a:t>
            </a:r>
            <a:br/>
            <a:r>
              <a:t>VẬT TƯ</a:t>
            </a:r>
          </a:p>
        </p:txBody>
      </p:sp>
      <p:sp>
        <p:nvSpPr>
          <p:cNvPr id="20" name="TextBox 19"/>
          <p:cNvSpPr txBox="1"/>
          <p:nvPr/>
        </p:nvSpPr>
        <p:spPr>
          <a:xfrm>
            <a:off x="8229600" y="1463040"/>
            <a:ext cx="457200" cy="365760"/>
          </a:xfrm>
          <a:prstGeom prst="rect">
            <a:avLst/>
          </a:prstGeom>
          <a:noFill/>
        </p:spPr>
        <p:txBody>
          <a:bodyPr wrap="square">
            <a:spAutoFit/>
          </a:bodyPr>
          <a:lstStyle/>
          <a:p>
            <a:pPr algn="ctr">
              <a:defRPr sz="1600" b="1">
                <a:solidFill>
                  <a:srgbClr val="B42828"/>
                </a:solidFill>
              </a:defRPr>
            </a:pPr>
            <a:r>
              <a:t>✕</a:t>
            </a:r>
          </a:p>
        </p:txBody>
      </p:sp>
      <p:sp>
        <p:nvSpPr>
          <p:cNvPr id="21" name="Rounded Rectangle 20"/>
          <p:cNvSpPr/>
          <p:nvPr/>
        </p:nvSpPr>
        <p:spPr>
          <a:xfrm>
            <a:off x="8823960" y="1280160"/>
            <a:ext cx="2331720" cy="91440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0536" y="1298448"/>
            <a:ext cx="73152" cy="87782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06840" y="1353312"/>
            <a:ext cx="1920240" cy="731520"/>
          </a:xfrm>
          <a:prstGeom prst="rect">
            <a:avLst/>
          </a:prstGeom>
          <a:noFill/>
        </p:spPr>
        <p:txBody>
          <a:bodyPr wrap="square">
            <a:spAutoFit/>
          </a:bodyPr>
          <a:lstStyle/>
          <a:p>
            <a:pPr algn="ctr">
              <a:defRPr sz="1200" b="1">
                <a:solidFill>
                  <a:srgbClr val="0C2344"/>
                </a:solidFill>
              </a:defRPr>
            </a:pPr>
            <a:r>
              <a:t>Quản lý</a:t>
            </a:r>
            <a:br/>
            <a:r>
              <a:t>DỰ ÁN</a:t>
            </a:r>
          </a:p>
        </p:txBody>
      </p:sp>
      <p:sp>
        <p:nvSpPr>
          <p:cNvPr id="24" name="TextBox 23"/>
          <p:cNvSpPr txBox="1"/>
          <p:nvPr/>
        </p:nvSpPr>
        <p:spPr>
          <a:xfrm>
            <a:off x="731520" y="2377440"/>
            <a:ext cx="10698480" cy="274320"/>
          </a:xfrm>
          <a:prstGeom prst="rect">
            <a:avLst/>
          </a:prstGeom>
          <a:noFill/>
        </p:spPr>
        <p:txBody>
          <a:bodyPr wrap="square">
            <a:spAutoFit/>
          </a:bodyPr>
          <a:lstStyle/>
          <a:p>
            <a:pPr algn="l">
              <a:defRPr sz="1250" b="1">
                <a:solidFill>
                  <a:srgbClr val="B42828"/>
                </a:solidFill>
              </a:defRPr>
            </a:pPr>
            <a:r>
              <a:t>Ba thách thức cốt lõi cản trở việc kết nối với Nền tảng Dữ liệu Tổng công ty:</a:t>
            </a:r>
          </a:p>
        </p:txBody>
      </p:sp>
      <p:sp>
        <p:nvSpPr>
          <p:cNvPr id="25" name="Rounded Rectangle 24"/>
          <p:cNvSpPr/>
          <p:nvPr/>
        </p:nvSpPr>
        <p:spPr>
          <a:xfrm>
            <a:off x="731520" y="2788920"/>
            <a:ext cx="3383280" cy="352044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6" y="2807208"/>
            <a:ext cx="73152" cy="3465576"/>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297180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28" name="TextBox 27"/>
          <p:cNvSpPr txBox="1"/>
          <p:nvPr/>
        </p:nvSpPr>
        <p:spPr>
          <a:xfrm>
            <a:off x="1508760" y="2971800"/>
            <a:ext cx="2377440" cy="365760"/>
          </a:xfrm>
          <a:prstGeom prst="rect">
            <a:avLst/>
          </a:prstGeom>
          <a:noFill/>
        </p:spPr>
        <p:txBody>
          <a:bodyPr wrap="square">
            <a:spAutoFit/>
          </a:bodyPr>
          <a:lstStyle/>
          <a:p>
            <a:pPr algn="l">
              <a:defRPr sz="1150" b="1">
                <a:solidFill>
                  <a:srgbClr val="B42828"/>
                </a:solidFill>
              </a:defRPr>
            </a:pPr>
            <a:r>
              <a:t>DỮ LIỆU PHÂN MẢNH (DATA SILO)</a:t>
            </a:r>
          </a:p>
        </p:txBody>
      </p:sp>
      <p:sp>
        <p:nvSpPr>
          <p:cNvPr id="29" name="Rectangle 28"/>
          <p:cNvSpPr/>
          <p:nvPr/>
        </p:nvSpPr>
        <p:spPr>
          <a:xfrm>
            <a:off x="1005840" y="3474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3611880"/>
            <a:ext cx="2834640" cy="2468880"/>
          </a:xfrm>
          <a:prstGeom prst="rect">
            <a:avLst/>
          </a:prstGeom>
          <a:noFill/>
        </p:spPr>
        <p:txBody>
          <a:bodyPr wrap="square">
            <a:spAutoFit/>
          </a:bodyPr>
          <a:lstStyle/>
          <a:p>
            <a:pPr algn="l">
              <a:defRPr sz="1050" b="0">
                <a:solidFill>
                  <a:srgbClr val="1C2330"/>
                </a:solidFill>
              </a:defRPr>
            </a:pPr>
            <a:r>
              <a:t>4 hệ thống nghiệp vụ vận hành độc lập.</a:t>
            </a:r>
            <a:br/>
            <a:r>
              <a:t>Trao đổi số liệu bằng file Excel thủ công.</a:t>
            </a:r>
            <a:br/>
            <a:r>
              <a:t>Thời gian tổng hợp báo cáo: 3–5 ngày.</a:t>
            </a:r>
            <a:br/>
            <a:r>
              <a:t>Số liệu giữa các phòng ban thường lệch nhau.</a:t>
            </a:r>
          </a:p>
        </p:txBody>
      </p:sp>
      <p:sp>
        <p:nvSpPr>
          <p:cNvPr id="31" name="Rounded Rectangle 30"/>
          <p:cNvSpPr/>
          <p:nvPr/>
        </p:nvSpPr>
        <p:spPr>
          <a:xfrm>
            <a:off x="4434840" y="2788920"/>
            <a:ext cx="3383280" cy="352044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71416" y="2807208"/>
            <a:ext cx="73152" cy="3465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09160" y="297180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34" name="TextBox 33"/>
          <p:cNvSpPr txBox="1"/>
          <p:nvPr/>
        </p:nvSpPr>
        <p:spPr>
          <a:xfrm>
            <a:off x="5212080" y="2971800"/>
            <a:ext cx="2377440" cy="365760"/>
          </a:xfrm>
          <a:prstGeom prst="rect">
            <a:avLst/>
          </a:prstGeom>
          <a:noFill/>
        </p:spPr>
        <p:txBody>
          <a:bodyPr wrap="square">
            <a:spAutoFit/>
          </a:bodyPr>
          <a:lstStyle/>
          <a:p>
            <a:pPr algn="l">
              <a:defRPr sz="1150" b="1">
                <a:solidFill>
                  <a:srgbClr val="B47300"/>
                </a:solidFill>
              </a:defRPr>
            </a:pPr>
            <a:r>
              <a:t>CHƯA ĐỒNG BỘ 29 DANH MỤC DỮ LIỆU CHỦ</a:t>
            </a:r>
          </a:p>
        </p:txBody>
      </p:sp>
      <p:sp>
        <p:nvSpPr>
          <p:cNvPr id="35" name="Rectangle 34"/>
          <p:cNvSpPr/>
          <p:nvPr/>
        </p:nvSpPr>
        <p:spPr>
          <a:xfrm>
            <a:off x="4709160" y="3474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60" y="3611880"/>
            <a:ext cx="2834640" cy="2468880"/>
          </a:xfrm>
          <a:prstGeom prst="rect">
            <a:avLst/>
          </a:prstGeom>
          <a:noFill/>
        </p:spPr>
        <p:txBody>
          <a:bodyPr wrap="square">
            <a:spAutoFit/>
          </a:bodyPr>
          <a:lstStyle/>
          <a:p>
            <a:pPr algn="l">
              <a:defRPr sz="1050" b="0">
                <a:solidFill>
                  <a:srgbClr val="1C2330"/>
                </a:solidFill>
              </a:defRPr>
            </a:pPr>
            <a:r>
              <a:t>Hệ thống mã nhân sự, vật tư, đối tác nội bộ</a:t>
            </a:r>
            <a:br/>
            <a:r>
              <a:t>chưa ánh xạ với 29 danh mục chuẩn TCT.</a:t>
            </a:r>
            <a:br/>
            <a:r>
              <a:t>Nếu truyền dữ liệu trực tiếp lên Hub,</a:t>
            </a:r>
            <a:br/>
            <a:r>
              <a:t>hệ thống MDM của TCT sẽ từ chối tiếp nhận.</a:t>
            </a:r>
          </a:p>
        </p:txBody>
      </p:sp>
      <p:sp>
        <p:nvSpPr>
          <p:cNvPr id="37" name="Rounded Rectangle 36"/>
          <p:cNvSpPr/>
          <p:nvPr/>
        </p:nvSpPr>
        <p:spPr>
          <a:xfrm>
            <a:off x="8138160" y="2788920"/>
            <a:ext cx="3383280" cy="352044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74736" y="2807208"/>
            <a:ext cx="73152" cy="346557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412480" y="297180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40" name="TextBox 39"/>
          <p:cNvSpPr txBox="1"/>
          <p:nvPr/>
        </p:nvSpPr>
        <p:spPr>
          <a:xfrm>
            <a:off x="8915400" y="2971800"/>
            <a:ext cx="2377440" cy="365760"/>
          </a:xfrm>
          <a:prstGeom prst="rect">
            <a:avLst/>
          </a:prstGeom>
          <a:noFill/>
        </p:spPr>
        <p:txBody>
          <a:bodyPr wrap="square">
            <a:spAutoFit/>
          </a:bodyPr>
          <a:lstStyle/>
          <a:p>
            <a:pPr algn="l">
              <a:defRPr sz="1150" b="1">
                <a:solidFill>
                  <a:srgbClr val="1E64BE"/>
                </a:solidFill>
              </a:defRPr>
            </a:pPr>
            <a:r>
              <a:t>THIẾU CHUYÊN MÔN DATA ENGINEERING</a:t>
            </a:r>
          </a:p>
        </p:txBody>
      </p:sp>
      <p:sp>
        <p:nvSpPr>
          <p:cNvPr id="41" name="Rectangle 40"/>
          <p:cNvSpPr/>
          <p:nvPr/>
        </p:nvSpPr>
        <p:spPr>
          <a:xfrm>
            <a:off x="8412480" y="3474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80" y="3611880"/>
            <a:ext cx="2834640" cy="2468880"/>
          </a:xfrm>
          <a:prstGeom prst="rect">
            <a:avLst/>
          </a:prstGeom>
          <a:noFill/>
        </p:spPr>
        <p:txBody>
          <a:bodyPr wrap="square">
            <a:spAutoFit/>
          </a:bodyPr>
          <a:lstStyle/>
          <a:p>
            <a:pPr algn="l">
              <a:defRPr sz="1050" b="0">
                <a:solidFill>
                  <a:srgbClr val="1C2330"/>
                </a:solidFill>
              </a:defRPr>
            </a:pPr>
            <a:r>
              <a:t>Đội ngũ IT nội bộ có năng lực về hạ tầng</a:t>
            </a:r>
            <a:br/>
            <a:r>
              <a:t>mạng và quản trị hệ thống máy chủ.</a:t>
            </a:r>
            <a:br/>
            <a:r>
              <a:t>Tuy nhiên chưa có kinh nghiệm xây dựng</a:t>
            </a:r>
            <a:br/>
            <a:r>
              <a:t>luồng dữ liệu tự động (ETL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B: HIỆN TRẠNG TẠI QUẢNG NGÃI — CHỦ QUYỀN DỮ LIỆU</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QUY CHẾ QUẢN TRỊ DỮ LIỆU PTSC: MÔ HÌNH 5 CẤP VÀ QUYỀN CỦA ĐƠN VỊ</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06</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10698480" cy="91440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16736"/>
            <a:ext cx="91440" cy="841248"/>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353312"/>
            <a:ext cx="10058400" cy="274320"/>
          </a:xfrm>
          <a:prstGeom prst="rect">
            <a:avLst/>
          </a:prstGeom>
          <a:noFill/>
        </p:spPr>
        <p:txBody>
          <a:bodyPr wrap="square">
            <a:spAutoFit/>
          </a:bodyPr>
          <a:lstStyle/>
          <a:p>
            <a:pPr algn="l">
              <a:defRPr sz="1100" b="1">
                <a:solidFill>
                  <a:srgbClr val="6C7684"/>
                </a:solidFill>
              </a:defRPr>
            </a:pPr>
            <a:r>
              <a:t>CẤP 1–2: HỘI ĐỒNG QUẢN TRỊ DỮ LIỆU &amp; HỘI ĐỒNG DỮ LIỆU KHỐI</a:t>
            </a:r>
          </a:p>
        </p:txBody>
      </p:sp>
      <p:sp>
        <p:nvSpPr>
          <p:cNvPr id="12" name="TextBox 11"/>
          <p:cNvSpPr txBox="1"/>
          <p:nvPr/>
        </p:nvSpPr>
        <p:spPr>
          <a:xfrm>
            <a:off x="1097280" y="1645920"/>
            <a:ext cx="10058400" cy="502920"/>
          </a:xfrm>
          <a:prstGeom prst="rect">
            <a:avLst/>
          </a:prstGeom>
          <a:noFill/>
        </p:spPr>
        <p:txBody>
          <a:bodyPr wrap="square">
            <a:spAutoFit/>
          </a:bodyPr>
          <a:lstStyle/>
          <a:p>
            <a:pPr algn="l">
              <a:defRPr sz="1000" b="0">
                <a:solidFill>
                  <a:srgbClr val="1C2330"/>
                </a:solidFill>
              </a:defRPr>
            </a:pPr>
            <a:r>
              <a:t>Định hướng chiến lược dữ liệu toàn Tổng công ty. Phê duyệt chính sách, tiêu chuẩn. Điều phối liên Ban, đồng bộ tiêu chuẩn giữa các miền.</a:t>
            </a:r>
          </a:p>
        </p:txBody>
      </p:sp>
      <p:sp>
        <p:nvSpPr>
          <p:cNvPr id="13" name="Rounded Rectangle 12"/>
          <p:cNvSpPr/>
          <p:nvPr/>
        </p:nvSpPr>
        <p:spPr>
          <a:xfrm>
            <a:off x="731520" y="2304288"/>
            <a:ext cx="10698480" cy="1828800"/>
          </a:xfrm>
          <a:prstGeom prst="roundRect">
            <a:avLst/>
          </a:prstGeom>
          <a:solidFill>
            <a:srgbClr val="E8F8EF"/>
          </a:solidFill>
          <a:ln w="317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 y="2340864"/>
            <a:ext cx="91440" cy="1755648"/>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395728"/>
            <a:ext cx="10058400" cy="365760"/>
          </a:xfrm>
          <a:prstGeom prst="rect">
            <a:avLst/>
          </a:prstGeom>
          <a:noFill/>
        </p:spPr>
        <p:txBody>
          <a:bodyPr wrap="square">
            <a:spAutoFit/>
          </a:bodyPr>
          <a:lstStyle/>
          <a:p>
            <a:pPr algn="l">
              <a:defRPr sz="1200" b="1">
                <a:solidFill>
                  <a:srgbClr val="158050"/>
                </a:solidFill>
              </a:defRPr>
            </a:pPr>
            <a:r>
              <a:t>CẤP 3: CHỦ QUẢN DỮ LIỆU — LÃNH ĐẠO ĐƠN VỊ THÀNH VIÊN (PTSC QUẢNG NGÃI)</a:t>
            </a:r>
          </a:p>
        </p:txBody>
      </p:sp>
      <p:sp>
        <p:nvSpPr>
          <p:cNvPr id="16" name="TextBox 15"/>
          <p:cNvSpPr txBox="1"/>
          <p:nvPr/>
        </p:nvSpPr>
        <p:spPr>
          <a:xfrm>
            <a:off x="1097280" y="2807208"/>
            <a:ext cx="10058400" cy="1234440"/>
          </a:xfrm>
          <a:prstGeom prst="rect">
            <a:avLst/>
          </a:prstGeom>
          <a:noFill/>
        </p:spPr>
        <p:txBody>
          <a:bodyPr wrap="square">
            <a:spAutoFit/>
          </a:bodyPr>
          <a:lstStyle/>
          <a:p>
            <a:pPr algn="l">
              <a:defRPr sz="1050" b="0">
                <a:solidFill>
                  <a:srgbClr val="1C2330"/>
                </a:solidFill>
              </a:defRPr>
            </a:pPr>
            <a:r>
              <a:t>• Quản lý nghiệp vụ dữ liệu của miền; phê duyệt phân loại, chất lượng, truy cập, chia sẻ.</a:t>
            </a:r>
            <a:br/>
            <a:r>
              <a:t>• TRÁCH NHIỆM GIẢI TRÌNH ĐẶT Ở CẤP NÀY — Chất lượng dữ liệu là tiêu chí đánh giá.</a:t>
            </a:r>
            <a:br/>
            <a:r>
              <a:t>• Quyết định dữ liệu nào được chia sẻ, dữ liệu nào giữ nội bộ. Có quyền dừng chia sẻ nếu vi phạm quy định.</a:t>
            </a:r>
            <a:br/>
            <a:r>
              <a:t>• Phê duyệt bản ghi chuẩn khi dữ liệu giữa các hệ thống mâu thuẫn.</a:t>
            </a:r>
          </a:p>
        </p:txBody>
      </p:sp>
      <p:sp>
        <p:nvSpPr>
          <p:cNvPr id="17" name="Rounded Rectangle 16"/>
          <p:cNvSpPr/>
          <p:nvPr/>
        </p:nvSpPr>
        <p:spPr>
          <a:xfrm>
            <a:off x="731520" y="4242816"/>
            <a:ext cx="10698480" cy="91440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279392"/>
            <a:ext cx="91440" cy="841248"/>
          </a:xfrm>
          <a:prstGeom prst="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15968"/>
            <a:ext cx="10058400" cy="274320"/>
          </a:xfrm>
          <a:prstGeom prst="rect">
            <a:avLst/>
          </a:prstGeom>
          <a:noFill/>
        </p:spPr>
        <p:txBody>
          <a:bodyPr wrap="square">
            <a:spAutoFit/>
          </a:bodyPr>
          <a:lstStyle/>
          <a:p>
            <a:pPr algn="l">
              <a:defRPr sz="1100" b="1">
                <a:solidFill>
                  <a:srgbClr val="6C7684"/>
                </a:solidFill>
              </a:defRPr>
            </a:pPr>
            <a:r>
              <a:t>CẤP 4: QUẢN TRỊ MIỀN DỮ LIỆU (DATA STEWARDS)</a:t>
            </a:r>
          </a:p>
        </p:txBody>
      </p:sp>
      <p:sp>
        <p:nvSpPr>
          <p:cNvPr id="20" name="TextBox 19"/>
          <p:cNvSpPr txBox="1"/>
          <p:nvPr/>
        </p:nvSpPr>
        <p:spPr>
          <a:xfrm>
            <a:off x="1097280" y="4608576"/>
            <a:ext cx="10058400" cy="502920"/>
          </a:xfrm>
          <a:prstGeom prst="rect">
            <a:avLst/>
          </a:prstGeom>
          <a:noFill/>
        </p:spPr>
        <p:txBody>
          <a:bodyPr wrap="square">
            <a:spAutoFit/>
          </a:bodyPr>
          <a:lstStyle/>
          <a:p>
            <a:pPr algn="l">
              <a:defRPr sz="1000" b="0">
                <a:solidFill>
                  <a:srgbClr val="1C2330"/>
                </a:solidFill>
              </a:defRPr>
            </a:pPr>
            <a:r>
              <a:t>Siêu dữ liệu, từ điển nghiệp vụ, quy tắc chất lượng; chuẩn hóa, ánh xạ; xử lý vấn đề dữ liệu tại cấp kỹ thuật.</a:t>
            </a:r>
          </a:p>
        </p:txBody>
      </p:sp>
      <p:sp>
        <p:nvSpPr>
          <p:cNvPr id="21" name="Rounded Rectangle 20"/>
          <p:cNvSpPr/>
          <p:nvPr/>
        </p:nvSpPr>
        <p:spPr>
          <a:xfrm>
            <a:off x="731520" y="5266944"/>
            <a:ext cx="10698480" cy="914400"/>
          </a:xfrm>
          <a:prstGeom prst="roundRect">
            <a:avLst/>
          </a:prstGeom>
          <a:solidFill>
            <a:srgbClr val="FCEBEB"/>
          </a:solidFill>
          <a:ln w="1270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8096" y="5303520"/>
            <a:ext cx="91440" cy="841248"/>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340096"/>
            <a:ext cx="10058400" cy="274320"/>
          </a:xfrm>
          <a:prstGeom prst="rect">
            <a:avLst/>
          </a:prstGeom>
          <a:noFill/>
        </p:spPr>
        <p:txBody>
          <a:bodyPr wrap="square">
            <a:spAutoFit/>
          </a:bodyPr>
          <a:lstStyle/>
          <a:p>
            <a:pPr algn="l">
              <a:defRPr sz="1100" b="1">
                <a:solidFill>
                  <a:srgbClr val="B42828"/>
                </a:solidFill>
              </a:defRPr>
            </a:pPr>
            <a:r>
              <a:t>CẤP 5: ĐƠN VỊ VẬN HÀNH HỆ THỐNG DỮ LIỆU (BAN NCPT&amp;CĐS TCT)</a:t>
            </a:r>
          </a:p>
        </p:txBody>
      </p:sp>
      <p:sp>
        <p:nvSpPr>
          <p:cNvPr id="24" name="TextBox 23"/>
          <p:cNvSpPr txBox="1"/>
          <p:nvPr/>
        </p:nvSpPr>
        <p:spPr>
          <a:xfrm>
            <a:off x="1097280" y="5632704"/>
            <a:ext cx="10058400" cy="502920"/>
          </a:xfrm>
          <a:prstGeom prst="rect">
            <a:avLst/>
          </a:prstGeom>
          <a:noFill/>
        </p:spPr>
        <p:txBody>
          <a:bodyPr wrap="square">
            <a:spAutoFit/>
          </a:bodyPr>
          <a:lstStyle/>
          <a:p>
            <a:pPr algn="l">
              <a:defRPr sz="1000" b="0">
                <a:solidFill>
                  <a:srgbClr val="1C2330"/>
                </a:solidFill>
              </a:defRPr>
            </a:pPr>
            <a:r>
              <a:t>Vận hành nền tảng, phân quyền, giám sát, sao lưu. KHÔNG SỞ HỮU DỮ LIỆU NGHIỆP VỤ CỦA ĐƠN VỊ.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B: HIỆN TRẠNG TẠI QUẢNG NGÃI — AN TOÀN THÔNG TIN</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NGUYÊN TẮC BẢO MẬT: PHÂN LOẠI DỮ LIỆU NỘI BỘ VÀ DỮ LIỆU ĐỒNG BỘ</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07</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5120640" cy="493776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298448"/>
            <a:ext cx="5120640" cy="365760"/>
          </a:xfrm>
          <a:prstGeom prst="rect">
            <a:avLst/>
          </a:prstGeom>
          <a:noFill/>
        </p:spPr>
        <p:txBody>
          <a:bodyPr wrap="square">
            <a:spAutoFit/>
          </a:bodyPr>
          <a:lstStyle/>
          <a:p>
            <a:pPr algn="ctr">
              <a:defRPr sz="1150" b="1">
                <a:solidFill>
                  <a:srgbClr val="FFFFFF"/>
                </a:solidFill>
              </a:defRPr>
            </a:pPr>
            <a:r>
              <a:t>DỮ LIỆU LƯU GIỮ 100% TẠI NỘI BỘ ĐƠN VỊ</a:t>
            </a:r>
          </a:p>
        </p:txBody>
      </p:sp>
      <p:sp>
        <p:nvSpPr>
          <p:cNvPr id="12" name="Rounded Rectangle 11"/>
          <p:cNvSpPr/>
          <p:nvPr/>
        </p:nvSpPr>
        <p:spPr>
          <a:xfrm>
            <a:off x="91440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75104"/>
            <a:ext cx="4389120" cy="256032"/>
          </a:xfrm>
          <a:prstGeom prst="rect">
            <a:avLst/>
          </a:prstGeom>
          <a:noFill/>
        </p:spPr>
        <p:txBody>
          <a:bodyPr wrap="square">
            <a:spAutoFit/>
          </a:bodyPr>
          <a:lstStyle/>
          <a:p>
            <a:pPr algn="l">
              <a:defRPr sz="1050" b="1">
                <a:solidFill>
                  <a:srgbClr val="B42828"/>
                </a:solidFill>
              </a:defRPr>
            </a:pPr>
            <a:r>
              <a:t>Dữ liệu kinh doanh mang tính cạnh tranh</a:t>
            </a:r>
          </a:p>
        </p:txBody>
      </p:sp>
      <p:sp>
        <p:nvSpPr>
          <p:cNvPr id="14" name="TextBox 13"/>
          <p:cNvSpPr txBox="1"/>
          <p:nvPr/>
        </p:nvSpPr>
        <p:spPr>
          <a:xfrm>
            <a:off x="1097280" y="2221992"/>
            <a:ext cx="4389120" cy="502920"/>
          </a:xfrm>
          <a:prstGeom prst="rect">
            <a:avLst/>
          </a:prstGeom>
          <a:noFill/>
        </p:spPr>
        <p:txBody>
          <a:bodyPr wrap="square">
            <a:spAutoFit/>
          </a:bodyPr>
          <a:lstStyle/>
          <a:p>
            <a:pPr algn="l">
              <a:defRPr sz="950" b="0">
                <a:solidFill>
                  <a:srgbClr val="1C2330"/>
                </a:solidFill>
              </a:defRPr>
            </a:pPr>
            <a:r>
              <a:t>Định mức đơn giá thầu, biên lợi nhuận từng dự án, chiến lược thương mại, chi phí chi tiết từng hạng mục.</a:t>
            </a:r>
          </a:p>
        </p:txBody>
      </p:sp>
      <p:sp>
        <p:nvSpPr>
          <p:cNvPr id="15" name="Rounded Rectangle 14"/>
          <p:cNvSpPr/>
          <p:nvPr/>
        </p:nvSpPr>
        <p:spPr>
          <a:xfrm>
            <a:off x="91440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980944"/>
            <a:ext cx="4389120" cy="256032"/>
          </a:xfrm>
          <a:prstGeom prst="rect">
            <a:avLst/>
          </a:prstGeom>
          <a:noFill/>
        </p:spPr>
        <p:txBody>
          <a:bodyPr wrap="square">
            <a:spAutoFit/>
          </a:bodyPr>
          <a:lstStyle/>
          <a:p>
            <a:pPr algn="l">
              <a:defRPr sz="1050" b="1">
                <a:solidFill>
                  <a:srgbClr val="B42828"/>
                </a:solidFill>
              </a:defRPr>
            </a:pPr>
            <a:r>
              <a:t>Dữ liệu vận hành chuyên ngành chi tiết</a:t>
            </a:r>
          </a:p>
        </p:txBody>
      </p:sp>
      <p:sp>
        <p:nvSpPr>
          <p:cNvPr id="17" name="TextBox 16"/>
          <p:cNvSpPr txBox="1"/>
          <p:nvPr/>
        </p:nvSpPr>
        <p:spPr>
          <a:xfrm>
            <a:off x="1097280" y="3227832"/>
            <a:ext cx="4389120" cy="502920"/>
          </a:xfrm>
          <a:prstGeom prst="rect">
            <a:avLst/>
          </a:prstGeom>
          <a:noFill/>
        </p:spPr>
        <p:txBody>
          <a:bodyPr wrap="square">
            <a:spAutoFit/>
          </a:bodyPr>
          <a:lstStyle/>
          <a:p>
            <a:pPr algn="l">
              <a:defRPr sz="950" b="0">
                <a:solidFill>
                  <a:srgbClr val="1C2330"/>
                </a:solidFill>
              </a:defRPr>
            </a:pPr>
            <a:r>
              <a:t>Nhật trình thi công, nhật ký xưởng, thông số bảo dưỡng thiết bị, tiến độ thi công hàng ngày.</a:t>
            </a:r>
          </a:p>
        </p:txBody>
      </p:sp>
      <p:sp>
        <p:nvSpPr>
          <p:cNvPr id="18" name="Rounded Rectangle 17"/>
          <p:cNvSpPr/>
          <p:nvPr/>
        </p:nvSpPr>
        <p:spPr>
          <a:xfrm>
            <a:off x="91440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86784"/>
            <a:ext cx="4389120" cy="256032"/>
          </a:xfrm>
          <a:prstGeom prst="rect">
            <a:avLst/>
          </a:prstGeom>
          <a:noFill/>
        </p:spPr>
        <p:txBody>
          <a:bodyPr wrap="square">
            <a:spAutoFit/>
          </a:bodyPr>
          <a:lstStyle/>
          <a:p>
            <a:pPr algn="l">
              <a:defRPr sz="1050" b="1">
                <a:solidFill>
                  <a:srgbClr val="B42828"/>
                </a:solidFill>
              </a:defRPr>
            </a:pPr>
            <a:r>
              <a:t>Dữ liệu cá nhân chưa qua xử lý</a:t>
            </a:r>
          </a:p>
        </p:txBody>
      </p:sp>
      <p:sp>
        <p:nvSpPr>
          <p:cNvPr id="20" name="TextBox 19"/>
          <p:cNvSpPr txBox="1"/>
          <p:nvPr/>
        </p:nvSpPr>
        <p:spPr>
          <a:xfrm>
            <a:off x="1097280" y="4233672"/>
            <a:ext cx="4389120" cy="502920"/>
          </a:xfrm>
          <a:prstGeom prst="rect">
            <a:avLst/>
          </a:prstGeom>
          <a:noFill/>
        </p:spPr>
        <p:txBody>
          <a:bodyPr wrap="square">
            <a:spAutoFit/>
          </a:bodyPr>
          <a:lstStyle/>
          <a:p>
            <a:pPr algn="l">
              <a:defRPr sz="950" b="0">
                <a:solidFill>
                  <a:srgbClr val="1C2330"/>
                </a:solidFill>
              </a:defRPr>
            </a:pPr>
            <a:r>
              <a:t>Bảng lương chi tiết, thông tin tài chính cá nhân, hồ sơ sức khỏe CBNV — theo Luật BVDLCN 91/2025.</a:t>
            </a:r>
          </a:p>
        </p:txBody>
      </p:sp>
      <p:sp>
        <p:nvSpPr>
          <p:cNvPr id="21" name="Rounded Rectangle 20"/>
          <p:cNvSpPr/>
          <p:nvPr/>
        </p:nvSpPr>
        <p:spPr>
          <a:xfrm>
            <a:off x="91440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992624"/>
            <a:ext cx="4389120" cy="256032"/>
          </a:xfrm>
          <a:prstGeom prst="rect">
            <a:avLst/>
          </a:prstGeom>
          <a:noFill/>
        </p:spPr>
        <p:txBody>
          <a:bodyPr wrap="square">
            <a:spAutoFit/>
          </a:bodyPr>
          <a:lstStyle/>
          <a:p>
            <a:pPr algn="l">
              <a:defRPr sz="1050" b="1">
                <a:solidFill>
                  <a:srgbClr val="B42828"/>
                </a:solidFill>
              </a:defRPr>
            </a:pPr>
            <a:r>
              <a:t>Toàn bộ CSDL sản xuất gốc (Production DB)</a:t>
            </a:r>
          </a:p>
        </p:txBody>
      </p:sp>
      <p:sp>
        <p:nvSpPr>
          <p:cNvPr id="23" name="TextBox 22"/>
          <p:cNvSpPr txBox="1"/>
          <p:nvPr/>
        </p:nvSpPr>
        <p:spPr>
          <a:xfrm>
            <a:off x="1097280" y="5239512"/>
            <a:ext cx="4389120" cy="502920"/>
          </a:xfrm>
          <a:prstGeom prst="rect">
            <a:avLst/>
          </a:prstGeom>
          <a:noFill/>
        </p:spPr>
        <p:txBody>
          <a:bodyPr wrap="square">
            <a:spAutoFit/>
          </a:bodyPr>
          <a:lstStyle/>
          <a:p>
            <a:pPr algn="l">
              <a:defRPr sz="950" b="0">
                <a:solidFill>
                  <a:srgbClr val="1C2330"/>
                </a:solidFill>
              </a:defRPr>
            </a:pPr>
            <a:r>
              <a:t>Cơ sở dữ liệu đang vận hành đặt tại phòng máy chủ đơn vị. TCT không truy cập trực tiếp.</a:t>
            </a:r>
          </a:p>
        </p:txBody>
      </p:sp>
      <p:sp>
        <p:nvSpPr>
          <p:cNvPr id="24" name="Rounded Rectangle 23"/>
          <p:cNvSpPr/>
          <p:nvPr/>
        </p:nvSpPr>
        <p:spPr>
          <a:xfrm>
            <a:off x="6309360" y="1280160"/>
            <a:ext cx="5120640" cy="49377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280160"/>
            <a:ext cx="512064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298448"/>
            <a:ext cx="5120640" cy="365760"/>
          </a:xfrm>
          <a:prstGeom prst="rect">
            <a:avLst/>
          </a:prstGeom>
          <a:noFill/>
        </p:spPr>
        <p:txBody>
          <a:bodyPr wrap="square">
            <a:spAutoFit/>
          </a:bodyPr>
          <a:lstStyle/>
          <a:p>
            <a:pPr algn="ctr">
              <a:defRPr sz="1150" b="1">
                <a:solidFill>
                  <a:srgbClr val="FFFFFF"/>
                </a:solidFill>
              </a:defRPr>
            </a:pPr>
            <a:r>
              <a:t>DỮ LIỆU ĐƯỢC PHÉP ĐỒNG BỘ LÊN HUB TCT</a:t>
            </a:r>
          </a:p>
        </p:txBody>
      </p:sp>
      <p:sp>
        <p:nvSpPr>
          <p:cNvPr id="27" name="Rounded Rectangle 26"/>
          <p:cNvSpPr/>
          <p:nvPr/>
        </p:nvSpPr>
        <p:spPr>
          <a:xfrm>
            <a:off x="649224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1975104"/>
            <a:ext cx="4389120" cy="256032"/>
          </a:xfrm>
          <a:prstGeom prst="rect">
            <a:avLst/>
          </a:prstGeom>
          <a:noFill/>
        </p:spPr>
        <p:txBody>
          <a:bodyPr wrap="square">
            <a:spAutoFit/>
          </a:bodyPr>
          <a:lstStyle/>
          <a:p>
            <a:pPr algn="l">
              <a:defRPr sz="1050" b="1">
                <a:solidFill>
                  <a:srgbClr val="158050"/>
                </a:solidFill>
              </a:defRPr>
            </a:pPr>
            <a:r>
              <a:t>29 Danh mục Dữ liệu chủ (Master Data)</a:t>
            </a:r>
          </a:p>
        </p:txBody>
      </p:sp>
      <p:sp>
        <p:nvSpPr>
          <p:cNvPr id="29" name="TextBox 28"/>
          <p:cNvSpPr txBox="1"/>
          <p:nvPr/>
        </p:nvSpPr>
        <p:spPr>
          <a:xfrm>
            <a:off x="6675120" y="2221992"/>
            <a:ext cx="4389120" cy="502920"/>
          </a:xfrm>
          <a:prstGeom prst="rect">
            <a:avLst/>
          </a:prstGeom>
          <a:noFill/>
        </p:spPr>
        <p:txBody>
          <a:bodyPr wrap="square">
            <a:spAutoFit/>
          </a:bodyPr>
          <a:lstStyle/>
          <a:p>
            <a:pPr algn="l">
              <a:defRPr sz="950" b="0">
                <a:solidFill>
                  <a:srgbClr val="1C2330"/>
                </a:solidFill>
              </a:defRPr>
            </a:pPr>
            <a:r>
              <a:t>Mã phòng ban, mã chức danh, mã vật tư, mã dự án... đã ánh xạ theo chuẩn thống nhất toàn Tổng công ty.</a:t>
            </a:r>
          </a:p>
        </p:txBody>
      </p:sp>
      <p:sp>
        <p:nvSpPr>
          <p:cNvPr id="30" name="Rounded Rectangle 29"/>
          <p:cNvSpPr/>
          <p:nvPr/>
        </p:nvSpPr>
        <p:spPr>
          <a:xfrm>
            <a:off x="649224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2980944"/>
            <a:ext cx="4389120" cy="256032"/>
          </a:xfrm>
          <a:prstGeom prst="rect">
            <a:avLst/>
          </a:prstGeom>
          <a:noFill/>
        </p:spPr>
        <p:txBody>
          <a:bodyPr wrap="square">
            <a:spAutoFit/>
          </a:bodyPr>
          <a:lstStyle/>
          <a:p>
            <a:pPr algn="l">
              <a:defRPr sz="1050" b="1">
                <a:solidFill>
                  <a:srgbClr val="158050"/>
                </a:solidFill>
              </a:defRPr>
            </a:pPr>
            <a:r>
              <a:t>Số liệu tổng hợp (Aggregated Data)</a:t>
            </a:r>
          </a:p>
        </p:txBody>
      </p:sp>
      <p:sp>
        <p:nvSpPr>
          <p:cNvPr id="32" name="TextBox 31"/>
          <p:cNvSpPr txBox="1"/>
          <p:nvPr/>
        </p:nvSpPr>
        <p:spPr>
          <a:xfrm>
            <a:off x="6675120" y="3227832"/>
            <a:ext cx="4389120" cy="502920"/>
          </a:xfrm>
          <a:prstGeom prst="rect">
            <a:avLst/>
          </a:prstGeom>
          <a:noFill/>
        </p:spPr>
        <p:txBody>
          <a:bodyPr wrap="square">
            <a:spAutoFit/>
          </a:bodyPr>
          <a:lstStyle/>
          <a:p>
            <a:pPr algn="l">
              <a:defRPr sz="950" b="0">
                <a:solidFill>
                  <a:srgbClr val="1C2330"/>
                </a:solidFill>
              </a:defRPr>
            </a:pPr>
            <a:r>
              <a:t>Doanh thu tổng, sản lượng tổng, số lượng lao động — phục vụ hợp nhất báo cáo toàn Tổng.</a:t>
            </a:r>
          </a:p>
        </p:txBody>
      </p:sp>
      <p:sp>
        <p:nvSpPr>
          <p:cNvPr id="33" name="Rounded Rectangle 32"/>
          <p:cNvSpPr/>
          <p:nvPr/>
        </p:nvSpPr>
        <p:spPr>
          <a:xfrm>
            <a:off x="649224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3986784"/>
            <a:ext cx="4389120" cy="256032"/>
          </a:xfrm>
          <a:prstGeom prst="rect">
            <a:avLst/>
          </a:prstGeom>
          <a:noFill/>
        </p:spPr>
        <p:txBody>
          <a:bodyPr wrap="square">
            <a:spAutoFit/>
          </a:bodyPr>
          <a:lstStyle/>
          <a:p>
            <a:pPr algn="l">
              <a:defRPr sz="1050" b="1">
                <a:solidFill>
                  <a:srgbClr val="158050"/>
                </a:solidFill>
              </a:defRPr>
            </a:pPr>
            <a:r>
              <a:t>Dữ liệu đã che mờ (Data Masking)</a:t>
            </a:r>
          </a:p>
        </p:txBody>
      </p:sp>
      <p:sp>
        <p:nvSpPr>
          <p:cNvPr id="35" name="TextBox 34"/>
          <p:cNvSpPr txBox="1"/>
          <p:nvPr/>
        </p:nvSpPr>
        <p:spPr>
          <a:xfrm>
            <a:off x="6675120" y="4233672"/>
            <a:ext cx="4389120" cy="502920"/>
          </a:xfrm>
          <a:prstGeom prst="rect">
            <a:avLst/>
          </a:prstGeom>
          <a:noFill/>
        </p:spPr>
        <p:txBody>
          <a:bodyPr wrap="square">
            <a:spAutoFit/>
          </a:bodyPr>
          <a:lstStyle/>
          <a:p>
            <a:pPr algn="l">
              <a:defRPr sz="950" b="0">
                <a:solidFill>
                  <a:srgbClr val="1C2330"/>
                </a:solidFill>
              </a:defRPr>
            </a:pPr>
            <a:r>
              <a:t>Thông tin cá nhân (CCCD, SĐT) được mã hóa/làm mờ tự động trước khi truyền, tuân thủ NĐ 13.</a:t>
            </a:r>
          </a:p>
        </p:txBody>
      </p:sp>
      <p:sp>
        <p:nvSpPr>
          <p:cNvPr id="36" name="Rounded Rectangle 35"/>
          <p:cNvSpPr/>
          <p:nvPr/>
        </p:nvSpPr>
        <p:spPr>
          <a:xfrm>
            <a:off x="649224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4992624"/>
            <a:ext cx="4389120" cy="256032"/>
          </a:xfrm>
          <a:prstGeom prst="rect">
            <a:avLst/>
          </a:prstGeom>
          <a:noFill/>
        </p:spPr>
        <p:txBody>
          <a:bodyPr wrap="square">
            <a:spAutoFit/>
          </a:bodyPr>
          <a:lstStyle/>
          <a:p>
            <a:pPr algn="l">
              <a:defRPr sz="1050" b="1">
                <a:solidFill>
                  <a:srgbClr val="158050"/>
                </a:solidFill>
              </a:defRPr>
            </a:pPr>
            <a:r>
              <a:t>Phân vùng Tenant L3 cách ly hoàn toàn</a:t>
            </a:r>
          </a:p>
        </p:txBody>
      </p:sp>
      <p:sp>
        <p:nvSpPr>
          <p:cNvPr id="38" name="TextBox 37"/>
          <p:cNvSpPr txBox="1"/>
          <p:nvPr/>
        </p:nvSpPr>
        <p:spPr>
          <a:xfrm>
            <a:off x="6675120" y="5239512"/>
            <a:ext cx="4389120" cy="502920"/>
          </a:xfrm>
          <a:prstGeom prst="rect">
            <a:avLst/>
          </a:prstGeom>
          <a:noFill/>
        </p:spPr>
        <p:txBody>
          <a:bodyPr wrap="square">
            <a:spAutoFit/>
          </a:bodyPr>
          <a:lstStyle/>
          <a:p>
            <a:pPr algn="l">
              <a:defRPr sz="950" b="0">
                <a:solidFill>
                  <a:srgbClr val="1C2330"/>
                </a:solidFill>
              </a:defRPr>
            </a:pPr>
            <a:r>
              <a:t>Dữ liệu QN chuyển vào Workspace riêng; các ĐVTV khác không có quyền truy cập chéo.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C: KIẾN TRÚC KẾT NỐI — SƠ ĐỒ KỸ THUẬT TỔNG THỂ</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KIẾN TRÚC TRỤC TÍCH HỢP: LUỒNG DỮ LIỆU TỪ QUẢNG NGÃI ĐẾN HUB TCT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08</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548640" y="1371600"/>
            <a:ext cx="2514600" cy="493776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14600" cy="59436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399032"/>
            <a:ext cx="2514600" cy="502920"/>
          </a:xfrm>
          <a:prstGeom prst="rect">
            <a:avLst/>
          </a:prstGeom>
          <a:noFill/>
        </p:spPr>
        <p:txBody>
          <a:bodyPr wrap="square">
            <a:spAutoFit/>
          </a:bodyPr>
          <a:lstStyle/>
          <a:p>
            <a:pPr algn="ctr">
              <a:defRPr sz="1050" b="1">
                <a:solidFill>
                  <a:srgbClr val="FFFFFF"/>
                </a:solidFill>
              </a:defRPr>
            </a:pPr>
            <a:r>
              <a:t>BƯỚC 1</a:t>
            </a:r>
            <a:br/>
            <a:r>
              <a:t>NGUỒN DỮ LIỆU</a:t>
            </a:r>
          </a:p>
        </p:txBody>
      </p:sp>
      <p:sp>
        <p:nvSpPr>
          <p:cNvPr id="12" name="TextBox 11"/>
          <p:cNvSpPr txBox="1"/>
          <p:nvPr/>
        </p:nvSpPr>
        <p:spPr>
          <a:xfrm>
            <a:off x="548640" y="1965960"/>
            <a:ext cx="2514600" cy="201168"/>
          </a:xfrm>
          <a:prstGeom prst="rect">
            <a:avLst/>
          </a:prstGeom>
          <a:noFill/>
        </p:spPr>
        <p:txBody>
          <a:bodyPr wrap="square">
            <a:spAutoFit/>
          </a:bodyPr>
          <a:lstStyle/>
          <a:p>
            <a:pPr algn="ctr">
              <a:defRPr sz="850" b="1">
                <a:solidFill>
                  <a:srgbClr val="DCEBFF"/>
                </a:solidFill>
              </a:defRPr>
            </a:pPr>
            <a:r>
              <a:t>NỘI BỘ QUẢNG NGÃI</a:t>
            </a:r>
          </a:p>
        </p:txBody>
      </p:sp>
      <p:sp>
        <p:nvSpPr>
          <p:cNvPr id="13" name="TextBox 12"/>
          <p:cNvSpPr txBox="1"/>
          <p:nvPr/>
        </p:nvSpPr>
        <p:spPr>
          <a:xfrm>
            <a:off x="658368" y="2286000"/>
            <a:ext cx="2286000" cy="365760"/>
          </a:xfrm>
          <a:prstGeom prst="rect">
            <a:avLst/>
          </a:prstGeom>
          <a:noFill/>
        </p:spPr>
        <p:txBody>
          <a:bodyPr wrap="square">
            <a:spAutoFit/>
          </a:bodyPr>
          <a:lstStyle/>
          <a:p>
            <a:pPr algn="l">
              <a:defRPr sz="1000" b="1">
                <a:solidFill>
                  <a:srgbClr val="1E64BE"/>
                </a:solidFill>
              </a:defRPr>
            </a:pPr>
            <a:r>
              <a:t>4 Phần mềm nghiệp vụ:</a:t>
            </a:r>
          </a:p>
        </p:txBody>
      </p:sp>
      <p:sp>
        <p:nvSpPr>
          <p:cNvPr id="14" name="TextBox 13"/>
          <p:cNvSpPr txBox="1"/>
          <p:nvPr/>
        </p:nvSpPr>
        <p:spPr>
          <a:xfrm>
            <a:off x="658368" y="2697480"/>
            <a:ext cx="2286000" cy="365760"/>
          </a:xfrm>
          <a:prstGeom prst="rect">
            <a:avLst/>
          </a:prstGeom>
          <a:noFill/>
        </p:spPr>
        <p:txBody>
          <a:bodyPr wrap="square">
            <a:spAutoFit/>
          </a:bodyPr>
          <a:lstStyle/>
          <a:p>
            <a:pPr algn="l">
              <a:defRPr sz="1000" b="0">
                <a:solidFill>
                  <a:srgbClr val="1C2330"/>
                </a:solidFill>
              </a:defRPr>
            </a:pPr>
            <a:r>
              <a:t>• Kế toán (FAST/Bravo)</a:t>
            </a:r>
          </a:p>
        </p:txBody>
      </p:sp>
      <p:sp>
        <p:nvSpPr>
          <p:cNvPr id="15" name="TextBox 14"/>
          <p:cNvSpPr txBox="1"/>
          <p:nvPr/>
        </p:nvSpPr>
        <p:spPr>
          <a:xfrm>
            <a:off x="658368" y="3108960"/>
            <a:ext cx="2286000" cy="365760"/>
          </a:xfrm>
          <a:prstGeom prst="rect">
            <a:avLst/>
          </a:prstGeom>
          <a:noFill/>
        </p:spPr>
        <p:txBody>
          <a:bodyPr wrap="square">
            <a:spAutoFit/>
          </a:bodyPr>
          <a:lstStyle/>
          <a:p>
            <a:pPr algn="l">
              <a:defRPr sz="1000" b="0">
                <a:solidFill>
                  <a:srgbClr val="1C2330"/>
                </a:solidFill>
              </a:defRPr>
            </a:pPr>
            <a:r>
              <a:t>• Nhân sự (HRM)</a:t>
            </a:r>
          </a:p>
        </p:txBody>
      </p:sp>
      <p:sp>
        <p:nvSpPr>
          <p:cNvPr id="16" name="TextBox 15"/>
          <p:cNvSpPr txBox="1"/>
          <p:nvPr/>
        </p:nvSpPr>
        <p:spPr>
          <a:xfrm>
            <a:off x="658368" y="3520440"/>
            <a:ext cx="2286000" cy="365760"/>
          </a:xfrm>
          <a:prstGeom prst="rect">
            <a:avLst/>
          </a:prstGeom>
          <a:noFill/>
        </p:spPr>
        <p:txBody>
          <a:bodyPr wrap="square">
            <a:spAutoFit/>
          </a:bodyPr>
          <a:lstStyle/>
          <a:p>
            <a:pPr algn="l">
              <a:defRPr sz="1000" b="0">
                <a:solidFill>
                  <a:srgbClr val="1C2330"/>
                </a:solidFill>
              </a:defRPr>
            </a:pPr>
            <a:r>
              <a:t>• Quản lý Vật tư</a:t>
            </a:r>
          </a:p>
        </p:txBody>
      </p:sp>
      <p:sp>
        <p:nvSpPr>
          <p:cNvPr id="17" name="TextBox 16"/>
          <p:cNvSpPr txBox="1"/>
          <p:nvPr/>
        </p:nvSpPr>
        <p:spPr>
          <a:xfrm>
            <a:off x="658368" y="3931920"/>
            <a:ext cx="2286000" cy="365760"/>
          </a:xfrm>
          <a:prstGeom prst="rect">
            <a:avLst/>
          </a:prstGeom>
          <a:noFill/>
        </p:spPr>
        <p:txBody>
          <a:bodyPr wrap="square">
            <a:spAutoFit/>
          </a:bodyPr>
          <a:lstStyle/>
          <a:p>
            <a:pPr algn="l">
              <a:defRPr sz="1000" b="0">
                <a:solidFill>
                  <a:srgbClr val="1C2330"/>
                </a:solidFill>
              </a:defRPr>
            </a:pPr>
            <a:r>
              <a:t>• Quản lý Dự án</a:t>
            </a:r>
          </a:p>
        </p:txBody>
      </p:sp>
      <p:sp>
        <p:nvSpPr>
          <p:cNvPr id="18" name="TextBox 17"/>
          <p:cNvSpPr txBox="1"/>
          <p:nvPr/>
        </p:nvSpPr>
        <p:spPr>
          <a:xfrm>
            <a:off x="658368" y="4343400"/>
            <a:ext cx="2286000" cy="365760"/>
          </a:xfrm>
          <a:prstGeom prst="rect">
            <a:avLst/>
          </a:prstGeom>
          <a:noFill/>
        </p:spPr>
        <p:txBody>
          <a:bodyPr wrap="square">
            <a:spAutoFit/>
          </a:bodyPr>
          <a:lstStyle/>
          <a:p>
            <a:pPr algn="l">
              <a:defRPr sz="1000" b="0">
                <a:solidFill>
                  <a:srgbClr val="1C2330"/>
                </a:solidFill>
              </a:defRPr>
            </a:pPr>
          </a:p>
        </p:txBody>
      </p:sp>
      <p:sp>
        <p:nvSpPr>
          <p:cNvPr id="19" name="TextBox 18"/>
          <p:cNvSpPr txBox="1"/>
          <p:nvPr/>
        </p:nvSpPr>
        <p:spPr>
          <a:xfrm>
            <a:off x="658368" y="4754880"/>
            <a:ext cx="2286000" cy="365760"/>
          </a:xfrm>
          <a:prstGeom prst="rect">
            <a:avLst/>
          </a:prstGeom>
          <a:noFill/>
        </p:spPr>
        <p:txBody>
          <a:bodyPr wrap="square">
            <a:spAutoFit/>
          </a:bodyPr>
          <a:lstStyle/>
          <a:p>
            <a:pPr algn="l">
              <a:defRPr sz="1000" b="0">
                <a:solidFill>
                  <a:srgbClr val="1C2330"/>
                </a:solidFill>
              </a:defRPr>
            </a:pPr>
            <a:r>
              <a:t>Giữ nguyên hiện trạng,</a:t>
            </a:r>
          </a:p>
        </p:txBody>
      </p:sp>
      <p:sp>
        <p:nvSpPr>
          <p:cNvPr id="20" name="TextBox 19"/>
          <p:cNvSpPr txBox="1"/>
          <p:nvPr/>
        </p:nvSpPr>
        <p:spPr>
          <a:xfrm>
            <a:off x="658368" y="5166360"/>
            <a:ext cx="2286000" cy="365760"/>
          </a:xfrm>
          <a:prstGeom prst="rect">
            <a:avLst/>
          </a:prstGeom>
          <a:noFill/>
        </p:spPr>
        <p:txBody>
          <a:bodyPr wrap="square">
            <a:spAutoFit/>
          </a:bodyPr>
          <a:lstStyle/>
          <a:p>
            <a:pPr algn="l">
              <a:defRPr sz="1000" b="1">
                <a:solidFill>
                  <a:srgbClr val="1E64BE"/>
                </a:solidFill>
              </a:defRPr>
            </a:pPr>
            <a:r>
              <a:t>CBNV làm việc như cũ.</a:t>
            </a:r>
          </a:p>
        </p:txBody>
      </p:sp>
      <p:sp>
        <p:nvSpPr>
          <p:cNvPr id="21" name="Right Arrow 20"/>
          <p:cNvSpPr/>
          <p:nvPr/>
        </p:nvSpPr>
        <p:spPr>
          <a:xfrm>
            <a:off x="3127248" y="3657600"/>
            <a:ext cx="27432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83280" y="1371600"/>
            <a:ext cx="2514600" cy="4937760"/>
          </a:xfrm>
          <a:prstGeom prst="roundRect">
            <a:avLst/>
          </a:prstGeom>
          <a:solidFill>
            <a:srgbClr val="E6F8F6"/>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83280" y="1371600"/>
            <a:ext cx="251460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1399032"/>
            <a:ext cx="2514600" cy="502920"/>
          </a:xfrm>
          <a:prstGeom prst="rect">
            <a:avLst/>
          </a:prstGeom>
          <a:noFill/>
        </p:spPr>
        <p:txBody>
          <a:bodyPr wrap="square">
            <a:spAutoFit/>
          </a:bodyPr>
          <a:lstStyle/>
          <a:p>
            <a:pPr algn="ctr">
              <a:defRPr sz="1050" b="1">
                <a:solidFill>
                  <a:srgbClr val="FFFFFF"/>
                </a:solidFill>
              </a:defRPr>
            </a:pPr>
            <a:r>
              <a:t>BƯỚC 2</a:t>
            </a:r>
            <a:br/>
            <a:r>
              <a:t>TRẠM TRUNG CHUYỂN</a:t>
            </a:r>
          </a:p>
        </p:txBody>
      </p:sp>
      <p:sp>
        <p:nvSpPr>
          <p:cNvPr id="25" name="TextBox 24"/>
          <p:cNvSpPr txBox="1"/>
          <p:nvPr/>
        </p:nvSpPr>
        <p:spPr>
          <a:xfrm>
            <a:off x="3383280" y="1965960"/>
            <a:ext cx="2514600" cy="201168"/>
          </a:xfrm>
          <a:prstGeom prst="rect">
            <a:avLst/>
          </a:prstGeom>
          <a:noFill/>
        </p:spPr>
        <p:txBody>
          <a:bodyPr wrap="square">
            <a:spAutoFit/>
          </a:bodyPr>
          <a:lstStyle/>
          <a:p>
            <a:pPr algn="ctr">
              <a:defRPr sz="850" b="1">
                <a:solidFill>
                  <a:srgbClr val="DCEBFF"/>
                </a:solidFill>
              </a:defRPr>
            </a:pPr>
            <a:r>
              <a:t>VM TẠI DATACENTER QN</a:t>
            </a:r>
          </a:p>
        </p:txBody>
      </p:sp>
      <p:sp>
        <p:nvSpPr>
          <p:cNvPr id="26" name="TextBox 25"/>
          <p:cNvSpPr txBox="1"/>
          <p:nvPr/>
        </p:nvSpPr>
        <p:spPr>
          <a:xfrm>
            <a:off x="3493008" y="2286000"/>
            <a:ext cx="2286000" cy="365760"/>
          </a:xfrm>
          <a:prstGeom prst="rect">
            <a:avLst/>
          </a:prstGeom>
          <a:noFill/>
        </p:spPr>
        <p:txBody>
          <a:bodyPr wrap="square">
            <a:spAutoFit/>
          </a:bodyPr>
          <a:lstStyle/>
          <a:p>
            <a:pPr algn="l">
              <a:defRPr sz="1000" b="1">
                <a:solidFill>
                  <a:srgbClr val="0D9488"/>
                </a:solidFill>
              </a:defRPr>
            </a:pPr>
            <a:r>
              <a:t>Xử lý tự động (ETL):</a:t>
            </a:r>
          </a:p>
        </p:txBody>
      </p:sp>
      <p:sp>
        <p:nvSpPr>
          <p:cNvPr id="27" name="TextBox 26"/>
          <p:cNvSpPr txBox="1"/>
          <p:nvPr/>
        </p:nvSpPr>
        <p:spPr>
          <a:xfrm>
            <a:off x="3493008" y="2697480"/>
            <a:ext cx="2286000" cy="365760"/>
          </a:xfrm>
          <a:prstGeom prst="rect">
            <a:avLst/>
          </a:prstGeom>
          <a:noFill/>
        </p:spPr>
        <p:txBody>
          <a:bodyPr wrap="square">
            <a:spAutoFit/>
          </a:bodyPr>
          <a:lstStyle/>
          <a:p>
            <a:pPr algn="l">
              <a:defRPr sz="1000" b="0">
                <a:solidFill>
                  <a:srgbClr val="1C2330"/>
                </a:solidFill>
              </a:defRPr>
            </a:pPr>
            <a:r>
              <a:t>• Trích xuất bản sao (Read-Only)</a:t>
            </a:r>
          </a:p>
        </p:txBody>
      </p:sp>
      <p:sp>
        <p:nvSpPr>
          <p:cNvPr id="28" name="TextBox 27"/>
          <p:cNvSpPr txBox="1"/>
          <p:nvPr/>
        </p:nvSpPr>
        <p:spPr>
          <a:xfrm>
            <a:off x="3493008" y="3108960"/>
            <a:ext cx="2286000" cy="365760"/>
          </a:xfrm>
          <a:prstGeom prst="rect">
            <a:avLst/>
          </a:prstGeom>
          <a:noFill/>
        </p:spPr>
        <p:txBody>
          <a:bodyPr wrap="square">
            <a:spAutoFit/>
          </a:bodyPr>
          <a:lstStyle/>
          <a:p>
            <a:pPr algn="l">
              <a:defRPr sz="1000" b="0">
                <a:solidFill>
                  <a:srgbClr val="1C2330"/>
                </a:solidFill>
              </a:defRPr>
            </a:pPr>
            <a:r>
              <a:t>• Làm sạch, khử trùng lặp</a:t>
            </a:r>
          </a:p>
        </p:txBody>
      </p:sp>
      <p:sp>
        <p:nvSpPr>
          <p:cNvPr id="29" name="TextBox 28"/>
          <p:cNvSpPr txBox="1"/>
          <p:nvPr/>
        </p:nvSpPr>
        <p:spPr>
          <a:xfrm>
            <a:off x="3493008" y="3520440"/>
            <a:ext cx="2286000" cy="365760"/>
          </a:xfrm>
          <a:prstGeom prst="rect">
            <a:avLst/>
          </a:prstGeom>
          <a:noFill/>
        </p:spPr>
        <p:txBody>
          <a:bodyPr wrap="square">
            <a:spAutoFit/>
          </a:bodyPr>
          <a:lstStyle/>
          <a:p>
            <a:pPr algn="l">
              <a:defRPr sz="1000" b="0">
                <a:solidFill>
                  <a:srgbClr val="1C2330"/>
                </a:solidFill>
              </a:defRPr>
            </a:pPr>
            <a:r>
              <a:t>• Ánh xạ 29 Danh mục MD</a:t>
            </a:r>
          </a:p>
        </p:txBody>
      </p:sp>
      <p:sp>
        <p:nvSpPr>
          <p:cNvPr id="30" name="TextBox 29"/>
          <p:cNvSpPr txBox="1"/>
          <p:nvPr/>
        </p:nvSpPr>
        <p:spPr>
          <a:xfrm>
            <a:off x="3493008" y="3931920"/>
            <a:ext cx="2286000" cy="365760"/>
          </a:xfrm>
          <a:prstGeom prst="rect">
            <a:avLst/>
          </a:prstGeom>
          <a:noFill/>
        </p:spPr>
        <p:txBody>
          <a:bodyPr wrap="square">
            <a:spAutoFit/>
          </a:bodyPr>
          <a:lstStyle/>
          <a:p>
            <a:pPr algn="l">
              <a:defRPr sz="1000" b="0">
                <a:solidFill>
                  <a:srgbClr val="1C2330"/>
                </a:solidFill>
              </a:defRPr>
            </a:pPr>
            <a:r>
              <a:t>• Che mờ dữ liệu cá nhân</a:t>
            </a:r>
          </a:p>
        </p:txBody>
      </p:sp>
      <p:sp>
        <p:nvSpPr>
          <p:cNvPr id="31" name="TextBox 30"/>
          <p:cNvSpPr txBox="1"/>
          <p:nvPr/>
        </p:nvSpPr>
        <p:spPr>
          <a:xfrm>
            <a:off x="3493008" y="4343400"/>
            <a:ext cx="2286000" cy="365760"/>
          </a:xfrm>
          <a:prstGeom prst="rect">
            <a:avLst/>
          </a:prstGeom>
          <a:noFill/>
        </p:spPr>
        <p:txBody>
          <a:bodyPr wrap="square">
            <a:spAutoFit/>
          </a:bodyPr>
          <a:lstStyle/>
          <a:p>
            <a:pPr algn="l">
              <a:defRPr sz="1000" b="0">
                <a:solidFill>
                  <a:srgbClr val="1C2330"/>
                </a:solidFill>
              </a:defRPr>
            </a:pPr>
            <a:r>
              <a:t>• Mã hóa AES-256</a:t>
            </a:r>
          </a:p>
        </p:txBody>
      </p:sp>
      <p:sp>
        <p:nvSpPr>
          <p:cNvPr id="32" name="TextBox 31"/>
          <p:cNvSpPr txBox="1"/>
          <p:nvPr/>
        </p:nvSpPr>
        <p:spPr>
          <a:xfrm>
            <a:off x="3493008" y="4754880"/>
            <a:ext cx="2286000" cy="365760"/>
          </a:xfrm>
          <a:prstGeom prst="rect">
            <a:avLst/>
          </a:prstGeom>
          <a:noFill/>
        </p:spPr>
        <p:txBody>
          <a:bodyPr wrap="square">
            <a:spAutoFit/>
          </a:bodyPr>
          <a:lstStyle/>
          <a:p>
            <a:pPr algn="l">
              <a:defRPr sz="1000" b="0">
                <a:solidFill>
                  <a:srgbClr val="1C2330"/>
                </a:solidFill>
              </a:defRPr>
            </a:pPr>
          </a:p>
        </p:txBody>
      </p:sp>
      <p:sp>
        <p:nvSpPr>
          <p:cNvPr id="33" name="TextBox 32"/>
          <p:cNvSpPr txBox="1"/>
          <p:nvPr/>
        </p:nvSpPr>
        <p:spPr>
          <a:xfrm>
            <a:off x="3493008" y="5166360"/>
            <a:ext cx="2286000" cy="365760"/>
          </a:xfrm>
          <a:prstGeom prst="rect">
            <a:avLst/>
          </a:prstGeom>
          <a:noFill/>
        </p:spPr>
        <p:txBody>
          <a:bodyPr wrap="square">
            <a:spAutoFit/>
          </a:bodyPr>
          <a:lstStyle/>
          <a:p>
            <a:pPr algn="l">
              <a:defRPr sz="1000" b="1">
                <a:solidFill>
                  <a:srgbClr val="0D9488"/>
                </a:solidFill>
              </a:defRPr>
            </a:pPr>
            <a:r>
              <a:t>Chạy ngầm theo lịch (23h00).</a:t>
            </a:r>
          </a:p>
        </p:txBody>
      </p:sp>
      <p:sp>
        <p:nvSpPr>
          <p:cNvPr id="34" name="Right Arrow 33"/>
          <p:cNvSpPr/>
          <p:nvPr/>
        </p:nvSpPr>
        <p:spPr>
          <a:xfrm>
            <a:off x="5961888" y="3657600"/>
            <a:ext cx="27432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7920" y="1371600"/>
            <a:ext cx="2514600" cy="493776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1371600"/>
            <a:ext cx="2514600" cy="594360"/>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1399032"/>
            <a:ext cx="2514600" cy="502920"/>
          </a:xfrm>
          <a:prstGeom prst="rect">
            <a:avLst/>
          </a:prstGeom>
          <a:noFill/>
        </p:spPr>
        <p:txBody>
          <a:bodyPr wrap="square">
            <a:spAutoFit/>
          </a:bodyPr>
          <a:lstStyle/>
          <a:p>
            <a:pPr algn="ctr">
              <a:defRPr sz="1050" b="1">
                <a:solidFill>
                  <a:srgbClr val="FFFFFF"/>
                </a:solidFill>
              </a:defRPr>
            </a:pPr>
            <a:r>
              <a:t>BƯỚC 3</a:t>
            </a:r>
            <a:br/>
            <a:r>
              <a:t>KÊNH TRUYỀN</a:t>
            </a:r>
          </a:p>
        </p:txBody>
      </p:sp>
      <p:sp>
        <p:nvSpPr>
          <p:cNvPr id="38" name="TextBox 37"/>
          <p:cNvSpPr txBox="1"/>
          <p:nvPr/>
        </p:nvSpPr>
        <p:spPr>
          <a:xfrm>
            <a:off x="6217920" y="1965960"/>
            <a:ext cx="2514600" cy="201168"/>
          </a:xfrm>
          <a:prstGeom prst="rect">
            <a:avLst/>
          </a:prstGeom>
          <a:noFill/>
        </p:spPr>
        <p:txBody>
          <a:bodyPr wrap="square">
            <a:spAutoFit/>
          </a:bodyPr>
          <a:lstStyle/>
          <a:p>
            <a:pPr algn="ctr">
              <a:defRPr sz="850" b="1">
                <a:solidFill>
                  <a:srgbClr val="DCEBFF"/>
                </a:solidFill>
              </a:defRPr>
            </a:pPr>
            <a:r>
              <a:t>VPN SITE-TO-SITE MÃ HÓA</a:t>
            </a:r>
          </a:p>
        </p:txBody>
      </p:sp>
      <p:sp>
        <p:nvSpPr>
          <p:cNvPr id="39" name="TextBox 38"/>
          <p:cNvSpPr txBox="1"/>
          <p:nvPr/>
        </p:nvSpPr>
        <p:spPr>
          <a:xfrm>
            <a:off x="6327648" y="2286000"/>
            <a:ext cx="2286000" cy="365760"/>
          </a:xfrm>
          <a:prstGeom prst="rect">
            <a:avLst/>
          </a:prstGeom>
          <a:noFill/>
        </p:spPr>
        <p:txBody>
          <a:bodyPr wrap="square">
            <a:spAutoFit/>
          </a:bodyPr>
          <a:lstStyle/>
          <a:p>
            <a:pPr algn="l">
              <a:defRPr sz="1000" b="1">
                <a:solidFill>
                  <a:srgbClr val="B47300"/>
                </a:solidFill>
              </a:defRPr>
            </a:pPr>
            <a:r>
              <a:t>Hạ tầng mạng bảo mật:</a:t>
            </a:r>
          </a:p>
        </p:txBody>
      </p:sp>
      <p:sp>
        <p:nvSpPr>
          <p:cNvPr id="40" name="TextBox 39"/>
          <p:cNvSpPr txBox="1"/>
          <p:nvPr/>
        </p:nvSpPr>
        <p:spPr>
          <a:xfrm>
            <a:off x="6327648" y="2697480"/>
            <a:ext cx="2286000" cy="365760"/>
          </a:xfrm>
          <a:prstGeom prst="rect">
            <a:avLst/>
          </a:prstGeom>
          <a:noFill/>
        </p:spPr>
        <p:txBody>
          <a:bodyPr wrap="square">
            <a:spAutoFit/>
          </a:bodyPr>
          <a:lstStyle/>
          <a:p>
            <a:pPr algn="l">
              <a:defRPr sz="1000" b="0">
                <a:solidFill>
                  <a:srgbClr val="1C2330"/>
                </a:solidFill>
              </a:defRPr>
            </a:pPr>
            <a:r>
              <a:t>• Đường hầm IPSec/SSL</a:t>
            </a:r>
          </a:p>
        </p:txBody>
      </p:sp>
      <p:sp>
        <p:nvSpPr>
          <p:cNvPr id="41" name="TextBox 40"/>
          <p:cNvSpPr txBox="1"/>
          <p:nvPr/>
        </p:nvSpPr>
        <p:spPr>
          <a:xfrm>
            <a:off x="6327648" y="3108960"/>
            <a:ext cx="2286000" cy="365760"/>
          </a:xfrm>
          <a:prstGeom prst="rect">
            <a:avLst/>
          </a:prstGeom>
          <a:noFill/>
        </p:spPr>
        <p:txBody>
          <a:bodyPr wrap="square">
            <a:spAutoFit/>
          </a:bodyPr>
          <a:lstStyle/>
          <a:p>
            <a:pPr algn="l">
              <a:defRPr sz="1000" b="0">
                <a:solidFill>
                  <a:srgbClr val="1C2330"/>
                </a:solidFill>
              </a:defRPr>
            </a:pPr>
            <a:r>
              <a:t>• DC Quảng Ngãi ↔ DC TCT</a:t>
            </a:r>
          </a:p>
        </p:txBody>
      </p:sp>
      <p:sp>
        <p:nvSpPr>
          <p:cNvPr id="42" name="TextBox 41"/>
          <p:cNvSpPr txBox="1"/>
          <p:nvPr/>
        </p:nvSpPr>
        <p:spPr>
          <a:xfrm>
            <a:off x="6327648" y="3520440"/>
            <a:ext cx="2286000" cy="365760"/>
          </a:xfrm>
          <a:prstGeom prst="rect">
            <a:avLst/>
          </a:prstGeom>
          <a:noFill/>
        </p:spPr>
        <p:txBody>
          <a:bodyPr wrap="square">
            <a:spAutoFit/>
          </a:bodyPr>
          <a:lstStyle/>
          <a:p>
            <a:pPr algn="l">
              <a:defRPr sz="1000" b="0">
                <a:solidFill>
                  <a:srgbClr val="1C2330"/>
                </a:solidFill>
              </a:defRPr>
            </a:pPr>
            <a:r>
              <a:t>• Tuân thủ 8 Zones ATTT</a:t>
            </a:r>
          </a:p>
        </p:txBody>
      </p:sp>
      <p:sp>
        <p:nvSpPr>
          <p:cNvPr id="43" name="TextBox 42"/>
          <p:cNvSpPr txBox="1"/>
          <p:nvPr/>
        </p:nvSpPr>
        <p:spPr>
          <a:xfrm>
            <a:off x="6327648" y="3931920"/>
            <a:ext cx="2286000" cy="365760"/>
          </a:xfrm>
          <a:prstGeom prst="rect">
            <a:avLst/>
          </a:prstGeom>
          <a:noFill/>
        </p:spPr>
        <p:txBody>
          <a:bodyPr wrap="square">
            <a:spAutoFit/>
          </a:bodyPr>
          <a:lstStyle/>
          <a:p>
            <a:pPr algn="l">
              <a:defRPr sz="1000" b="0">
                <a:solidFill>
                  <a:srgbClr val="1C2330"/>
                </a:solidFill>
              </a:defRPr>
            </a:pPr>
            <a:r>
              <a:t>• Không lộ IP ra Internet</a:t>
            </a:r>
          </a:p>
        </p:txBody>
      </p:sp>
      <p:sp>
        <p:nvSpPr>
          <p:cNvPr id="44" name="TextBox 43"/>
          <p:cNvSpPr txBox="1"/>
          <p:nvPr/>
        </p:nvSpPr>
        <p:spPr>
          <a:xfrm>
            <a:off x="6327648" y="4343400"/>
            <a:ext cx="2286000" cy="365760"/>
          </a:xfrm>
          <a:prstGeom prst="rect">
            <a:avLst/>
          </a:prstGeom>
          <a:noFill/>
        </p:spPr>
        <p:txBody>
          <a:bodyPr wrap="square">
            <a:spAutoFit/>
          </a:bodyPr>
          <a:lstStyle/>
          <a:p>
            <a:pPr algn="l">
              <a:defRPr sz="1000" b="0">
                <a:solidFill>
                  <a:srgbClr val="1C2330"/>
                </a:solidFill>
              </a:defRPr>
            </a:pPr>
            <a:r>
              <a:t>• Tự động đồng bộ định kỳ</a:t>
            </a:r>
          </a:p>
        </p:txBody>
      </p:sp>
      <p:sp>
        <p:nvSpPr>
          <p:cNvPr id="45" name="TextBox 44"/>
          <p:cNvSpPr txBox="1"/>
          <p:nvPr/>
        </p:nvSpPr>
        <p:spPr>
          <a:xfrm>
            <a:off x="6327648" y="4754880"/>
            <a:ext cx="2286000" cy="365760"/>
          </a:xfrm>
          <a:prstGeom prst="rect">
            <a:avLst/>
          </a:prstGeom>
          <a:noFill/>
        </p:spPr>
        <p:txBody>
          <a:bodyPr wrap="square">
            <a:spAutoFit/>
          </a:bodyPr>
          <a:lstStyle/>
          <a:p>
            <a:pPr algn="l">
              <a:defRPr sz="1000" b="0">
                <a:solidFill>
                  <a:srgbClr val="1C2330"/>
                </a:solidFill>
              </a:defRPr>
            </a:pPr>
          </a:p>
        </p:txBody>
      </p:sp>
      <p:sp>
        <p:nvSpPr>
          <p:cNvPr id="46" name="TextBox 45"/>
          <p:cNvSpPr txBox="1"/>
          <p:nvPr/>
        </p:nvSpPr>
        <p:spPr>
          <a:xfrm>
            <a:off x="6327648" y="5166360"/>
            <a:ext cx="2286000" cy="365760"/>
          </a:xfrm>
          <a:prstGeom prst="rect">
            <a:avLst/>
          </a:prstGeom>
          <a:noFill/>
        </p:spPr>
        <p:txBody>
          <a:bodyPr wrap="square">
            <a:spAutoFit/>
          </a:bodyPr>
          <a:lstStyle/>
          <a:p>
            <a:pPr algn="l">
              <a:defRPr sz="1000" b="1">
                <a:solidFill>
                  <a:srgbClr val="B47300"/>
                </a:solidFill>
              </a:defRPr>
            </a:pPr>
            <a:r>
              <a:t>IT QN + IT TCT phối hợp.</a:t>
            </a:r>
          </a:p>
        </p:txBody>
      </p:sp>
      <p:sp>
        <p:nvSpPr>
          <p:cNvPr id="47" name="Right Arrow 46"/>
          <p:cNvSpPr/>
          <p:nvPr/>
        </p:nvSpPr>
        <p:spPr>
          <a:xfrm>
            <a:off x="8796528" y="3657600"/>
            <a:ext cx="27432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052560" y="1371600"/>
            <a:ext cx="2514600" cy="49377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52560" y="1371600"/>
            <a:ext cx="2514600" cy="59436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0" y="1399032"/>
            <a:ext cx="2514600" cy="502920"/>
          </a:xfrm>
          <a:prstGeom prst="rect">
            <a:avLst/>
          </a:prstGeom>
          <a:noFill/>
        </p:spPr>
        <p:txBody>
          <a:bodyPr wrap="square">
            <a:spAutoFit/>
          </a:bodyPr>
          <a:lstStyle/>
          <a:p>
            <a:pPr algn="ctr">
              <a:defRPr sz="1050" b="1">
                <a:solidFill>
                  <a:srgbClr val="FFFFFF"/>
                </a:solidFill>
              </a:defRPr>
            </a:pPr>
            <a:r>
              <a:t>BƯỚC 4</a:t>
            </a:r>
            <a:br/>
            <a:r>
              <a:t>HUB TỔNG CÔNG TY</a:t>
            </a:r>
          </a:p>
        </p:txBody>
      </p:sp>
      <p:sp>
        <p:nvSpPr>
          <p:cNvPr id="51" name="TextBox 50"/>
          <p:cNvSpPr txBox="1"/>
          <p:nvPr/>
        </p:nvSpPr>
        <p:spPr>
          <a:xfrm>
            <a:off x="9052560" y="1965960"/>
            <a:ext cx="2514600" cy="201168"/>
          </a:xfrm>
          <a:prstGeom prst="rect">
            <a:avLst/>
          </a:prstGeom>
          <a:noFill/>
        </p:spPr>
        <p:txBody>
          <a:bodyPr wrap="square">
            <a:spAutoFit/>
          </a:bodyPr>
          <a:lstStyle/>
          <a:p>
            <a:pPr algn="ctr">
              <a:defRPr sz="850" b="1">
                <a:solidFill>
                  <a:srgbClr val="DCEBFF"/>
                </a:solidFill>
              </a:defRPr>
            </a:pPr>
            <a:r>
              <a:t>WORKSPACE L3 &amp; POWER BI</a:t>
            </a:r>
          </a:p>
        </p:txBody>
      </p:sp>
      <p:sp>
        <p:nvSpPr>
          <p:cNvPr id="52" name="TextBox 51"/>
          <p:cNvSpPr txBox="1"/>
          <p:nvPr/>
        </p:nvSpPr>
        <p:spPr>
          <a:xfrm>
            <a:off x="9162288" y="2286000"/>
            <a:ext cx="2286000" cy="365760"/>
          </a:xfrm>
          <a:prstGeom prst="rect">
            <a:avLst/>
          </a:prstGeom>
          <a:noFill/>
        </p:spPr>
        <p:txBody>
          <a:bodyPr wrap="square">
            <a:spAutoFit/>
          </a:bodyPr>
          <a:lstStyle/>
          <a:p>
            <a:pPr algn="l">
              <a:defRPr sz="1000" b="1">
                <a:solidFill>
                  <a:srgbClr val="158050"/>
                </a:solidFill>
              </a:defRPr>
            </a:pPr>
            <a:r>
              <a:t>Tiếp nhận &amp; khai thác:</a:t>
            </a:r>
          </a:p>
        </p:txBody>
      </p:sp>
      <p:sp>
        <p:nvSpPr>
          <p:cNvPr id="53" name="TextBox 52"/>
          <p:cNvSpPr txBox="1"/>
          <p:nvPr/>
        </p:nvSpPr>
        <p:spPr>
          <a:xfrm>
            <a:off x="9162288" y="2697480"/>
            <a:ext cx="2286000" cy="365760"/>
          </a:xfrm>
          <a:prstGeom prst="rect">
            <a:avLst/>
          </a:prstGeom>
          <a:noFill/>
        </p:spPr>
        <p:txBody>
          <a:bodyPr wrap="square">
            <a:spAutoFit/>
          </a:bodyPr>
          <a:lstStyle/>
          <a:p>
            <a:pPr algn="l">
              <a:defRPr sz="1000" b="0">
                <a:solidFill>
                  <a:srgbClr val="1C2330"/>
                </a:solidFill>
              </a:defRPr>
            </a:pPr>
            <a:r>
              <a:t>• Lưu trữ: MinIO On-prem</a:t>
            </a:r>
          </a:p>
        </p:txBody>
      </p:sp>
      <p:sp>
        <p:nvSpPr>
          <p:cNvPr id="54" name="TextBox 53"/>
          <p:cNvSpPr txBox="1"/>
          <p:nvPr/>
        </p:nvSpPr>
        <p:spPr>
          <a:xfrm>
            <a:off x="9162288" y="3108960"/>
            <a:ext cx="2286000" cy="365760"/>
          </a:xfrm>
          <a:prstGeom prst="rect">
            <a:avLst/>
          </a:prstGeom>
          <a:noFill/>
        </p:spPr>
        <p:txBody>
          <a:bodyPr wrap="square">
            <a:spAutoFit/>
          </a:bodyPr>
          <a:lstStyle/>
          <a:p>
            <a:pPr algn="l">
              <a:defRPr sz="1000" b="0">
                <a:solidFill>
                  <a:srgbClr val="1C2330"/>
                </a:solidFill>
              </a:defRPr>
            </a:pPr>
            <a:r>
              <a:t>• Phân tích: Fabric OneLake</a:t>
            </a:r>
          </a:p>
        </p:txBody>
      </p:sp>
      <p:sp>
        <p:nvSpPr>
          <p:cNvPr id="55" name="TextBox 54"/>
          <p:cNvSpPr txBox="1"/>
          <p:nvPr/>
        </p:nvSpPr>
        <p:spPr>
          <a:xfrm>
            <a:off x="9162288" y="3520440"/>
            <a:ext cx="2286000" cy="365760"/>
          </a:xfrm>
          <a:prstGeom prst="rect">
            <a:avLst/>
          </a:prstGeom>
          <a:noFill/>
        </p:spPr>
        <p:txBody>
          <a:bodyPr wrap="square">
            <a:spAutoFit/>
          </a:bodyPr>
          <a:lstStyle/>
          <a:p>
            <a:pPr algn="l">
              <a:defRPr sz="1000" b="0">
                <a:solidFill>
                  <a:srgbClr val="1C2330"/>
                </a:solidFill>
              </a:defRPr>
            </a:pPr>
            <a:r>
              <a:t>• MDM kiểm tra Golden Record</a:t>
            </a:r>
          </a:p>
        </p:txBody>
      </p:sp>
      <p:sp>
        <p:nvSpPr>
          <p:cNvPr id="56" name="TextBox 55"/>
          <p:cNvSpPr txBox="1"/>
          <p:nvPr/>
        </p:nvSpPr>
        <p:spPr>
          <a:xfrm>
            <a:off x="9162288" y="3931920"/>
            <a:ext cx="2286000" cy="365760"/>
          </a:xfrm>
          <a:prstGeom prst="rect">
            <a:avLst/>
          </a:prstGeom>
          <a:noFill/>
        </p:spPr>
        <p:txBody>
          <a:bodyPr wrap="square">
            <a:spAutoFit/>
          </a:bodyPr>
          <a:lstStyle/>
          <a:p>
            <a:pPr algn="l">
              <a:defRPr sz="1000" b="0">
                <a:solidFill>
                  <a:srgbClr val="1C2330"/>
                </a:solidFill>
              </a:defRPr>
            </a:pPr>
            <a:r>
              <a:t>• Kích hoạt Dashboard</a:t>
            </a:r>
          </a:p>
        </p:txBody>
      </p:sp>
      <p:sp>
        <p:nvSpPr>
          <p:cNvPr id="57" name="TextBox 56"/>
          <p:cNvSpPr txBox="1"/>
          <p:nvPr/>
        </p:nvSpPr>
        <p:spPr>
          <a:xfrm>
            <a:off x="9162288" y="4343400"/>
            <a:ext cx="2286000" cy="365760"/>
          </a:xfrm>
          <a:prstGeom prst="rect">
            <a:avLst/>
          </a:prstGeom>
          <a:noFill/>
        </p:spPr>
        <p:txBody>
          <a:bodyPr wrap="square">
            <a:spAutoFit/>
          </a:bodyPr>
          <a:lstStyle/>
          <a:p>
            <a:pPr algn="l">
              <a:defRPr sz="1000" b="0">
                <a:solidFill>
                  <a:srgbClr val="1C2330"/>
                </a:solidFill>
              </a:defRPr>
            </a:pPr>
            <a:r>
              <a:t>  Power BI tự động</a:t>
            </a:r>
          </a:p>
        </p:txBody>
      </p:sp>
      <p:sp>
        <p:nvSpPr>
          <p:cNvPr id="58" name="TextBox 57"/>
          <p:cNvSpPr txBox="1"/>
          <p:nvPr/>
        </p:nvSpPr>
        <p:spPr>
          <a:xfrm>
            <a:off x="9162288" y="4754880"/>
            <a:ext cx="2286000" cy="365760"/>
          </a:xfrm>
          <a:prstGeom prst="rect">
            <a:avLst/>
          </a:prstGeom>
          <a:noFill/>
        </p:spPr>
        <p:txBody>
          <a:bodyPr wrap="square">
            <a:spAutoFit/>
          </a:bodyPr>
          <a:lstStyle/>
          <a:p>
            <a:pPr algn="l">
              <a:defRPr sz="1000" b="0">
                <a:solidFill>
                  <a:srgbClr val="1C2330"/>
                </a:solidFill>
              </a:defRPr>
            </a:pPr>
          </a:p>
        </p:txBody>
      </p:sp>
      <p:sp>
        <p:nvSpPr>
          <p:cNvPr id="59" name="TextBox 58"/>
          <p:cNvSpPr txBox="1"/>
          <p:nvPr/>
        </p:nvSpPr>
        <p:spPr>
          <a:xfrm>
            <a:off x="9162288" y="5166360"/>
            <a:ext cx="2286000" cy="365760"/>
          </a:xfrm>
          <a:prstGeom prst="rect">
            <a:avLst/>
          </a:prstGeom>
          <a:noFill/>
        </p:spPr>
        <p:txBody>
          <a:bodyPr wrap="square">
            <a:spAutoFit/>
          </a:bodyPr>
          <a:lstStyle/>
          <a:p>
            <a:pPr algn="l">
              <a:defRPr sz="1000" b="1">
                <a:solidFill>
                  <a:srgbClr val="158050"/>
                </a:solidFill>
              </a:defRPr>
            </a:pPr>
            <a:r>
              <a:t>Ban Giám đốc xem tức thời.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C: KIẾN TRÚC KẾT NỐI — LỰA CHỌN TỐI ƯU</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SO SÁNH HAI PHƯƠNG ÁN TRIỂN KHAI THEO CHỈ ĐẠO BAN GIÁM ĐỐC</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09</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5120640" cy="493776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298448"/>
            <a:ext cx="5120640" cy="365760"/>
          </a:xfrm>
          <a:prstGeom prst="rect">
            <a:avLst/>
          </a:prstGeom>
          <a:noFill/>
        </p:spPr>
        <p:txBody>
          <a:bodyPr wrap="square">
            <a:spAutoFit/>
          </a:bodyPr>
          <a:lstStyle/>
          <a:p>
            <a:pPr algn="ctr">
              <a:defRPr sz="1200" b="1">
                <a:solidFill>
                  <a:srgbClr val="FFFFFF"/>
                </a:solidFill>
              </a:defRPr>
            </a:pPr>
            <a:r>
              <a:t>PHƯƠNG ÁN 1: CHỜ TỔNG CÔNG TY TRIỂN KHAI</a:t>
            </a:r>
          </a:p>
        </p:txBody>
      </p:sp>
      <p:sp>
        <p:nvSpPr>
          <p:cNvPr id="12" name="Rounded Rectangle 11"/>
          <p:cNvSpPr/>
          <p:nvPr/>
        </p:nvSpPr>
        <p:spPr>
          <a:xfrm>
            <a:off x="91440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65960"/>
            <a:ext cx="2286000" cy="228600"/>
          </a:xfrm>
          <a:prstGeom prst="rect">
            <a:avLst/>
          </a:prstGeom>
          <a:noFill/>
        </p:spPr>
        <p:txBody>
          <a:bodyPr wrap="square">
            <a:spAutoFit/>
          </a:bodyPr>
          <a:lstStyle/>
          <a:p>
            <a:pPr algn="l">
              <a:defRPr sz="1000" b="1">
                <a:solidFill>
                  <a:srgbClr val="1C2330"/>
                </a:solidFill>
              </a:defRPr>
            </a:pPr>
            <a:r>
              <a:t>Khả thi về nhân lực</a:t>
            </a:r>
          </a:p>
        </p:txBody>
      </p:sp>
      <p:sp>
        <p:nvSpPr>
          <p:cNvPr id="14" name="TextBox 13"/>
          <p:cNvSpPr txBox="1"/>
          <p:nvPr/>
        </p:nvSpPr>
        <p:spPr>
          <a:xfrm>
            <a:off x="3200400" y="1965960"/>
            <a:ext cx="2286000" cy="228600"/>
          </a:xfrm>
          <a:prstGeom prst="rect">
            <a:avLst/>
          </a:prstGeom>
          <a:noFill/>
        </p:spPr>
        <p:txBody>
          <a:bodyPr wrap="square">
            <a:spAutoFit/>
          </a:bodyPr>
          <a:lstStyle/>
          <a:p>
            <a:pPr algn="r">
              <a:defRPr sz="1000" b="1">
                <a:solidFill>
                  <a:srgbClr val="B42828"/>
                </a:solidFill>
              </a:defRPr>
            </a:pPr>
            <a:r>
              <a:t>KHÔNG ĐẢM BẢO</a:t>
            </a:r>
          </a:p>
        </p:txBody>
      </p:sp>
      <p:sp>
        <p:nvSpPr>
          <p:cNvPr id="15" name="TextBox 14"/>
          <p:cNvSpPr txBox="1"/>
          <p:nvPr/>
        </p:nvSpPr>
        <p:spPr>
          <a:xfrm>
            <a:off x="1051560" y="2212848"/>
            <a:ext cx="4480560" cy="502920"/>
          </a:xfrm>
          <a:prstGeom prst="rect">
            <a:avLst/>
          </a:prstGeom>
          <a:noFill/>
        </p:spPr>
        <p:txBody>
          <a:bodyPr wrap="square">
            <a:spAutoFit/>
          </a:bodyPr>
          <a:lstStyle/>
          <a:p>
            <a:pPr algn="l">
              <a:defRPr sz="950" b="0">
                <a:solidFill>
                  <a:srgbClr val="1C2330"/>
                </a:solidFill>
              </a:defRPr>
            </a:pPr>
            <a:r>
              <a:t>Ban NCPT&amp;CĐS TCT vận hành Hub chung, không đủ nhân sự cắm chốt tại từng đơn vị để bóc tách phần mềm nội bộ.</a:t>
            </a:r>
          </a:p>
        </p:txBody>
      </p:sp>
      <p:sp>
        <p:nvSpPr>
          <p:cNvPr id="16" name="Rounded Rectangle 15"/>
          <p:cNvSpPr/>
          <p:nvPr/>
        </p:nvSpPr>
        <p:spPr>
          <a:xfrm>
            <a:off x="91440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71800"/>
            <a:ext cx="2286000" cy="228600"/>
          </a:xfrm>
          <a:prstGeom prst="rect">
            <a:avLst/>
          </a:prstGeom>
          <a:noFill/>
        </p:spPr>
        <p:txBody>
          <a:bodyPr wrap="square">
            <a:spAutoFit/>
          </a:bodyPr>
          <a:lstStyle/>
          <a:p>
            <a:pPr algn="l">
              <a:defRPr sz="1000" b="1">
                <a:solidFill>
                  <a:srgbClr val="1C2330"/>
                </a:solidFill>
              </a:defRPr>
            </a:pPr>
            <a:r>
              <a:t>Tiến độ thực hiện</a:t>
            </a:r>
          </a:p>
        </p:txBody>
      </p:sp>
      <p:sp>
        <p:nvSpPr>
          <p:cNvPr id="18" name="TextBox 17"/>
          <p:cNvSpPr txBox="1"/>
          <p:nvPr/>
        </p:nvSpPr>
        <p:spPr>
          <a:xfrm>
            <a:off x="3200400" y="2971800"/>
            <a:ext cx="2286000" cy="228600"/>
          </a:xfrm>
          <a:prstGeom prst="rect">
            <a:avLst/>
          </a:prstGeom>
          <a:noFill/>
        </p:spPr>
        <p:txBody>
          <a:bodyPr wrap="square">
            <a:spAutoFit/>
          </a:bodyPr>
          <a:lstStyle/>
          <a:p>
            <a:pPr algn="r">
              <a:defRPr sz="1000" b="1">
                <a:solidFill>
                  <a:srgbClr val="B42828"/>
                </a:solidFill>
              </a:defRPr>
            </a:pPr>
            <a:r>
              <a:t>RỦI RO TRỄ HẠN CAO</a:t>
            </a:r>
          </a:p>
        </p:txBody>
      </p:sp>
      <p:sp>
        <p:nvSpPr>
          <p:cNvPr id="19" name="TextBox 18"/>
          <p:cNvSpPr txBox="1"/>
          <p:nvPr/>
        </p:nvSpPr>
        <p:spPr>
          <a:xfrm>
            <a:off x="1051560" y="3218688"/>
            <a:ext cx="4480560" cy="502920"/>
          </a:xfrm>
          <a:prstGeom prst="rect">
            <a:avLst/>
          </a:prstGeom>
          <a:noFill/>
        </p:spPr>
        <p:txBody>
          <a:bodyPr wrap="square">
            <a:spAutoFit/>
          </a:bodyPr>
          <a:lstStyle/>
          <a:p>
            <a:pPr algn="l">
              <a:defRPr sz="950" b="0">
                <a:solidFill>
                  <a:srgbClr val="1C2330"/>
                </a:solidFill>
              </a:defRPr>
            </a:pPr>
            <a:r>
              <a:t>Hơn 10 ĐVTV đang xếp hàng. Không thể đảm bảo mốc KPI năm 2026 do TCT giao nếu chờ lần lượt.</a:t>
            </a:r>
          </a:p>
        </p:txBody>
      </p:sp>
      <p:sp>
        <p:nvSpPr>
          <p:cNvPr id="20" name="Rounded Rectangle 19"/>
          <p:cNvSpPr/>
          <p:nvPr/>
        </p:nvSpPr>
        <p:spPr>
          <a:xfrm>
            <a:off x="91440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977640"/>
            <a:ext cx="2286000" cy="228600"/>
          </a:xfrm>
          <a:prstGeom prst="rect">
            <a:avLst/>
          </a:prstGeom>
          <a:noFill/>
        </p:spPr>
        <p:txBody>
          <a:bodyPr wrap="square">
            <a:spAutoFit/>
          </a:bodyPr>
          <a:lstStyle/>
          <a:p>
            <a:pPr algn="l">
              <a:defRPr sz="1000" b="1">
                <a:solidFill>
                  <a:srgbClr val="1C2330"/>
                </a:solidFill>
              </a:defRPr>
            </a:pPr>
            <a:r>
              <a:t>Đáp ứng nghiệp vụ nội bộ</a:t>
            </a:r>
          </a:p>
        </p:txBody>
      </p:sp>
      <p:sp>
        <p:nvSpPr>
          <p:cNvPr id="22" name="TextBox 21"/>
          <p:cNvSpPr txBox="1"/>
          <p:nvPr/>
        </p:nvSpPr>
        <p:spPr>
          <a:xfrm>
            <a:off x="3200400" y="3977640"/>
            <a:ext cx="2286000" cy="228600"/>
          </a:xfrm>
          <a:prstGeom prst="rect">
            <a:avLst/>
          </a:prstGeom>
          <a:noFill/>
        </p:spPr>
        <p:txBody>
          <a:bodyPr wrap="square">
            <a:spAutoFit/>
          </a:bodyPr>
          <a:lstStyle/>
          <a:p>
            <a:pPr algn="r">
              <a:defRPr sz="1000" b="1">
                <a:solidFill>
                  <a:srgbClr val="B42828"/>
                </a:solidFill>
              </a:defRPr>
            </a:pPr>
            <a:r>
              <a:t>CHỈ PHỤC VỤ BÁO CÁO TCT</a:t>
            </a:r>
          </a:p>
        </p:txBody>
      </p:sp>
      <p:sp>
        <p:nvSpPr>
          <p:cNvPr id="23" name="TextBox 22"/>
          <p:cNvSpPr txBox="1"/>
          <p:nvPr/>
        </p:nvSpPr>
        <p:spPr>
          <a:xfrm>
            <a:off x="1051560" y="4224528"/>
            <a:ext cx="4480560" cy="502920"/>
          </a:xfrm>
          <a:prstGeom prst="rect">
            <a:avLst/>
          </a:prstGeom>
          <a:noFill/>
        </p:spPr>
        <p:txBody>
          <a:bodyPr wrap="square">
            <a:spAutoFit/>
          </a:bodyPr>
          <a:lstStyle/>
          <a:p>
            <a:pPr algn="l">
              <a:defRPr sz="950" b="0">
                <a:solidFill>
                  <a:srgbClr val="1C2330"/>
                </a:solidFill>
              </a:defRPr>
            </a:pPr>
            <a:r>
              <a:t>TCT chỉ xây báo cáo hợp nhất phục vụ TCT. Không xây dựng Dashboard quản trị chi tiết cho Ban Giám đốc QN.</a:t>
            </a:r>
          </a:p>
        </p:txBody>
      </p:sp>
      <p:sp>
        <p:nvSpPr>
          <p:cNvPr id="24" name="Rounded Rectangle 23"/>
          <p:cNvSpPr/>
          <p:nvPr/>
        </p:nvSpPr>
        <p:spPr>
          <a:xfrm>
            <a:off x="91440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983480"/>
            <a:ext cx="2286000" cy="228600"/>
          </a:xfrm>
          <a:prstGeom prst="rect">
            <a:avLst/>
          </a:prstGeom>
          <a:noFill/>
        </p:spPr>
        <p:txBody>
          <a:bodyPr wrap="square">
            <a:spAutoFit/>
          </a:bodyPr>
          <a:lstStyle/>
          <a:p>
            <a:pPr algn="l">
              <a:defRPr sz="1000" b="1">
                <a:solidFill>
                  <a:srgbClr val="1C2330"/>
                </a:solidFill>
              </a:defRPr>
            </a:pPr>
            <a:r>
              <a:t>Mức độ tự chủ</a:t>
            </a:r>
          </a:p>
        </p:txBody>
      </p:sp>
      <p:sp>
        <p:nvSpPr>
          <p:cNvPr id="26" name="TextBox 25"/>
          <p:cNvSpPr txBox="1"/>
          <p:nvPr/>
        </p:nvSpPr>
        <p:spPr>
          <a:xfrm>
            <a:off x="3200400" y="4983480"/>
            <a:ext cx="2286000" cy="228600"/>
          </a:xfrm>
          <a:prstGeom prst="rect">
            <a:avLst/>
          </a:prstGeom>
          <a:noFill/>
        </p:spPr>
        <p:txBody>
          <a:bodyPr wrap="square">
            <a:spAutoFit/>
          </a:bodyPr>
          <a:lstStyle/>
          <a:p>
            <a:pPr algn="r">
              <a:defRPr sz="1000" b="1">
                <a:solidFill>
                  <a:srgbClr val="B42828"/>
                </a:solidFill>
              </a:defRPr>
            </a:pPr>
            <a:r>
              <a:t>PHỤ THUỘC HOÀN TOÀN</a:t>
            </a:r>
          </a:p>
        </p:txBody>
      </p:sp>
      <p:sp>
        <p:nvSpPr>
          <p:cNvPr id="27" name="TextBox 26"/>
          <p:cNvSpPr txBox="1"/>
          <p:nvPr/>
        </p:nvSpPr>
        <p:spPr>
          <a:xfrm>
            <a:off x="1051560" y="5230368"/>
            <a:ext cx="4480560" cy="502920"/>
          </a:xfrm>
          <a:prstGeom prst="rect">
            <a:avLst/>
          </a:prstGeom>
          <a:noFill/>
        </p:spPr>
        <p:txBody>
          <a:bodyPr wrap="square">
            <a:spAutoFit/>
          </a:bodyPr>
          <a:lstStyle/>
          <a:p>
            <a:pPr algn="l">
              <a:defRPr sz="950" b="0">
                <a:solidFill>
                  <a:srgbClr val="1C2330"/>
                </a:solidFill>
              </a:defRPr>
            </a:pPr>
            <a:r>
              <a:t>Không kiểm soát được tiến độ, mã nguồn và lịch nâng cấp. Mọi điều chỉnh phải chờ TCT phê duyệt.</a:t>
            </a:r>
          </a:p>
        </p:txBody>
      </p:sp>
      <p:sp>
        <p:nvSpPr>
          <p:cNvPr id="28" name="Rounded Rectangle 27"/>
          <p:cNvSpPr/>
          <p:nvPr/>
        </p:nvSpPr>
        <p:spPr>
          <a:xfrm>
            <a:off x="6309360" y="1280160"/>
            <a:ext cx="5120640" cy="4937760"/>
          </a:xfrm>
          <a:prstGeom prst="roundRect">
            <a:avLst/>
          </a:prstGeom>
          <a:solidFill>
            <a:srgbClr val="E8F8EF"/>
          </a:solidFill>
          <a:ln w="254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1280160"/>
            <a:ext cx="512064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298448"/>
            <a:ext cx="5120640" cy="365760"/>
          </a:xfrm>
          <a:prstGeom prst="rect">
            <a:avLst/>
          </a:prstGeom>
          <a:noFill/>
        </p:spPr>
        <p:txBody>
          <a:bodyPr wrap="square">
            <a:spAutoFit/>
          </a:bodyPr>
          <a:lstStyle/>
          <a:p>
            <a:pPr algn="ctr">
              <a:defRPr sz="1100" b="1">
                <a:solidFill>
                  <a:srgbClr val="FFFFFF"/>
                </a:solidFill>
              </a:defRPr>
            </a:pPr>
            <a:r>
              <a:t>PHƯƠNG ÁN 2 (ĐỀ XUẤT): CHỦ ĐỘNG + NCC CHUYÊN MÔN</a:t>
            </a:r>
          </a:p>
        </p:txBody>
      </p:sp>
      <p:sp>
        <p:nvSpPr>
          <p:cNvPr id="31" name="Rounded Rectangle 30"/>
          <p:cNvSpPr/>
          <p:nvPr/>
        </p:nvSpPr>
        <p:spPr>
          <a:xfrm>
            <a:off x="649224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1965960"/>
            <a:ext cx="2194560" cy="228600"/>
          </a:xfrm>
          <a:prstGeom prst="rect">
            <a:avLst/>
          </a:prstGeom>
          <a:noFill/>
        </p:spPr>
        <p:txBody>
          <a:bodyPr wrap="square">
            <a:spAutoFit/>
          </a:bodyPr>
          <a:lstStyle/>
          <a:p>
            <a:pPr algn="l">
              <a:defRPr sz="1000" b="1">
                <a:solidFill>
                  <a:srgbClr val="1C2330"/>
                </a:solidFill>
              </a:defRPr>
            </a:pPr>
            <a:r>
              <a:t>Khả thi về nhân lực</a:t>
            </a:r>
          </a:p>
        </p:txBody>
      </p:sp>
      <p:sp>
        <p:nvSpPr>
          <p:cNvPr id="33" name="TextBox 32"/>
          <p:cNvSpPr txBox="1"/>
          <p:nvPr/>
        </p:nvSpPr>
        <p:spPr>
          <a:xfrm>
            <a:off x="8686800" y="1965960"/>
            <a:ext cx="2468880" cy="228600"/>
          </a:xfrm>
          <a:prstGeom prst="rect">
            <a:avLst/>
          </a:prstGeom>
          <a:noFill/>
        </p:spPr>
        <p:txBody>
          <a:bodyPr wrap="square">
            <a:spAutoFit/>
          </a:bodyPr>
          <a:lstStyle/>
          <a:p>
            <a:pPr algn="r">
              <a:defRPr sz="1000" b="1">
                <a:solidFill>
                  <a:srgbClr val="158050"/>
                </a:solidFill>
              </a:defRPr>
            </a:pPr>
            <a:r>
              <a:t>NCC CHUYÊN MÔN TẬN NƠI</a:t>
            </a:r>
          </a:p>
        </p:txBody>
      </p:sp>
      <p:sp>
        <p:nvSpPr>
          <p:cNvPr id="34" name="TextBox 33"/>
          <p:cNvSpPr txBox="1"/>
          <p:nvPr/>
        </p:nvSpPr>
        <p:spPr>
          <a:xfrm>
            <a:off x="6629400" y="2212848"/>
            <a:ext cx="4480560" cy="502920"/>
          </a:xfrm>
          <a:prstGeom prst="rect">
            <a:avLst/>
          </a:prstGeom>
          <a:noFill/>
        </p:spPr>
        <p:txBody>
          <a:bodyPr wrap="square">
            <a:spAutoFit/>
          </a:bodyPr>
          <a:lstStyle/>
          <a:p>
            <a:pPr algn="l">
              <a:defRPr sz="950" b="0">
                <a:solidFill>
                  <a:srgbClr val="1C2330"/>
                </a:solidFill>
              </a:defRPr>
            </a:pPr>
            <a:r>
              <a:t>NCC có kinh nghiệm Data Engineering cử kỹ sư cắm chốt tại QN, phối hợp trực tiếp với IT và các phòng ban.</a:t>
            </a:r>
          </a:p>
        </p:txBody>
      </p:sp>
      <p:sp>
        <p:nvSpPr>
          <p:cNvPr id="35" name="Rounded Rectangle 34"/>
          <p:cNvSpPr/>
          <p:nvPr/>
        </p:nvSpPr>
        <p:spPr>
          <a:xfrm>
            <a:off x="649224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2971800"/>
            <a:ext cx="2194560" cy="228600"/>
          </a:xfrm>
          <a:prstGeom prst="rect">
            <a:avLst/>
          </a:prstGeom>
          <a:noFill/>
        </p:spPr>
        <p:txBody>
          <a:bodyPr wrap="square">
            <a:spAutoFit/>
          </a:bodyPr>
          <a:lstStyle/>
          <a:p>
            <a:pPr algn="l">
              <a:defRPr sz="1000" b="1">
                <a:solidFill>
                  <a:srgbClr val="1C2330"/>
                </a:solidFill>
              </a:defRPr>
            </a:pPr>
            <a:r>
              <a:t>Tiến độ thực hiện</a:t>
            </a:r>
          </a:p>
        </p:txBody>
      </p:sp>
      <p:sp>
        <p:nvSpPr>
          <p:cNvPr id="37" name="TextBox 36"/>
          <p:cNvSpPr txBox="1"/>
          <p:nvPr/>
        </p:nvSpPr>
        <p:spPr>
          <a:xfrm>
            <a:off x="8686800" y="2971800"/>
            <a:ext cx="2468880" cy="228600"/>
          </a:xfrm>
          <a:prstGeom prst="rect">
            <a:avLst/>
          </a:prstGeom>
          <a:noFill/>
        </p:spPr>
        <p:txBody>
          <a:bodyPr wrap="square">
            <a:spAutoFit/>
          </a:bodyPr>
          <a:lstStyle/>
          <a:p>
            <a:pPr algn="r">
              <a:defRPr sz="1000" b="1">
                <a:solidFill>
                  <a:srgbClr val="158050"/>
                </a:solidFill>
              </a:defRPr>
            </a:pPr>
            <a:r>
              <a:t>3–4 THÁNG, CHỦ ĐỘNG</a:t>
            </a:r>
          </a:p>
        </p:txBody>
      </p:sp>
      <p:sp>
        <p:nvSpPr>
          <p:cNvPr id="38" name="TextBox 37"/>
          <p:cNvSpPr txBox="1"/>
          <p:nvPr/>
        </p:nvSpPr>
        <p:spPr>
          <a:xfrm>
            <a:off x="6629400" y="3218688"/>
            <a:ext cx="4480560" cy="502920"/>
          </a:xfrm>
          <a:prstGeom prst="rect">
            <a:avLst/>
          </a:prstGeom>
          <a:noFill/>
        </p:spPr>
        <p:txBody>
          <a:bodyPr wrap="square">
            <a:spAutoFit/>
          </a:bodyPr>
          <a:lstStyle/>
          <a:p>
            <a:pPr algn="l">
              <a:defRPr sz="950" b="0">
                <a:solidFill>
                  <a:srgbClr val="1C2330"/>
                </a:solidFill>
              </a:defRPr>
            </a:pPr>
            <a:r>
              <a:t>Chủ động kiểm soát tiến độ hoàn toàn. Kịp mốc KPI năm 2026 và không phụ thuộc lịch trình của TCT.</a:t>
            </a:r>
          </a:p>
        </p:txBody>
      </p:sp>
      <p:sp>
        <p:nvSpPr>
          <p:cNvPr id="39" name="Rounded Rectangle 38"/>
          <p:cNvSpPr/>
          <p:nvPr/>
        </p:nvSpPr>
        <p:spPr>
          <a:xfrm>
            <a:off x="649224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3977640"/>
            <a:ext cx="2194560" cy="228600"/>
          </a:xfrm>
          <a:prstGeom prst="rect">
            <a:avLst/>
          </a:prstGeom>
          <a:noFill/>
        </p:spPr>
        <p:txBody>
          <a:bodyPr wrap="square">
            <a:spAutoFit/>
          </a:bodyPr>
          <a:lstStyle/>
          <a:p>
            <a:pPr algn="l">
              <a:defRPr sz="1000" b="1">
                <a:solidFill>
                  <a:srgbClr val="1C2330"/>
                </a:solidFill>
              </a:defRPr>
            </a:pPr>
            <a:r>
              <a:t>Đáp ứng nghiệp vụ nội bộ</a:t>
            </a:r>
          </a:p>
        </p:txBody>
      </p:sp>
      <p:sp>
        <p:nvSpPr>
          <p:cNvPr id="41" name="TextBox 40"/>
          <p:cNvSpPr txBox="1"/>
          <p:nvPr/>
        </p:nvSpPr>
        <p:spPr>
          <a:xfrm>
            <a:off x="8686800" y="3977640"/>
            <a:ext cx="2468880" cy="228600"/>
          </a:xfrm>
          <a:prstGeom prst="rect">
            <a:avLst/>
          </a:prstGeom>
          <a:noFill/>
        </p:spPr>
        <p:txBody>
          <a:bodyPr wrap="square">
            <a:spAutoFit/>
          </a:bodyPr>
          <a:lstStyle/>
          <a:p>
            <a:pPr algn="r">
              <a:defRPr sz="1000" b="1">
                <a:solidFill>
                  <a:srgbClr val="158050"/>
                </a:solidFill>
              </a:defRPr>
            </a:pPr>
            <a:r>
              <a:t>THIẾT KẾ RIÊNG CHO QN</a:t>
            </a:r>
          </a:p>
        </p:txBody>
      </p:sp>
      <p:sp>
        <p:nvSpPr>
          <p:cNvPr id="42" name="TextBox 41"/>
          <p:cNvSpPr txBox="1"/>
          <p:nvPr/>
        </p:nvSpPr>
        <p:spPr>
          <a:xfrm>
            <a:off x="6629400" y="4224528"/>
            <a:ext cx="4480560" cy="502920"/>
          </a:xfrm>
          <a:prstGeom prst="rect">
            <a:avLst/>
          </a:prstGeom>
          <a:noFill/>
        </p:spPr>
        <p:txBody>
          <a:bodyPr wrap="square">
            <a:spAutoFit/>
          </a:bodyPr>
          <a:lstStyle/>
          <a:p>
            <a:pPr algn="l">
              <a:defRPr sz="950" b="0">
                <a:solidFill>
                  <a:srgbClr val="1C2330"/>
                </a:solidFill>
              </a:defRPr>
            </a:pPr>
            <a:r>
              <a:t>Vừa đồng bộ dữ liệu lên Hub TCT, vừa xây Dashboard quản trị phục vụ trực tiếp nhu cầu điều hành nội bộ.</a:t>
            </a:r>
          </a:p>
        </p:txBody>
      </p:sp>
      <p:sp>
        <p:nvSpPr>
          <p:cNvPr id="43" name="Rounded Rectangle 42"/>
          <p:cNvSpPr/>
          <p:nvPr/>
        </p:nvSpPr>
        <p:spPr>
          <a:xfrm>
            <a:off x="649224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400" y="4983480"/>
            <a:ext cx="2194560" cy="228600"/>
          </a:xfrm>
          <a:prstGeom prst="rect">
            <a:avLst/>
          </a:prstGeom>
          <a:noFill/>
        </p:spPr>
        <p:txBody>
          <a:bodyPr wrap="square">
            <a:spAutoFit/>
          </a:bodyPr>
          <a:lstStyle/>
          <a:p>
            <a:pPr algn="l">
              <a:defRPr sz="1000" b="1">
                <a:solidFill>
                  <a:srgbClr val="1C2330"/>
                </a:solidFill>
              </a:defRPr>
            </a:pPr>
            <a:r>
              <a:t>Mức độ tự chủ</a:t>
            </a:r>
          </a:p>
        </p:txBody>
      </p:sp>
      <p:sp>
        <p:nvSpPr>
          <p:cNvPr id="45" name="TextBox 44"/>
          <p:cNvSpPr txBox="1"/>
          <p:nvPr/>
        </p:nvSpPr>
        <p:spPr>
          <a:xfrm>
            <a:off x="8686800" y="4983480"/>
            <a:ext cx="2468880" cy="228600"/>
          </a:xfrm>
          <a:prstGeom prst="rect">
            <a:avLst/>
          </a:prstGeom>
          <a:noFill/>
        </p:spPr>
        <p:txBody>
          <a:bodyPr wrap="square">
            <a:spAutoFit/>
          </a:bodyPr>
          <a:lstStyle/>
          <a:p>
            <a:pPr algn="r">
              <a:defRPr sz="1000" b="1">
                <a:solidFill>
                  <a:srgbClr val="158050"/>
                </a:solidFill>
              </a:defRPr>
            </a:pPr>
            <a:r>
              <a:t>BÀN GIAO MÃ NGUỒN 100%</a:t>
            </a:r>
          </a:p>
        </p:txBody>
      </p:sp>
      <p:sp>
        <p:nvSpPr>
          <p:cNvPr id="46" name="TextBox 45"/>
          <p:cNvSpPr txBox="1"/>
          <p:nvPr/>
        </p:nvSpPr>
        <p:spPr>
          <a:xfrm>
            <a:off x="6629400" y="5230368"/>
            <a:ext cx="4480560" cy="502920"/>
          </a:xfrm>
          <a:prstGeom prst="rect">
            <a:avLst/>
          </a:prstGeom>
          <a:noFill/>
        </p:spPr>
        <p:txBody>
          <a:bodyPr wrap="square">
            <a:spAutoFit/>
          </a:bodyPr>
          <a:lstStyle/>
          <a:p>
            <a:pPr algn="l">
              <a:defRPr sz="950" b="0">
                <a:solidFill>
                  <a:srgbClr val="1C2330"/>
                </a:solidFill>
              </a:defRPr>
            </a:pPr>
            <a:r>
              <a:t>Bàn giao toàn bộ source code, tài liệu kiến trúc. Đào tạo IT QN làm chủ vận hành. Tận dụng license miễn phí từ TCT.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C: KIẾN TRÚC KẾT NỐI — TÀI CHÍNH</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CƠ CẤU ĐẦU TƯ VÀ DỰ TOÁN NGÂN SÁCH (THEO KHUNG CHI PHÍ CỦA TCT)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10</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ectangle 8"/>
          <p:cNvSpPr/>
          <p:nvPr/>
        </p:nvSpPr>
        <p:spPr>
          <a:xfrm>
            <a:off x="731520" y="1280160"/>
            <a:ext cx="10698480" cy="36576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325880"/>
            <a:ext cx="548640" cy="274320"/>
          </a:xfrm>
          <a:prstGeom prst="rect">
            <a:avLst/>
          </a:prstGeom>
          <a:noFill/>
        </p:spPr>
        <p:txBody>
          <a:bodyPr wrap="square">
            <a:spAutoFit/>
          </a:bodyPr>
          <a:lstStyle/>
          <a:p>
            <a:pPr algn="ctr">
              <a:defRPr sz="1000" b="1">
                <a:solidFill>
                  <a:srgbClr val="FFFFFF"/>
                </a:solidFill>
              </a:defRPr>
            </a:pPr>
            <a:r>
              <a:t>STT</a:t>
            </a:r>
          </a:p>
        </p:txBody>
      </p:sp>
      <p:sp>
        <p:nvSpPr>
          <p:cNvPr id="11" name="TextBox 10"/>
          <p:cNvSpPr txBox="1"/>
          <p:nvPr/>
        </p:nvSpPr>
        <p:spPr>
          <a:xfrm>
            <a:off x="1463040" y="1325880"/>
            <a:ext cx="2926080" cy="274320"/>
          </a:xfrm>
          <a:prstGeom prst="rect">
            <a:avLst/>
          </a:prstGeom>
          <a:noFill/>
        </p:spPr>
        <p:txBody>
          <a:bodyPr wrap="square">
            <a:spAutoFit/>
          </a:bodyPr>
          <a:lstStyle/>
          <a:p>
            <a:pPr algn="l">
              <a:defRPr sz="1000" b="1">
                <a:solidFill>
                  <a:srgbClr val="FFFFFF"/>
                </a:solidFill>
              </a:defRPr>
            </a:pPr>
            <a:r>
              <a:t>CẤU PHẦN CHI PHÍ</a:t>
            </a:r>
          </a:p>
        </p:txBody>
      </p:sp>
      <p:sp>
        <p:nvSpPr>
          <p:cNvPr id="12" name="TextBox 11"/>
          <p:cNvSpPr txBox="1"/>
          <p:nvPr/>
        </p:nvSpPr>
        <p:spPr>
          <a:xfrm>
            <a:off x="4480560" y="1325880"/>
            <a:ext cx="4114800" cy="274320"/>
          </a:xfrm>
          <a:prstGeom prst="rect">
            <a:avLst/>
          </a:prstGeom>
          <a:noFill/>
        </p:spPr>
        <p:txBody>
          <a:bodyPr wrap="square">
            <a:spAutoFit/>
          </a:bodyPr>
          <a:lstStyle/>
          <a:p>
            <a:pPr algn="l">
              <a:defRPr sz="1000" b="1">
                <a:solidFill>
                  <a:srgbClr val="FFFFFF"/>
                </a:solidFill>
              </a:defRPr>
            </a:pPr>
            <a:r>
              <a:t>NỘI DUNG THỰC HIỆN</a:t>
            </a:r>
          </a:p>
        </p:txBody>
      </p:sp>
      <p:sp>
        <p:nvSpPr>
          <p:cNvPr id="13" name="TextBox 12"/>
          <p:cNvSpPr txBox="1"/>
          <p:nvPr/>
        </p:nvSpPr>
        <p:spPr>
          <a:xfrm>
            <a:off x="8686800" y="1325880"/>
            <a:ext cx="2651760" cy="274320"/>
          </a:xfrm>
          <a:prstGeom prst="rect">
            <a:avLst/>
          </a:prstGeom>
          <a:noFill/>
        </p:spPr>
        <p:txBody>
          <a:bodyPr wrap="square">
            <a:spAutoFit/>
          </a:bodyPr>
          <a:lstStyle/>
          <a:p>
            <a:pPr algn="ctr">
              <a:defRPr sz="1000" b="1">
                <a:solidFill>
                  <a:srgbClr val="FFFFFF"/>
                </a:solidFill>
              </a:defRPr>
            </a:pPr>
            <a:r>
              <a:t>DỰ TOÁN</a:t>
            </a:r>
          </a:p>
        </p:txBody>
      </p:sp>
      <p:sp>
        <p:nvSpPr>
          <p:cNvPr id="14" name="Rectangle 13"/>
          <p:cNvSpPr/>
          <p:nvPr/>
        </p:nvSpPr>
        <p:spPr>
          <a:xfrm>
            <a:off x="731520" y="1691640"/>
            <a:ext cx="10698480" cy="484632"/>
          </a:xfrm>
          <a:prstGeom prst="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783080"/>
            <a:ext cx="548640" cy="274320"/>
          </a:xfrm>
          <a:prstGeom prst="rect">
            <a:avLst/>
          </a:prstGeom>
          <a:noFill/>
        </p:spPr>
        <p:txBody>
          <a:bodyPr wrap="square">
            <a:spAutoFit/>
          </a:bodyPr>
          <a:lstStyle/>
          <a:p>
            <a:pPr algn="ctr">
              <a:defRPr sz="1000" b="1">
                <a:solidFill>
                  <a:srgbClr val="1C2330"/>
                </a:solidFill>
              </a:defRPr>
            </a:pPr>
            <a:r>
              <a:t>1</a:t>
            </a:r>
          </a:p>
        </p:txBody>
      </p:sp>
      <p:sp>
        <p:nvSpPr>
          <p:cNvPr id="16" name="TextBox 15"/>
          <p:cNvSpPr txBox="1"/>
          <p:nvPr/>
        </p:nvSpPr>
        <p:spPr>
          <a:xfrm>
            <a:off x="1463040" y="1783080"/>
            <a:ext cx="2926080" cy="274320"/>
          </a:xfrm>
          <a:prstGeom prst="rect">
            <a:avLst/>
          </a:prstGeom>
          <a:noFill/>
        </p:spPr>
        <p:txBody>
          <a:bodyPr wrap="square">
            <a:spAutoFit/>
          </a:bodyPr>
          <a:lstStyle/>
          <a:p>
            <a:pPr algn="l">
              <a:defRPr sz="1000" b="1">
                <a:solidFill>
                  <a:srgbClr val="1C2330"/>
                </a:solidFill>
              </a:defRPr>
            </a:pPr>
            <a:r>
              <a:t>Hạ tầng máy chủ tại đơn vị</a:t>
            </a:r>
          </a:p>
        </p:txBody>
      </p:sp>
      <p:sp>
        <p:nvSpPr>
          <p:cNvPr id="17" name="TextBox 16"/>
          <p:cNvSpPr txBox="1"/>
          <p:nvPr/>
        </p:nvSpPr>
        <p:spPr>
          <a:xfrm>
            <a:off x="4480560" y="1783080"/>
            <a:ext cx="4114800" cy="274320"/>
          </a:xfrm>
          <a:prstGeom prst="rect">
            <a:avLst/>
          </a:prstGeom>
          <a:noFill/>
        </p:spPr>
        <p:txBody>
          <a:bodyPr wrap="square">
            <a:spAutoFit/>
          </a:bodyPr>
          <a:lstStyle/>
          <a:p>
            <a:pPr algn="l">
              <a:defRPr sz="950" b="0">
                <a:solidFill>
                  <a:srgbClr val="1C2330"/>
                </a:solidFill>
              </a:defRPr>
            </a:pPr>
            <a:r>
              <a:t>Tận dụng máy chủ ảo (VM) sẵn có tại Datacenter QN</a:t>
            </a:r>
          </a:p>
        </p:txBody>
      </p:sp>
      <p:sp>
        <p:nvSpPr>
          <p:cNvPr id="18" name="TextBox 17"/>
          <p:cNvSpPr txBox="1"/>
          <p:nvPr/>
        </p:nvSpPr>
        <p:spPr>
          <a:xfrm>
            <a:off x="8686800" y="1783080"/>
            <a:ext cx="2651760" cy="274320"/>
          </a:xfrm>
          <a:prstGeom prst="rect">
            <a:avLst/>
          </a:prstGeom>
          <a:noFill/>
        </p:spPr>
        <p:txBody>
          <a:bodyPr wrap="square">
            <a:spAutoFit/>
          </a:bodyPr>
          <a:lstStyle/>
          <a:p>
            <a:pPr algn="ctr">
              <a:defRPr sz="1000" b="1">
                <a:solidFill>
                  <a:srgbClr val="158050"/>
                </a:solidFill>
              </a:defRPr>
            </a:pPr>
            <a:r>
              <a:t>0 VNĐ (Tự có)</a:t>
            </a:r>
          </a:p>
        </p:txBody>
      </p:sp>
      <p:sp>
        <p:nvSpPr>
          <p:cNvPr id="19" name="Rectangle 18"/>
          <p:cNvSpPr/>
          <p:nvPr/>
        </p:nvSpPr>
        <p:spPr>
          <a:xfrm>
            <a:off x="731520" y="2221992"/>
            <a:ext cx="10698480" cy="484632"/>
          </a:xfrm>
          <a:prstGeom prst="rect">
            <a:avLst/>
          </a:prstGeom>
          <a:solidFill>
            <a:srgbClr val="F3F5F8"/>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313432"/>
            <a:ext cx="548640" cy="274320"/>
          </a:xfrm>
          <a:prstGeom prst="rect">
            <a:avLst/>
          </a:prstGeom>
          <a:noFill/>
        </p:spPr>
        <p:txBody>
          <a:bodyPr wrap="square">
            <a:spAutoFit/>
          </a:bodyPr>
          <a:lstStyle/>
          <a:p>
            <a:pPr algn="ctr">
              <a:defRPr sz="1000" b="1">
                <a:solidFill>
                  <a:srgbClr val="1C2330"/>
                </a:solidFill>
              </a:defRPr>
            </a:pPr>
            <a:r>
              <a:t>2</a:t>
            </a:r>
          </a:p>
        </p:txBody>
      </p:sp>
      <p:sp>
        <p:nvSpPr>
          <p:cNvPr id="21" name="TextBox 20"/>
          <p:cNvSpPr txBox="1"/>
          <p:nvPr/>
        </p:nvSpPr>
        <p:spPr>
          <a:xfrm>
            <a:off x="1463040" y="2313432"/>
            <a:ext cx="2926080" cy="274320"/>
          </a:xfrm>
          <a:prstGeom prst="rect">
            <a:avLst/>
          </a:prstGeom>
          <a:noFill/>
        </p:spPr>
        <p:txBody>
          <a:bodyPr wrap="square">
            <a:spAutoFit/>
          </a:bodyPr>
          <a:lstStyle/>
          <a:p>
            <a:pPr algn="l">
              <a:defRPr sz="1000" b="1">
                <a:solidFill>
                  <a:srgbClr val="1C2330"/>
                </a:solidFill>
              </a:defRPr>
            </a:pPr>
            <a:r>
              <a:t>Hạ tầng Cloud Hub &amp; Bản quyền khung</a:t>
            </a:r>
          </a:p>
        </p:txBody>
      </p:sp>
      <p:sp>
        <p:nvSpPr>
          <p:cNvPr id="22" name="TextBox 21"/>
          <p:cNvSpPr txBox="1"/>
          <p:nvPr/>
        </p:nvSpPr>
        <p:spPr>
          <a:xfrm>
            <a:off x="4480560" y="2313432"/>
            <a:ext cx="4114800" cy="274320"/>
          </a:xfrm>
          <a:prstGeom prst="rect">
            <a:avLst/>
          </a:prstGeom>
          <a:noFill/>
        </p:spPr>
        <p:txBody>
          <a:bodyPr wrap="square">
            <a:spAutoFit/>
          </a:bodyPr>
          <a:lstStyle/>
          <a:p>
            <a:pPr algn="l">
              <a:defRPr sz="950" b="0">
                <a:solidFill>
                  <a:srgbClr val="1C2330"/>
                </a:solidFill>
              </a:defRPr>
            </a:pPr>
            <a:r>
              <a:t>Microsoft Fabric 20TB, MinIO, Power BI Enterprise, Purview</a:t>
            </a:r>
          </a:p>
        </p:txBody>
      </p:sp>
      <p:sp>
        <p:nvSpPr>
          <p:cNvPr id="23" name="TextBox 22"/>
          <p:cNvSpPr txBox="1"/>
          <p:nvPr/>
        </p:nvSpPr>
        <p:spPr>
          <a:xfrm>
            <a:off x="8686800" y="2313432"/>
            <a:ext cx="2651760" cy="274320"/>
          </a:xfrm>
          <a:prstGeom prst="rect">
            <a:avLst/>
          </a:prstGeom>
          <a:noFill/>
        </p:spPr>
        <p:txBody>
          <a:bodyPr wrap="square">
            <a:spAutoFit/>
          </a:bodyPr>
          <a:lstStyle/>
          <a:p>
            <a:pPr algn="ctr">
              <a:defRPr sz="1000" b="1">
                <a:solidFill>
                  <a:srgbClr val="1E64BE"/>
                </a:solidFill>
              </a:defRPr>
            </a:pPr>
            <a:r>
              <a:t>TCT đã đầu tư</a:t>
            </a:r>
          </a:p>
        </p:txBody>
      </p:sp>
      <p:sp>
        <p:nvSpPr>
          <p:cNvPr id="24" name="Rectangle 23"/>
          <p:cNvSpPr/>
          <p:nvPr/>
        </p:nvSpPr>
        <p:spPr>
          <a:xfrm>
            <a:off x="731520" y="2752344"/>
            <a:ext cx="10698480" cy="484632"/>
          </a:xfrm>
          <a:prstGeom prst="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2843784"/>
            <a:ext cx="548640" cy="274320"/>
          </a:xfrm>
          <a:prstGeom prst="rect">
            <a:avLst/>
          </a:prstGeom>
          <a:noFill/>
        </p:spPr>
        <p:txBody>
          <a:bodyPr wrap="square">
            <a:spAutoFit/>
          </a:bodyPr>
          <a:lstStyle/>
          <a:p>
            <a:pPr algn="ctr">
              <a:defRPr sz="1000" b="1">
                <a:solidFill>
                  <a:srgbClr val="1C2330"/>
                </a:solidFill>
              </a:defRPr>
            </a:pPr>
            <a:r>
              <a:t>3</a:t>
            </a:r>
          </a:p>
        </p:txBody>
      </p:sp>
      <p:sp>
        <p:nvSpPr>
          <p:cNvPr id="26" name="TextBox 25"/>
          <p:cNvSpPr txBox="1"/>
          <p:nvPr/>
        </p:nvSpPr>
        <p:spPr>
          <a:xfrm>
            <a:off x="1463040" y="2843784"/>
            <a:ext cx="2926080" cy="274320"/>
          </a:xfrm>
          <a:prstGeom prst="rect">
            <a:avLst/>
          </a:prstGeom>
          <a:noFill/>
        </p:spPr>
        <p:txBody>
          <a:bodyPr wrap="square">
            <a:spAutoFit/>
          </a:bodyPr>
          <a:lstStyle/>
          <a:p>
            <a:pPr algn="l">
              <a:defRPr sz="1000" b="1">
                <a:solidFill>
                  <a:srgbClr val="1C2330"/>
                </a:solidFill>
              </a:defRPr>
            </a:pPr>
            <a:r>
              <a:t>Dịch vụ: Khảo sát &amp; Thiết kế kiến trúc</a:t>
            </a:r>
          </a:p>
        </p:txBody>
      </p:sp>
      <p:sp>
        <p:nvSpPr>
          <p:cNvPr id="27" name="TextBox 26"/>
          <p:cNvSpPr txBox="1"/>
          <p:nvPr/>
        </p:nvSpPr>
        <p:spPr>
          <a:xfrm>
            <a:off x="4480560" y="2843784"/>
            <a:ext cx="4114800" cy="274320"/>
          </a:xfrm>
          <a:prstGeom prst="rect">
            <a:avLst/>
          </a:prstGeom>
          <a:noFill/>
        </p:spPr>
        <p:txBody>
          <a:bodyPr wrap="square">
            <a:spAutoFit/>
          </a:bodyPr>
          <a:lstStyle/>
          <a:p>
            <a:pPr algn="l">
              <a:defRPr sz="950" b="0">
                <a:solidFill>
                  <a:srgbClr val="1C2330"/>
                </a:solidFill>
              </a:defRPr>
            </a:pPr>
            <a:r>
              <a:t>Khảo sát CSDL 4 phần mềm, lập bảng ánh xạ 29 Master Data</a:t>
            </a:r>
          </a:p>
        </p:txBody>
      </p:sp>
      <p:sp>
        <p:nvSpPr>
          <p:cNvPr id="28" name="TextBox 27"/>
          <p:cNvSpPr txBox="1"/>
          <p:nvPr/>
        </p:nvSpPr>
        <p:spPr>
          <a:xfrm>
            <a:off x="8686800" y="2843784"/>
            <a:ext cx="2651760" cy="274320"/>
          </a:xfrm>
          <a:prstGeom prst="rect">
            <a:avLst/>
          </a:prstGeom>
          <a:noFill/>
        </p:spPr>
        <p:txBody>
          <a:bodyPr wrap="square">
            <a:spAutoFit/>
          </a:bodyPr>
          <a:lstStyle/>
          <a:p>
            <a:pPr algn="ctr">
              <a:defRPr sz="1000" b="1">
                <a:solidFill>
                  <a:srgbClr val="B47300"/>
                </a:solidFill>
              </a:defRPr>
            </a:pPr>
            <a:r>
              <a:t>[Chờ NCC báo giá]</a:t>
            </a:r>
          </a:p>
        </p:txBody>
      </p:sp>
      <p:sp>
        <p:nvSpPr>
          <p:cNvPr id="29" name="Rectangle 28"/>
          <p:cNvSpPr/>
          <p:nvPr/>
        </p:nvSpPr>
        <p:spPr>
          <a:xfrm>
            <a:off x="731520" y="3282696"/>
            <a:ext cx="10698480" cy="484632"/>
          </a:xfrm>
          <a:prstGeom prst="rect">
            <a:avLst/>
          </a:prstGeom>
          <a:solidFill>
            <a:srgbClr val="F3F5F8"/>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374136"/>
            <a:ext cx="548640" cy="274320"/>
          </a:xfrm>
          <a:prstGeom prst="rect">
            <a:avLst/>
          </a:prstGeom>
          <a:noFill/>
        </p:spPr>
        <p:txBody>
          <a:bodyPr wrap="square">
            <a:spAutoFit/>
          </a:bodyPr>
          <a:lstStyle/>
          <a:p>
            <a:pPr algn="ctr">
              <a:defRPr sz="1000" b="1">
                <a:solidFill>
                  <a:srgbClr val="1C2330"/>
                </a:solidFill>
              </a:defRPr>
            </a:pPr>
            <a:r>
              <a:t>4</a:t>
            </a:r>
          </a:p>
        </p:txBody>
      </p:sp>
      <p:sp>
        <p:nvSpPr>
          <p:cNvPr id="31" name="TextBox 30"/>
          <p:cNvSpPr txBox="1"/>
          <p:nvPr/>
        </p:nvSpPr>
        <p:spPr>
          <a:xfrm>
            <a:off x="1463040" y="3374136"/>
            <a:ext cx="2926080" cy="274320"/>
          </a:xfrm>
          <a:prstGeom prst="rect">
            <a:avLst/>
          </a:prstGeom>
          <a:noFill/>
        </p:spPr>
        <p:txBody>
          <a:bodyPr wrap="square">
            <a:spAutoFit/>
          </a:bodyPr>
          <a:lstStyle/>
          <a:p>
            <a:pPr algn="l">
              <a:defRPr sz="1000" b="1">
                <a:solidFill>
                  <a:srgbClr val="1C2330"/>
                </a:solidFill>
              </a:defRPr>
            </a:pPr>
            <a:r>
              <a:t>Dịch vụ: Xây dựng Trục tích hợp (ETL)</a:t>
            </a:r>
          </a:p>
        </p:txBody>
      </p:sp>
      <p:sp>
        <p:nvSpPr>
          <p:cNvPr id="32" name="TextBox 31"/>
          <p:cNvSpPr txBox="1"/>
          <p:nvPr/>
        </p:nvSpPr>
        <p:spPr>
          <a:xfrm>
            <a:off x="4480560" y="3374136"/>
            <a:ext cx="4114800" cy="274320"/>
          </a:xfrm>
          <a:prstGeom prst="rect">
            <a:avLst/>
          </a:prstGeom>
          <a:noFill/>
        </p:spPr>
        <p:txBody>
          <a:bodyPr wrap="square">
            <a:spAutoFit/>
          </a:bodyPr>
          <a:lstStyle/>
          <a:p>
            <a:pPr algn="l">
              <a:defRPr sz="950" b="0">
                <a:solidFill>
                  <a:srgbClr val="1C2330"/>
                </a:solidFill>
              </a:defRPr>
            </a:pPr>
            <a:r>
              <a:t>Lập trình luồng trích xuất, chuẩn hóa, mã hóa và truyền VPN</a:t>
            </a:r>
          </a:p>
        </p:txBody>
      </p:sp>
      <p:sp>
        <p:nvSpPr>
          <p:cNvPr id="33" name="TextBox 32"/>
          <p:cNvSpPr txBox="1"/>
          <p:nvPr/>
        </p:nvSpPr>
        <p:spPr>
          <a:xfrm>
            <a:off x="8686800" y="3374136"/>
            <a:ext cx="2651760" cy="274320"/>
          </a:xfrm>
          <a:prstGeom prst="rect">
            <a:avLst/>
          </a:prstGeom>
          <a:noFill/>
        </p:spPr>
        <p:txBody>
          <a:bodyPr wrap="square">
            <a:spAutoFit/>
          </a:bodyPr>
          <a:lstStyle/>
          <a:p>
            <a:pPr algn="ctr">
              <a:defRPr sz="1000" b="1">
                <a:solidFill>
                  <a:srgbClr val="B47300"/>
                </a:solidFill>
              </a:defRPr>
            </a:pPr>
            <a:r>
              <a:t>[Chờ NCC báo giá]</a:t>
            </a:r>
          </a:p>
        </p:txBody>
      </p:sp>
      <p:sp>
        <p:nvSpPr>
          <p:cNvPr id="34" name="Rectangle 33"/>
          <p:cNvSpPr/>
          <p:nvPr/>
        </p:nvSpPr>
        <p:spPr>
          <a:xfrm>
            <a:off x="731520" y="3813048"/>
            <a:ext cx="10698480" cy="484632"/>
          </a:xfrm>
          <a:prstGeom prst="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904488"/>
            <a:ext cx="548640" cy="274320"/>
          </a:xfrm>
          <a:prstGeom prst="rect">
            <a:avLst/>
          </a:prstGeom>
          <a:noFill/>
        </p:spPr>
        <p:txBody>
          <a:bodyPr wrap="square">
            <a:spAutoFit/>
          </a:bodyPr>
          <a:lstStyle/>
          <a:p>
            <a:pPr algn="ctr">
              <a:defRPr sz="1000" b="1">
                <a:solidFill>
                  <a:srgbClr val="1C2330"/>
                </a:solidFill>
              </a:defRPr>
            </a:pPr>
            <a:r>
              <a:t>5</a:t>
            </a:r>
          </a:p>
        </p:txBody>
      </p:sp>
      <p:sp>
        <p:nvSpPr>
          <p:cNvPr id="36" name="TextBox 35"/>
          <p:cNvSpPr txBox="1"/>
          <p:nvPr/>
        </p:nvSpPr>
        <p:spPr>
          <a:xfrm>
            <a:off x="1463040" y="3904488"/>
            <a:ext cx="2926080" cy="274320"/>
          </a:xfrm>
          <a:prstGeom prst="rect">
            <a:avLst/>
          </a:prstGeom>
          <a:noFill/>
        </p:spPr>
        <p:txBody>
          <a:bodyPr wrap="square">
            <a:spAutoFit/>
          </a:bodyPr>
          <a:lstStyle/>
          <a:p>
            <a:pPr algn="l">
              <a:defRPr sz="1000" b="1">
                <a:solidFill>
                  <a:srgbClr val="1C2330"/>
                </a:solidFill>
              </a:defRPr>
            </a:pPr>
            <a:r>
              <a:t>Dịch vụ: Xây dựng Dashboard Power BI</a:t>
            </a:r>
          </a:p>
        </p:txBody>
      </p:sp>
      <p:sp>
        <p:nvSpPr>
          <p:cNvPr id="37" name="TextBox 36"/>
          <p:cNvSpPr txBox="1"/>
          <p:nvPr/>
        </p:nvSpPr>
        <p:spPr>
          <a:xfrm>
            <a:off x="4480560" y="3904488"/>
            <a:ext cx="4114800" cy="274320"/>
          </a:xfrm>
          <a:prstGeom prst="rect">
            <a:avLst/>
          </a:prstGeom>
          <a:noFill/>
        </p:spPr>
        <p:txBody>
          <a:bodyPr wrap="square">
            <a:spAutoFit/>
          </a:bodyPr>
          <a:lstStyle/>
          <a:p>
            <a:pPr algn="l">
              <a:defRPr sz="950" b="0">
                <a:solidFill>
                  <a:srgbClr val="1C2330"/>
                </a:solidFill>
              </a:defRPr>
            </a:pPr>
            <a:r>
              <a:t>Thiết kế mô hình dữ liệu và các bảng báo cáo quản trị</a:t>
            </a:r>
          </a:p>
        </p:txBody>
      </p:sp>
      <p:sp>
        <p:nvSpPr>
          <p:cNvPr id="38" name="TextBox 37"/>
          <p:cNvSpPr txBox="1"/>
          <p:nvPr/>
        </p:nvSpPr>
        <p:spPr>
          <a:xfrm>
            <a:off x="8686800" y="3904488"/>
            <a:ext cx="2651760" cy="274320"/>
          </a:xfrm>
          <a:prstGeom prst="rect">
            <a:avLst/>
          </a:prstGeom>
          <a:noFill/>
        </p:spPr>
        <p:txBody>
          <a:bodyPr wrap="square">
            <a:spAutoFit/>
          </a:bodyPr>
          <a:lstStyle/>
          <a:p>
            <a:pPr algn="ctr">
              <a:defRPr sz="1000" b="1">
                <a:solidFill>
                  <a:srgbClr val="B47300"/>
                </a:solidFill>
              </a:defRPr>
            </a:pPr>
            <a:r>
              <a:t>[Chờ NCC báo giá]</a:t>
            </a:r>
          </a:p>
        </p:txBody>
      </p:sp>
      <p:sp>
        <p:nvSpPr>
          <p:cNvPr id="39" name="Rectangle 38"/>
          <p:cNvSpPr/>
          <p:nvPr/>
        </p:nvSpPr>
        <p:spPr>
          <a:xfrm>
            <a:off x="731520" y="4343400"/>
            <a:ext cx="10698480" cy="484632"/>
          </a:xfrm>
          <a:prstGeom prst="rect">
            <a:avLst/>
          </a:prstGeom>
          <a:solidFill>
            <a:srgbClr val="F3F5F8"/>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434840"/>
            <a:ext cx="548640" cy="274320"/>
          </a:xfrm>
          <a:prstGeom prst="rect">
            <a:avLst/>
          </a:prstGeom>
          <a:noFill/>
        </p:spPr>
        <p:txBody>
          <a:bodyPr wrap="square">
            <a:spAutoFit/>
          </a:bodyPr>
          <a:lstStyle/>
          <a:p>
            <a:pPr algn="ctr">
              <a:defRPr sz="1000" b="1">
                <a:solidFill>
                  <a:srgbClr val="1C2330"/>
                </a:solidFill>
              </a:defRPr>
            </a:pPr>
            <a:r>
              <a:t>6</a:t>
            </a:r>
          </a:p>
        </p:txBody>
      </p:sp>
      <p:sp>
        <p:nvSpPr>
          <p:cNvPr id="41" name="TextBox 40"/>
          <p:cNvSpPr txBox="1"/>
          <p:nvPr/>
        </p:nvSpPr>
        <p:spPr>
          <a:xfrm>
            <a:off x="1463040" y="4434840"/>
            <a:ext cx="2926080" cy="274320"/>
          </a:xfrm>
          <a:prstGeom prst="rect">
            <a:avLst/>
          </a:prstGeom>
          <a:noFill/>
        </p:spPr>
        <p:txBody>
          <a:bodyPr wrap="square">
            <a:spAutoFit/>
          </a:bodyPr>
          <a:lstStyle/>
          <a:p>
            <a:pPr algn="l">
              <a:defRPr sz="1000" b="1">
                <a:solidFill>
                  <a:srgbClr val="1C2330"/>
                </a:solidFill>
              </a:defRPr>
            </a:pPr>
            <a:r>
              <a:t>Đào tạo chuyển giao &amp; Bảo hành</a:t>
            </a:r>
          </a:p>
        </p:txBody>
      </p:sp>
      <p:sp>
        <p:nvSpPr>
          <p:cNvPr id="42" name="TextBox 41"/>
          <p:cNvSpPr txBox="1"/>
          <p:nvPr/>
        </p:nvSpPr>
        <p:spPr>
          <a:xfrm>
            <a:off x="4480560" y="4434840"/>
            <a:ext cx="4114800" cy="274320"/>
          </a:xfrm>
          <a:prstGeom prst="rect">
            <a:avLst/>
          </a:prstGeom>
          <a:noFill/>
        </p:spPr>
        <p:txBody>
          <a:bodyPr wrap="square">
            <a:spAutoFit/>
          </a:bodyPr>
          <a:lstStyle/>
          <a:p>
            <a:pPr algn="l">
              <a:defRPr sz="950" b="0">
                <a:solidFill>
                  <a:srgbClr val="1C2330"/>
                </a:solidFill>
              </a:defRPr>
            </a:pPr>
            <a:r>
              <a:t>Bàn giao mã nguồn, đào tạo IT QN vận hành độc lập</a:t>
            </a:r>
          </a:p>
        </p:txBody>
      </p:sp>
      <p:sp>
        <p:nvSpPr>
          <p:cNvPr id="43" name="TextBox 42"/>
          <p:cNvSpPr txBox="1"/>
          <p:nvPr/>
        </p:nvSpPr>
        <p:spPr>
          <a:xfrm>
            <a:off x="8686800" y="4434840"/>
            <a:ext cx="2651760" cy="274320"/>
          </a:xfrm>
          <a:prstGeom prst="rect">
            <a:avLst/>
          </a:prstGeom>
          <a:noFill/>
        </p:spPr>
        <p:txBody>
          <a:bodyPr wrap="square">
            <a:spAutoFit/>
          </a:bodyPr>
          <a:lstStyle/>
          <a:p>
            <a:pPr algn="ctr">
              <a:defRPr sz="1000" b="1">
                <a:solidFill>
                  <a:srgbClr val="B47300"/>
                </a:solidFill>
              </a:defRPr>
            </a:pPr>
            <a:r>
              <a:t>[Chờ NCC báo giá]</a:t>
            </a:r>
          </a:p>
        </p:txBody>
      </p:sp>
      <p:sp>
        <p:nvSpPr>
          <p:cNvPr id="44" name="Rectangle 43"/>
          <p:cNvSpPr/>
          <p:nvPr/>
        </p:nvSpPr>
        <p:spPr>
          <a:xfrm>
            <a:off x="731520" y="4873752"/>
            <a:ext cx="10698480" cy="484632"/>
          </a:xfrm>
          <a:prstGeom prst="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4965192"/>
            <a:ext cx="548640" cy="274320"/>
          </a:xfrm>
          <a:prstGeom prst="rect">
            <a:avLst/>
          </a:prstGeom>
          <a:noFill/>
        </p:spPr>
        <p:txBody>
          <a:bodyPr wrap="square">
            <a:spAutoFit/>
          </a:bodyPr>
          <a:lstStyle/>
          <a:p>
            <a:pPr algn="ctr">
              <a:defRPr sz="1000" b="1">
                <a:solidFill>
                  <a:srgbClr val="1C2330"/>
                </a:solidFill>
              </a:defRPr>
            </a:pPr>
            <a:r>
              <a:t>7</a:t>
            </a:r>
          </a:p>
        </p:txBody>
      </p:sp>
      <p:sp>
        <p:nvSpPr>
          <p:cNvPr id="46" name="TextBox 45"/>
          <p:cNvSpPr txBox="1"/>
          <p:nvPr/>
        </p:nvSpPr>
        <p:spPr>
          <a:xfrm>
            <a:off x="1463040" y="4965192"/>
            <a:ext cx="2926080" cy="274320"/>
          </a:xfrm>
          <a:prstGeom prst="rect">
            <a:avLst/>
          </a:prstGeom>
          <a:noFill/>
        </p:spPr>
        <p:txBody>
          <a:bodyPr wrap="square">
            <a:spAutoFit/>
          </a:bodyPr>
          <a:lstStyle/>
          <a:p>
            <a:pPr algn="l">
              <a:defRPr sz="1000" b="1">
                <a:solidFill>
                  <a:srgbClr val="1C2330"/>
                </a:solidFill>
              </a:defRPr>
            </a:pPr>
            <a:r>
              <a:t>Chi phí vận hành nền tảng hàng năm</a:t>
            </a:r>
          </a:p>
        </p:txBody>
      </p:sp>
      <p:sp>
        <p:nvSpPr>
          <p:cNvPr id="47" name="TextBox 46"/>
          <p:cNvSpPr txBox="1"/>
          <p:nvPr/>
        </p:nvSpPr>
        <p:spPr>
          <a:xfrm>
            <a:off x="4480560" y="4965192"/>
            <a:ext cx="4114800" cy="274320"/>
          </a:xfrm>
          <a:prstGeom prst="rect">
            <a:avLst/>
          </a:prstGeom>
          <a:noFill/>
        </p:spPr>
        <p:txBody>
          <a:bodyPr wrap="square">
            <a:spAutoFit/>
          </a:bodyPr>
          <a:lstStyle/>
          <a:p>
            <a:pPr algn="l">
              <a:defRPr sz="950" b="0">
                <a:solidFill>
                  <a:srgbClr val="1C2330"/>
                </a:solidFill>
              </a:defRPr>
            </a:pPr>
            <a:r>
              <a:t>TCT phân bổ theo mức sử dụng thực tế (Usage-based)</a:t>
            </a:r>
          </a:p>
        </p:txBody>
      </p:sp>
      <p:sp>
        <p:nvSpPr>
          <p:cNvPr id="48" name="TextBox 47"/>
          <p:cNvSpPr txBox="1"/>
          <p:nvPr/>
        </p:nvSpPr>
        <p:spPr>
          <a:xfrm>
            <a:off x="8686800" y="4965192"/>
            <a:ext cx="2651760" cy="274320"/>
          </a:xfrm>
          <a:prstGeom prst="rect">
            <a:avLst/>
          </a:prstGeom>
          <a:noFill/>
        </p:spPr>
        <p:txBody>
          <a:bodyPr wrap="square">
            <a:spAutoFit/>
          </a:bodyPr>
          <a:lstStyle/>
          <a:p>
            <a:pPr algn="ctr">
              <a:defRPr sz="1000" b="1">
                <a:solidFill>
                  <a:srgbClr val="6C7684"/>
                </a:solidFill>
              </a:defRPr>
            </a:pPr>
            <a:r>
              <a:t>Theo cơ chế TCT</a:t>
            </a:r>
          </a:p>
        </p:txBody>
      </p:sp>
      <p:sp>
        <p:nvSpPr>
          <p:cNvPr id="49" name="Rounded Rectangle 48"/>
          <p:cNvSpPr/>
          <p:nvPr/>
        </p:nvSpPr>
        <p:spPr>
          <a:xfrm>
            <a:off x="731520" y="5486400"/>
            <a:ext cx="10698480" cy="822960"/>
          </a:xfrm>
          <a:prstGeom prst="roundRect">
            <a:avLst/>
          </a:prstGeom>
          <a:solidFill>
            <a:srgbClr val="FFF5E1"/>
          </a:solidFill>
          <a:ln w="127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5532120"/>
            <a:ext cx="10149840" cy="731520"/>
          </a:xfrm>
          <a:prstGeom prst="rect">
            <a:avLst/>
          </a:prstGeom>
          <a:noFill/>
        </p:spPr>
        <p:txBody>
          <a:bodyPr wrap="square">
            <a:spAutoFit/>
          </a:bodyPr>
          <a:lstStyle/>
          <a:p>
            <a:pPr algn="ctr">
              <a:defRPr sz="1050" b="1">
                <a:solidFill>
                  <a:srgbClr val="0C2344"/>
                </a:solidFill>
              </a:defRPr>
            </a:pPr>
            <a:r>
              <a:t>NGUYÊN TẮC TÀI CHÍNH: Tiết kiệm chi phí hạ tầng và bản quyền nhờ tận dụng đầu tư sẵn có của TCT.</a:t>
            </a:r>
            <a:br/>
            <a:r>
              <a:t>Kinh phí dịch vụ NCC sẽ được xác định chính xác sau khi hoàn thành Giai đoạn 1 (khảo sát kỹ thuật nội bộ) và nhận báo giá cạnh tranh.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GĐ1 NỘI BỘ TỰ CHỦ TRÌ (CHI PHÍ 0 VNĐ)</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GIAI ĐOẠN 1 CHI TIẾT: KHẢO SÁT, CHUẨN HÓA DỮ LIỆU CHỦ &amp; LẬP ĐỀ BÀI</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11</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10698480" cy="1188720"/>
          </a:xfrm>
          <a:prstGeom prst="roundRect">
            <a:avLst/>
          </a:prstGeom>
          <a:solidFill>
            <a:srgbClr val="E6F0FC"/>
          </a:solidFill>
          <a:ln w="1524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16736"/>
            <a:ext cx="91440" cy="1115568"/>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353312"/>
            <a:ext cx="914400" cy="274320"/>
          </a:xfrm>
          <a:prstGeom prst="rect">
            <a:avLst/>
          </a:prstGeom>
          <a:noFill/>
        </p:spPr>
        <p:txBody>
          <a:bodyPr wrap="square">
            <a:spAutoFit/>
          </a:bodyPr>
          <a:lstStyle/>
          <a:p>
            <a:pPr algn="l">
              <a:defRPr sz="1100" b="1">
                <a:solidFill>
                  <a:srgbClr val="1E64BE"/>
                </a:solidFill>
              </a:defRPr>
            </a:pPr>
            <a:r>
              <a:t>Bước 1.1</a:t>
            </a:r>
          </a:p>
        </p:txBody>
      </p:sp>
      <p:sp>
        <p:nvSpPr>
          <p:cNvPr id="12" name="TextBox 11"/>
          <p:cNvSpPr txBox="1"/>
          <p:nvPr/>
        </p:nvSpPr>
        <p:spPr>
          <a:xfrm>
            <a:off x="2011680" y="1353312"/>
            <a:ext cx="9144000" cy="274320"/>
          </a:xfrm>
          <a:prstGeom prst="rect">
            <a:avLst/>
          </a:prstGeom>
          <a:noFill/>
        </p:spPr>
        <p:txBody>
          <a:bodyPr wrap="square">
            <a:spAutoFit/>
          </a:bodyPr>
          <a:lstStyle/>
          <a:p>
            <a:pPr algn="l">
              <a:defRPr sz="1150" b="1">
                <a:solidFill>
                  <a:srgbClr val="1C2330"/>
                </a:solidFill>
              </a:defRPr>
            </a:pPr>
            <a:r>
              <a:t>Thành lập Tổ Công tác Nền tảng Dữ liệu</a:t>
            </a:r>
          </a:p>
        </p:txBody>
      </p:sp>
      <p:sp>
        <p:nvSpPr>
          <p:cNvPr id="13" name="TextBox 12"/>
          <p:cNvSpPr txBox="1"/>
          <p:nvPr/>
        </p:nvSpPr>
        <p:spPr>
          <a:xfrm>
            <a:off x="1051560" y="1645920"/>
            <a:ext cx="10149840" cy="228600"/>
          </a:xfrm>
          <a:prstGeom prst="rect">
            <a:avLst/>
          </a:prstGeom>
          <a:noFill/>
        </p:spPr>
        <p:txBody>
          <a:bodyPr wrap="square">
            <a:spAutoFit/>
          </a:bodyPr>
          <a:lstStyle/>
          <a:p>
            <a:pPr algn="l">
              <a:defRPr sz="950" b="0">
                <a:solidFill>
                  <a:srgbClr val="1C2330"/>
                </a:solidFill>
              </a:defRPr>
            </a:pPr>
            <a:r>
              <a:t>• IT chủ trì kỹ thuật; Key Users từ các phòng Kế toán, Nhân sự, Vật tư, Dự án</a:t>
            </a:r>
          </a:p>
        </p:txBody>
      </p:sp>
      <p:sp>
        <p:nvSpPr>
          <p:cNvPr id="14" name="TextBox 13"/>
          <p:cNvSpPr txBox="1"/>
          <p:nvPr/>
        </p:nvSpPr>
        <p:spPr>
          <a:xfrm>
            <a:off x="1051560" y="1901952"/>
            <a:ext cx="10149840" cy="228600"/>
          </a:xfrm>
          <a:prstGeom prst="rect">
            <a:avLst/>
          </a:prstGeom>
          <a:noFill/>
        </p:spPr>
        <p:txBody>
          <a:bodyPr wrap="square">
            <a:spAutoFit/>
          </a:bodyPr>
          <a:lstStyle/>
          <a:p>
            <a:pPr algn="l">
              <a:defRPr sz="950" b="0">
                <a:solidFill>
                  <a:srgbClr val="1C2330"/>
                </a:solidFill>
              </a:defRPr>
            </a:pPr>
            <a:r>
              <a:t>• Ban Giám đốc ký Quyết định thành lập — là cơ sở để yêu cầu phối hợp liên phòng ban</a:t>
            </a:r>
          </a:p>
        </p:txBody>
      </p:sp>
      <p:sp>
        <p:nvSpPr>
          <p:cNvPr id="15" name="TextBox 14"/>
          <p:cNvSpPr txBox="1"/>
          <p:nvPr/>
        </p:nvSpPr>
        <p:spPr>
          <a:xfrm>
            <a:off x="1051560" y="2157984"/>
            <a:ext cx="10149840" cy="228600"/>
          </a:xfrm>
          <a:prstGeom prst="rect">
            <a:avLst/>
          </a:prstGeom>
          <a:noFill/>
        </p:spPr>
        <p:txBody>
          <a:bodyPr wrap="square">
            <a:spAutoFit/>
          </a:bodyPr>
          <a:lstStyle/>
          <a:p>
            <a:pPr algn="l">
              <a:defRPr sz="950" b="0">
                <a:solidFill>
                  <a:srgbClr val="1C2330"/>
                </a:solidFill>
              </a:defRPr>
            </a:pPr>
            <a:r>
              <a:t>• Giao Tổ công tác lập kế hoạch và điều phối toàn bộ Giai đoạn 1</a:t>
            </a:r>
          </a:p>
        </p:txBody>
      </p:sp>
      <p:sp>
        <p:nvSpPr>
          <p:cNvPr id="16" name="Rounded Rectangle 15"/>
          <p:cNvSpPr/>
          <p:nvPr/>
        </p:nvSpPr>
        <p:spPr>
          <a:xfrm>
            <a:off x="731520" y="2560320"/>
            <a:ext cx="10698480" cy="1188720"/>
          </a:xfrm>
          <a:prstGeom prst="roundRect">
            <a:avLst/>
          </a:prstGeom>
          <a:solidFill>
            <a:srgbClr val="E6F8F6"/>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2596896"/>
            <a:ext cx="91440"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33472"/>
            <a:ext cx="914400" cy="274320"/>
          </a:xfrm>
          <a:prstGeom prst="rect">
            <a:avLst/>
          </a:prstGeom>
          <a:noFill/>
        </p:spPr>
        <p:txBody>
          <a:bodyPr wrap="square">
            <a:spAutoFit/>
          </a:bodyPr>
          <a:lstStyle/>
          <a:p>
            <a:pPr algn="l">
              <a:defRPr sz="1100" b="1">
                <a:solidFill>
                  <a:srgbClr val="0D9488"/>
                </a:solidFill>
              </a:defRPr>
            </a:pPr>
            <a:r>
              <a:t>Bước 1.2</a:t>
            </a:r>
          </a:p>
        </p:txBody>
      </p:sp>
      <p:sp>
        <p:nvSpPr>
          <p:cNvPr id="19" name="TextBox 18"/>
          <p:cNvSpPr txBox="1"/>
          <p:nvPr/>
        </p:nvSpPr>
        <p:spPr>
          <a:xfrm>
            <a:off x="2011680" y="2633472"/>
            <a:ext cx="9144000" cy="274320"/>
          </a:xfrm>
          <a:prstGeom prst="rect">
            <a:avLst/>
          </a:prstGeom>
          <a:noFill/>
        </p:spPr>
        <p:txBody>
          <a:bodyPr wrap="square">
            <a:spAutoFit/>
          </a:bodyPr>
          <a:lstStyle/>
          <a:p>
            <a:pPr algn="l">
              <a:defRPr sz="1150" b="1">
                <a:solidFill>
                  <a:srgbClr val="1C2330"/>
                </a:solidFill>
              </a:defRPr>
            </a:pPr>
            <a:r>
              <a:t>Lập Danh mục nguồn dữ liệu (Data Catalog)</a:t>
            </a:r>
          </a:p>
        </p:txBody>
      </p:sp>
      <p:sp>
        <p:nvSpPr>
          <p:cNvPr id="20" name="TextBox 19"/>
          <p:cNvSpPr txBox="1"/>
          <p:nvPr/>
        </p:nvSpPr>
        <p:spPr>
          <a:xfrm>
            <a:off x="1051560" y="2926080"/>
            <a:ext cx="10149840" cy="228600"/>
          </a:xfrm>
          <a:prstGeom prst="rect">
            <a:avLst/>
          </a:prstGeom>
          <a:noFill/>
        </p:spPr>
        <p:txBody>
          <a:bodyPr wrap="square">
            <a:spAutoFit/>
          </a:bodyPr>
          <a:lstStyle/>
          <a:p>
            <a:pPr algn="l">
              <a:defRPr sz="950" b="0">
                <a:solidFill>
                  <a:srgbClr val="1C2330"/>
                </a:solidFill>
              </a:defRPr>
            </a:pPr>
            <a:r>
              <a:t>• Thống kê tất cả phần mềm đang vận hành: tên, CSDL (SQL Server/MySQL/Oracle), vị trí máy chủ</a:t>
            </a:r>
          </a:p>
        </p:txBody>
      </p:sp>
      <p:sp>
        <p:nvSpPr>
          <p:cNvPr id="21" name="TextBox 20"/>
          <p:cNvSpPr txBox="1"/>
          <p:nvPr/>
        </p:nvSpPr>
        <p:spPr>
          <a:xfrm>
            <a:off x="1051560" y="3182112"/>
            <a:ext cx="10149840" cy="228600"/>
          </a:xfrm>
          <a:prstGeom prst="rect">
            <a:avLst/>
          </a:prstGeom>
          <a:noFill/>
        </p:spPr>
        <p:txBody>
          <a:bodyPr wrap="square">
            <a:spAutoFit/>
          </a:bodyPr>
          <a:lstStyle/>
          <a:p>
            <a:pPr algn="l">
              <a:defRPr sz="950" b="0">
                <a:solidFill>
                  <a:srgbClr val="1C2330"/>
                </a:solidFill>
              </a:defRPr>
            </a:pPr>
            <a:r>
              <a:t>• Xác minh quyền truy cập: Có tài khoản Admin vào DB không? Có cần liên hệ NCC phần mềm mở API?</a:t>
            </a:r>
          </a:p>
        </p:txBody>
      </p:sp>
      <p:sp>
        <p:nvSpPr>
          <p:cNvPr id="22" name="TextBox 21"/>
          <p:cNvSpPr txBox="1"/>
          <p:nvPr/>
        </p:nvSpPr>
        <p:spPr>
          <a:xfrm>
            <a:off x="1051560" y="3438144"/>
            <a:ext cx="10149840" cy="228600"/>
          </a:xfrm>
          <a:prstGeom prst="rect">
            <a:avLst/>
          </a:prstGeom>
          <a:noFill/>
        </p:spPr>
        <p:txBody>
          <a:bodyPr wrap="square">
            <a:spAutoFit/>
          </a:bodyPr>
          <a:lstStyle/>
          <a:p>
            <a:pPr algn="l">
              <a:defRPr sz="950" b="0">
                <a:solidFill>
                  <a:srgbClr val="1C2330"/>
                </a:solidFill>
              </a:defRPr>
            </a:pPr>
            <a:r>
              <a:t>• Kết quả: File Excel Data Catalog hoàn chỉnh, sẵn sàng bàn giao cho NCC ở Giai đoạn 2</a:t>
            </a:r>
          </a:p>
        </p:txBody>
      </p:sp>
      <p:sp>
        <p:nvSpPr>
          <p:cNvPr id="23" name="Rounded Rectangle 22"/>
          <p:cNvSpPr/>
          <p:nvPr/>
        </p:nvSpPr>
        <p:spPr>
          <a:xfrm>
            <a:off x="731520" y="3840479"/>
            <a:ext cx="10698480" cy="1188720"/>
          </a:xfrm>
          <a:prstGeom prst="roundRect">
            <a:avLst/>
          </a:prstGeom>
          <a:solidFill>
            <a:srgbClr val="FFF5E1"/>
          </a:solidFill>
          <a:ln w="1524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8096" y="3877055"/>
            <a:ext cx="91440" cy="1115568"/>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913631"/>
            <a:ext cx="914400" cy="274320"/>
          </a:xfrm>
          <a:prstGeom prst="rect">
            <a:avLst/>
          </a:prstGeom>
          <a:noFill/>
        </p:spPr>
        <p:txBody>
          <a:bodyPr wrap="square">
            <a:spAutoFit/>
          </a:bodyPr>
          <a:lstStyle/>
          <a:p>
            <a:pPr algn="l">
              <a:defRPr sz="1100" b="1">
                <a:solidFill>
                  <a:srgbClr val="B47300"/>
                </a:solidFill>
              </a:defRPr>
            </a:pPr>
            <a:r>
              <a:t>Bước 1.3</a:t>
            </a:r>
          </a:p>
        </p:txBody>
      </p:sp>
      <p:sp>
        <p:nvSpPr>
          <p:cNvPr id="26" name="TextBox 25"/>
          <p:cNvSpPr txBox="1"/>
          <p:nvPr/>
        </p:nvSpPr>
        <p:spPr>
          <a:xfrm>
            <a:off x="2011680" y="3913631"/>
            <a:ext cx="9144000" cy="274320"/>
          </a:xfrm>
          <a:prstGeom prst="rect">
            <a:avLst/>
          </a:prstGeom>
          <a:noFill/>
        </p:spPr>
        <p:txBody>
          <a:bodyPr wrap="square">
            <a:spAutoFit/>
          </a:bodyPr>
          <a:lstStyle/>
          <a:p>
            <a:pPr algn="l">
              <a:defRPr sz="1150" b="1">
                <a:solidFill>
                  <a:srgbClr val="1C2330"/>
                </a:solidFill>
              </a:defRPr>
            </a:pPr>
            <a:r>
              <a:t>Lập Bảng ánh xạ 29 Danh mục Dữ liệu chủ</a:t>
            </a:r>
          </a:p>
        </p:txBody>
      </p:sp>
      <p:sp>
        <p:nvSpPr>
          <p:cNvPr id="27" name="TextBox 26"/>
          <p:cNvSpPr txBox="1"/>
          <p:nvPr/>
        </p:nvSpPr>
        <p:spPr>
          <a:xfrm>
            <a:off x="1051560" y="4206239"/>
            <a:ext cx="10149840" cy="228600"/>
          </a:xfrm>
          <a:prstGeom prst="rect">
            <a:avLst/>
          </a:prstGeom>
          <a:noFill/>
        </p:spPr>
        <p:txBody>
          <a:bodyPr wrap="square">
            <a:spAutoFit/>
          </a:bodyPr>
          <a:lstStyle/>
          <a:p>
            <a:pPr algn="l">
              <a:defRPr sz="950" b="0">
                <a:solidFill>
                  <a:srgbClr val="1C2330"/>
                </a:solidFill>
              </a:defRPr>
            </a:pPr>
            <a:r>
              <a:t>• IT xuất (export) toàn bộ bảng mã hiện hành ra Excel: mã nhân viên, mã vật tư, mã phòng ban...</a:t>
            </a:r>
          </a:p>
        </p:txBody>
      </p:sp>
      <p:sp>
        <p:nvSpPr>
          <p:cNvPr id="28" name="TextBox 27"/>
          <p:cNvSpPr txBox="1"/>
          <p:nvPr/>
        </p:nvSpPr>
        <p:spPr>
          <a:xfrm>
            <a:off x="1051560" y="4462271"/>
            <a:ext cx="10149840" cy="228600"/>
          </a:xfrm>
          <a:prstGeom prst="rect">
            <a:avLst/>
          </a:prstGeom>
          <a:noFill/>
        </p:spPr>
        <p:txBody>
          <a:bodyPr wrap="square">
            <a:spAutoFit/>
          </a:bodyPr>
          <a:lstStyle/>
          <a:p>
            <a:pPr algn="l">
              <a:defRPr sz="950" b="0">
                <a:solidFill>
                  <a:srgbClr val="1C2330"/>
                </a:solidFill>
              </a:defRPr>
            </a:pPr>
            <a:r>
              <a:t>• Key Users đối chiếu từng mã với tài liệu 29 danh mục TCT ban hành, lập quy tắc quy đổi</a:t>
            </a:r>
          </a:p>
        </p:txBody>
      </p:sp>
      <p:sp>
        <p:nvSpPr>
          <p:cNvPr id="29" name="TextBox 28"/>
          <p:cNvSpPr txBox="1"/>
          <p:nvPr/>
        </p:nvSpPr>
        <p:spPr>
          <a:xfrm>
            <a:off x="1051560" y="4718303"/>
            <a:ext cx="10149840" cy="228600"/>
          </a:xfrm>
          <a:prstGeom prst="rect">
            <a:avLst/>
          </a:prstGeom>
          <a:noFill/>
        </p:spPr>
        <p:txBody>
          <a:bodyPr wrap="square">
            <a:spAutoFit/>
          </a:bodyPr>
          <a:lstStyle/>
          <a:p>
            <a:pPr algn="l">
              <a:defRPr sz="950" b="0">
                <a:solidFill>
                  <a:srgbClr val="1C2330"/>
                </a:solidFill>
              </a:defRPr>
            </a:pPr>
            <a:r>
              <a:t>• VD: Mã phòng ban QN đang là 'P.TCKT' → Chuẩn TCT: 'QN-BAN-TCKT'. Bảng này là Từ điển cho ETL</a:t>
            </a:r>
          </a:p>
        </p:txBody>
      </p:sp>
      <p:sp>
        <p:nvSpPr>
          <p:cNvPr id="30" name="Rounded Rectangle 29"/>
          <p:cNvSpPr/>
          <p:nvPr/>
        </p:nvSpPr>
        <p:spPr>
          <a:xfrm>
            <a:off x="731520" y="5120640"/>
            <a:ext cx="10698480" cy="1188720"/>
          </a:xfrm>
          <a:prstGeom prst="roundRect">
            <a:avLst/>
          </a:prstGeom>
          <a:solidFill>
            <a:srgbClr val="F3F5F8"/>
          </a:solidFill>
          <a:ln w="1524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6" y="5157216"/>
            <a:ext cx="91440" cy="1115568"/>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193792"/>
            <a:ext cx="914400" cy="274320"/>
          </a:xfrm>
          <a:prstGeom prst="rect">
            <a:avLst/>
          </a:prstGeom>
          <a:noFill/>
        </p:spPr>
        <p:txBody>
          <a:bodyPr wrap="square">
            <a:spAutoFit/>
          </a:bodyPr>
          <a:lstStyle/>
          <a:p>
            <a:pPr algn="l">
              <a:defRPr sz="1100" b="1">
                <a:solidFill>
                  <a:srgbClr val="0C2344"/>
                </a:solidFill>
              </a:defRPr>
            </a:pPr>
            <a:r>
              <a:t>Bước 1.4</a:t>
            </a:r>
          </a:p>
        </p:txBody>
      </p:sp>
      <p:sp>
        <p:nvSpPr>
          <p:cNvPr id="33" name="TextBox 32"/>
          <p:cNvSpPr txBox="1"/>
          <p:nvPr/>
        </p:nvSpPr>
        <p:spPr>
          <a:xfrm>
            <a:off x="2011680" y="5193792"/>
            <a:ext cx="9144000" cy="274320"/>
          </a:xfrm>
          <a:prstGeom prst="rect">
            <a:avLst/>
          </a:prstGeom>
          <a:noFill/>
        </p:spPr>
        <p:txBody>
          <a:bodyPr wrap="square">
            <a:spAutoFit/>
          </a:bodyPr>
          <a:lstStyle/>
          <a:p>
            <a:pPr algn="l">
              <a:defRPr sz="1150" b="1">
                <a:solidFill>
                  <a:srgbClr val="1C2330"/>
                </a:solidFill>
              </a:defRPr>
            </a:pPr>
            <a:r>
              <a:t>Phân loại dữ liệu nhạy cảm &amp; Lập TOR</a:t>
            </a:r>
          </a:p>
        </p:txBody>
      </p:sp>
      <p:sp>
        <p:nvSpPr>
          <p:cNvPr id="34" name="TextBox 33"/>
          <p:cNvSpPr txBox="1"/>
          <p:nvPr/>
        </p:nvSpPr>
        <p:spPr>
          <a:xfrm>
            <a:off x="1051560" y="5486400"/>
            <a:ext cx="10149840" cy="228600"/>
          </a:xfrm>
          <a:prstGeom prst="rect">
            <a:avLst/>
          </a:prstGeom>
          <a:noFill/>
        </p:spPr>
        <p:txBody>
          <a:bodyPr wrap="square">
            <a:spAutoFit/>
          </a:bodyPr>
          <a:lstStyle/>
          <a:p>
            <a:pPr algn="l">
              <a:defRPr sz="950" b="0">
                <a:solidFill>
                  <a:srgbClr val="1C2330"/>
                </a:solidFill>
              </a:defRPr>
            </a:pPr>
            <a:r>
              <a:t>• Rà soát các trường dữ liệu cần che mờ (Masking): lương, SĐT, CCCD... → Đánh dấu [Cần Masking]</a:t>
            </a:r>
          </a:p>
        </p:txBody>
      </p:sp>
      <p:sp>
        <p:nvSpPr>
          <p:cNvPr id="35" name="TextBox 34"/>
          <p:cNvSpPr txBox="1"/>
          <p:nvPr/>
        </p:nvSpPr>
        <p:spPr>
          <a:xfrm>
            <a:off x="1051560" y="5742432"/>
            <a:ext cx="10149840" cy="228600"/>
          </a:xfrm>
          <a:prstGeom prst="rect">
            <a:avLst/>
          </a:prstGeom>
          <a:noFill/>
        </p:spPr>
        <p:txBody>
          <a:bodyPr wrap="square">
            <a:spAutoFit/>
          </a:bodyPr>
          <a:lstStyle/>
          <a:p>
            <a:pPr algn="l">
              <a:defRPr sz="950" b="0">
                <a:solidFill>
                  <a:srgbClr val="1C2330"/>
                </a:solidFill>
              </a:defRPr>
            </a:pPr>
            <a:r>
              <a:t>• Tổng hợp kết quả 1.2 + 1.3 + phân loại → Lập Hồ sơ yêu cầu kỹ thuật (TOR) chuyên nghiệp</a:t>
            </a:r>
          </a:p>
        </p:txBody>
      </p:sp>
      <p:sp>
        <p:nvSpPr>
          <p:cNvPr id="36" name="TextBox 35"/>
          <p:cNvSpPr txBox="1"/>
          <p:nvPr/>
        </p:nvSpPr>
        <p:spPr>
          <a:xfrm>
            <a:off x="1051560" y="5998464"/>
            <a:ext cx="10149840" cy="228600"/>
          </a:xfrm>
          <a:prstGeom prst="rect">
            <a:avLst/>
          </a:prstGeom>
          <a:noFill/>
        </p:spPr>
        <p:txBody>
          <a:bodyPr wrap="square">
            <a:spAutoFit/>
          </a:bodyPr>
          <a:lstStyle/>
          <a:p>
            <a:pPr algn="l">
              <a:defRPr sz="950" b="0">
                <a:solidFill>
                  <a:srgbClr val="1C2330"/>
                </a:solidFill>
              </a:defRPr>
            </a:pPr>
            <a:r>
              <a:t>• Sử dụng TOR để mời 2–3 NCC gửi đề xuất kỹ thuật và báo giá cạnh tranh trước khi trình BGĐ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GĐ2 TRIỂN KHAI CÓ NCC CHUYÊN MÔN</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GIAI ĐOẠN 2 CHI TIẾT: XÂY DỰNG TRỤC TÍCH HỢP DỮ LIỆU (ETL PIPELINE)</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12</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10698480" cy="1188720"/>
          </a:xfrm>
          <a:prstGeom prst="roundRect">
            <a:avLst/>
          </a:prstGeom>
          <a:solidFill>
            <a:srgbClr val="E6F0FC"/>
          </a:solidFill>
          <a:ln w="1524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16736"/>
            <a:ext cx="91440" cy="1115568"/>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353312"/>
            <a:ext cx="914400" cy="274320"/>
          </a:xfrm>
          <a:prstGeom prst="rect">
            <a:avLst/>
          </a:prstGeom>
          <a:noFill/>
        </p:spPr>
        <p:txBody>
          <a:bodyPr wrap="square">
            <a:spAutoFit/>
          </a:bodyPr>
          <a:lstStyle/>
          <a:p>
            <a:pPr algn="l">
              <a:defRPr sz="1100" b="1">
                <a:solidFill>
                  <a:srgbClr val="1E64BE"/>
                </a:solidFill>
              </a:defRPr>
            </a:pPr>
            <a:r>
              <a:t>Bước 2.1</a:t>
            </a:r>
          </a:p>
        </p:txBody>
      </p:sp>
      <p:sp>
        <p:nvSpPr>
          <p:cNvPr id="12" name="TextBox 11"/>
          <p:cNvSpPr txBox="1"/>
          <p:nvPr/>
        </p:nvSpPr>
        <p:spPr>
          <a:xfrm>
            <a:off x="2011680" y="1353312"/>
            <a:ext cx="9144000" cy="274320"/>
          </a:xfrm>
          <a:prstGeom prst="rect">
            <a:avLst/>
          </a:prstGeom>
          <a:noFill/>
        </p:spPr>
        <p:txBody>
          <a:bodyPr wrap="square">
            <a:spAutoFit/>
          </a:bodyPr>
          <a:lstStyle/>
          <a:p>
            <a:pPr algn="l">
              <a:defRPr sz="1150" b="1">
                <a:solidFill>
                  <a:srgbClr val="1C2330"/>
                </a:solidFill>
              </a:defRPr>
            </a:pPr>
            <a:r>
              <a:t>Cấp phát hạ tầng &amp; Thiết lập môi trường</a:t>
            </a:r>
          </a:p>
        </p:txBody>
      </p:sp>
      <p:sp>
        <p:nvSpPr>
          <p:cNvPr id="13" name="TextBox 12"/>
          <p:cNvSpPr txBox="1"/>
          <p:nvPr/>
        </p:nvSpPr>
        <p:spPr>
          <a:xfrm>
            <a:off x="1051560" y="1645920"/>
            <a:ext cx="10149840" cy="228600"/>
          </a:xfrm>
          <a:prstGeom prst="rect">
            <a:avLst/>
          </a:prstGeom>
          <a:noFill/>
        </p:spPr>
        <p:txBody>
          <a:bodyPr wrap="square">
            <a:spAutoFit/>
          </a:bodyPr>
          <a:lstStyle/>
          <a:p>
            <a:pPr algn="l">
              <a:defRPr sz="950" b="0">
                <a:solidFill>
                  <a:srgbClr val="1C2330"/>
                </a:solidFill>
              </a:defRPr>
            </a:pPr>
            <a:r>
              <a:t>• Tạo 1–2 VM chuyên dụng tại Datacenter QN (8 Core, 32GB RAM, 500GB SSD)</a:t>
            </a:r>
          </a:p>
        </p:txBody>
      </p:sp>
      <p:sp>
        <p:nvSpPr>
          <p:cNvPr id="14" name="TextBox 13"/>
          <p:cNvSpPr txBox="1"/>
          <p:nvPr/>
        </p:nvSpPr>
        <p:spPr>
          <a:xfrm>
            <a:off x="1051560" y="1901952"/>
            <a:ext cx="10149840" cy="228600"/>
          </a:xfrm>
          <a:prstGeom prst="rect">
            <a:avLst/>
          </a:prstGeom>
          <a:noFill/>
        </p:spPr>
        <p:txBody>
          <a:bodyPr wrap="square">
            <a:spAutoFit/>
          </a:bodyPr>
          <a:lstStyle/>
          <a:p>
            <a:pPr algn="l">
              <a:defRPr sz="950" b="0">
                <a:solidFill>
                  <a:srgbClr val="1C2330"/>
                </a:solidFill>
              </a:defRPr>
            </a:pPr>
            <a:r>
              <a:t>• Đặt VM vào phân vùng mạng Internal Service Zone (tuân thủ 8 Zones ATTT)</a:t>
            </a:r>
          </a:p>
        </p:txBody>
      </p:sp>
      <p:sp>
        <p:nvSpPr>
          <p:cNvPr id="15" name="TextBox 14"/>
          <p:cNvSpPr txBox="1"/>
          <p:nvPr/>
        </p:nvSpPr>
        <p:spPr>
          <a:xfrm>
            <a:off x="1051560" y="2157984"/>
            <a:ext cx="10149840" cy="228600"/>
          </a:xfrm>
          <a:prstGeom prst="rect">
            <a:avLst/>
          </a:prstGeom>
          <a:noFill/>
        </p:spPr>
        <p:txBody>
          <a:bodyPr wrap="square">
            <a:spAutoFit/>
          </a:bodyPr>
          <a:lstStyle/>
          <a:p>
            <a:pPr algn="l">
              <a:defRPr sz="950" b="0">
                <a:solidFill>
                  <a:srgbClr val="1C2330"/>
                </a:solidFill>
              </a:defRPr>
            </a:pPr>
            <a:r>
              <a:t>• Cài đặt bộ công cụ ETL: Airbyte (thu thập), dbt (biến đổi), Apache Airflow (điều phối)</a:t>
            </a:r>
          </a:p>
        </p:txBody>
      </p:sp>
      <p:sp>
        <p:nvSpPr>
          <p:cNvPr id="16" name="Rounded Rectangle 15"/>
          <p:cNvSpPr/>
          <p:nvPr/>
        </p:nvSpPr>
        <p:spPr>
          <a:xfrm>
            <a:off x="731520" y="2560320"/>
            <a:ext cx="10698480" cy="1188720"/>
          </a:xfrm>
          <a:prstGeom prst="roundRect">
            <a:avLst/>
          </a:prstGeom>
          <a:solidFill>
            <a:srgbClr val="E6F8F6"/>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2596896"/>
            <a:ext cx="91440"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33472"/>
            <a:ext cx="914400" cy="274320"/>
          </a:xfrm>
          <a:prstGeom prst="rect">
            <a:avLst/>
          </a:prstGeom>
          <a:noFill/>
        </p:spPr>
        <p:txBody>
          <a:bodyPr wrap="square">
            <a:spAutoFit/>
          </a:bodyPr>
          <a:lstStyle/>
          <a:p>
            <a:pPr algn="l">
              <a:defRPr sz="1100" b="1">
                <a:solidFill>
                  <a:srgbClr val="0D9488"/>
                </a:solidFill>
              </a:defRPr>
            </a:pPr>
            <a:r>
              <a:t>Bước 2.2</a:t>
            </a:r>
          </a:p>
        </p:txBody>
      </p:sp>
      <p:sp>
        <p:nvSpPr>
          <p:cNvPr id="19" name="TextBox 18"/>
          <p:cNvSpPr txBox="1"/>
          <p:nvPr/>
        </p:nvSpPr>
        <p:spPr>
          <a:xfrm>
            <a:off x="2011680" y="2633472"/>
            <a:ext cx="9144000" cy="274320"/>
          </a:xfrm>
          <a:prstGeom prst="rect">
            <a:avLst/>
          </a:prstGeom>
          <a:noFill/>
        </p:spPr>
        <p:txBody>
          <a:bodyPr wrap="square">
            <a:spAutoFit/>
          </a:bodyPr>
          <a:lstStyle/>
          <a:p>
            <a:pPr algn="l">
              <a:defRPr sz="1150" b="1">
                <a:solidFill>
                  <a:srgbClr val="1C2330"/>
                </a:solidFill>
              </a:defRPr>
            </a:pPr>
            <a:r>
              <a:t>Xây dựng luồng Trích xuất dữ liệu (Extract)</a:t>
            </a:r>
          </a:p>
        </p:txBody>
      </p:sp>
      <p:sp>
        <p:nvSpPr>
          <p:cNvPr id="20" name="TextBox 19"/>
          <p:cNvSpPr txBox="1"/>
          <p:nvPr/>
        </p:nvSpPr>
        <p:spPr>
          <a:xfrm>
            <a:off x="1051560" y="2926080"/>
            <a:ext cx="10149840" cy="228600"/>
          </a:xfrm>
          <a:prstGeom prst="rect">
            <a:avLst/>
          </a:prstGeom>
          <a:noFill/>
        </p:spPr>
        <p:txBody>
          <a:bodyPr wrap="square">
            <a:spAutoFit/>
          </a:bodyPr>
          <a:lstStyle/>
          <a:p>
            <a:pPr algn="l">
              <a:defRPr sz="950" b="0">
                <a:solidFill>
                  <a:srgbClr val="1C2330"/>
                </a:solidFill>
              </a:defRPr>
            </a:pPr>
            <a:r>
              <a:t>• Cấu hình Connector kết nối vào từng CSDL nghiệp vụ (JDBC/ODBC hoặc API)</a:t>
            </a:r>
          </a:p>
        </p:txBody>
      </p:sp>
      <p:sp>
        <p:nvSpPr>
          <p:cNvPr id="21" name="TextBox 20"/>
          <p:cNvSpPr txBox="1"/>
          <p:nvPr/>
        </p:nvSpPr>
        <p:spPr>
          <a:xfrm>
            <a:off x="1051560" y="3182112"/>
            <a:ext cx="10149840" cy="228600"/>
          </a:xfrm>
          <a:prstGeom prst="rect">
            <a:avLst/>
          </a:prstGeom>
          <a:noFill/>
        </p:spPr>
        <p:txBody>
          <a:bodyPr wrap="square">
            <a:spAutoFit/>
          </a:bodyPr>
          <a:lstStyle/>
          <a:p>
            <a:pPr algn="l">
              <a:defRPr sz="950" b="0">
                <a:solidFill>
                  <a:srgbClr val="1C2330"/>
                </a:solidFill>
              </a:defRPr>
            </a:pPr>
            <a:r>
              <a:t>• Thiết lập chế độ CHỈ ĐỌC (Read-Only Replica) — không ảnh hưởng hệ thống sản xuất</a:t>
            </a:r>
          </a:p>
        </p:txBody>
      </p:sp>
      <p:sp>
        <p:nvSpPr>
          <p:cNvPr id="22" name="TextBox 21"/>
          <p:cNvSpPr txBox="1"/>
          <p:nvPr/>
        </p:nvSpPr>
        <p:spPr>
          <a:xfrm>
            <a:off x="1051560" y="3438144"/>
            <a:ext cx="10149840" cy="228600"/>
          </a:xfrm>
          <a:prstGeom prst="rect">
            <a:avLst/>
          </a:prstGeom>
          <a:noFill/>
        </p:spPr>
        <p:txBody>
          <a:bodyPr wrap="square">
            <a:spAutoFit/>
          </a:bodyPr>
          <a:lstStyle/>
          <a:p>
            <a:pPr algn="l">
              <a:defRPr sz="950" b="0">
                <a:solidFill>
                  <a:srgbClr val="1C2330"/>
                </a:solidFill>
              </a:defRPr>
            </a:pPr>
            <a:r>
              <a:t>• Lập lịch trích xuất tự động: Batch hàng đêm (23h00) hoặc CDC near real-time tùy nguồn</a:t>
            </a:r>
          </a:p>
        </p:txBody>
      </p:sp>
      <p:sp>
        <p:nvSpPr>
          <p:cNvPr id="23" name="Rounded Rectangle 22"/>
          <p:cNvSpPr/>
          <p:nvPr/>
        </p:nvSpPr>
        <p:spPr>
          <a:xfrm>
            <a:off x="731520" y="3840479"/>
            <a:ext cx="10698480" cy="1188720"/>
          </a:xfrm>
          <a:prstGeom prst="roundRect">
            <a:avLst/>
          </a:prstGeom>
          <a:solidFill>
            <a:srgbClr val="FFF5E1"/>
          </a:solidFill>
          <a:ln w="1524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8096" y="3877055"/>
            <a:ext cx="91440" cy="1115568"/>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913631"/>
            <a:ext cx="914400" cy="274320"/>
          </a:xfrm>
          <a:prstGeom prst="rect">
            <a:avLst/>
          </a:prstGeom>
          <a:noFill/>
        </p:spPr>
        <p:txBody>
          <a:bodyPr wrap="square">
            <a:spAutoFit/>
          </a:bodyPr>
          <a:lstStyle/>
          <a:p>
            <a:pPr algn="l">
              <a:defRPr sz="1100" b="1">
                <a:solidFill>
                  <a:srgbClr val="B47300"/>
                </a:solidFill>
              </a:defRPr>
            </a:pPr>
            <a:r>
              <a:t>Bước 2.3</a:t>
            </a:r>
          </a:p>
        </p:txBody>
      </p:sp>
      <p:sp>
        <p:nvSpPr>
          <p:cNvPr id="26" name="TextBox 25"/>
          <p:cNvSpPr txBox="1"/>
          <p:nvPr/>
        </p:nvSpPr>
        <p:spPr>
          <a:xfrm>
            <a:off x="2011680" y="3913631"/>
            <a:ext cx="9144000" cy="274320"/>
          </a:xfrm>
          <a:prstGeom prst="rect">
            <a:avLst/>
          </a:prstGeom>
          <a:noFill/>
        </p:spPr>
        <p:txBody>
          <a:bodyPr wrap="square">
            <a:spAutoFit/>
          </a:bodyPr>
          <a:lstStyle/>
          <a:p>
            <a:pPr algn="l">
              <a:defRPr sz="1150" b="1">
                <a:solidFill>
                  <a:srgbClr val="1C2330"/>
                </a:solidFill>
              </a:defRPr>
            </a:pPr>
            <a:r>
              <a:t>Xây dựng luồng Chuẩn hóa &amp; Bảo mật (Transform)</a:t>
            </a:r>
          </a:p>
        </p:txBody>
      </p:sp>
      <p:sp>
        <p:nvSpPr>
          <p:cNvPr id="27" name="TextBox 26"/>
          <p:cNvSpPr txBox="1"/>
          <p:nvPr/>
        </p:nvSpPr>
        <p:spPr>
          <a:xfrm>
            <a:off x="1051560" y="4206239"/>
            <a:ext cx="10149840" cy="228600"/>
          </a:xfrm>
          <a:prstGeom prst="rect">
            <a:avLst/>
          </a:prstGeom>
          <a:noFill/>
        </p:spPr>
        <p:txBody>
          <a:bodyPr wrap="square">
            <a:spAutoFit/>
          </a:bodyPr>
          <a:lstStyle/>
          <a:p>
            <a:pPr algn="l">
              <a:defRPr sz="950" b="0">
                <a:solidFill>
                  <a:srgbClr val="1C2330"/>
                </a:solidFill>
              </a:defRPr>
            </a:pPr>
            <a:r>
              <a:t>• Nạp Bảng ánh xạ (GĐ1) vào hệ thống → Tự động quy đổi mã QN sang mã chuẩn TCT</a:t>
            </a:r>
          </a:p>
        </p:txBody>
      </p:sp>
      <p:sp>
        <p:nvSpPr>
          <p:cNvPr id="28" name="TextBox 27"/>
          <p:cNvSpPr txBox="1"/>
          <p:nvPr/>
        </p:nvSpPr>
        <p:spPr>
          <a:xfrm>
            <a:off x="1051560" y="4462271"/>
            <a:ext cx="10149840" cy="228600"/>
          </a:xfrm>
          <a:prstGeom prst="rect">
            <a:avLst/>
          </a:prstGeom>
          <a:noFill/>
        </p:spPr>
        <p:txBody>
          <a:bodyPr wrap="square">
            <a:spAutoFit/>
          </a:bodyPr>
          <a:lstStyle/>
          <a:p>
            <a:pPr algn="l">
              <a:defRPr sz="950" b="0">
                <a:solidFill>
                  <a:srgbClr val="1C2330"/>
                </a:solidFill>
              </a:defRPr>
            </a:pPr>
            <a:r>
              <a:t>• Áp dụng quy tắc làm sạch: Khử trùng lặp, kiểm tra tính toàn vẹn (dbt + Great Expectations)</a:t>
            </a:r>
          </a:p>
        </p:txBody>
      </p:sp>
      <p:sp>
        <p:nvSpPr>
          <p:cNvPr id="29" name="TextBox 28"/>
          <p:cNvSpPr txBox="1"/>
          <p:nvPr/>
        </p:nvSpPr>
        <p:spPr>
          <a:xfrm>
            <a:off x="1051560" y="4718303"/>
            <a:ext cx="10149840" cy="228600"/>
          </a:xfrm>
          <a:prstGeom prst="rect">
            <a:avLst/>
          </a:prstGeom>
          <a:noFill/>
        </p:spPr>
        <p:txBody>
          <a:bodyPr wrap="square">
            <a:spAutoFit/>
          </a:bodyPr>
          <a:lstStyle/>
          <a:p>
            <a:pPr algn="l">
              <a:defRPr sz="950" b="0">
                <a:solidFill>
                  <a:srgbClr val="1C2330"/>
                </a:solidFill>
              </a:defRPr>
            </a:pPr>
            <a:r>
              <a:t>• Thực thi Masking: Băm (hash) hoặc cắt các trường dữ liệu cá nhân nhạy cảm trước khi truyền</a:t>
            </a:r>
          </a:p>
        </p:txBody>
      </p:sp>
      <p:sp>
        <p:nvSpPr>
          <p:cNvPr id="30" name="Rounded Rectangle 29"/>
          <p:cNvSpPr/>
          <p:nvPr/>
        </p:nvSpPr>
        <p:spPr>
          <a:xfrm>
            <a:off x="731520" y="5120640"/>
            <a:ext cx="10698480" cy="1188720"/>
          </a:xfrm>
          <a:prstGeom prst="roundRect">
            <a:avLst/>
          </a:prstGeom>
          <a:solidFill>
            <a:srgbClr val="E8F8EF"/>
          </a:solidFill>
          <a:ln w="1524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6" y="5157216"/>
            <a:ext cx="91440" cy="1115568"/>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193792"/>
            <a:ext cx="914400" cy="274320"/>
          </a:xfrm>
          <a:prstGeom prst="rect">
            <a:avLst/>
          </a:prstGeom>
          <a:noFill/>
        </p:spPr>
        <p:txBody>
          <a:bodyPr wrap="square">
            <a:spAutoFit/>
          </a:bodyPr>
          <a:lstStyle/>
          <a:p>
            <a:pPr algn="l">
              <a:defRPr sz="1100" b="1">
                <a:solidFill>
                  <a:srgbClr val="158050"/>
                </a:solidFill>
              </a:defRPr>
            </a:pPr>
            <a:r>
              <a:t>Bước 2.4</a:t>
            </a:r>
          </a:p>
        </p:txBody>
      </p:sp>
      <p:sp>
        <p:nvSpPr>
          <p:cNvPr id="33" name="TextBox 32"/>
          <p:cNvSpPr txBox="1"/>
          <p:nvPr/>
        </p:nvSpPr>
        <p:spPr>
          <a:xfrm>
            <a:off x="2011680" y="5193792"/>
            <a:ext cx="9144000" cy="274320"/>
          </a:xfrm>
          <a:prstGeom prst="rect">
            <a:avLst/>
          </a:prstGeom>
          <a:noFill/>
        </p:spPr>
        <p:txBody>
          <a:bodyPr wrap="square">
            <a:spAutoFit/>
          </a:bodyPr>
          <a:lstStyle/>
          <a:p>
            <a:pPr algn="l">
              <a:defRPr sz="1150" b="1">
                <a:solidFill>
                  <a:srgbClr val="1C2330"/>
                </a:solidFill>
              </a:defRPr>
            </a:pPr>
            <a:r>
              <a:t>Kiểm thử thông luồng End-to-End &amp; Giám sát</a:t>
            </a:r>
          </a:p>
        </p:txBody>
      </p:sp>
      <p:sp>
        <p:nvSpPr>
          <p:cNvPr id="34" name="TextBox 33"/>
          <p:cNvSpPr txBox="1"/>
          <p:nvPr/>
        </p:nvSpPr>
        <p:spPr>
          <a:xfrm>
            <a:off x="1051560" y="5486400"/>
            <a:ext cx="10149840" cy="228600"/>
          </a:xfrm>
          <a:prstGeom prst="rect">
            <a:avLst/>
          </a:prstGeom>
          <a:noFill/>
        </p:spPr>
        <p:txBody>
          <a:bodyPr wrap="square">
            <a:spAutoFit/>
          </a:bodyPr>
          <a:lstStyle/>
          <a:p>
            <a:pPr algn="l">
              <a:defRPr sz="950" b="0">
                <a:solidFill>
                  <a:srgbClr val="1C2330"/>
                </a:solidFill>
              </a:defRPr>
            </a:pPr>
            <a:r>
              <a:t>• Chạy thử toàn bộ luồng E-T-L trên dữ liệu thực, đối soát kết quả với Key Users nghiệp vụ</a:t>
            </a:r>
          </a:p>
        </p:txBody>
      </p:sp>
      <p:sp>
        <p:nvSpPr>
          <p:cNvPr id="35" name="TextBox 34"/>
          <p:cNvSpPr txBox="1"/>
          <p:nvPr/>
        </p:nvSpPr>
        <p:spPr>
          <a:xfrm>
            <a:off x="1051560" y="5742432"/>
            <a:ext cx="10149840" cy="228600"/>
          </a:xfrm>
          <a:prstGeom prst="rect">
            <a:avLst/>
          </a:prstGeom>
          <a:noFill/>
        </p:spPr>
        <p:txBody>
          <a:bodyPr wrap="square">
            <a:spAutoFit/>
          </a:bodyPr>
          <a:lstStyle/>
          <a:p>
            <a:pPr algn="l">
              <a:defRPr sz="950" b="0">
                <a:solidFill>
                  <a:srgbClr val="1C2330"/>
                </a:solidFill>
              </a:defRPr>
            </a:pPr>
            <a:r>
              <a:t>• Thiết lập hệ thống cảnh báo tự động: Gửi thông báo qua Email/Zalo nếu lỗi trích xuất hoặc đứt mạng</a:t>
            </a:r>
          </a:p>
        </p:txBody>
      </p:sp>
      <p:sp>
        <p:nvSpPr>
          <p:cNvPr id="36" name="TextBox 35"/>
          <p:cNvSpPr txBox="1"/>
          <p:nvPr/>
        </p:nvSpPr>
        <p:spPr>
          <a:xfrm>
            <a:off x="1051560" y="5998464"/>
            <a:ext cx="10149840" cy="228600"/>
          </a:xfrm>
          <a:prstGeom prst="rect">
            <a:avLst/>
          </a:prstGeom>
          <a:noFill/>
        </p:spPr>
        <p:txBody>
          <a:bodyPr wrap="square">
            <a:spAutoFit/>
          </a:bodyPr>
          <a:lstStyle/>
          <a:p>
            <a:pPr algn="l">
              <a:defRPr sz="950" b="0">
                <a:solidFill>
                  <a:srgbClr val="1C2330"/>
                </a:solidFill>
              </a:defRPr>
            </a:pPr>
            <a:r>
              <a:t>• Vận hành thử nghiệm liên tục ≥ 30 ngày — đảm bảo ổn định trước khi chuyển sang kết nối Hub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QUY TRÌNH ĐỒNG BỘ LÊN HUB</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CHI TIẾT KỸ THUẬT: KẾT NỐI TỪ TRẠM ETL TẠI QN LÊN HUB TỔNG CÔNG TY</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13</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ectangle 8"/>
          <p:cNvSpPr/>
          <p:nvPr/>
        </p:nvSpPr>
        <p:spPr>
          <a:xfrm>
            <a:off x="731520" y="1234440"/>
            <a:ext cx="10698480" cy="502920"/>
          </a:xfrm>
          <a:prstGeom prst="rect">
            <a:avLst/>
          </a:prstGeom>
          <a:solidFill>
            <a:srgbClr val="183B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261872"/>
            <a:ext cx="10698480" cy="457200"/>
          </a:xfrm>
          <a:prstGeom prst="rect">
            <a:avLst/>
          </a:prstGeom>
          <a:noFill/>
        </p:spPr>
        <p:txBody>
          <a:bodyPr wrap="square">
            <a:spAutoFit/>
          </a:bodyPr>
          <a:lstStyle/>
          <a:p>
            <a:pPr algn="ctr">
              <a:defRPr sz="1050" b="1">
                <a:solidFill>
                  <a:srgbClr val="FFFFFF"/>
                </a:solidFill>
              </a:defRPr>
            </a:pPr>
            <a:r>
              <a:t>Quy trình kết nối Hub TCT theo chuẩn IMIP: Đồng bộ dữ liệu dùng chung + dữ liệu tổng hợp qua ESB / API chuẩn (near real-time / batch)</a:t>
            </a:r>
          </a:p>
        </p:txBody>
      </p:sp>
      <p:sp>
        <p:nvSpPr>
          <p:cNvPr id="11" name="Rounded Rectangle 10"/>
          <p:cNvSpPr/>
          <p:nvPr/>
        </p:nvSpPr>
        <p:spPr>
          <a:xfrm>
            <a:off x="731520" y="1874519"/>
            <a:ext cx="10698480" cy="1078992"/>
          </a:xfrm>
          <a:prstGeom prst="roundRect">
            <a:avLst/>
          </a:prstGeom>
          <a:solidFill>
            <a:srgbClr val="F3F5F8"/>
          </a:solidFill>
          <a:ln w="1524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 y="1911095"/>
            <a:ext cx="91440" cy="100584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9383"/>
            <a:ext cx="457200" cy="274320"/>
          </a:xfrm>
          <a:prstGeom prst="rect">
            <a:avLst/>
          </a:prstGeom>
          <a:noFill/>
        </p:spPr>
        <p:txBody>
          <a:bodyPr wrap="square">
            <a:spAutoFit/>
          </a:bodyPr>
          <a:lstStyle/>
          <a:p>
            <a:pPr algn="l">
              <a:defRPr sz="1300" b="1">
                <a:solidFill>
                  <a:srgbClr val="1E64BE"/>
                </a:solidFill>
              </a:defRPr>
            </a:pPr>
            <a:r>
              <a:t>A</a:t>
            </a:r>
          </a:p>
        </p:txBody>
      </p:sp>
      <p:sp>
        <p:nvSpPr>
          <p:cNvPr id="14" name="TextBox 13"/>
          <p:cNvSpPr txBox="1"/>
          <p:nvPr/>
        </p:nvSpPr>
        <p:spPr>
          <a:xfrm>
            <a:off x="1508760" y="1929383"/>
            <a:ext cx="9601200" cy="274320"/>
          </a:xfrm>
          <a:prstGeom prst="rect">
            <a:avLst/>
          </a:prstGeom>
          <a:noFill/>
        </p:spPr>
        <p:txBody>
          <a:bodyPr wrap="square">
            <a:spAutoFit/>
          </a:bodyPr>
          <a:lstStyle/>
          <a:p>
            <a:pPr algn="l">
              <a:defRPr sz="1100" b="1">
                <a:solidFill>
                  <a:srgbClr val="1C2330"/>
                </a:solidFill>
              </a:defRPr>
            </a:pPr>
            <a:r>
              <a:t>THIẾT LẬP KÊNH TRUYỀN BẢO MẬT</a:t>
            </a:r>
          </a:p>
        </p:txBody>
      </p:sp>
      <p:sp>
        <p:nvSpPr>
          <p:cNvPr id="15" name="TextBox 14"/>
          <p:cNvSpPr txBox="1"/>
          <p:nvPr/>
        </p:nvSpPr>
        <p:spPr>
          <a:xfrm>
            <a:off x="1051560" y="2194559"/>
            <a:ext cx="10149840" cy="164592"/>
          </a:xfrm>
          <a:prstGeom prst="rect">
            <a:avLst/>
          </a:prstGeom>
          <a:noFill/>
        </p:spPr>
        <p:txBody>
          <a:bodyPr wrap="square">
            <a:spAutoFit/>
          </a:bodyPr>
          <a:lstStyle/>
          <a:p>
            <a:pPr algn="l">
              <a:defRPr sz="900" b="0">
                <a:solidFill>
                  <a:srgbClr val="1C2330"/>
                </a:solidFill>
              </a:defRPr>
            </a:pPr>
            <a:r>
              <a:t>• Phối hợp IT TCT cấu hình VPN Site-to-Site (IPSec) hoặc SD-WAN</a:t>
            </a:r>
          </a:p>
        </p:txBody>
      </p:sp>
      <p:sp>
        <p:nvSpPr>
          <p:cNvPr id="16" name="TextBox 15"/>
          <p:cNvSpPr txBox="1"/>
          <p:nvPr/>
        </p:nvSpPr>
        <p:spPr>
          <a:xfrm>
            <a:off x="1051560" y="2377439"/>
            <a:ext cx="10149840" cy="164592"/>
          </a:xfrm>
          <a:prstGeom prst="rect">
            <a:avLst/>
          </a:prstGeom>
          <a:noFill/>
        </p:spPr>
        <p:txBody>
          <a:bodyPr wrap="square">
            <a:spAutoFit/>
          </a:bodyPr>
          <a:lstStyle/>
          <a:p>
            <a:pPr algn="l">
              <a:defRPr sz="900" b="0">
                <a:solidFill>
                  <a:srgbClr val="1C2330"/>
                </a:solidFill>
              </a:defRPr>
            </a:pPr>
            <a:r>
              <a:t>• Endpoint: Datacenter QN (Internal Service Zone) ↔ Datacenter TCT (Tầng 10 CQTCT)</a:t>
            </a:r>
          </a:p>
        </p:txBody>
      </p:sp>
      <p:sp>
        <p:nvSpPr>
          <p:cNvPr id="17" name="TextBox 16"/>
          <p:cNvSpPr txBox="1"/>
          <p:nvPr/>
        </p:nvSpPr>
        <p:spPr>
          <a:xfrm>
            <a:off x="1051560" y="2560319"/>
            <a:ext cx="10149840" cy="164592"/>
          </a:xfrm>
          <a:prstGeom prst="rect">
            <a:avLst/>
          </a:prstGeom>
          <a:noFill/>
        </p:spPr>
        <p:txBody>
          <a:bodyPr wrap="square">
            <a:spAutoFit/>
          </a:bodyPr>
          <a:lstStyle/>
          <a:p>
            <a:pPr algn="l">
              <a:defRPr sz="900" b="0">
                <a:solidFill>
                  <a:srgbClr val="1C2330"/>
                </a:solidFill>
              </a:defRPr>
            </a:pPr>
            <a:r>
              <a:t>• Kiểm tra: Bandwidth tối thiểu 10 Mbps, Latency ≤ 50ms, mã hóa AES-256</a:t>
            </a:r>
          </a:p>
        </p:txBody>
      </p:sp>
      <p:sp>
        <p:nvSpPr>
          <p:cNvPr id="18" name="TextBox 17"/>
          <p:cNvSpPr txBox="1"/>
          <p:nvPr/>
        </p:nvSpPr>
        <p:spPr>
          <a:xfrm>
            <a:off x="1051560" y="2743199"/>
            <a:ext cx="10149840" cy="164592"/>
          </a:xfrm>
          <a:prstGeom prst="rect">
            <a:avLst/>
          </a:prstGeom>
          <a:noFill/>
        </p:spPr>
        <p:txBody>
          <a:bodyPr wrap="square">
            <a:spAutoFit/>
          </a:bodyPr>
          <a:lstStyle/>
          <a:p>
            <a:pPr algn="l">
              <a:defRPr sz="900" b="0">
                <a:solidFill>
                  <a:srgbClr val="1C2330"/>
                </a:solidFill>
              </a:defRPr>
            </a:pPr>
            <a:r>
              <a:t>• Firewall Rules: Chỉ mở cổng kết nối cần thiết (443/HTTPS, cổng MinIO S3 API)</a:t>
            </a:r>
          </a:p>
        </p:txBody>
      </p:sp>
      <p:sp>
        <p:nvSpPr>
          <p:cNvPr id="19" name="Rounded Rectangle 18"/>
          <p:cNvSpPr/>
          <p:nvPr/>
        </p:nvSpPr>
        <p:spPr>
          <a:xfrm>
            <a:off x="731520" y="3035808"/>
            <a:ext cx="10698480" cy="1078992"/>
          </a:xfrm>
          <a:prstGeom prst="roundRect">
            <a:avLst/>
          </a:prstGeom>
          <a:solidFill>
            <a:srgbClr val="F3F5F8"/>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 y="3072384"/>
            <a:ext cx="914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090672"/>
            <a:ext cx="457200" cy="274320"/>
          </a:xfrm>
          <a:prstGeom prst="rect">
            <a:avLst/>
          </a:prstGeom>
          <a:noFill/>
        </p:spPr>
        <p:txBody>
          <a:bodyPr wrap="square">
            <a:spAutoFit/>
          </a:bodyPr>
          <a:lstStyle/>
          <a:p>
            <a:pPr algn="l">
              <a:defRPr sz="1300" b="1">
                <a:solidFill>
                  <a:srgbClr val="0D9488"/>
                </a:solidFill>
              </a:defRPr>
            </a:pPr>
            <a:r>
              <a:t>B</a:t>
            </a:r>
          </a:p>
        </p:txBody>
      </p:sp>
      <p:sp>
        <p:nvSpPr>
          <p:cNvPr id="22" name="TextBox 21"/>
          <p:cNvSpPr txBox="1"/>
          <p:nvPr/>
        </p:nvSpPr>
        <p:spPr>
          <a:xfrm>
            <a:off x="1508760" y="3090672"/>
            <a:ext cx="9601200" cy="274320"/>
          </a:xfrm>
          <a:prstGeom prst="rect">
            <a:avLst/>
          </a:prstGeom>
          <a:noFill/>
        </p:spPr>
        <p:txBody>
          <a:bodyPr wrap="square">
            <a:spAutoFit/>
          </a:bodyPr>
          <a:lstStyle/>
          <a:p>
            <a:pPr algn="l">
              <a:defRPr sz="1100" b="1">
                <a:solidFill>
                  <a:srgbClr val="1C2330"/>
                </a:solidFill>
              </a:defRPr>
            </a:pPr>
            <a:r>
              <a:t>ĐĂNG KÝ ENDPOINT &amp; XÁC THỰC VỚI HUB</a:t>
            </a:r>
          </a:p>
        </p:txBody>
      </p:sp>
      <p:sp>
        <p:nvSpPr>
          <p:cNvPr id="23" name="TextBox 22"/>
          <p:cNvSpPr txBox="1"/>
          <p:nvPr/>
        </p:nvSpPr>
        <p:spPr>
          <a:xfrm>
            <a:off x="1051560" y="3355848"/>
            <a:ext cx="10149840" cy="164592"/>
          </a:xfrm>
          <a:prstGeom prst="rect">
            <a:avLst/>
          </a:prstGeom>
          <a:noFill/>
        </p:spPr>
        <p:txBody>
          <a:bodyPr wrap="square">
            <a:spAutoFit/>
          </a:bodyPr>
          <a:lstStyle/>
          <a:p>
            <a:pPr algn="l">
              <a:defRPr sz="900" b="0">
                <a:solidFill>
                  <a:srgbClr val="1C2330"/>
                </a:solidFill>
              </a:defRPr>
            </a:pPr>
            <a:r>
              <a:t>• IT TCT cấp Service Account + API Key cho Trạm trung chuyển QN trên hệ thống ESB (WSO2)</a:t>
            </a:r>
          </a:p>
        </p:txBody>
      </p:sp>
      <p:sp>
        <p:nvSpPr>
          <p:cNvPr id="24" name="TextBox 23"/>
          <p:cNvSpPr txBox="1"/>
          <p:nvPr/>
        </p:nvSpPr>
        <p:spPr>
          <a:xfrm>
            <a:off x="1051560" y="3538728"/>
            <a:ext cx="10149840" cy="164592"/>
          </a:xfrm>
          <a:prstGeom prst="rect">
            <a:avLst/>
          </a:prstGeom>
          <a:noFill/>
        </p:spPr>
        <p:txBody>
          <a:bodyPr wrap="square">
            <a:spAutoFit/>
          </a:bodyPr>
          <a:lstStyle/>
          <a:p>
            <a:pPr algn="l">
              <a:defRPr sz="900" b="0">
                <a:solidFill>
                  <a:srgbClr val="1C2330"/>
                </a:solidFill>
              </a:defRPr>
            </a:pPr>
            <a:r>
              <a:t>• Đăng ký Endpoint trên Microsoft Purview: Khai báo metadata, schema và lịch đồng bộ</a:t>
            </a:r>
          </a:p>
        </p:txBody>
      </p:sp>
      <p:sp>
        <p:nvSpPr>
          <p:cNvPr id="25" name="TextBox 24"/>
          <p:cNvSpPr txBox="1"/>
          <p:nvPr/>
        </p:nvSpPr>
        <p:spPr>
          <a:xfrm>
            <a:off x="1051560" y="3721608"/>
            <a:ext cx="10149840" cy="164592"/>
          </a:xfrm>
          <a:prstGeom prst="rect">
            <a:avLst/>
          </a:prstGeom>
          <a:noFill/>
        </p:spPr>
        <p:txBody>
          <a:bodyPr wrap="square">
            <a:spAutoFit/>
          </a:bodyPr>
          <a:lstStyle/>
          <a:p>
            <a:pPr algn="l">
              <a:defRPr sz="900" b="0">
                <a:solidFill>
                  <a:srgbClr val="1C2330"/>
                </a:solidFill>
              </a:defRPr>
            </a:pPr>
            <a:r>
              <a:t>• Cấu hình xác thực OAuth 2.0 / mTLS giữa Spoke QN và Hub TCT</a:t>
            </a:r>
          </a:p>
        </p:txBody>
      </p:sp>
      <p:sp>
        <p:nvSpPr>
          <p:cNvPr id="26" name="TextBox 25"/>
          <p:cNvSpPr txBox="1"/>
          <p:nvPr/>
        </p:nvSpPr>
        <p:spPr>
          <a:xfrm>
            <a:off x="1051560" y="3904488"/>
            <a:ext cx="10149840" cy="164592"/>
          </a:xfrm>
          <a:prstGeom prst="rect">
            <a:avLst/>
          </a:prstGeom>
          <a:noFill/>
        </p:spPr>
        <p:txBody>
          <a:bodyPr wrap="square">
            <a:spAutoFit/>
          </a:bodyPr>
          <a:lstStyle/>
          <a:p>
            <a:pPr algn="l">
              <a:defRPr sz="900" b="0">
                <a:solidFill>
                  <a:srgbClr val="1C2330"/>
                </a:solidFill>
              </a:defRPr>
            </a:pPr>
            <a:r>
              <a:t>• Kiểm tra phân quyền: QN chỉ ghi (Write) vào Landing Zone của Workspace L3 riêng</a:t>
            </a:r>
          </a:p>
        </p:txBody>
      </p:sp>
      <p:sp>
        <p:nvSpPr>
          <p:cNvPr id="27" name="Rounded Rectangle 26"/>
          <p:cNvSpPr/>
          <p:nvPr/>
        </p:nvSpPr>
        <p:spPr>
          <a:xfrm>
            <a:off x="731520" y="4197096"/>
            <a:ext cx="10698480" cy="1078992"/>
          </a:xfrm>
          <a:prstGeom prst="roundRect">
            <a:avLst/>
          </a:prstGeom>
          <a:solidFill>
            <a:srgbClr val="F3F5F8"/>
          </a:solidFill>
          <a:ln w="1524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4233672"/>
            <a:ext cx="91440" cy="1005840"/>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251960"/>
            <a:ext cx="457200" cy="274320"/>
          </a:xfrm>
          <a:prstGeom prst="rect">
            <a:avLst/>
          </a:prstGeom>
          <a:noFill/>
        </p:spPr>
        <p:txBody>
          <a:bodyPr wrap="square">
            <a:spAutoFit/>
          </a:bodyPr>
          <a:lstStyle/>
          <a:p>
            <a:pPr algn="l">
              <a:defRPr sz="1300" b="1">
                <a:solidFill>
                  <a:srgbClr val="B47300"/>
                </a:solidFill>
              </a:defRPr>
            </a:pPr>
            <a:r>
              <a:t>C</a:t>
            </a:r>
          </a:p>
        </p:txBody>
      </p:sp>
      <p:sp>
        <p:nvSpPr>
          <p:cNvPr id="30" name="TextBox 29"/>
          <p:cNvSpPr txBox="1"/>
          <p:nvPr/>
        </p:nvSpPr>
        <p:spPr>
          <a:xfrm>
            <a:off x="1508760" y="4251960"/>
            <a:ext cx="9601200" cy="274320"/>
          </a:xfrm>
          <a:prstGeom prst="rect">
            <a:avLst/>
          </a:prstGeom>
          <a:noFill/>
        </p:spPr>
        <p:txBody>
          <a:bodyPr wrap="square">
            <a:spAutoFit/>
          </a:bodyPr>
          <a:lstStyle/>
          <a:p>
            <a:pPr algn="l">
              <a:defRPr sz="1100" b="1">
                <a:solidFill>
                  <a:srgbClr val="1C2330"/>
                </a:solidFill>
              </a:defRPr>
            </a:pPr>
            <a:r>
              <a:t>TRUYỀN DỮ LIỆU VÀ KIỂM CHỨNG</a:t>
            </a:r>
          </a:p>
        </p:txBody>
      </p:sp>
      <p:sp>
        <p:nvSpPr>
          <p:cNvPr id="31" name="TextBox 30"/>
          <p:cNvSpPr txBox="1"/>
          <p:nvPr/>
        </p:nvSpPr>
        <p:spPr>
          <a:xfrm>
            <a:off x="1051560" y="4517136"/>
            <a:ext cx="10149840" cy="164592"/>
          </a:xfrm>
          <a:prstGeom prst="rect">
            <a:avLst/>
          </a:prstGeom>
          <a:noFill/>
        </p:spPr>
        <p:txBody>
          <a:bodyPr wrap="square">
            <a:spAutoFit/>
          </a:bodyPr>
          <a:lstStyle/>
          <a:p>
            <a:pPr algn="l">
              <a:defRPr sz="900" b="0">
                <a:solidFill>
                  <a:srgbClr val="1C2330"/>
                </a:solidFill>
              </a:defRPr>
            </a:pPr>
            <a:r>
              <a:t>• Cơ chế đẩy: Trạm ETL QN đẩy file Parquet/Delta đã mã hóa lên MinIO Lakehouse (S3 API)</a:t>
            </a:r>
          </a:p>
        </p:txBody>
      </p:sp>
      <p:sp>
        <p:nvSpPr>
          <p:cNvPr id="32" name="TextBox 31"/>
          <p:cNvSpPr txBox="1"/>
          <p:nvPr/>
        </p:nvSpPr>
        <p:spPr>
          <a:xfrm>
            <a:off x="1051560" y="4700016"/>
            <a:ext cx="10149840" cy="164592"/>
          </a:xfrm>
          <a:prstGeom prst="rect">
            <a:avLst/>
          </a:prstGeom>
          <a:noFill/>
        </p:spPr>
        <p:txBody>
          <a:bodyPr wrap="square">
            <a:spAutoFit/>
          </a:bodyPr>
          <a:lstStyle/>
          <a:p>
            <a:pPr algn="l">
              <a:defRPr sz="900" b="0">
                <a:solidFill>
                  <a:srgbClr val="1C2330"/>
                </a:solidFill>
              </a:defRPr>
            </a:pPr>
            <a:r>
              <a:t>• Hoặc gọi API chuẩn trên ESB (WSO2) để truyền bản ghi Master Data theo batch hoặc CDC</a:t>
            </a:r>
          </a:p>
        </p:txBody>
      </p:sp>
      <p:sp>
        <p:nvSpPr>
          <p:cNvPr id="33" name="TextBox 32"/>
          <p:cNvSpPr txBox="1"/>
          <p:nvPr/>
        </p:nvSpPr>
        <p:spPr>
          <a:xfrm>
            <a:off x="1051560" y="4882896"/>
            <a:ext cx="10149840" cy="164592"/>
          </a:xfrm>
          <a:prstGeom prst="rect">
            <a:avLst/>
          </a:prstGeom>
          <a:noFill/>
        </p:spPr>
        <p:txBody>
          <a:bodyPr wrap="square">
            <a:spAutoFit/>
          </a:bodyPr>
          <a:lstStyle/>
          <a:p>
            <a:pPr algn="l">
              <a:defRPr sz="900" b="0">
                <a:solidFill>
                  <a:srgbClr val="1C2330"/>
                </a:solidFill>
              </a:defRPr>
            </a:pPr>
            <a:r>
              <a:t>• Hệ thống MDM Hub tự động kiểm tra Golden Record: Nếu mã hợp lệ → Chấp nhận; Sai → Reject + Log</a:t>
            </a:r>
          </a:p>
        </p:txBody>
      </p:sp>
      <p:sp>
        <p:nvSpPr>
          <p:cNvPr id="34" name="TextBox 33"/>
          <p:cNvSpPr txBox="1"/>
          <p:nvPr/>
        </p:nvSpPr>
        <p:spPr>
          <a:xfrm>
            <a:off x="1051560" y="5065776"/>
            <a:ext cx="10149840" cy="164592"/>
          </a:xfrm>
          <a:prstGeom prst="rect">
            <a:avLst/>
          </a:prstGeom>
          <a:noFill/>
        </p:spPr>
        <p:txBody>
          <a:bodyPr wrap="square">
            <a:spAutoFit/>
          </a:bodyPr>
          <a:lstStyle/>
          <a:p>
            <a:pPr algn="l">
              <a:defRPr sz="900" b="0">
                <a:solidFill>
                  <a:srgbClr val="1C2330"/>
                </a:solidFill>
              </a:defRPr>
            </a:pPr>
            <a:r>
              <a:t>• Dashboard Power BI tự động refresh dữ liệu mới từ Workspace L3 theo lịch (mỗi sáng 06h00)</a:t>
            </a:r>
          </a:p>
        </p:txBody>
      </p:sp>
      <p:sp>
        <p:nvSpPr>
          <p:cNvPr id="35" name="Rounded Rectangle 34"/>
          <p:cNvSpPr/>
          <p:nvPr/>
        </p:nvSpPr>
        <p:spPr>
          <a:xfrm>
            <a:off x="731520" y="5358383"/>
            <a:ext cx="10698480" cy="1078992"/>
          </a:xfrm>
          <a:prstGeom prst="roundRect">
            <a:avLst/>
          </a:prstGeom>
          <a:solidFill>
            <a:srgbClr val="F3F5F8"/>
          </a:solidFill>
          <a:ln w="1524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6" y="5394959"/>
            <a:ext cx="91440" cy="100584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413247"/>
            <a:ext cx="457200" cy="274320"/>
          </a:xfrm>
          <a:prstGeom prst="rect">
            <a:avLst/>
          </a:prstGeom>
          <a:noFill/>
        </p:spPr>
        <p:txBody>
          <a:bodyPr wrap="square">
            <a:spAutoFit/>
          </a:bodyPr>
          <a:lstStyle/>
          <a:p>
            <a:pPr algn="l">
              <a:defRPr sz="1300" b="1">
                <a:solidFill>
                  <a:srgbClr val="158050"/>
                </a:solidFill>
              </a:defRPr>
            </a:pPr>
            <a:r>
              <a:t>D</a:t>
            </a:r>
          </a:p>
        </p:txBody>
      </p:sp>
      <p:sp>
        <p:nvSpPr>
          <p:cNvPr id="38" name="TextBox 37"/>
          <p:cNvSpPr txBox="1"/>
          <p:nvPr/>
        </p:nvSpPr>
        <p:spPr>
          <a:xfrm>
            <a:off x="1508760" y="5413247"/>
            <a:ext cx="9601200" cy="274320"/>
          </a:xfrm>
          <a:prstGeom prst="rect">
            <a:avLst/>
          </a:prstGeom>
          <a:noFill/>
        </p:spPr>
        <p:txBody>
          <a:bodyPr wrap="square">
            <a:spAutoFit/>
          </a:bodyPr>
          <a:lstStyle/>
          <a:p>
            <a:pPr algn="l">
              <a:defRPr sz="1100" b="1">
                <a:solidFill>
                  <a:srgbClr val="1C2330"/>
                </a:solidFill>
              </a:defRPr>
            </a:pPr>
            <a:r>
              <a:t>GIÁM SÁT VẬN HÀNH &amp; XỬ LÝ SỰ CỐ</a:t>
            </a:r>
          </a:p>
        </p:txBody>
      </p:sp>
      <p:sp>
        <p:nvSpPr>
          <p:cNvPr id="39" name="TextBox 38"/>
          <p:cNvSpPr txBox="1"/>
          <p:nvPr/>
        </p:nvSpPr>
        <p:spPr>
          <a:xfrm>
            <a:off x="1051560" y="5678423"/>
            <a:ext cx="10149840" cy="164592"/>
          </a:xfrm>
          <a:prstGeom prst="rect">
            <a:avLst/>
          </a:prstGeom>
          <a:noFill/>
        </p:spPr>
        <p:txBody>
          <a:bodyPr wrap="square">
            <a:spAutoFit/>
          </a:bodyPr>
          <a:lstStyle/>
          <a:p>
            <a:pPr algn="l">
              <a:defRPr sz="900" b="0">
                <a:solidFill>
                  <a:srgbClr val="1C2330"/>
                </a:solidFill>
              </a:defRPr>
            </a:pPr>
            <a:r>
              <a:t>• Hệ thống SIEM/SOC TCT giám sát luồng truyền 24/7 — phát hiện bất thường tự động</a:t>
            </a:r>
          </a:p>
        </p:txBody>
      </p:sp>
      <p:sp>
        <p:nvSpPr>
          <p:cNvPr id="40" name="TextBox 39"/>
          <p:cNvSpPr txBox="1"/>
          <p:nvPr/>
        </p:nvSpPr>
        <p:spPr>
          <a:xfrm>
            <a:off x="1051560" y="5861303"/>
            <a:ext cx="10149840" cy="164592"/>
          </a:xfrm>
          <a:prstGeom prst="rect">
            <a:avLst/>
          </a:prstGeom>
          <a:noFill/>
        </p:spPr>
        <p:txBody>
          <a:bodyPr wrap="square">
            <a:spAutoFit/>
          </a:bodyPr>
          <a:lstStyle/>
          <a:p>
            <a:pPr algn="l">
              <a:defRPr sz="900" b="0">
                <a:solidFill>
                  <a:srgbClr val="1C2330"/>
                </a:solidFill>
              </a:defRPr>
            </a:pPr>
            <a:r>
              <a:t>• Airflow DAG tại QN giám sát trạng thái từng bước: Extract → Transform → Load → Verify</a:t>
            </a:r>
          </a:p>
        </p:txBody>
      </p:sp>
      <p:sp>
        <p:nvSpPr>
          <p:cNvPr id="41" name="TextBox 40"/>
          <p:cNvSpPr txBox="1"/>
          <p:nvPr/>
        </p:nvSpPr>
        <p:spPr>
          <a:xfrm>
            <a:off x="1051560" y="6044183"/>
            <a:ext cx="10149840" cy="164592"/>
          </a:xfrm>
          <a:prstGeom prst="rect">
            <a:avLst/>
          </a:prstGeom>
          <a:noFill/>
        </p:spPr>
        <p:txBody>
          <a:bodyPr wrap="square">
            <a:spAutoFit/>
          </a:bodyPr>
          <a:lstStyle/>
          <a:p>
            <a:pPr algn="l">
              <a:defRPr sz="900" b="0">
                <a:solidFill>
                  <a:srgbClr val="1C2330"/>
                </a:solidFill>
              </a:defRPr>
            </a:pPr>
            <a:r>
              <a:t>• Nếu Load thất bại: Tự động retry 3 lần → Gửi cảnh báo qua Email/Zalo cho IT QN và IT TCT</a:t>
            </a:r>
          </a:p>
        </p:txBody>
      </p:sp>
      <p:sp>
        <p:nvSpPr>
          <p:cNvPr id="42" name="TextBox 41"/>
          <p:cNvSpPr txBox="1"/>
          <p:nvPr/>
        </p:nvSpPr>
        <p:spPr>
          <a:xfrm>
            <a:off x="1051560" y="6227063"/>
            <a:ext cx="10149840" cy="164592"/>
          </a:xfrm>
          <a:prstGeom prst="rect">
            <a:avLst/>
          </a:prstGeom>
          <a:noFill/>
        </p:spPr>
        <p:txBody>
          <a:bodyPr wrap="square">
            <a:spAutoFit/>
          </a:bodyPr>
          <a:lstStyle/>
          <a:p>
            <a:pPr algn="l">
              <a:defRPr sz="900" b="0">
                <a:solidFill>
                  <a:srgbClr val="1C2330"/>
                </a:solidFill>
              </a:defRPr>
            </a:pPr>
            <a:r>
              <a:t>• Báo cáo vận hành hàng tuần: Số bản ghi đồng bộ thành công, tỷ lệ lỗi, thời gian xử lý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GĐ3 IT QUẢNG NGÃI LÀM CHỦ 100%</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GIAI ĐOẠN 3 CHI TIẾT: BÀN GIAO, KHAI THÁC BÁO CÁO &amp; ĐÀO TẠO CHUYỂN GIAO</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14</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10698480" cy="1188720"/>
          </a:xfrm>
          <a:prstGeom prst="roundRect">
            <a:avLst/>
          </a:prstGeom>
          <a:solidFill>
            <a:srgbClr val="E6F0FC"/>
          </a:solidFill>
          <a:ln w="1524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16736"/>
            <a:ext cx="91440" cy="1115568"/>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353312"/>
            <a:ext cx="914400" cy="274320"/>
          </a:xfrm>
          <a:prstGeom prst="rect">
            <a:avLst/>
          </a:prstGeom>
          <a:noFill/>
        </p:spPr>
        <p:txBody>
          <a:bodyPr wrap="square">
            <a:spAutoFit/>
          </a:bodyPr>
          <a:lstStyle/>
          <a:p>
            <a:pPr algn="l">
              <a:defRPr sz="1100" b="1">
                <a:solidFill>
                  <a:srgbClr val="1E64BE"/>
                </a:solidFill>
              </a:defRPr>
            </a:pPr>
            <a:r>
              <a:t>Bước 3.1</a:t>
            </a:r>
          </a:p>
        </p:txBody>
      </p:sp>
      <p:sp>
        <p:nvSpPr>
          <p:cNvPr id="12" name="TextBox 11"/>
          <p:cNvSpPr txBox="1"/>
          <p:nvPr/>
        </p:nvSpPr>
        <p:spPr>
          <a:xfrm>
            <a:off x="2011680" y="1353312"/>
            <a:ext cx="9144000" cy="274320"/>
          </a:xfrm>
          <a:prstGeom prst="rect">
            <a:avLst/>
          </a:prstGeom>
          <a:noFill/>
        </p:spPr>
        <p:txBody>
          <a:bodyPr wrap="square">
            <a:spAutoFit/>
          </a:bodyPr>
          <a:lstStyle/>
          <a:p>
            <a:pPr algn="l">
              <a:defRPr sz="1150" b="1">
                <a:solidFill>
                  <a:srgbClr val="1C2330"/>
                </a:solidFill>
              </a:defRPr>
            </a:pPr>
            <a:r>
              <a:t>Tiếp nhận Workspace L3 &amp; Thiết lập phân quyền (RBAC)</a:t>
            </a:r>
          </a:p>
        </p:txBody>
      </p:sp>
      <p:sp>
        <p:nvSpPr>
          <p:cNvPr id="13" name="TextBox 12"/>
          <p:cNvSpPr txBox="1"/>
          <p:nvPr/>
        </p:nvSpPr>
        <p:spPr>
          <a:xfrm>
            <a:off x="1051560" y="1645920"/>
            <a:ext cx="10149840" cy="228600"/>
          </a:xfrm>
          <a:prstGeom prst="rect">
            <a:avLst/>
          </a:prstGeom>
          <a:noFill/>
        </p:spPr>
        <p:txBody>
          <a:bodyPr wrap="square">
            <a:spAutoFit/>
          </a:bodyPr>
          <a:lstStyle/>
          <a:p>
            <a:pPr algn="l">
              <a:defRPr sz="950" b="0">
                <a:solidFill>
                  <a:srgbClr val="1C2330"/>
                </a:solidFill>
              </a:defRPr>
            </a:pPr>
            <a:r>
              <a:t>• Phối hợp IT TCT kích hoạt SSO (Single Sign-On) — CBNV dùng email @ptsc.com.vn đăng nhập Power BI</a:t>
            </a:r>
          </a:p>
        </p:txBody>
      </p:sp>
      <p:sp>
        <p:nvSpPr>
          <p:cNvPr id="14" name="TextBox 13"/>
          <p:cNvSpPr txBox="1"/>
          <p:nvPr/>
        </p:nvSpPr>
        <p:spPr>
          <a:xfrm>
            <a:off x="1051560" y="1901952"/>
            <a:ext cx="10149840" cy="228600"/>
          </a:xfrm>
          <a:prstGeom prst="rect">
            <a:avLst/>
          </a:prstGeom>
          <a:noFill/>
        </p:spPr>
        <p:txBody>
          <a:bodyPr wrap="square">
            <a:spAutoFit/>
          </a:bodyPr>
          <a:lstStyle/>
          <a:p>
            <a:pPr algn="l">
              <a:defRPr sz="950" b="0">
                <a:solidFill>
                  <a:srgbClr val="1C2330"/>
                </a:solidFill>
              </a:defRPr>
            </a:pPr>
            <a:r>
              <a:t>• Tiếp nhận quyền Admin Workspace L3 trên Microsoft Fabric</a:t>
            </a:r>
          </a:p>
        </p:txBody>
      </p:sp>
      <p:sp>
        <p:nvSpPr>
          <p:cNvPr id="15" name="TextBox 14"/>
          <p:cNvSpPr txBox="1"/>
          <p:nvPr/>
        </p:nvSpPr>
        <p:spPr>
          <a:xfrm>
            <a:off x="1051560" y="2157984"/>
            <a:ext cx="10149840" cy="228600"/>
          </a:xfrm>
          <a:prstGeom prst="rect">
            <a:avLst/>
          </a:prstGeom>
          <a:noFill/>
        </p:spPr>
        <p:txBody>
          <a:bodyPr wrap="square">
            <a:spAutoFit/>
          </a:bodyPr>
          <a:lstStyle/>
          <a:p>
            <a:pPr algn="l">
              <a:defRPr sz="950" b="0">
                <a:solidFill>
                  <a:srgbClr val="1C2330"/>
                </a:solidFill>
              </a:defRPr>
            </a:pPr>
            <a:r>
              <a:t>• Phân quyền theo vai trò: Ban GĐ xem toàn bộ; TP Kế toán chỉ xem Tài chính; TP Nhân sự chỉ xem HR</a:t>
            </a:r>
          </a:p>
        </p:txBody>
      </p:sp>
      <p:sp>
        <p:nvSpPr>
          <p:cNvPr id="16" name="Rounded Rectangle 15"/>
          <p:cNvSpPr/>
          <p:nvPr/>
        </p:nvSpPr>
        <p:spPr>
          <a:xfrm>
            <a:off x="731520" y="2560320"/>
            <a:ext cx="10698480" cy="1188720"/>
          </a:xfrm>
          <a:prstGeom prst="roundRect">
            <a:avLst/>
          </a:prstGeom>
          <a:solidFill>
            <a:srgbClr val="E6F8F6"/>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2596896"/>
            <a:ext cx="91440"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33472"/>
            <a:ext cx="914400" cy="274320"/>
          </a:xfrm>
          <a:prstGeom prst="rect">
            <a:avLst/>
          </a:prstGeom>
          <a:noFill/>
        </p:spPr>
        <p:txBody>
          <a:bodyPr wrap="square">
            <a:spAutoFit/>
          </a:bodyPr>
          <a:lstStyle/>
          <a:p>
            <a:pPr algn="l">
              <a:defRPr sz="1100" b="1">
                <a:solidFill>
                  <a:srgbClr val="0D9488"/>
                </a:solidFill>
              </a:defRPr>
            </a:pPr>
            <a:r>
              <a:t>Bước 3.2</a:t>
            </a:r>
          </a:p>
        </p:txBody>
      </p:sp>
      <p:sp>
        <p:nvSpPr>
          <p:cNvPr id="19" name="TextBox 18"/>
          <p:cNvSpPr txBox="1"/>
          <p:nvPr/>
        </p:nvSpPr>
        <p:spPr>
          <a:xfrm>
            <a:off x="2011680" y="2633472"/>
            <a:ext cx="9144000" cy="274320"/>
          </a:xfrm>
          <a:prstGeom prst="rect">
            <a:avLst/>
          </a:prstGeom>
          <a:noFill/>
        </p:spPr>
        <p:txBody>
          <a:bodyPr wrap="square">
            <a:spAutoFit/>
          </a:bodyPr>
          <a:lstStyle/>
          <a:p>
            <a:pPr algn="l">
              <a:defRPr sz="1150" b="1">
                <a:solidFill>
                  <a:srgbClr val="1C2330"/>
                </a:solidFill>
              </a:defRPr>
            </a:pPr>
            <a:r>
              <a:t>Thiết kế mô hình dữ liệu &amp; Xây dựng Dashboard Power BI</a:t>
            </a:r>
          </a:p>
        </p:txBody>
      </p:sp>
      <p:sp>
        <p:nvSpPr>
          <p:cNvPr id="20" name="TextBox 19"/>
          <p:cNvSpPr txBox="1"/>
          <p:nvPr/>
        </p:nvSpPr>
        <p:spPr>
          <a:xfrm>
            <a:off x="1051560" y="2926080"/>
            <a:ext cx="10149840" cy="228600"/>
          </a:xfrm>
          <a:prstGeom prst="rect">
            <a:avLst/>
          </a:prstGeom>
          <a:noFill/>
        </p:spPr>
        <p:txBody>
          <a:bodyPr wrap="square">
            <a:spAutoFit/>
          </a:bodyPr>
          <a:lstStyle/>
          <a:p>
            <a:pPr algn="l">
              <a:defRPr sz="950" b="0">
                <a:solidFill>
                  <a:srgbClr val="1C2330"/>
                </a:solidFill>
              </a:defRPr>
            </a:pPr>
            <a:r>
              <a:t>• Xây dựng mô hình phân tích (Star Schema) trên Fabric Lakehouse từ dữ liệu đã chuẩn hóa</a:t>
            </a:r>
          </a:p>
        </p:txBody>
      </p:sp>
      <p:sp>
        <p:nvSpPr>
          <p:cNvPr id="21" name="TextBox 20"/>
          <p:cNvSpPr txBox="1"/>
          <p:nvPr/>
        </p:nvSpPr>
        <p:spPr>
          <a:xfrm>
            <a:off x="1051560" y="3182112"/>
            <a:ext cx="10149840" cy="228600"/>
          </a:xfrm>
          <a:prstGeom prst="rect">
            <a:avLst/>
          </a:prstGeom>
          <a:noFill/>
        </p:spPr>
        <p:txBody>
          <a:bodyPr wrap="square">
            <a:spAutoFit/>
          </a:bodyPr>
          <a:lstStyle/>
          <a:p>
            <a:pPr algn="l">
              <a:defRPr sz="950" b="0">
                <a:solidFill>
                  <a:srgbClr val="1C2330"/>
                </a:solidFill>
              </a:defRPr>
            </a:pPr>
            <a:r>
              <a:t>• Thiết kế Dashboard: Tổng hợp SXKD, Doanh thu–Chi phí–Dòng tiền, Tiến độ Dự án, Biến động Nhân sự</a:t>
            </a:r>
          </a:p>
        </p:txBody>
      </p:sp>
      <p:sp>
        <p:nvSpPr>
          <p:cNvPr id="22" name="TextBox 21"/>
          <p:cNvSpPr txBox="1"/>
          <p:nvPr/>
        </p:nvSpPr>
        <p:spPr>
          <a:xfrm>
            <a:off x="1051560" y="3438144"/>
            <a:ext cx="10149840" cy="228600"/>
          </a:xfrm>
          <a:prstGeom prst="rect">
            <a:avLst/>
          </a:prstGeom>
          <a:noFill/>
        </p:spPr>
        <p:txBody>
          <a:bodyPr wrap="square">
            <a:spAutoFit/>
          </a:bodyPr>
          <a:lstStyle/>
          <a:p>
            <a:pPr algn="l">
              <a:defRPr sz="950" b="0">
                <a:solidFill>
                  <a:srgbClr val="1C2330"/>
                </a:solidFill>
              </a:defRPr>
            </a:pPr>
            <a:r>
              <a:t>• Cấu hình tự động refresh: Power BI kéo dữ liệu mới nhất từ Workspace L3 mỗi sáng 06h00</a:t>
            </a:r>
          </a:p>
        </p:txBody>
      </p:sp>
      <p:sp>
        <p:nvSpPr>
          <p:cNvPr id="23" name="Rounded Rectangle 22"/>
          <p:cNvSpPr/>
          <p:nvPr/>
        </p:nvSpPr>
        <p:spPr>
          <a:xfrm>
            <a:off x="731520" y="3840479"/>
            <a:ext cx="10698480" cy="1188720"/>
          </a:xfrm>
          <a:prstGeom prst="roundRect">
            <a:avLst/>
          </a:prstGeom>
          <a:solidFill>
            <a:srgbClr val="E8F8EF"/>
          </a:solidFill>
          <a:ln w="1524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8096" y="3877055"/>
            <a:ext cx="91440" cy="1115568"/>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913631"/>
            <a:ext cx="914400" cy="274320"/>
          </a:xfrm>
          <a:prstGeom prst="rect">
            <a:avLst/>
          </a:prstGeom>
          <a:noFill/>
        </p:spPr>
        <p:txBody>
          <a:bodyPr wrap="square">
            <a:spAutoFit/>
          </a:bodyPr>
          <a:lstStyle/>
          <a:p>
            <a:pPr algn="l">
              <a:defRPr sz="1100" b="1">
                <a:solidFill>
                  <a:srgbClr val="158050"/>
                </a:solidFill>
              </a:defRPr>
            </a:pPr>
            <a:r>
              <a:t>Bước 3.3</a:t>
            </a:r>
          </a:p>
        </p:txBody>
      </p:sp>
      <p:sp>
        <p:nvSpPr>
          <p:cNvPr id="26" name="TextBox 25"/>
          <p:cNvSpPr txBox="1"/>
          <p:nvPr/>
        </p:nvSpPr>
        <p:spPr>
          <a:xfrm>
            <a:off x="2011680" y="3913631"/>
            <a:ext cx="9144000" cy="274320"/>
          </a:xfrm>
          <a:prstGeom prst="rect">
            <a:avLst/>
          </a:prstGeom>
          <a:noFill/>
        </p:spPr>
        <p:txBody>
          <a:bodyPr wrap="square">
            <a:spAutoFit/>
          </a:bodyPr>
          <a:lstStyle/>
          <a:p>
            <a:pPr algn="l">
              <a:defRPr sz="1150" b="1">
                <a:solidFill>
                  <a:srgbClr val="1C2330"/>
                </a:solidFill>
              </a:defRPr>
            </a:pPr>
            <a:r>
              <a:t>Nghiệm thu kỹ thuật &amp; Bàn giao mã nguồn</a:t>
            </a:r>
          </a:p>
        </p:txBody>
      </p:sp>
      <p:sp>
        <p:nvSpPr>
          <p:cNvPr id="27" name="TextBox 26"/>
          <p:cNvSpPr txBox="1"/>
          <p:nvPr/>
        </p:nvSpPr>
        <p:spPr>
          <a:xfrm>
            <a:off x="1051560" y="4206239"/>
            <a:ext cx="10149840" cy="228600"/>
          </a:xfrm>
          <a:prstGeom prst="rect">
            <a:avLst/>
          </a:prstGeom>
          <a:noFill/>
        </p:spPr>
        <p:txBody>
          <a:bodyPr wrap="square">
            <a:spAutoFit/>
          </a:bodyPr>
          <a:lstStyle/>
          <a:p>
            <a:pPr algn="l">
              <a:defRPr sz="950" b="0">
                <a:solidFill>
                  <a:srgbClr val="1C2330"/>
                </a:solidFill>
              </a:defRPr>
            </a:pPr>
            <a:r>
              <a:t>• Chạy nghiệm thu toàn bộ hệ thống End-to-End: Nguồn QN → ETL → VPN → Hub → Dashboard</a:t>
            </a:r>
          </a:p>
        </p:txBody>
      </p:sp>
      <p:sp>
        <p:nvSpPr>
          <p:cNvPr id="28" name="TextBox 27"/>
          <p:cNvSpPr txBox="1"/>
          <p:nvPr/>
        </p:nvSpPr>
        <p:spPr>
          <a:xfrm>
            <a:off x="1051560" y="4462271"/>
            <a:ext cx="10149840" cy="228600"/>
          </a:xfrm>
          <a:prstGeom prst="rect">
            <a:avLst/>
          </a:prstGeom>
          <a:noFill/>
        </p:spPr>
        <p:txBody>
          <a:bodyPr wrap="square">
            <a:spAutoFit/>
          </a:bodyPr>
          <a:lstStyle/>
          <a:p>
            <a:pPr algn="l">
              <a:defRPr sz="950" b="0">
                <a:solidFill>
                  <a:srgbClr val="1C2330"/>
                </a:solidFill>
              </a:defRPr>
            </a:pPr>
            <a:r>
              <a:t>• NCC bàn giao 100%: Mã nguồn script ETL (Git), Tài liệu kiến trúc, Từ điển dữ liệu (Data Dictionary)</a:t>
            </a:r>
          </a:p>
        </p:txBody>
      </p:sp>
      <p:sp>
        <p:nvSpPr>
          <p:cNvPr id="29" name="TextBox 28"/>
          <p:cNvSpPr txBox="1"/>
          <p:nvPr/>
        </p:nvSpPr>
        <p:spPr>
          <a:xfrm>
            <a:off x="1051560" y="4718303"/>
            <a:ext cx="10149840" cy="228600"/>
          </a:xfrm>
          <a:prstGeom prst="rect">
            <a:avLst/>
          </a:prstGeom>
          <a:noFill/>
        </p:spPr>
        <p:txBody>
          <a:bodyPr wrap="square">
            <a:spAutoFit/>
          </a:bodyPr>
          <a:lstStyle/>
          <a:p>
            <a:pPr algn="l">
              <a:defRPr sz="950" b="0">
                <a:solidFill>
                  <a:srgbClr val="1C2330"/>
                </a:solidFill>
              </a:defRPr>
            </a:pPr>
            <a:r>
              <a:t>• Cam kết bảo hành 6–12 tháng và hỗ trợ kỹ thuật từ xa sau bàn giao</a:t>
            </a:r>
          </a:p>
        </p:txBody>
      </p:sp>
      <p:sp>
        <p:nvSpPr>
          <p:cNvPr id="30" name="Rounded Rectangle 29"/>
          <p:cNvSpPr/>
          <p:nvPr/>
        </p:nvSpPr>
        <p:spPr>
          <a:xfrm>
            <a:off x="731520" y="5120640"/>
            <a:ext cx="10698480" cy="1188720"/>
          </a:xfrm>
          <a:prstGeom prst="roundRect">
            <a:avLst/>
          </a:prstGeom>
          <a:solidFill>
            <a:srgbClr val="FFF5E1"/>
          </a:solidFill>
          <a:ln w="1524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6" y="5157216"/>
            <a:ext cx="91440" cy="1115568"/>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193792"/>
            <a:ext cx="914400" cy="274320"/>
          </a:xfrm>
          <a:prstGeom prst="rect">
            <a:avLst/>
          </a:prstGeom>
          <a:noFill/>
        </p:spPr>
        <p:txBody>
          <a:bodyPr wrap="square">
            <a:spAutoFit/>
          </a:bodyPr>
          <a:lstStyle/>
          <a:p>
            <a:pPr algn="l">
              <a:defRPr sz="1100" b="1">
                <a:solidFill>
                  <a:srgbClr val="B47300"/>
                </a:solidFill>
              </a:defRPr>
            </a:pPr>
            <a:r>
              <a:t>Bước 3.4</a:t>
            </a:r>
          </a:p>
        </p:txBody>
      </p:sp>
      <p:sp>
        <p:nvSpPr>
          <p:cNvPr id="33" name="TextBox 32"/>
          <p:cNvSpPr txBox="1"/>
          <p:nvPr/>
        </p:nvSpPr>
        <p:spPr>
          <a:xfrm>
            <a:off x="2011680" y="5193792"/>
            <a:ext cx="9144000" cy="274320"/>
          </a:xfrm>
          <a:prstGeom prst="rect">
            <a:avLst/>
          </a:prstGeom>
          <a:noFill/>
        </p:spPr>
        <p:txBody>
          <a:bodyPr wrap="square">
            <a:spAutoFit/>
          </a:bodyPr>
          <a:lstStyle/>
          <a:p>
            <a:pPr algn="l">
              <a:defRPr sz="1150" b="1">
                <a:solidFill>
                  <a:srgbClr val="1C2330"/>
                </a:solidFill>
              </a:defRPr>
            </a:pPr>
            <a:r>
              <a:t>Đào tạo chuyển giao &amp; Đưa vào vận hành chính thức</a:t>
            </a:r>
          </a:p>
        </p:txBody>
      </p:sp>
      <p:sp>
        <p:nvSpPr>
          <p:cNvPr id="34" name="TextBox 33"/>
          <p:cNvSpPr txBox="1"/>
          <p:nvPr/>
        </p:nvSpPr>
        <p:spPr>
          <a:xfrm>
            <a:off x="1051560" y="5486400"/>
            <a:ext cx="10149840" cy="228600"/>
          </a:xfrm>
          <a:prstGeom prst="rect">
            <a:avLst/>
          </a:prstGeom>
          <a:noFill/>
        </p:spPr>
        <p:txBody>
          <a:bodyPr wrap="square">
            <a:spAutoFit/>
          </a:bodyPr>
          <a:lstStyle/>
          <a:p>
            <a:pPr algn="l">
              <a:defRPr sz="950" b="0">
                <a:solidFill>
                  <a:srgbClr val="1C2330"/>
                </a:solidFill>
              </a:defRPr>
            </a:pPr>
            <a:r>
              <a:t>• Đào tạo IT QN: Vận hành ETL Pipeline, xử lý sự cố, bổ sung nguồn dữ liệu mới</a:t>
            </a:r>
          </a:p>
        </p:txBody>
      </p:sp>
      <p:sp>
        <p:nvSpPr>
          <p:cNvPr id="35" name="TextBox 34"/>
          <p:cNvSpPr txBox="1"/>
          <p:nvPr/>
        </p:nvSpPr>
        <p:spPr>
          <a:xfrm>
            <a:off x="1051560" y="5742432"/>
            <a:ext cx="10149840" cy="228600"/>
          </a:xfrm>
          <a:prstGeom prst="rect">
            <a:avLst/>
          </a:prstGeom>
          <a:noFill/>
        </p:spPr>
        <p:txBody>
          <a:bodyPr wrap="square">
            <a:spAutoFit/>
          </a:bodyPr>
          <a:lstStyle/>
          <a:p>
            <a:pPr algn="l">
              <a:defRPr sz="950" b="0">
                <a:solidFill>
                  <a:srgbClr val="1C2330"/>
                </a:solidFill>
              </a:defRPr>
            </a:pPr>
            <a:r>
              <a:t>• Hướng dẫn Ban GĐ cài đặt Power BI Mobile trên điện thoại — truy cập báo cáo mọi lúc mọi nơi</a:t>
            </a:r>
          </a:p>
        </p:txBody>
      </p:sp>
      <p:sp>
        <p:nvSpPr>
          <p:cNvPr id="36" name="TextBox 35"/>
          <p:cNvSpPr txBox="1"/>
          <p:nvPr/>
        </p:nvSpPr>
        <p:spPr>
          <a:xfrm>
            <a:off x="1051560" y="5998464"/>
            <a:ext cx="10149840" cy="228600"/>
          </a:xfrm>
          <a:prstGeom prst="rect">
            <a:avLst/>
          </a:prstGeom>
          <a:noFill/>
        </p:spPr>
        <p:txBody>
          <a:bodyPr wrap="square">
            <a:spAutoFit/>
          </a:bodyPr>
          <a:lstStyle/>
          <a:p>
            <a:pPr algn="l">
              <a:defRPr sz="950" b="0">
                <a:solidFill>
                  <a:srgbClr val="1C2330"/>
                </a:solidFill>
              </a:defRPr>
            </a:pPr>
            <a:r>
              <a:t>• Báo cáo TCT: Hoàn thành chỉ tiêu KPI Chuyển đổi số năm 2026, kèm hồ sơ nghiệm thu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TIẾN ĐỘ TỔNG THỂ</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LỘ TRÌNH TỔNG THỂ: TIMELINE 3 GIAI ĐOẠN TRIỂN KHAI</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15</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325880"/>
            <a:ext cx="3383280" cy="493776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25880"/>
            <a:ext cx="3383280" cy="685800"/>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53312"/>
            <a:ext cx="3383280" cy="256032"/>
          </a:xfrm>
          <a:prstGeom prst="rect">
            <a:avLst/>
          </a:prstGeom>
          <a:noFill/>
        </p:spPr>
        <p:txBody>
          <a:bodyPr wrap="square">
            <a:spAutoFit/>
          </a:bodyPr>
          <a:lstStyle/>
          <a:p>
            <a:pPr algn="ctr">
              <a:defRPr sz="1100" b="1">
                <a:solidFill>
                  <a:srgbClr val="FFFFFF"/>
                </a:solidFill>
              </a:defRPr>
            </a:pPr>
            <a:r>
              <a:t>GIAI ĐOẠN 1  (T3 – T4/2026)</a:t>
            </a:r>
          </a:p>
        </p:txBody>
      </p:sp>
      <p:sp>
        <p:nvSpPr>
          <p:cNvPr id="12" name="TextBox 11"/>
          <p:cNvSpPr txBox="1"/>
          <p:nvPr/>
        </p:nvSpPr>
        <p:spPr>
          <a:xfrm>
            <a:off x="731520" y="1609344"/>
            <a:ext cx="3383280" cy="201168"/>
          </a:xfrm>
          <a:prstGeom prst="rect">
            <a:avLst/>
          </a:prstGeom>
          <a:noFill/>
        </p:spPr>
        <p:txBody>
          <a:bodyPr wrap="square">
            <a:spAutoFit/>
          </a:bodyPr>
          <a:lstStyle/>
          <a:p>
            <a:pPr algn="ctr">
              <a:defRPr sz="950" b="1">
                <a:solidFill>
                  <a:srgbClr val="DCEBFF"/>
                </a:solidFill>
              </a:defRPr>
            </a:pPr>
            <a:r>
              <a:t>KHẢO SÁT &amp; LẬP ĐỀ BÀI KỸ THUẬT</a:t>
            </a:r>
          </a:p>
        </p:txBody>
      </p:sp>
      <p:sp>
        <p:nvSpPr>
          <p:cNvPr id="13" name="Rounded Rectangle 12"/>
          <p:cNvSpPr/>
          <p:nvPr/>
        </p:nvSpPr>
        <p:spPr>
          <a:xfrm>
            <a:off x="868680" y="2103120"/>
            <a:ext cx="3108960" cy="292608"/>
          </a:xfrm>
          <a:prstGeom prst="roundRect">
            <a:avLst/>
          </a:prstGeom>
          <a:solidFill>
            <a:srgbClr val="FFFFFF"/>
          </a:solidFill>
          <a:ln w="127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130552"/>
            <a:ext cx="3108960" cy="228600"/>
          </a:xfrm>
          <a:prstGeom prst="rect">
            <a:avLst/>
          </a:prstGeom>
          <a:noFill/>
        </p:spPr>
        <p:txBody>
          <a:bodyPr wrap="square">
            <a:spAutoFit/>
          </a:bodyPr>
          <a:lstStyle/>
          <a:p>
            <a:pPr algn="ctr">
              <a:defRPr sz="900" b="1">
                <a:solidFill>
                  <a:srgbClr val="B47300"/>
                </a:solidFill>
              </a:defRPr>
            </a:pPr>
            <a:r>
              <a:t>NỘI BỘ TỰ CHỦ TRÌ · CHI PHÍ 0 VNĐ</a:t>
            </a:r>
          </a:p>
        </p:txBody>
      </p:sp>
      <p:sp>
        <p:nvSpPr>
          <p:cNvPr id="15" name="TextBox 14"/>
          <p:cNvSpPr txBox="1"/>
          <p:nvPr/>
        </p:nvSpPr>
        <p:spPr>
          <a:xfrm>
            <a:off x="868680" y="2560320"/>
            <a:ext cx="3108960" cy="658368"/>
          </a:xfrm>
          <a:prstGeom prst="rect">
            <a:avLst/>
          </a:prstGeom>
          <a:noFill/>
        </p:spPr>
        <p:txBody>
          <a:bodyPr wrap="square">
            <a:spAutoFit/>
          </a:bodyPr>
          <a:lstStyle/>
          <a:p>
            <a:pPr algn="l">
              <a:defRPr sz="950" b="0">
                <a:solidFill>
                  <a:srgbClr val="1C2330"/>
                </a:solidFill>
              </a:defRPr>
            </a:pPr>
            <a:r>
              <a:t>• Thành lập Tổ Công tác Nền tảng Dữ liệu nội bộ</a:t>
            </a:r>
          </a:p>
        </p:txBody>
      </p:sp>
      <p:sp>
        <p:nvSpPr>
          <p:cNvPr id="16" name="TextBox 15"/>
          <p:cNvSpPr txBox="1"/>
          <p:nvPr/>
        </p:nvSpPr>
        <p:spPr>
          <a:xfrm>
            <a:off x="868680" y="3273552"/>
            <a:ext cx="3108960" cy="658368"/>
          </a:xfrm>
          <a:prstGeom prst="rect">
            <a:avLst/>
          </a:prstGeom>
          <a:noFill/>
        </p:spPr>
        <p:txBody>
          <a:bodyPr wrap="square">
            <a:spAutoFit/>
          </a:bodyPr>
          <a:lstStyle/>
          <a:p>
            <a:pPr algn="l">
              <a:defRPr sz="950" b="0">
                <a:solidFill>
                  <a:srgbClr val="1C2330"/>
                </a:solidFill>
              </a:defRPr>
            </a:pPr>
            <a:r>
              <a:t>• Lập Data Catalog 4 phần mềm nghiệp vụ</a:t>
            </a:r>
          </a:p>
        </p:txBody>
      </p:sp>
      <p:sp>
        <p:nvSpPr>
          <p:cNvPr id="17" name="TextBox 16"/>
          <p:cNvSpPr txBox="1"/>
          <p:nvPr/>
        </p:nvSpPr>
        <p:spPr>
          <a:xfrm>
            <a:off x="868680" y="3986783"/>
            <a:ext cx="3108960" cy="658368"/>
          </a:xfrm>
          <a:prstGeom prst="rect">
            <a:avLst/>
          </a:prstGeom>
          <a:noFill/>
        </p:spPr>
        <p:txBody>
          <a:bodyPr wrap="square">
            <a:spAutoFit/>
          </a:bodyPr>
          <a:lstStyle/>
          <a:p>
            <a:pPr algn="l">
              <a:defRPr sz="950" b="0">
                <a:solidFill>
                  <a:srgbClr val="1C2330"/>
                </a:solidFill>
              </a:defRPr>
            </a:pPr>
            <a:r>
              <a:t>• Lập Bảng ánh xạ 29 Danh mục Dữ liệu chủ</a:t>
            </a:r>
          </a:p>
        </p:txBody>
      </p:sp>
      <p:sp>
        <p:nvSpPr>
          <p:cNvPr id="18" name="TextBox 17"/>
          <p:cNvSpPr txBox="1"/>
          <p:nvPr/>
        </p:nvSpPr>
        <p:spPr>
          <a:xfrm>
            <a:off x="868680" y="4700016"/>
            <a:ext cx="3108960" cy="658368"/>
          </a:xfrm>
          <a:prstGeom prst="rect">
            <a:avLst/>
          </a:prstGeom>
          <a:noFill/>
        </p:spPr>
        <p:txBody>
          <a:bodyPr wrap="square">
            <a:spAutoFit/>
          </a:bodyPr>
          <a:lstStyle/>
          <a:p>
            <a:pPr algn="l">
              <a:defRPr sz="950" b="0">
                <a:solidFill>
                  <a:srgbClr val="1C2330"/>
                </a:solidFill>
              </a:defRPr>
            </a:pPr>
            <a:r>
              <a:t>• Phân loại dữ liệu nhạy cảm cần che mờ</a:t>
            </a:r>
          </a:p>
        </p:txBody>
      </p:sp>
      <p:sp>
        <p:nvSpPr>
          <p:cNvPr id="19" name="TextBox 18"/>
          <p:cNvSpPr txBox="1"/>
          <p:nvPr/>
        </p:nvSpPr>
        <p:spPr>
          <a:xfrm>
            <a:off x="868680" y="5413248"/>
            <a:ext cx="3108960" cy="658368"/>
          </a:xfrm>
          <a:prstGeom prst="rect">
            <a:avLst/>
          </a:prstGeom>
          <a:noFill/>
        </p:spPr>
        <p:txBody>
          <a:bodyPr wrap="square">
            <a:spAutoFit/>
          </a:bodyPr>
          <a:lstStyle/>
          <a:p>
            <a:pPr algn="l">
              <a:defRPr sz="950" b="0">
                <a:solidFill>
                  <a:srgbClr val="1C2330"/>
                </a:solidFill>
              </a:defRPr>
            </a:pPr>
            <a:r>
              <a:t>• Hoàn thiện TOR, mời 2–3 NCC gửi báo giá cạnh tranh</a:t>
            </a:r>
          </a:p>
        </p:txBody>
      </p:sp>
      <p:sp>
        <p:nvSpPr>
          <p:cNvPr id="20" name="Rounded Rectangle 19"/>
          <p:cNvSpPr/>
          <p:nvPr/>
        </p:nvSpPr>
        <p:spPr>
          <a:xfrm>
            <a:off x="4434840" y="1325880"/>
            <a:ext cx="3383280" cy="493776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34840" y="1325880"/>
            <a:ext cx="3383280" cy="68580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1353312"/>
            <a:ext cx="3383280" cy="256032"/>
          </a:xfrm>
          <a:prstGeom prst="rect">
            <a:avLst/>
          </a:prstGeom>
          <a:noFill/>
        </p:spPr>
        <p:txBody>
          <a:bodyPr wrap="square">
            <a:spAutoFit/>
          </a:bodyPr>
          <a:lstStyle/>
          <a:p>
            <a:pPr algn="ctr">
              <a:defRPr sz="1100" b="1">
                <a:solidFill>
                  <a:srgbClr val="FFFFFF"/>
                </a:solidFill>
              </a:defRPr>
            </a:pPr>
            <a:r>
              <a:t>GIAI ĐOẠN 2  (T5 – T8/2026)</a:t>
            </a:r>
          </a:p>
        </p:txBody>
      </p:sp>
      <p:sp>
        <p:nvSpPr>
          <p:cNvPr id="23" name="TextBox 22"/>
          <p:cNvSpPr txBox="1"/>
          <p:nvPr/>
        </p:nvSpPr>
        <p:spPr>
          <a:xfrm>
            <a:off x="4434840" y="1609344"/>
            <a:ext cx="3383280" cy="201168"/>
          </a:xfrm>
          <a:prstGeom prst="rect">
            <a:avLst/>
          </a:prstGeom>
          <a:noFill/>
        </p:spPr>
        <p:txBody>
          <a:bodyPr wrap="square">
            <a:spAutoFit/>
          </a:bodyPr>
          <a:lstStyle/>
          <a:p>
            <a:pPr algn="ctr">
              <a:defRPr sz="950" b="1">
                <a:solidFill>
                  <a:srgbClr val="DCEBFF"/>
                </a:solidFill>
              </a:defRPr>
            </a:pPr>
            <a:r>
              <a:t>XÂY DỰNG TRỤC TÍCH HỢP &amp; KẾT NỐI HUB</a:t>
            </a:r>
          </a:p>
        </p:txBody>
      </p:sp>
      <p:sp>
        <p:nvSpPr>
          <p:cNvPr id="24" name="Rounded Rectangle 23"/>
          <p:cNvSpPr/>
          <p:nvPr/>
        </p:nvSpPr>
        <p:spPr>
          <a:xfrm>
            <a:off x="4572000" y="2103120"/>
            <a:ext cx="3108960" cy="292608"/>
          </a:xfrm>
          <a:prstGeom prst="roundRect">
            <a:avLst/>
          </a:prstGeom>
          <a:solidFill>
            <a:srgbClr val="FFFFFF"/>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130552"/>
            <a:ext cx="3108960" cy="228600"/>
          </a:xfrm>
          <a:prstGeom prst="rect">
            <a:avLst/>
          </a:prstGeom>
          <a:noFill/>
        </p:spPr>
        <p:txBody>
          <a:bodyPr wrap="square">
            <a:spAutoFit/>
          </a:bodyPr>
          <a:lstStyle/>
          <a:p>
            <a:pPr algn="ctr">
              <a:defRPr sz="900" b="1">
                <a:solidFill>
                  <a:srgbClr val="1E64BE"/>
                </a:solidFill>
              </a:defRPr>
            </a:pPr>
            <a:r>
              <a:t>THUÊ NCC CHUYÊN MÔN · IT QN GIÁM SÁT</a:t>
            </a:r>
          </a:p>
        </p:txBody>
      </p:sp>
      <p:sp>
        <p:nvSpPr>
          <p:cNvPr id="26" name="TextBox 25"/>
          <p:cNvSpPr txBox="1"/>
          <p:nvPr/>
        </p:nvSpPr>
        <p:spPr>
          <a:xfrm>
            <a:off x="4572000" y="2560320"/>
            <a:ext cx="3108960" cy="658368"/>
          </a:xfrm>
          <a:prstGeom prst="rect">
            <a:avLst/>
          </a:prstGeom>
          <a:noFill/>
        </p:spPr>
        <p:txBody>
          <a:bodyPr wrap="square">
            <a:spAutoFit/>
          </a:bodyPr>
          <a:lstStyle/>
          <a:p>
            <a:pPr algn="l">
              <a:defRPr sz="950" b="0">
                <a:solidFill>
                  <a:srgbClr val="1C2330"/>
                </a:solidFill>
              </a:defRPr>
            </a:pPr>
            <a:r>
              <a:t>• Lựa chọn NCC qua xét duyệt báo giá cạnh tranh</a:t>
            </a:r>
          </a:p>
        </p:txBody>
      </p:sp>
      <p:sp>
        <p:nvSpPr>
          <p:cNvPr id="27" name="TextBox 26"/>
          <p:cNvSpPr txBox="1"/>
          <p:nvPr/>
        </p:nvSpPr>
        <p:spPr>
          <a:xfrm>
            <a:off x="4572000" y="3273552"/>
            <a:ext cx="3108960" cy="658368"/>
          </a:xfrm>
          <a:prstGeom prst="rect">
            <a:avLst/>
          </a:prstGeom>
          <a:noFill/>
        </p:spPr>
        <p:txBody>
          <a:bodyPr wrap="square">
            <a:spAutoFit/>
          </a:bodyPr>
          <a:lstStyle/>
          <a:p>
            <a:pPr algn="l">
              <a:defRPr sz="950" b="0">
                <a:solidFill>
                  <a:srgbClr val="1C2330"/>
                </a:solidFill>
              </a:defRPr>
            </a:pPr>
            <a:r>
              <a:t>• Cấp phát VM, cài đặt bộ công cụ ETL (Airbyte + dbt + Airflow)</a:t>
            </a:r>
          </a:p>
        </p:txBody>
      </p:sp>
      <p:sp>
        <p:nvSpPr>
          <p:cNvPr id="28" name="TextBox 27"/>
          <p:cNvSpPr txBox="1"/>
          <p:nvPr/>
        </p:nvSpPr>
        <p:spPr>
          <a:xfrm>
            <a:off x="4572000" y="3986783"/>
            <a:ext cx="3108960" cy="658368"/>
          </a:xfrm>
          <a:prstGeom prst="rect">
            <a:avLst/>
          </a:prstGeom>
          <a:noFill/>
        </p:spPr>
        <p:txBody>
          <a:bodyPr wrap="square">
            <a:spAutoFit/>
          </a:bodyPr>
          <a:lstStyle/>
          <a:p>
            <a:pPr algn="l">
              <a:defRPr sz="950" b="0">
                <a:solidFill>
                  <a:srgbClr val="1C2330"/>
                </a:solidFill>
              </a:defRPr>
            </a:pPr>
            <a:r>
              <a:t>• Xây dựng luồng Extract → Transform → Load hoàn chỉnh</a:t>
            </a:r>
          </a:p>
        </p:txBody>
      </p:sp>
      <p:sp>
        <p:nvSpPr>
          <p:cNvPr id="29" name="TextBox 28"/>
          <p:cNvSpPr txBox="1"/>
          <p:nvPr/>
        </p:nvSpPr>
        <p:spPr>
          <a:xfrm>
            <a:off x="4572000" y="4700016"/>
            <a:ext cx="3108960" cy="658368"/>
          </a:xfrm>
          <a:prstGeom prst="rect">
            <a:avLst/>
          </a:prstGeom>
          <a:noFill/>
        </p:spPr>
        <p:txBody>
          <a:bodyPr wrap="square">
            <a:spAutoFit/>
          </a:bodyPr>
          <a:lstStyle/>
          <a:p>
            <a:pPr algn="l">
              <a:defRPr sz="950" b="0">
                <a:solidFill>
                  <a:srgbClr val="1C2330"/>
                </a:solidFill>
              </a:defRPr>
            </a:pPr>
            <a:r>
              <a:t>• Thiết lập VPN, đăng ký Endpoint và kết nối thông luồng lên Hub TCT</a:t>
            </a:r>
          </a:p>
        </p:txBody>
      </p:sp>
      <p:sp>
        <p:nvSpPr>
          <p:cNvPr id="30" name="TextBox 29"/>
          <p:cNvSpPr txBox="1"/>
          <p:nvPr/>
        </p:nvSpPr>
        <p:spPr>
          <a:xfrm>
            <a:off x="4572000" y="5413248"/>
            <a:ext cx="3108960" cy="658368"/>
          </a:xfrm>
          <a:prstGeom prst="rect">
            <a:avLst/>
          </a:prstGeom>
          <a:noFill/>
        </p:spPr>
        <p:txBody>
          <a:bodyPr wrap="square">
            <a:spAutoFit/>
          </a:bodyPr>
          <a:lstStyle/>
          <a:p>
            <a:pPr algn="l">
              <a:defRPr sz="950" b="0">
                <a:solidFill>
                  <a:srgbClr val="1C2330"/>
                </a:solidFill>
              </a:defRPr>
            </a:pPr>
            <a:r>
              <a:t>• Vận hành thử nghiệm ≥ 30 ngày trên dữ liệu thực</a:t>
            </a:r>
          </a:p>
        </p:txBody>
      </p:sp>
      <p:sp>
        <p:nvSpPr>
          <p:cNvPr id="31" name="Rounded Rectangle 30"/>
          <p:cNvSpPr/>
          <p:nvPr/>
        </p:nvSpPr>
        <p:spPr>
          <a:xfrm>
            <a:off x="8138160" y="1325880"/>
            <a:ext cx="3383280" cy="49377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1325880"/>
            <a:ext cx="3383280" cy="6858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1353312"/>
            <a:ext cx="3383280" cy="256032"/>
          </a:xfrm>
          <a:prstGeom prst="rect">
            <a:avLst/>
          </a:prstGeom>
          <a:noFill/>
        </p:spPr>
        <p:txBody>
          <a:bodyPr wrap="square">
            <a:spAutoFit/>
          </a:bodyPr>
          <a:lstStyle/>
          <a:p>
            <a:pPr algn="ctr">
              <a:defRPr sz="1100" b="1">
                <a:solidFill>
                  <a:srgbClr val="FFFFFF"/>
                </a:solidFill>
              </a:defRPr>
            </a:pPr>
            <a:r>
              <a:t>GIAI ĐOẠN 3  (T9/2026+)</a:t>
            </a:r>
          </a:p>
        </p:txBody>
      </p:sp>
      <p:sp>
        <p:nvSpPr>
          <p:cNvPr id="34" name="TextBox 33"/>
          <p:cNvSpPr txBox="1"/>
          <p:nvPr/>
        </p:nvSpPr>
        <p:spPr>
          <a:xfrm>
            <a:off x="8138160" y="1609344"/>
            <a:ext cx="3383280" cy="201168"/>
          </a:xfrm>
          <a:prstGeom prst="rect">
            <a:avLst/>
          </a:prstGeom>
          <a:noFill/>
        </p:spPr>
        <p:txBody>
          <a:bodyPr wrap="square">
            <a:spAutoFit/>
          </a:bodyPr>
          <a:lstStyle/>
          <a:p>
            <a:pPr algn="ctr">
              <a:defRPr sz="950" b="1">
                <a:solidFill>
                  <a:srgbClr val="DCEBFF"/>
                </a:solidFill>
              </a:defRPr>
            </a:pPr>
            <a:r>
              <a:t>BÀN GIAO, KHAI THÁC &amp; ĐÀO TẠO</a:t>
            </a:r>
          </a:p>
        </p:txBody>
      </p:sp>
      <p:sp>
        <p:nvSpPr>
          <p:cNvPr id="35" name="Rounded Rectangle 34"/>
          <p:cNvSpPr/>
          <p:nvPr/>
        </p:nvSpPr>
        <p:spPr>
          <a:xfrm>
            <a:off x="8275320" y="2103120"/>
            <a:ext cx="3108960" cy="292608"/>
          </a:xfrm>
          <a:prstGeom prst="roundRect">
            <a:avLst/>
          </a:prstGeom>
          <a:solidFill>
            <a:srgbClr val="FFFFFF"/>
          </a:solidFill>
          <a:ln w="127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2130552"/>
            <a:ext cx="3108960" cy="228600"/>
          </a:xfrm>
          <a:prstGeom prst="rect">
            <a:avLst/>
          </a:prstGeom>
          <a:noFill/>
        </p:spPr>
        <p:txBody>
          <a:bodyPr wrap="square">
            <a:spAutoFit/>
          </a:bodyPr>
          <a:lstStyle/>
          <a:p>
            <a:pPr algn="ctr">
              <a:defRPr sz="900" b="1">
                <a:solidFill>
                  <a:srgbClr val="158050"/>
                </a:solidFill>
              </a:defRPr>
            </a:pPr>
            <a:r>
              <a:t>IT QUẢNG NGÃI LÀM CHỦ 100%</a:t>
            </a:r>
          </a:p>
        </p:txBody>
      </p:sp>
      <p:sp>
        <p:nvSpPr>
          <p:cNvPr id="37" name="TextBox 36"/>
          <p:cNvSpPr txBox="1"/>
          <p:nvPr/>
        </p:nvSpPr>
        <p:spPr>
          <a:xfrm>
            <a:off x="8275320" y="2560320"/>
            <a:ext cx="3108960" cy="658368"/>
          </a:xfrm>
          <a:prstGeom prst="rect">
            <a:avLst/>
          </a:prstGeom>
          <a:noFill/>
        </p:spPr>
        <p:txBody>
          <a:bodyPr wrap="square">
            <a:spAutoFit/>
          </a:bodyPr>
          <a:lstStyle/>
          <a:p>
            <a:pPr algn="l">
              <a:defRPr sz="950" b="0">
                <a:solidFill>
                  <a:srgbClr val="1C2330"/>
                </a:solidFill>
              </a:defRPr>
            </a:pPr>
            <a:r>
              <a:t>• Tiếp nhận Workspace L3, thiết lập SSO và phân quyền RBAC</a:t>
            </a:r>
          </a:p>
        </p:txBody>
      </p:sp>
      <p:sp>
        <p:nvSpPr>
          <p:cNvPr id="38" name="TextBox 37"/>
          <p:cNvSpPr txBox="1"/>
          <p:nvPr/>
        </p:nvSpPr>
        <p:spPr>
          <a:xfrm>
            <a:off x="8275320" y="3273552"/>
            <a:ext cx="3108960" cy="658368"/>
          </a:xfrm>
          <a:prstGeom prst="rect">
            <a:avLst/>
          </a:prstGeom>
          <a:noFill/>
        </p:spPr>
        <p:txBody>
          <a:bodyPr wrap="square">
            <a:spAutoFit/>
          </a:bodyPr>
          <a:lstStyle/>
          <a:p>
            <a:pPr algn="l">
              <a:defRPr sz="950" b="0">
                <a:solidFill>
                  <a:srgbClr val="1C2330"/>
                </a:solidFill>
              </a:defRPr>
            </a:pPr>
            <a:r>
              <a:t>• Thiết kế Dashboard Power BI phục vụ giao ban Ban Giám đốc</a:t>
            </a:r>
          </a:p>
        </p:txBody>
      </p:sp>
      <p:sp>
        <p:nvSpPr>
          <p:cNvPr id="39" name="TextBox 38"/>
          <p:cNvSpPr txBox="1"/>
          <p:nvPr/>
        </p:nvSpPr>
        <p:spPr>
          <a:xfrm>
            <a:off x="8275320" y="3986783"/>
            <a:ext cx="3108960" cy="658368"/>
          </a:xfrm>
          <a:prstGeom prst="rect">
            <a:avLst/>
          </a:prstGeom>
          <a:noFill/>
        </p:spPr>
        <p:txBody>
          <a:bodyPr wrap="square">
            <a:spAutoFit/>
          </a:bodyPr>
          <a:lstStyle/>
          <a:p>
            <a:pPr algn="l">
              <a:defRPr sz="950" b="0">
                <a:solidFill>
                  <a:srgbClr val="1C2330"/>
                </a:solidFill>
              </a:defRPr>
            </a:pPr>
            <a:r>
              <a:t>• Nghiệm thu kỹ thuật, bàn giao 100% mã nguồn và tài liệu</a:t>
            </a:r>
          </a:p>
        </p:txBody>
      </p:sp>
      <p:sp>
        <p:nvSpPr>
          <p:cNvPr id="40" name="TextBox 39"/>
          <p:cNvSpPr txBox="1"/>
          <p:nvPr/>
        </p:nvSpPr>
        <p:spPr>
          <a:xfrm>
            <a:off x="8275320" y="4700016"/>
            <a:ext cx="3108960" cy="658368"/>
          </a:xfrm>
          <a:prstGeom prst="rect">
            <a:avLst/>
          </a:prstGeom>
          <a:noFill/>
        </p:spPr>
        <p:txBody>
          <a:bodyPr wrap="square">
            <a:spAutoFit/>
          </a:bodyPr>
          <a:lstStyle/>
          <a:p>
            <a:pPr algn="l">
              <a:defRPr sz="950" b="0">
                <a:solidFill>
                  <a:srgbClr val="1C2330"/>
                </a:solidFill>
              </a:defRPr>
            </a:pPr>
            <a:r>
              <a:t>• Đào tạo IT QN vận hành độc lập, hướng dẫn BGĐ dùng Power BI Mobile</a:t>
            </a:r>
          </a:p>
        </p:txBody>
      </p:sp>
      <p:sp>
        <p:nvSpPr>
          <p:cNvPr id="41" name="TextBox 40"/>
          <p:cNvSpPr txBox="1"/>
          <p:nvPr/>
        </p:nvSpPr>
        <p:spPr>
          <a:xfrm>
            <a:off x="8275320" y="5413248"/>
            <a:ext cx="3108960" cy="658368"/>
          </a:xfrm>
          <a:prstGeom prst="rect">
            <a:avLst/>
          </a:prstGeom>
          <a:noFill/>
        </p:spPr>
        <p:txBody>
          <a:bodyPr wrap="square">
            <a:spAutoFit/>
          </a:bodyPr>
          <a:lstStyle/>
          <a:p>
            <a:pPr algn="l">
              <a:defRPr sz="950" b="0">
                <a:solidFill>
                  <a:srgbClr val="1C2330"/>
                </a:solidFill>
              </a:defRPr>
            </a:pPr>
            <a:r>
              <a:t>• Báo cáo TCT hoàn thành KPI Chuyển đổi số năm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GIẢI TỎA CÁC MỐI QUAN NGẠI</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CAM KẾT NGUỒN LỰC CÁC PHÒNG BAN VÀ AN TOÀN THÔNG TIN KHI THUÊ NCC</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16</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280160"/>
            <a:ext cx="5120640" cy="49377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298448"/>
            <a:ext cx="5120640" cy="365760"/>
          </a:xfrm>
          <a:prstGeom prst="rect">
            <a:avLst/>
          </a:prstGeom>
          <a:noFill/>
        </p:spPr>
        <p:txBody>
          <a:bodyPr wrap="square">
            <a:spAutoFit/>
          </a:bodyPr>
          <a:lstStyle/>
          <a:p>
            <a:pPr algn="ctr">
              <a:defRPr sz="1150" b="1">
                <a:solidFill>
                  <a:srgbClr val="FFFFFF"/>
                </a:solidFill>
              </a:defRPr>
            </a:pPr>
            <a:r>
              <a:t>CAM KẾT VỚI CÁC PHÒNG BAN NGHIỆP VỤ</a:t>
            </a:r>
          </a:p>
        </p:txBody>
      </p:sp>
      <p:sp>
        <p:nvSpPr>
          <p:cNvPr id="12" name="Rounded Rectangle 11"/>
          <p:cNvSpPr/>
          <p:nvPr/>
        </p:nvSpPr>
        <p:spPr>
          <a:xfrm>
            <a:off x="91440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75104"/>
            <a:ext cx="4389120" cy="256032"/>
          </a:xfrm>
          <a:prstGeom prst="rect">
            <a:avLst/>
          </a:prstGeom>
          <a:noFill/>
        </p:spPr>
        <p:txBody>
          <a:bodyPr wrap="square">
            <a:spAutoFit/>
          </a:bodyPr>
          <a:lstStyle/>
          <a:p>
            <a:pPr algn="l">
              <a:defRPr sz="1050" b="1">
                <a:solidFill>
                  <a:srgbClr val="158050"/>
                </a:solidFill>
              </a:defRPr>
            </a:pPr>
            <a:r>
              <a:t>Không phát sinh công việc nhập liệu mới</a:t>
            </a:r>
          </a:p>
        </p:txBody>
      </p:sp>
      <p:sp>
        <p:nvSpPr>
          <p:cNvPr id="14" name="TextBox 13"/>
          <p:cNvSpPr txBox="1"/>
          <p:nvPr/>
        </p:nvSpPr>
        <p:spPr>
          <a:xfrm>
            <a:off x="1097280" y="2221992"/>
            <a:ext cx="4389120" cy="502920"/>
          </a:xfrm>
          <a:prstGeom prst="rect">
            <a:avLst/>
          </a:prstGeom>
          <a:noFill/>
        </p:spPr>
        <p:txBody>
          <a:bodyPr wrap="square">
            <a:spAutoFit/>
          </a:bodyPr>
          <a:lstStyle/>
          <a:p>
            <a:pPr algn="l">
              <a:defRPr sz="950" b="0">
                <a:solidFill>
                  <a:srgbClr val="1C2330"/>
                </a:solidFill>
              </a:defRPr>
            </a:pPr>
            <a:r>
              <a:t>Hệ thống tự động đọc dữ liệu từ phần mềm hiện tại. CBNV các phòng ban không phải thay đổi quy trình hay gõ thêm dữ liệu.</a:t>
            </a:r>
          </a:p>
        </p:txBody>
      </p:sp>
      <p:sp>
        <p:nvSpPr>
          <p:cNvPr id="15" name="Rounded Rectangle 14"/>
          <p:cNvSpPr/>
          <p:nvPr/>
        </p:nvSpPr>
        <p:spPr>
          <a:xfrm>
            <a:off x="91440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980944"/>
            <a:ext cx="4389120" cy="256032"/>
          </a:xfrm>
          <a:prstGeom prst="rect">
            <a:avLst/>
          </a:prstGeom>
          <a:noFill/>
        </p:spPr>
        <p:txBody>
          <a:bodyPr wrap="square">
            <a:spAutoFit/>
          </a:bodyPr>
          <a:lstStyle/>
          <a:p>
            <a:pPr algn="l">
              <a:defRPr sz="1050" b="1">
                <a:solidFill>
                  <a:srgbClr val="158050"/>
                </a:solidFill>
              </a:defRPr>
            </a:pPr>
            <a:r>
              <a:t>Thời lượng tham gia tối thiểu</a:t>
            </a:r>
          </a:p>
        </p:txBody>
      </p:sp>
      <p:sp>
        <p:nvSpPr>
          <p:cNvPr id="17" name="TextBox 16"/>
          <p:cNvSpPr txBox="1"/>
          <p:nvPr/>
        </p:nvSpPr>
        <p:spPr>
          <a:xfrm>
            <a:off x="1097280" y="3227832"/>
            <a:ext cx="4389120" cy="502920"/>
          </a:xfrm>
          <a:prstGeom prst="rect">
            <a:avLst/>
          </a:prstGeom>
          <a:noFill/>
        </p:spPr>
        <p:txBody>
          <a:bodyPr wrap="square">
            <a:spAutoFit/>
          </a:bodyPr>
          <a:lstStyle/>
          <a:p>
            <a:pPr algn="l">
              <a:defRPr sz="950" b="0">
                <a:solidFill>
                  <a:srgbClr val="1C2330"/>
                </a:solidFill>
              </a:defRPr>
            </a:pPr>
            <a:r>
              <a:t>Key Users mỗi phòng chỉ cần tham gia 2–3 buổi phỏng vấn nghiệp vụ (mỗi buổi 1–2 giờ) để giải thích cấu trúc dữ liệu và đối soát kết quả.</a:t>
            </a:r>
          </a:p>
        </p:txBody>
      </p:sp>
      <p:sp>
        <p:nvSpPr>
          <p:cNvPr id="18" name="Rounded Rectangle 17"/>
          <p:cNvSpPr/>
          <p:nvPr/>
        </p:nvSpPr>
        <p:spPr>
          <a:xfrm>
            <a:off x="91440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86784"/>
            <a:ext cx="4389120" cy="256032"/>
          </a:xfrm>
          <a:prstGeom prst="rect">
            <a:avLst/>
          </a:prstGeom>
          <a:noFill/>
        </p:spPr>
        <p:txBody>
          <a:bodyPr wrap="square">
            <a:spAutoFit/>
          </a:bodyPr>
          <a:lstStyle/>
          <a:p>
            <a:pPr algn="l">
              <a:defRPr sz="1050" b="1">
                <a:solidFill>
                  <a:srgbClr val="158050"/>
                </a:solidFill>
              </a:defRPr>
            </a:pPr>
            <a:r>
              <a:t>90% khối lượng kỹ thuật do IT &amp; NCC đảm nhiệm</a:t>
            </a:r>
          </a:p>
        </p:txBody>
      </p:sp>
      <p:sp>
        <p:nvSpPr>
          <p:cNvPr id="20" name="TextBox 19"/>
          <p:cNvSpPr txBox="1"/>
          <p:nvPr/>
        </p:nvSpPr>
        <p:spPr>
          <a:xfrm>
            <a:off x="1097280" y="4233672"/>
            <a:ext cx="4389120" cy="502920"/>
          </a:xfrm>
          <a:prstGeom prst="rect">
            <a:avLst/>
          </a:prstGeom>
          <a:noFill/>
        </p:spPr>
        <p:txBody>
          <a:bodyPr wrap="square">
            <a:spAutoFit/>
          </a:bodyPr>
          <a:lstStyle/>
          <a:p>
            <a:pPr algn="l">
              <a:defRPr sz="950" b="0">
                <a:solidFill>
                  <a:srgbClr val="1C2330"/>
                </a:solidFill>
              </a:defRPr>
            </a:pPr>
            <a:r>
              <a:t>Toàn bộ công việc lập trình, cấu hình hạ tầng, xây dựng luồng dữ liệu do bộ phận CNTT và kỹ sư NCC chịu trách nhiệm.</a:t>
            </a:r>
          </a:p>
        </p:txBody>
      </p:sp>
      <p:sp>
        <p:nvSpPr>
          <p:cNvPr id="21" name="Rounded Rectangle 20"/>
          <p:cNvSpPr/>
          <p:nvPr/>
        </p:nvSpPr>
        <p:spPr>
          <a:xfrm>
            <a:off x="91440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992624"/>
            <a:ext cx="4389120" cy="256032"/>
          </a:xfrm>
          <a:prstGeom prst="rect">
            <a:avLst/>
          </a:prstGeom>
          <a:noFill/>
        </p:spPr>
        <p:txBody>
          <a:bodyPr wrap="square">
            <a:spAutoFit/>
          </a:bodyPr>
          <a:lstStyle/>
          <a:p>
            <a:pPr algn="l">
              <a:defRPr sz="1050" b="1">
                <a:solidFill>
                  <a:srgbClr val="158050"/>
                </a:solidFill>
              </a:defRPr>
            </a:pPr>
            <a:r>
              <a:t>Các phòng ban được hưởng lợi trực tiếp</a:t>
            </a:r>
          </a:p>
        </p:txBody>
      </p:sp>
      <p:sp>
        <p:nvSpPr>
          <p:cNvPr id="23" name="TextBox 22"/>
          <p:cNvSpPr txBox="1"/>
          <p:nvPr/>
        </p:nvSpPr>
        <p:spPr>
          <a:xfrm>
            <a:off x="1097280" y="5239512"/>
            <a:ext cx="4389120" cy="502920"/>
          </a:xfrm>
          <a:prstGeom prst="rect">
            <a:avLst/>
          </a:prstGeom>
          <a:noFill/>
        </p:spPr>
        <p:txBody>
          <a:bodyPr wrap="square">
            <a:spAutoFit/>
          </a:bodyPr>
          <a:lstStyle/>
          <a:p>
            <a:pPr algn="l">
              <a:defRPr sz="950" b="0">
                <a:solidFill>
                  <a:srgbClr val="1C2330"/>
                </a:solidFill>
              </a:defRPr>
            </a:pPr>
            <a:r>
              <a:t>Sau hoàn thành: Các phòng được cấp tài khoản xem báo cáo tự động của phòng mình, giảm thiểu thời gian tổng hợp Excel.</a:t>
            </a:r>
          </a:p>
        </p:txBody>
      </p:sp>
      <p:sp>
        <p:nvSpPr>
          <p:cNvPr id="24" name="Rounded Rectangle 23"/>
          <p:cNvSpPr/>
          <p:nvPr/>
        </p:nvSpPr>
        <p:spPr>
          <a:xfrm>
            <a:off x="6309360" y="1280160"/>
            <a:ext cx="5120640" cy="493776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280160"/>
            <a:ext cx="5120640" cy="45720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298448"/>
            <a:ext cx="5120640" cy="365760"/>
          </a:xfrm>
          <a:prstGeom prst="rect">
            <a:avLst/>
          </a:prstGeom>
          <a:noFill/>
        </p:spPr>
        <p:txBody>
          <a:bodyPr wrap="square">
            <a:spAutoFit/>
          </a:bodyPr>
          <a:lstStyle/>
          <a:p>
            <a:pPr algn="ctr">
              <a:defRPr sz="1150" b="1">
                <a:solidFill>
                  <a:srgbClr val="FFFFFF"/>
                </a:solidFill>
              </a:defRPr>
            </a:pPr>
            <a:r>
              <a:t>AN TOÀN THÔNG TIN &amp; CHỐNG PHỤ THUỘC NCC</a:t>
            </a:r>
          </a:p>
        </p:txBody>
      </p:sp>
      <p:sp>
        <p:nvSpPr>
          <p:cNvPr id="27" name="Rounded Rectangle 26"/>
          <p:cNvSpPr/>
          <p:nvPr/>
        </p:nvSpPr>
        <p:spPr>
          <a:xfrm>
            <a:off x="6492240" y="192024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1975104"/>
            <a:ext cx="4389120" cy="256032"/>
          </a:xfrm>
          <a:prstGeom prst="rect">
            <a:avLst/>
          </a:prstGeom>
          <a:noFill/>
        </p:spPr>
        <p:txBody>
          <a:bodyPr wrap="square">
            <a:spAutoFit/>
          </a:bodyPr>
          <a:lstStyle/>
          <a:p>
            <a:pPr algn="l">
              <a:defRPr sz="1050" b="1">
                <a:solidFill>
                  <a:srgbClr val="1E64BE"/>
                </a:solidFill>
              </a:defRPr>
            </a:pPr>
            <a:r>
              <a:t>Chỉ cấp quyền Đọc trên bản sao dữ liệu</a:t>
            </a:r>
          </a:p>
        </p:txBody>
      </p:sp>
      <p:sp>
        <p:nvSpPr>
          <p:cNvPr id="29" name="TextBox 28"/>
          <p:cNvSpPr txBox="1"/>
          <p:nvPr/>
        </p:nvSpPr>
        <p:spPr>
          <a:xfrm>
            <a:off x="6675120" y="2221992"/>
            <a:ext cx="4389120" cy="502920"/>
          </a:xfrm>
          <a:prstGeom prst="rect">
            <a:avLst/>
          </a:prstGeom>
          <a:noFill/>
        </p:spPr>
        <p:txBody>
          <a:bodyPr wrap="square">
            <a:spAutoFit/>
          </a:bodyPr>
          <a:lstStyle/>
          <a:p>
            <a:pPr algn="l">
              <a:defRPr sz="950" b="0">
                <a:solidFill>
                  <a:srgbClr val="1C2330"/>
                </a:solidFill>
              </a:defRPr>
            </a:pPr>
            <a:r>
              <a:t>NCC được tiếp cận Read-Only Replica. Tuyệt đối không cấp quyền truy cập vào CSDL sản xuất gốc đang vận hành.</a:t>
            </a:r>
          </a:p>
        </p:txBody>
      </p:sp>
      <p:sp>
        <p:nvSpPr>
          <p:cNvPr id="30" name="Rounded Rectangle 29"/>
          <p:cNvSpPr/>
          <p:nvPr/>
        </p:nvSpPr>
        <p:spPr>
          <a:xfrm>
            <a:off x="6492240" y="292608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2980944"/>
            <a:ext cx="4389120" cy="256032"/>
          </a:xfrm>
          <a:prstGeom prst="rect">
            <a:avLst/>
          </a:prstGeom>
          <a:noFill/>
        </p:spPr>
        <p:txBody>
          <a:bodyPr wrap="square">
            <a:spAutoFit/>
          </a:bodyPr>
          <a:lstStyle/>
          <a:p>
            <a:pPr algn="l">
              <a:defRPr sz="1050" b="1">
                <a:solidFill>
                  <a:srgbClr val="1E64BE"/>
                </a:solidFill>
              </a:defRPr>
            </a:pPr>
            <a:r>
              <a:t>Ký Thỏa thuận bảo mật (NDA) ràng buộc pháp lý</a:t>
            </a:r>
          </a:p>
        </p:txBody>
      </p:sp>
      <p:sp>
        <p:nvSpPr>
          <p:cNvPr id="32" name="TextBox 31"/>
          <p:cNvSpPr txBox="1"/>
          <p:nvPr/>
        </p:nvSpPr>
        <p:spPr>
          <a:xfrm>
            <a:off x="6675120" y="3227832"/>
            <a:ext cx="4389120" cy="502920"/>
          </a:xfrm>
          <a:prstGeom prst="rect">
            <a:avLst/>
          </a:prstGeom>
          <a:noFill/>
        </p:spPr>
        <p:txBody>
          <a:bodyPr wrap="square">
            <a:spAutoFit/>
          </a:bodyPr>
          <a:lstStyle/>
          <a:p>
            <a:pPr algn="l">
              <a:defRPr sz="950" b="0">
                <a:solidFill>
                  <a:srgbClr val="1C2330"/>
                </a:solidFill>
              </a:defRPr>
            </a:pPr>
            <a:r>
              <a:t>Cam kết bảo mật theo Luật BVDLCN 91/2025/QH15. Nghiêm cấm sao chép, chuyển giao dữ liệu ra bên ngoài.</a:t>
            </a:r>
          </a:p>
        </p:txBody>
      </p:sp>
      <p:sp>
        <p:nvSpPr>
          <p:cNvPr id="33" name="Rounded Rectangle 32"/>
          <p:cNvSpPr/>
          <p:nvPr/>
        </p:nvSpPr>
        <p:spPr>
          <a:xfrm>
            <a:off x="6492240" y="393192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3986784"/>
            <a:ext cx="4389120" cy="256032"/>
          </a:xfrm>
          <a:prstGeom prst="rect">
            <a:avLst/>
          </a:prstGeom>
          <a:noFill/>
        </p:spPr>
        <p:txBody>
          <a:bodyPr wrap="square">
            <a:spAutoFit/>
          </a:bodyPr>
          <a:lstStyle/>
          <a:p>
            <a:pPr algn="l">
              <a:defRPr sz="1050" b="1">
                <a:solidFill>
                  <a:srgbClr val="1E64BE"/>
                </a:solidFill>
              </a:defRPr>
            </a:pPr>
            <a:r>
              <a:t>Bàn giao 100% mã nguồn và tài liệu kiến trúc</a:t>
            </a:r>
          </a:p>
        </p:txBody>
      </p:sp>
      <p:sp>
        <p:nvSpPr>
          <p:cNvPr id="35" name="TextBox 34"/>
          <p:cNvSpPr txBox="1"/>
          <p:nvPr/>
        </p:nvSpPr>
        <p:spPr>
          <a:xfrm>
            <a:off x="6675120" y="4233672"/>
            <a:ext cx="4389120" cy="502920"/>
          </a:xfrm>
          <a:prstGeom prst="rect">
            <a:avLst/>
          </a:prstGeom>
          <a:noFill/>
        </p:spPr>
        <p:txBody>
          <a:bodyPr wrap="square">
            <a:spAutoFit/>
          </a:bodyPr>
          <a:lstStyle/>
          <a:p>
            <a:pPr algn="l">
              <a:defRPr sz="950" b="0">
                <a:solidFill>
                  <a:srgbClr val="1C2330"/>
                </a:solidFill>
              </a:defRPr>
            </a:pPr>
            <a:r>
              <a:t>Hợp đồng bắt buộc: Bàn giao toàn bộ script ETL, Data Dictionary, tài liệu vận hành. IT QN hoàn toàn tự chủ sau bàn giao.</a:t>
            </a:r>
          </a:p>
        </p:txBody>
      </p:sp>
      <p:sp>
        <p:nvSpPr>
          <p:cNvPr id="36" name="Rounded Rectangle 35"/>
          <p:cNvSpPr/>
          <p:nvPr/>
        </p:nvSpPr>
        <p:spPr>
          <a:xfrm>
            <a:off x="6492240" y="4937760"/>
            <a:ext cx="4754880" cy="86868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4992624"/>
            <a:ext cx="4389120" cy="256032"/>
          </a:xfrm>
          <a:prstGeom prst="rect">
            <a:avLst/>
          </a:prstGeom>
          <a:noFill/>
        </p:spPr>
        <p:txBody>
          <a:bodyPr wrap="square">
            <a:spAutoFit/>
          </a:bodyPr>
          <a:lstStyle/>
          <a:p>
            <a:pPr algn="l">
              <a:defRPr sz="1050" b="1">
                <a:solidFill>
                  <a:srgbClr val="1E64BE"/>
                </a:solidFill>
              </a:defRPr>
            </a:pPr>
            <a:r>
              <a:t>Thiết kế hệ thống 'Hai nấc độc lập'</a:t>
            </a:r>
          </a:p>
        </p:txBody>
      </p:sp>
      <p:sp>
        <p:nvSpPr>
          <p:cNvPr id="38" name="TextBox 37"/>
          <p:cNvSpPr txBox="1"/>
          <p:nvPr/>
        </p:nvSpPr>
        <p:spPr>
          <a:xfrm>
            <a:off x="6675120" y="5239512"/>
            <a:ext cx="4389120" cy="502920"/>
          </a:xfrm>
          <a:prstGeom prst="rect">
            <a:avLst/>
          </a:prstGeom>
          <a:noFill/>
        </p:spPr>
        <p:txBody>
          <a:bodyPr wrap="square">
            <a:spAutoFit/>
          </a:bodyPr>
          <a:lstStyle/>
          <a:p>
            <a:pPr algn="l">
              <a:defRPr sz="950" b="0">
                <a:solidFill>
                  <a:srgbClr val="1C2330"/>
                </a:solidFill>
              </a:defRPr>
            </a:pPr>
            <a:r>
              <a:t>Dashboard nội bộ phục vụ BGĐ QN hoạt động độc lập. Nếu TCT chậm cấp cổng kết nối, tiến độ QN không bị ảnh hưởng.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PHẦN D: KẾ HOẠCH HÀNH ĐỘNG — ĐỀ XUẤT</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800" b="1">
                <a:solidFill>
                  <a:srgbClr val="FFFFFF"/>
                </a:solidFill>
              </a:defRPr>
            </a:pPr>
            <a:r>
              <a:t>KIẾN NGHỊ BAN GIÁM ĐỐC XEM XÉT VÀ PHÊ DUYỆT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17</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triển khai Nền tảng Dữ liệu &amp; Trục tích hợp  ·  Thực hiện Chỉ đạo số 9 BGĐ</a:t>
            </a:r>
          </a:p>
        </p:txBody>
      </p:sp>
      <p:sp>
        <p:nvSpPr>
          <p:cNvPr id="9" name="Rounded Rectangle 8"/>
          <p:cNvSpPr/>
          <p:nvPr/>
        </p:nvSpPr>
        <p:spPr>
          <a:xfrm>
            <a:off x="731520" y="1371600"/>
            <a:ext cx="10698480" cy="1417320"/>
          </a:xfrm>
          <a:prstGeom prst="roundRect">
            <a:avLst/>
          </a:prstGeom>
          <a:solidFill>
            <a:srgbClr val="FFFFFF"/>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48640" cy="1417320"/>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960" y="187452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1554480" y="1463040"/>
            <a:ext cx="9601200" cy="320040"/>
          </a:xfrm>
          <a:prstGeom prst="rect">
            <a:avLst/>
          </a:prstGeom>
          <a:noFill/>
        </p:spPr>
        <p:txBody>
          <a:bodyPr wrap="square">
            <a:spAutoFit/>
          </a:bodyPr>
          <a:lstStyle/>
          <a:p>
            <a:pPr algn="l">
              <a:defRPr sz="1200" b="1">
                <a:solidFill>
                  <a:srgbClr val="1E64BE"/>
                </a:solidFill>
              </a:defRPr>
            </a:pPr>
            <a:r>
              <a:t>PHÊ DUYỆT CHỦ TRƯƠNG PHƯƠNG ÁN 2: CHỦ ĐỘNG TRIỂN KHAI CÓ NCC CHUYÊN MÔN</a:t>
            </a:r>
          </a:p>
        </p:txBody>
      </p:sp>
      <p:sp>
        <p:nvSpPr>
          <p:cNvPr id="13" name="Rectangle 12"/>
          <p:cNvSpPr/>
          <p:nvPr/>
        </p:nvSpPr>
        <p:spPr>
          <a:xfrm>
            <a:off x="1554480" y="1810512"/>
            <a:ext cx="960120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1901952"/>
            <a:ext cx="9601200" cy="777240"/>
          </a:xfrm>
          <a:prstGeom prst="rect">
            <a:avLst/>
          </a:prstGeom>
          <a:noFill/>
        </p:spPr>
        <p:txBody>
          <a:bodyPr wrap="square">
            <a:spAutoFit/>
          </a:bodyPr>
          <a:lstStyle/>
          <a:p>
            <a:pPr algn="l">
              <a:defRPr sz="1050" b="0">
                <a:solidFill>
                  <a:srgbClr val="1C2330"/>
                </a:solidFill>
              </a:defRPr>
            </a:pPr>
            <a:r>
              <a:t>Đồng ý chủ trương: PTSC Quảng Ngãi chủ động xây dựng Trục tích hợp dữ liệu đồng bộ với Nền tảng TCT, có sự hỗ trợ của Nhà cung cấp chuyên môn về Data Engineering. Đảm bảo vừa phục vụ điều hành nội bộ, vừa hoàn thành KPI Chuyển đổi số năm 2026.</a:t>
            </a:r>
          </a:p>
        </p:txBody>
      </p:sp>
      <p:sp>
        <p:nvSpPr>
          <p:cNvPr id="15" name="Rounded Rectangle 14"/>
          <p:cNvSpPr/>
          <p:nvPr/>
        </p:nvSpPr>
        <p:spPr>
          <a:xfrm>
            <a:off x="731520" y="2971800"/>
            <a:ext cx="10698480" cy="1417320"/>
          </a:xfrm>
          <a:prstGeom prst="roundRect">
            <a:avLst/>
          </a:prstGeom>
          <a:solidFill>
            <a:srgbClr val="FFFFFF"/>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971800"/>
            <a:ext cx="548640" cy="1417320"/>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47472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18" name="TextBox 17"/>
          <p:cNvSpPr txBox="1"/>
          <p:nvPr/>
        </p:nvSpPr>
        <p:spPr>
          <a:xfrm>
            <a:off x="1554480" y="3063240"/>
            <a:ext cx="9601200" cy="320040"/>
          </a:xfrm>
          <a:prstGeom prst="rect">
            <a:avLst/>
          </a:prstGeom>
          <a:noFill/>
        </p:spPr>
        <p:txBody>
          <a:bodyPr wrap="square">
            <a:spAutoFit/>
          </a:bodyPr>
          <a:lstStyle/>
          <a:p>
            <a:pPr algn="l">
              <a:defRPr sz="1200" b="1">
                <a:solidFill>
                  <a:srgbClr val="B47300"/>
                </a:solidFill>
              </a:defRPr>
            </a:pPr>
            <a:r>
              <a:t>THÀNH LẬP TỔ CÔNG TÁC NỀN TẢNG DỮ LIỆU NỘI BỘ (BẮT ĐẦU GIAI ĐOẠN 1)</a:t>
            </a:r>
          </a:p>
        </p:txBody>
      </p:sp>
      <p:sp>
        <p:nvSpPr>
          <p:cNvPr id="19" name="Rectangle 18"/>
          <p:cNvSpPr/>
          <p:nvPr/>
        </p:nvSpPr>
        <p:spPr>
          <a:xfrm>
            <a:off x="1554480" y="3410712"/>
            <a:ext cx="960120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54480" y="3502152"/>
            <a:ext cx="9601200" cy="777240"/>
          </a:xfrm>
          <a:prstGeom prst="rect">
            <a:avLst/>
          </a:prstGeom>
          <a:noFill/>
        </p:spPr>
        <p:txBody>
          <a:bodyPr wrap="square">
            <a:spAutoFit/>
          </a:bodyPr>
          <a:lstStyle/>
          <a:p>
            <a:pPr algn="l">
              <a:defRPr sz="1050" b="0">
                <a:solidFill>
                  <a:srgbClr val="1C2330"/>
                </a:solidFill>
              </a:defRPr>
            </a:pPr>
            <a:r>
              <a:t>Gồm Bộ phận CNTT chủ trì kỹ thuật và Key Users các phòng ban (Kế toán, Nhân sự, Vật tư, Dự án). Triển khai ngay Giai đoạn 1: Khảo sát hiện trạng, lập Bảng ánh xạ 29 Danh mục Dữ liệu chủ và hoàn thiện Hồ sơ yêu cầu kỹ thuật (TOR) — chi phí 0 VNĐ.</a:t>
            </a:r>
          </a:p>
        </p:txBody>
      </p:sp>
      <p:sp>
        <p:nvSpPr>
          <p:cNvPr id="21" name="Rounded Rectangle 20"/>
          <p:cNvSpPr/>
          <p:nvPr/>
        </p:nvSpPr>
        <p:spPr>
          <a:xfrm>
            <a:off x="731520" y="4572000"/>
            <a:ext cx="10698480" cy="1417320"/>
          </a:xfrm>
          <a:prstGeom prst="roundRect">
            <a:avLst/>
          </a:prstGeom>
          <a:solidFill>
            <a:srgbClr val="FFFFF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572000"/>
            <a:ext cx="548640" cy="141732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5074920"/>
            <a:ext cx="365760" cy="365760"/>
          </a:xfrm>
          <a:prstGeom prst="ellipse">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24" name="TextBox 23"/>
          <p:cNvSpPr txBox="1"/>
          <p:nvPr/>
        </p:nvSpPr>
        <p:spPr>
          <a:xfrm>
            <a:off x="1554480" y="4663440"/>
            <a:ext cx="9601200" cy="320040"/>
          </a:xfrm>
          <a:prstGeom prst="rect">
            <a:avLst/>
          </a:prstGeom>
          <a:noFill/>
        </p:spPr>
        <p:txBody>
          <a:bodyPr wrap="square">
            <a:spAutoFit/>
          </a:bodyPr>
          <a:lstStyle/>
          <a:p>
            <a:pPr algn="l">
              <a:defRPr sz="1200" b="1">
                <a:solidFill>
                  <a:srgbClr val="158050"/>
                </a:solidFill>
              </a:defRPr>
            </a:pPr>
            <a:r>
              <a:t>CHO PHÉP TIẾP XÚC NHÀ CUNG CẤP ĐỂ LẤY ĐỀ XUẤT VÀ BÁO GIÁ CẠNH TRANH</a:t>
            </a:r>
          </a:p>
        </p:txBody>
      </p:sp>
      <p:sp>
        <p:nvSpPr>
          <p:cNvPr id="25" name="Rectangle 24"/>
          <p:cNvSpPr/>
          <p:nvPr/>
        </p:nvSpPr>
        <p:spPr>
          <a:xfrm>
            <a:off x="1554480" y="5010912"/>
            <a:ext cx="960120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5102352"/>
            <a:ext cx="9601200" cy="777240"/>
          </a:xfrm>
          <a:prstGeom prst="rect">
            <a:avLst/>
          </a:prstGeom>
          <a:noFill/>
        </p:spPr>
        <p:txBody>
          <a:bodyPr wrap="square">
            <a:spAutoFit/>
          </a:bodyPr>
          <a:lstStyle/>
          <a:p>
            <a:pPr algn="l">
              <a:defRPr sz="1050" b="0">
                <a:solidFill>
                  <a:srgbClr val="1C2330"/>
                </a:solidFill>
              </a:defRPr>
            </a:pPr>
            <a:r>
              <a:t>Cho phép Tổ Công tác tiếp xúc 2–3 Nhà cung cấp chuyên nghiệp để nhận đề xuất giải pháp kỹ thuật và báo giá cạnh tranh. Hoàn thiện dự toán chi tiết trình Ban Giám đốc xem xét phê duyệt trước khi ký kết hợp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