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(SPEAKER NOTES):</a:t>
            </a:r>
          </a:p>
          <a:p>
            <a:r>
              <a:t>Kính thưa Ban Giám đốc, hôm nay phòng IT xin phép trình bày bức tranh toàn cảnh về kế hoạch triển khai Nền tảng dữ liệu (Data Platform) tại đơn vị. Buổi báo cáo này sẽ làm rõ vị thế của Quảng Ngãi trong hệ sinh thái dùng chung của Tổng công ty, thực trạng hiện tại của chúng ta, và đề xuất phương án tối ưu nhất về tiến độ, chất lượng thông qua việc kết hợp chuyên gia thuê ngoài.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Thưa các anh/chị, để dễ hình dung, Data Platform giống như một hệ thống đường ống nước tự động. Trước đây mỗi phòng ban là một giếng nước độc lập, muốn dùng nước thì phải xách xô (chính là file Excel thủ công). Nay Data Platform nối tất cả lại, qua hệ thống lọc sạch và bơm thẳng lên vòi nước tại phòng Ban Giám đốc.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Lợi ích lớn nhất của dự án này trước hết là phục vụ chính công tác điều hành của Ban Giám đốc: Thứ nhất, có báo cáo tức thì mà không phải chờ đợi. Thứ hai, chuẩn hóa dữ liệu minh bạch, số liệu khớp từng đồng. Và thứ ba, chúng ta tiết kiệm được ngân sách rất lớn vì chỉ việc tận dụng hạ tầng đám mây khủng mà TCT đã thanh toán.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Thưa Ban Giám đốc, Tổng công ty đã đi trước một bước rất xa. Họ đã xong giai đoạn 1, xây xong kho tổng và phát lệnh bắt buộc trong 2026-2027 các đơn vị phải kết nối dữ liệu. Nói một cách ví von, TCT đã xây xong đại lộ cao tốc và mở sẵn làn đường cho Quảng Ngãi, nhiệm vụ của chúng ta là phải xây ngay con đường nhánh từ công ty mình đấu nối vào cao tốc đó.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Nhìn thẳng vào thực tế Quảng Ngãi, chúng ta có 3 nút thắt: 1 là phần mềm rời rạc, 2 là mã số liệu chưa khớp chuẩn TCT, và đặc biệt là nút thắt thứ 3: Anh em IT nhà mình chuyên về mạng, máy chủ và vận hành ứng dụng, chứ chưa từng làm chuyên sâu về Data Engineering đường ống lớn. Nếu để tự mày mò làm từ đầu, nguy cơ trễ hạn tiến độ giao nộp cho TCT là rất cao.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Đây là mô hình kiến trúc kỹ thuật mà chúng ta sẽ làm. Ban Giám đốc hoàn toàn yên tâm: Trạm trung chuyển dữ liệu này chỉ hoạt động ở chế độ đọc, tuyệt đối không làm ảnh hưởng hay làm chậm phần mềm kế toán, nhân sự. Nó chỉ làm nhiệm vụ lấy bản sao dữ liệu, đóng gói theo chuẩn của TCT và gửi qua đường hầm bảo mật lên kho trên mây.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(TRỌNG TÂM THUYẾT PHỤC):</a:t>
            </a:r>
          </a:p>
          <a:p>
            <a:r>
              <a:t>Thưa Ban Giám đốc, đây là slide then chốt trong báo cáo hôm nay. Chúng tôi đã cân nhắc rất kỹ bài toán tự làm và thuê ngoài. Nếu tự làm, công ty có thể tiết kiệm một khoản chi phí ban đầu, nhưng cái giá phải trả là thời gian kéo dài cả năm và nguy cơ bị TCT phê bình vì chậm trễ. Thuê ngoài ở đây KHÔNG PHẢI là giao trắng cho người ta, mà là thuê 'thợ chuyên nghiệp làm đường ống', còn cán bộ Quảng Ngãi giữ vai trò kiểm soát nguồn nước, giám sát và tiếp nhận toàn bộ công nghệ.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Lộ trình được chia làm 3 giai đoạn rất rành mạch: Giai đoạn 1 nội bộ tự làm để hiểu cặn kẽ số liệu và tiết kiệm chi phí; Giai đoạn 2 mới giải ngân thuê đối tác kỹ thuật dựng trạm và kiểm thử kết nối; Giai đoạn 3 là nghiệm thu, nhận bàn giao toàn bộ tài liệu để mình tự quản lý vận hành lâu dài.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Kính thưa Ban Giám đốc, để không bị trễ nhịp với Tổng công ty, phòng IT kính đề xuất Ban Giám đốc thông qua 3 nội dung: Một là cho phép thành lập Tổ công tác nội bộ; Hai là cấp tài nguyên máy chủ ảo; và Ba là phê duyệt chủ trương cho phép chúng tôi đi khảo sát báo giá các đơn vị ngoài để lập dự toán trình Sếp. Rất mong nhận được sự ủng hộ và chỉ đạo của Ban Giám đốc. Chúng tôi xin trân trọng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37160" cy="3474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058400" cy="2011680"/>
          </a:xfrm>
          <a:prstGeom prst="rect">
            <a:avLst/>
          </a:prstGeom>
          <a:noFill/>
        </p:spPr>
        <p:txBody>
          <a:bodyPr wrap="square">
            <a:spAutoFit/>
          </a:bodyPr>
          <a:lstStyle/>
          <a:p>
            <a:pPr>
              <a:spcAft>
                <a:spcPts val="1000"/>
              </a:spcAft>
              <a:defRPr sz="1600" b="1">
                <a:solidFill>
                  <a:srgbClr val="BAD7F5"/>
                </a:solidFill>
              </a:defRPr>
            </a:pPr>
            <a:r>
              <a:t>CHIẾN LƯỢC CHUYỂN ĐỔI SỐ PTSC</a:t>
            </a:r>
          </a:p>
          <a:p>
            <a:pPr>
              <a:spcAft>
                <a:spcPts val="1600"/>
              </a:spcAft>
              <a:defRPr sz="2800" b="1">
                <a:solidFill>
                  <a:srgbClr val="FFFFFF"/>
                </a:solidFill>
              </a:defRPr>
            </a:pPr>
            <a:r>
              <a:t>XÂY DỰNG NỀN TẢNG DỮ LIỆU (DATA PLATFORM)</a:t>
            </a:r>
            <a:br/>
            <a:r>
              <a:t>&amp; TRẠM TRUNG CHUYỂN DỮ LIỆU TẠI PTSC QUẢNG NGÃI</a:t>
            </a:r>
          </a:p>
          <a:p>
            <a:pPr>
              <a:defRPr sz="1400">
                <a:solidFill>
                  <a:srgbClr val="DCE6F2"/>
                </a:solidFill>
              </a:defRPr>
            </a:pPr>
            <a:r>
              <a:t>Báo cáo Toàn cảnh, Thực trạng kết nối Tổng công ty và Đề xuất Phương án Thuê ngoài triển khai</a:t>
            </a:r>
          </a:p>
        </p:txBody>
      </p:sp>
      <p:sp>
        <p:nvSpPr>
          <p:cNvPr id="5" name="TextBox 4"/>
          <p:cNvSpPr txBox="1"/>
          <p:nvPr/>
        </p:nvSpPr>
        <p:spPr>
          <a:xfrm>
            <a:off x="1097280" y="4754880"/>
            <a:ext cx="9601200" cy="1097280"/>
          </a:xfrm>
          <a:prstGeom prst="rect">
            <a:avLst/>
          </a:prstGeom>
          <a:noFill/>
        </p:spPr>
        <p:txBody>
          <a:bodyPr wrap="none">
            <a:spAutoFit/>
          </a:bodyPr>
          <a:lstStyle/>
          <a:p>
            <a:pPr>
              <a:defRPr sz="1300">
                <a:solidFill>
                  <a:srgbClr val="FFFFFF"/>
                </a:solidFill>
              </a:defRPr>
            </a:pPr>
            <a:r>
              <a:t>• Đơn vị báo cáo: Bộ phận IT &amp; Chuyển đổi số - PTSC Quảng Ngãi</a:t>
            </a:r>
          </a:p>
          <a:p>
            <a:pPr>
              <a:defRPr sz="1300">
                <a:solidFill>
                  <a:srgbClr val="FDE047"/>
                </a:solidFill>
              </a:defRPr>
            </a:pPr>
            <a:r>
              <a:t>• Kính trình: Ban Giám đốc Công ty PTSC Quảng Ngãi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HIỂU ĐÚNG BẢN CHẤT DƯỚI GÓC NHÌN QUẢN TRỊ</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1. TỔNG QUAN: DATA PLATFORM LÀ GÌ?</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512064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754880" cy="4480560"/>
          </a:xfrm>
          <a:prstGeom prst="rect">
            <a:avLst/>
          </a:prstGeom>
          <a:noFill/>
        </p:spPr>
        <p:txBody>
          <a:bodyPr wrap="square">
            <a:spAutoFit/>
          </a:bodyPr>
          <a:lstStyle/>
          <a:p>
            <a:pPr>
              <a:defRPr sz="1500" b="1">
                <a:solidFill>
                  <a:srgbClr val="0B2C56"/>
                </a:solidFill>
              </a:defRPr>
            </a:pPr>
            <a:r>
              <a:t>Bản chất: 'Hệ tuần hoàn máu' Doanh nghiệp</a:t>
            </a:r>
          </a:p>
          <a:p>
            <a:pPr>
              <a:spcAft>
                <a:spcPts val="1000"/>
              </a:spcAft>
              <a:defRPr sz="1300">
                <a:solidFill>
                  <a:srgbClr val="1E293B"/>
                </a:solidFill>
              </a:defRPr>
            </a:pPr>
            <a:r>
              <a:t>Data Platform không đơn thuần là một phần mềm mới, mà là TRỤC KẾT NỐI VÀ LÀM SẠCH toàn bộ dữ liệu công ty:</a:t>
            </a:r>
          </a:p>
          <a:p>
            <a:pPr>
              <a:spcAft>
                <a:spcPts val="800"/>
              </a:spcAft>
            </a:pPr>
            <a:r>
              <a:rPr b="1">
                <a:solidFill>
                  <a:srgbClr val="155DA8"/>
                </a:solidFill>
              </a:rPr>
              <a:t>• Thu gom tự động:</a:t>
            </a:r>
            <a:r>
              <a:rPr>
                <a:solidFill>
                  <a:srgbClr val="1E293B"/>
                </a:solidFill>
              </a:rPr>
              <a:t> Hút dữ liệu từ Kế toán, Vật tư, Nhân sự, Hợp đồng... mà không cần người xuất file.</a:t>
            </a:r>
          </a:p>
          <a:p>
            <a:pPr>
              <a:spcAft>
                <a:spcPts val="800"/>
              </a:spcAft>
            </a:pPr>
            <a:r>
              <a:rPr b="1">
                <a:solidFill>
                  <a:srgbClr val="155DA8"/>
                </a:solidFill>
              </a:rPr>
              <a:t>• Chuẩn hóa tập trung:</a:t>
            </a:r>
            <a:r>
              <a:rPr>
                <a:solidFill>
                  <a:srgbClr val="1E293B"/>
                </a:solidFill>
              </a:rPr>
              <a:t> Quy đổi toàn bộ dữ liệu về một ngôn ngữ chuẩn mực chung.</a:t>
            </a:r>
          </a:p>
          <a:p>
            <a:pPr>
              <a:spcAft>
                <a:spcPts val="800"/>
              </a:spcAft>
            </a:pPr>
            <a:r>
              <a:rPr b="1">
                <a:solidFill>
                  <a:srgbClr val="155DA8"/>
                </a:solidFill>
              </a:rPr>
              <a:t>• Cung cấp tức thời:</a:t>
            </a:r>
            <a:r>
              <a:rPr>
                <a:solidFill>
                  <a:srgbClr val="1E293B"/>
                </a:solidFill>
              </a:rPr>
              <a:t> Bơm dữ liệu lên hệ thống báo cáo Dashboard thông minh cho Ban Giám đốc.</a:t>
            </a:r>
          </a:p>
        </p:txBody>
      </p:sp>
      <p:sp>
        <p:nvSpPr>
          <p:cNvPr id="9" name="Rounded Rectangle 8"/>
          <p:cNvSpPr/>
          <p:nvPr/>
        </p:nvSpPr>
        <p:spPr>
          <a:xfrm>
            <a:off x="6217920" y="1371600"/>
            <a:ext cx="521208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480560"/>
          </a:xfrm>
          <a:prstGeom prst="rect">
            <a:avLst/>
          </a:prstGeom>
          <a:noFill/>
        </p:spPr>
        <p:txBody>
          <a:bodyPr wrap="square">
            <a:spAutoFit/>
          </a:bodyPr>
          <a:lstStyle/>
          <a:p>
            <a:pPr>
              <a:defRPr sz="1500" b="1">
                <a:solidFill>
                  <a:srgbClr val="0B2C56"/>
                </a:solidFill>
              </a:defRPr>
            </a:pPr>
            <a:r>
              <a:t>Sự chuyển dịch mô hình quản trị số</a:t>
            </a:r>
          </a:p>
          <a:p>
            <a:pPr>
              <a:spcAft>
                <a:spcPts val="400"/>
              </a:spcAft>
              <a:defRPr b="1" sz="1300">
                <a:solidFill>
                  <a:srgbClr val="C0292B"/>
                </a:solidFill>
              </a:defRPr>
            </a:pPr>
            <a:r>
              <a:t>TRƯỚC ĐÂY (MÔ HÌNH ỐC ĐẢO):</a:t>
            </a:r>
          </a:p>
          <a:p>
            <a:pPr>
              <a:spcAft>
                <a:spcPts val="300"/>
              </a:spcAft>
              <a:defRPr sz="1200">
                <a:solidFill>
                  <a:srgbClr val="1E293B"/>
                </a:solidFill>
              </a:defRPr>
            </a:pPr>
            <a:r>
              <a:t>  - Dữ liệu nằm phân tán ở các máy chủ phần mềm riêng biệt.</a:t>
            </a:r>
          </a:p>
          <a:p>
            <a:pPr>
              <a:spcAft>
                <a:spcPts val="300"/>
              </a:spcAft>
              <a:defRPr sz="1200">
                <a:solidFill>
                  <a:srgbClr val="1E293B"/>
                </a:solidFill>
              </a:defRPr>
            </a:pPr>
            <a:r>
              <a:t>  - Muốn số liệu, nhân viên phải xuất Excel, copy-paste ghép thủ công.</a:t>
            </a:r>
          </a:p>
          <a:p>
            <a:pPr>
              <a:spcAft>
                <a:spcPts val="300"/>
              </a:spcAft>
              <a:defRPr sz="1200">
                <a:solidFill>
                  <a:srgbClr val="1E293B"/>
                </a:solidFill>
              </a:defRPr>
            </a:pPr>
            <a:r>
              <a:t>  - Số liệu lệch pha: Kế toán báo một kiểu, Vật tư báo một kiểu.</a:t>
            </a:r>
          </a:p>
          <a:p>
            <a:pPr>
              <a:spcAft>
                <a:spcPts val="600"/>
              </a:spcAft>
            </a:pPr>
          </a:p>
          <a:p>
            <a:pPr>
              <a:spcAft>
                <a:spcPts val="400"/>
              </a:spcAft>
              <a:defRPr b="1" sz="1300">
                <a:solidFill>
                  <a:srgbClr val="27AE60"/>
                </a:solidFill>
              </a:defRPr>
            </a:pPr>
            <a:r>
              <a:t>KHI CÓ DATA PLATFORM:</a:t>
            </a:r>
          </a:p>
          <a:p>
            <a:pPr>
              <a:spcAft>
                <a:spcPts val="300"/>
              </a:spcAft>
              <a:defRPr sz="1200">
                <a:solidFill>
                  <a:srgbClr val="1E293B"/>
                </a:solidFill>
              </a:defRPr>
            </a:pPr>
            <a:r>
              <a:t>  - Một nguồn sự thật duy nhất (Single Source of Truth).</a:t>
            </a:r>
          </a:p>
          <a:p>
            <a:pPr>
              <a:spcAft>
                <a:spcPts val="300"/>
              </a:spcAft>
              <a:defRPr sz="1200">
                <a:solidFill>
                  <a:srgbClr val="1E293B"/>
                </a:solidFill>
              </a:defRPr>
            </a:pPr>
            <a:r>
              <a:t>  - Dữ liệu cập nhật liên tục theo ngày/giờ, không phụ thuộc người làm báo cáo.</a:t>
            </a:r>
          </a:p>
          <a:p>
            <a:pPr>
              <a:spcAft>
                <a:spcPts val="300"/>
              </a:spcAft>
              <a:defRPr sz="1200">
                <a:solidFill>
                  <a:srgbClr val="1E293B"/>
                </a:solidFill>
              </a:defRPr>
            </a:pPr>
            <a:r>
              <a:t>  - Tự động cảnh báo rủi ro về tồn kho, dòng tiền, trễ hạn dự án.</a:t>
            </a:r>
          </a:p>
          <a:p>
            <a:pPr>
              <a:spcAft>
                <a:spcPts val="600"/>
              </a:spcAft>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LỢI ÍCH TRỰC TIẾP CHO CÔNG TÁC ĐIỀU HÀNH</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2. TẦM QUAN TRỌNG: BAN GIÁM ĐỐC &amp; ĐƠN VỊ ĐƯỢC GÌ?</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338328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3017520" cy="4480560"/>
          </a:xfrm>
          <a:prstGeom prst="rect">
            <a:avLst/>
          </a:prstGeom>
          <a:noFill/>
        </p:spPr>
        <p:txBody>
          <a:bodyPr wrap="square">
            <a:spAutoFit/>
          </a:bodyPr>
          <a:lstStyle/>
          <a:p>
            <a:pPr>
              <a:defRPr sz="1500" b="1">
                <a:solidFill>
                  <a:srgbClr val="0B2C56"/>
                </a:solidFill>
              </a:defRPr>
            </a:pPr>
            <a:r>
              <a:t>QUẢN TRỊ TỨC THỜI (REAL-TIME)</a:t>
            </a:r>
          </a:p>
          <a:p>
            <a:pPr>
              <a:spcAft>
                <a:spcPts val="800"/>
              </a:spcAft>
              <a:defRPr sz="1100">
                <a:solidFill>
                  <a:srgbClr val="64748B"/>
                </a:solidFill>
              </a:defRPr>
            </a:pPr>
            <a:r>
              <a:t>Không còn độ trễ thông tin</a:t>
            </a:r>
          </a:p>
          <a:p>
            <a:pPr>
              <a:spcAft>
                <a:spcPts val="800"/>
              </a:spcAft>
              <a:defRPr sz="1200">
                <a:solidFill>
                  <a:srgbClr val="1E293B"/>
                </a:solidFill>
              </a:defRPr>
            </a:pPr>
            <a:r>
              <a:t>• Thay thế việc chờ đợi 3-5 ngày để các phòng ban tổng hợp báo cáo tuần/tháng.</a:t>
            </a:r>
          </a:p>
          <a:p>
            <a:pPr>
              <a:spcAft>
                <a:spcPts val="800"/>
              </a:spcAft>
              <a:defRPr sz="1200">
                <a:solidFill>
                  <a:srgbClr val="1E293B"/>
                </a:solidFill>
              </a:defRPr>
            </a:pPr>
            <a:r>
              <a:t>• Theo dõi số liệu sản xuất kinh doanh, doanh thu, dòng tiền trực quan trên di động &amp; máy tính.</a:t>
            </a:r>
          </a:p>
          <a:p>
            <a:pPr>
              <a:spcAft>
                <a:spcPts val="800"/>
              </a:spcAft>
              <a:defRPr sz="1200">
                <a:solidFill>
                  <a:srgbClr val="1E293B"/>
                </a:solidFill>
              </a:defRPr>
            </a:pPr>
            <a:r>
              <a:t>• Phát hiện ngay nút thắt công việc khi có số liệu bất thường.</a:t>
            </a:r>
          </a:p>
        </p:txBody>
      </p:sp>
      <p:sp>
        <p:nvSpPr>
          <p:cNvPr id="9" name="Rounded Rectangle 8"/>
          <p:cNvSpPr/>
          <p:nvPr/>
        </p:nvSpPr>
        <p:spPr>
          <a:xfrm>
            <a:off x="4389120" y="1371600"/>
            <a:ext cx="338328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480560"/>
          </a:xfrm>
          <a:prstGeom prst="rect">
            <a:avLst/>
          </a:prstGeom>
          <a:noFill/>
        </p:spPr>
        <p:txBody>
          <a:bodyPr wrap="square">
            <a:spAutoFit/>
          </a:bodyPr>
          <a:lstStyle/>
          <a:p>
            <a:pPr>
              <a:defRPr sz="1500" b="1">
                <a:solidFill>
                  <a:srgbClr val="0B2C56"/>
                </a:solidFill>
              </a:defRPr>
            </a:pPr>
            <a:r>
              <a:t>MINH BẠCH &amp; CHUẨN XÁC</a:t>
            </a:r>
          </a:p>
          <a:p>
            <a:pPr>
              <a:spcAft>
                <a:spcPts val="800"/>
              </a:spcAft>
              <a:defRPr sz="1100">
                <a:solidFill>
                  <a:srgbClr val="64748B"/>
                </a:solidFill>
              </a:defRPr>
            </a:pPr>
            <a:r>
              <a:t>Một nguồn sự thật duy nhất</a:t>
            </a:r>
          </a:p>
          <a:p>
            <a:pPr>
              <a:spcAft>
                <a:spcPts val="800"/>
              </a:spcAft>
              <a:defRPr sz="1200">
                <a:solidFill>
                  <a:srgbClr val="1E293B"/>
                </a:solidFill>
              </a:defRPr>
            </a:pPr>
            <a:r>
              <a:t>• Chấm dứt hoàn toàn hiện tượng 'lệch số' giữa báo cáo Kế toán, Vật tư và Dự án.</a:t>
            </a:r>
          </a:p>
          <a:p>
            <a:pPr>
              <a:spcAft>
                <a:spcPts val="800"/>
              </a:spcAft>
              <a:defRPr sz="1200">
                <a:solidFill>
                  <a:srgbClr val="1E293B"/>
                </a:solidFill>
              </a:defRPr>
            </a:pPr>
            <a:r>
              <a:t>• Số liệu được lấy thẳng từ cơ sở dữ liệu gốc, loại bỏ hoàn toàn sai lệch do can thiệp chủ quan.</a:t>
            </a:r>
          </a:p>
          <a:p>
            <a:pPr>
              <a:spcAft>
                <a:spcPts val="800"/>
              </a:spcAft>
              <a:defRPr sz="1200">
                <a:solidFill>
                  <a:srgbClr val="1E293B"/>
                </a:solidFill>
              </a:defRPr>
            </a:pPr>
            <a:r>
              <a:t>• Tăng độ tin cậy khi giải trình với Tổng công ty và Kiểm toán.</a:t>
            </a:r>
          </a:p>
        </p:txBody>
      </p:sp>
      <p:sp>
        <p:nvSpPr>
          <p:cNvPr id="11" name="Rounded Rectangle 10"/>
          <p:cNvSpPr/>
          <p:nvPr/>
        </p:nvSpPr>
        <p:spPr>
          <a:xfrm>
            <a:off x="8046720" y="1371600"/>
            <a:ext cx="338328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3017520" cy="4480560"/>
          </a:xfrm>
          <a:prstGeom prst="rect">
            <a:avLst/>
          </a:prstGeom>
          <a:noFill/>
        </p:spPr>
        <p:txBody>
          <a:bodyPr wrap="square">
            <a:spAutoFit/>
          </a:bodyPr>
          <a:lstStyle/>
          <a:p>
            <a:pPr>
              <a:defRPr sz="1500" b="1">
                <a:solidFill>
                  <a:srgbClr val="0B2C56"/>
                </a:solidFill>
              </a:defRPr>
            </a:pPr>
            <a:r>
              <a:t>TIẾT KIỆM TỐI ĐA NGÂN SÁCH</a:t>
            </a:r>
          </a:p>
          <a:p>
            <a:pPr>
              <a:spcAft>
                <a:spcPts val="800"/>
              </a:spcAft>
              <a:defRPr sz="1100">
                <a:solidFill>
                  <a:srgbClr val="64748B"/>
                </a:solidFill>
              </a:defRPr>
            </a:pPr>
            <a:r>
              <a:t>Đứng trên vai người khổng lồ</a:t>
            </a:r>
          </a:p>
          <a:p>
            <a:pPr>
              <a:spcAft>
                <a:spcPts val="800"/>
              </a:spcAft>
              <a:defRPr sz="1200">
                <a:solidFill>
                  <a:srgbClr val="1E293B"/>
                </a:solidFill>
              </a:defRPr>
            </a:pPr>
            <a:r>
              <a:t>• Tổng công ty đã đầu tư hàng triệu USD mua hạ tầng Microsoft Fabric và bản quyền Power BI.</a:t>
            </a:r>
          </a:p>
          <a:p>
            <a:pPr>
              <a:spcAft>
                <a:spcPts val="800"/>
              </a:spcAft>
              <a:defRPr sz="1200">
                <a:solidFill>
                  <a:srgbClr val="1E293B"/>
                </a:solidFill>
              </a:defRPr>
            </a:pPr>
            <a:r>
              <a:t>• Quảng Ngãi được dùng MIỄN PHÍ tài nguyên lưu trữ và công cụ đắt tiền này.</a:t>
            </a:r>
          </a:p>
          <a:p>
            <a:pPr>
              <a:spcAft>
                <a:spcPts val="800"/>
              </a:spcAft>
              <a:defRPr sz="1200">
                <a:solidFill>
                  <a:srgbClr val="1E293B"/>
                </a:solidFill>
              </a:defRPr>
            </a:pPr>
            <a:r>
              <a:t>• Chúng ta chỉ cần xây 'đường ống kết nối' tại chỗ mà không cần mua Server Data khổng lồ.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LỘ TRÌNH VÀ YÊU CẦU BẮT BUỘC TỪ NGHỊ QUYẾT HĐQT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3. HIỆN TRẠNG TCT: 'QUẢ BÓNG' ĐÃ CHUYỀN VỀ QUẢNG NGÃI</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512064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4754880" cy="4480560"/>
          </a:xfrm>
          <a:prstGeom prst="rect">
            <a:avLst/>
          </a:prstGeom>
          <a:noFill/>
        </p:spPr>
        <p:txBody>
          <a:bodyPr wrap="square">
            <a:spAutoFit/>
          </a:bodyPr>
          <a:lstStyle/>
          <a:p>
            <a:pPr>
              <a:defRPr sz="1500" b="1">
                <a:solidFill>
                  <a:srgbClr val="0B2C56"/>
                </a:solidFill>
              </a:defRPr>
            </a:pPr>
            <a:r>
              <a:t>Tổng Công Ty đã chuẩn bị xong nền móng</a:t>
            </a:r>
          </a:p>
          <a:p>
            <a:pPr>
              <a:spcAft>
                <a:spcPts val="800"/>
              </a:spcAft>
            </a:pPr>
            <a:r>
              <a:rPr b="1">
                <a:solidFill>
                  <a:srgbClr val="155DA8"/>
                </a:solidFill>
              </a:rPr>
              <a:t>✔ Nghị quyết số 10/NQ-HĐQT-PTSC:</a:t>
            </a:r>
            <a:r>
              <a:rPr>
                <a:solidFill>
                  <a:srgbClr val="1E293B"/>
                </a:solidFill>
              </a:rPr>
              <a:t> Ban hành Chiến lược CĐS toàn diện, trong đó Nền tảng Dữ liệu là trụ cột bắt buộc đối với toàn bộ các đơn vị thành viên.</a:t>
            </a:r>
          </a:p>
          <a:p>
            <a:pPr>
              <a:spcAft>
                <a:spcPts val="800"/>
              </a:spcAft>
            </a:pPr>
            <a:r>
              <a:rPr b="1">
                <a:solidFill>
                  <a:srgbClr val="155DA8"/>
                </a:solidFill>
              </a:rPr>
              <a:t>✔ Giai đoạn 1 (2024 - 2025) ĐÃ XONG:</a:t>
            </a:r>
            <a:r>
              <a:rPr>
                <a:solidFill>
                  <a:srgbClr val="1E293B"/>
                </a:solidFill>
              </a:rPr>
              <a:t> TCT đã xây dựng hoàn chỉnh Trung tâm Dữ liệu tập trung (Data Lakehouse) trên nền tảng Microsoft Fabric.</a:t>
            </a:r>
          </a:p>
          <a:p>
            <a:pPr>
              <a:spcAft>
                <a:spcPts val="800"/>
              </a:spcAft>
            </a:pPr>
            <a:r>
              <a:rPr b="1">
                <a:solidFill>
                  <a:srgbClr val="155DA8"/>
                </a:solidFill>
              </a:rPr>
              <a:t>✔ Ban hành 29 Danh mục Master Data:</a:t>
            </a:r>
            <a:r>
              <a:rPr>
                <a:solidFill>
                  <a:srgbClr val="1E293B"/>
                </a:solidFill>
              </a:rPr>
              <a:t> Bộ quy chuẩn chuẩn hóa mã nhân sự, mã khách hàng, mã thiết bị, mã chi phí... áp dụng thống nhất toàn TCT.</a:t>
            </a:r>
          </a:p>
          <a:p>
            <a:pPr>
              <a:spcAft>
                <a:spcPts val="800"/>
              </a:spcAft>
            </a:pPr>
            <a:r>
              <a:rPr b="1">
                <a:solidFill>
                  <a:srgbClr val="155DA8"/>
                </a:solidFill>
              </a:rPr>
              <a:t>✔ Cấp sẵn Workspace riêng:</a:t>
            </a:r>
            <a:r>
              <a:rPr>
                <a:solidFill>
                  <a:srgbClr val="1E293B"/>
                </a:solidFill>
              </a:rPr>
              <a:t> TCT đã mở sẵn phân vùng 'Workspace L3 Quảng Ngãi' trên Cloud để sẵn sàng đón nhận dữ liệu từ chúng ta.</a:t>
            </a:r>
          </a:p>
        </p:txBody>
      </p:sp>
      <p:sp>
        <p:nvSpPr>
          <p:cNvPr id="9" name="Rounded Rectangle 8"/>
          <p:cNvSpPr/>
          <p:nvPr/>
        </p:nvSpPr>
        <p:spPr>
          <a:xfrm>
            <a:off x="6217920" y="1371600"/>
            <a:ext cx="5212080" cy="4754880"/>
          </a:xfrm>
          <a:prstGeom prst="roundRect">
            <a:avLst/>
          </a:prstGeom>
          <a:solidFill>
            <a:srgbClr val="FFFFFF"/>
          </a:solidFill>
          <a:ln w="1524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480560"/>
          </a:xfrm>
          <a:prstGeom prst="rect">
            <a:avLst/>
          </a:prstGeom>
          <a:noFill/>
        </p:spPr>
        <p:txBody>
          <a:bodyPr wrap="square">
            <a:spAutoFit/>
          </a:bodyPr>
          <a:lstStyle/>
          <a:p>
            <a:pPr>
              <a:defRPr sz="1500" b="1">
                <a:solidFill>
                  <a:srgbClr val="0B2C56"/>
                </a:solidFill>
              </a:defRPr>
            </a:pPr>
            <a:r>
              <a:t>Áp lực thời gian: Giai đoạn 2 (2026 - 2027)</a:t>
            </a:r>
          </a:p>
          <a:p>
            <a:pPr>
              <a:spcAft>
                <a:spcPts val="800"/>
              </a:spcAft>
              <a:defRPr sz="1100">
                <a:solidFill>
                  <a:srgbClr val="64748B"/>
                </a:solidFill>
              </a:defRPr>
            </a:pPr>
            <a:r>
              <a:t>THỜI ĐIỂM QUẢNG NGÃI PHẢI KẾT NỐI</a:t>
            </a:r>
          </a:p>
          <a:p>
            <a:pPr>
              <a:spcAft>
                <a:spcPts val="200"/>
              </a:spcAft>
              <a:defRPr b="1" sz="1300">
                <a:solidFill>
                  <a:srgbClr val="64748B"/>
                </a:solidFill>
              </a:defRPr>
            </a:pPr>
            <a:r>
              <a:t>▶ 2024 - 2025 (Đã hoàn thành)</a:t>
            </a:r>
          </a:p>
          <a:p>
            <a:pPr>
              <a:spcAft>
                <a:spcPts val="800"/>
              </a:spcAft>
              <a:defRPr sz="1100">
                <a:solidFill>
                  <a:srgbClr val="1E293B"/>
                </a:solidFill>
              </a:defRPr>
            </a:pPr>
            <a:r>
              <a:t>Trọng tâm tại TCT: Xây lõi Lakehouse và ban hành quy chuẩn 29 Master Data.</a:t>
            </a:r>
          </a:p>
          <a:p>
            <a:pPr>
              <a:spcAft>
                <a:spcPts val="200"/>
              </a:spcAft>
              <a:defRPr b="1" sz="1300">
                <a:solidFill>
                  <a:srgbClr val="DC3545"/>
                </a:solidFill>
              </a:defRPr>
            </a:pPr>
            <a:r>
              <a:t>▶ 2026 - 2027 (THỜI ĐIỂM HIỆN TẠI)</a:t>
            </a:r>
          </a:p>
          <a:p>
            <a:pPr>
              <a:spcAft>
                <a:spcPts val="800"/>
              </a:spcAft>
              <a:defRPr sz="1100">
                <a:solidFill>
                  <a:srgbClr val="1E293B"/>
                </a:solidFill>
              </a:defRPr>
            </a:pPr>
            <a:r>
              <a:t>Trọng tâm tại Đơn vị thành viên (Quảng Ngãi):</a:t>
            </a:r>
            <a:br/>
            <a:r>
              <a:t>• Chuẩn hóa dữ liệu nội bộ khớp 29 danh mục.</a:t>
            </a:r>
            <a:br/>
            <a:r>
              <a:t>• Dựng trạm trung chuyển và kết nối đường ống bơm dữ liệu lên TCT.</a:t>
            </a:r>
            <a:br/>
            <a:r>
              <a:t>• Đây là tiêu chí đánh giá KPI chuyển đổi số của đơn vị!</a:t>
            </a:r>
          </a:p>
          <a:p>
            <a:pPr>
              <a:spcAft>
                <a:spcPts val="200"/>
              </a:spcAft>
              <a:defRPr b="1" sz="1300">
                <a:solidFill>
                  <a:srgbClr val="64748B"/>
                </a:solidFill>
              </a:defRPr>
            </a:pPr>
            <a:r>
              <a:t>▶ 2028 - 2030 (Tương lai)</a:t>
            </a:r>
          </a:p>
          <a:p>
            <a:pPr>
              <a:spcAft>
                <a:spcPts val="800"/>
              </a:spcAft>
              <a:defRPr sz="1100">
                <a:solidFill>
                  <a:srgbClr val="1E293B"/>
                </a:solidFill>
              </a:defRPr>
            </a:pPr>
            <a:r>
              <a:t>Khai thác toàn diện: Áp dụng AI/ML dự báo sản xuất kinh doanh nâng cao.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NHỮNG KHÓ KHĂN THỰC TẾ CẦN GIẢI QUYẾT NGAY</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4. HIỆN TRẠNG QUẢNG NGÃI: 3 'NÚT THẮT CỔ CHAI'</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3383280" cy="47548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3017520" cy="4480560"/>
          </a:xfrm>
          <a:prstGeom prst="rect">
            <a:avLst/>
          </a:prstGeom>
          <a:noFill/>
        </p:spPr>
        <p:txBody>
          <a:bodyPr wrap="square">
            <a:spAutoFit/>
          </a:bodyPr>
          <a:lstStyle/>
          <a:p>
            <a:pPr>
              <a:defRPr sz="1500" b="1">
                <a:solidFill>
                  <a:srgbClr val="0B2C56"/>
                </a:solidFill>
              </a:defRPr>
            </a:pPr>
            <a:r>
              <a:t>NÚT THẮT 1: DỮ LIỆU PHÂN MẢNH</a:t>
            </a:r>
          </a:p>
          <a:p>
            <a:pPr>
              <a:spcAft>
                <a:spcPts val="800"/>
              </a:spcAft>
              <a:defRPr sz="1100">
                <a:solidFill>
                  <a:srgbClr val="64748B"/>
                </a:solidFill>
              </a:defRPr>
            </a:pPr>
            <a:r>
              <a:t>Hệ thống ứng dụng rời rạc</a:t>
            </a:r>
          </a:p>
          <a:p>
            <a:pPr>
              <a:spcAft>
                <a:spcPts val="800"/>
              </a:spcAft>
              <a:defRPr sz="1200">
                <a:solidFill>
                  <a:srgbClr val="1E293B"/>
                </a:solidFill>
              </a:defRPr>
            </a:pPr>
            <a:r>
              <a:t>• Các phần mềm Kế toán, Quản lý Nhân sự, Vật tư, Dự án hoạt động độc lập.</a:t>
            </a:r>
          </a:p>
          <a:p>
            <a:pPr>
              <a:spcAft>
                <a:spcPts val="800"/>
              </a:spcAft>
              <a:defRPr sz="1200">
                <a:solidFill>
                  <a:srgbClr val="1E293B"/>
                </a:solidFill>
              </a:defRPr>
            </a:pPr>
            <a:r>
              <a:t>• Cơ sở dữ liệu đặt trên các máy chủ riêng lẻ, chưa có cầu nối thông suốt.</a:t>
            </a:r>
          </a:p>
          <a:p>
            <a:pPr>
              <a:spcAft>
                <a:spcPts val="800"/>
              </a:spcAft>
              <a:defRPr sz="1200">
                <a:solidFill>
                  <a:srgbClr val="1E293B"/>
                </a:solidFill>
              </a:defRPr>
            </a:pPr>
            <a:r>
              <a:t>• Vẫn phải dùng con người làm trung gian luân chuyển số liệu qua file Excel.</a:t>
            </a:r>
          </a:p>
        </p:txBody>
      </p:sp>
      <p:sp>
        <p:nvSpPr>
          <p:cNvPr id="9" name="Rounded Rectangle 8"/>
          <p:cNvSpPr/>
          <p:nvPr/>
        </p:nvSpPr>
        <p:spPr>
          <a:xfrm>
            <a:off x="4389120" y="1371600"/>
            <a:ext cx="3383280" cy="47548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480560"/>
          </a:xfrm>
          <a:prstGeom prst="rect">
            <a:avLst/>
          </a:prstGeom>
          <a:noFill/>
        </p:spPr>
        <p:txBody>
          <a:bodyPr wrap="square">
            <a:spAutoFit/>
          </a:bodyPr>
          <a:lstStyle/>
          <a:p>
            <a:pPr>
              <a:defRPr sz="1500" b="1">
                <a:solidFill>
                  <a:srgbClr val="0B2C56"/>
                </a:solidFill>
              </a:defRPr>
            </a:pPr>
            <a:r>
              <a:t>NÚT THẮT 2: LỆCH CHUẨN MASTER DATA</a:t>
            </a:r>
          </a:p>
          <a:p>
            <a:pPr>
              <a:spcAft>
                <a:spcPts val="800"/>
              </a:spcAft>
              <a:defRPr sz="1100">
                <a:solidFill>
                  <a:srgbClr val="64748B"/>
                </a:solidFill>
              </a:defRPr>
            </a:pPr>
            <a:r>
              <a:t>Chưa đồng bộ với 29 chuẩn TCT</a:t>
            </a:r>
          </a:p>
          <a:p>
            <a:pPr>
              <a:spcAft>
                <a:spcPts val="800"/>
              </a:spcAft>
              <a:defRPr sz="1200">
                <a:solidFill>
                  <a:srgbClr val="1E293B"/>
                </a:solidFill>
              </a:defRPr>
            </a:pPr>
            <a:r>
              <a:t>• Mã danh mục của Quảng Ngãi (mã nhân viên, vật tư, đối tác...) chưa khớp chuẩn TCT.</a:t>
            </a:r>
          </a:p>
          <a:p>
            <a:pPr>
              <a:spcAft>
                <a:spcPts val="800"/>
              </a:spcAft>
              <a:defRPr sz="1200">
                <a:solidFill>
                  <a:srgbClr val="1E293B"/>
                </a:solidFill>
              </a:defRPr>
            </a:pPr>
            <a:r>
              <a:t>• Nếu không 'Ánh xạ' (Mapping) lại thì dữ liệu đẩy lên TCT sẽ bị lỗi và từ chối tiếp nhận.</a:t>
            </a:r>
          </a:p>
          <a:p>
            <a:pPr>
              <a:spcAft>
                <a:spcPts val="800"/>
              </a:spcAft>
              <a:defRPr sz="1200">
                <a:solidFill>
                  <a:srgbClr val="1E293B"/>
                </a:solidFill>
              </a:defRPr>
            </a:pPr>
            <a:r>
              <a:t>• Khối lượng rà soát nghiệp vụ rất lớn, cần sự tham gia của các phòng ban.</a:t>
            </a:r>
          </a:p>
        </p:txBody>
      </p:sp>
      <p:sp>
        <p:nvSpPr>
          <p:cNvPr id="11" name="Rounded Rectangle 10"/>
          <p:cNvSpPr/>
          <p:nvPr/>
        </p:nvSpPr>
        <p:spPr>
          <a:xfrm>
            <a:off x="8046720" y="1371600"/>
            <a:ext cx="3383280" cy="4754880"/>
          </a:xfrm>
          <a:prstGeom prst="roundRect">
            <a:avLst/>
          </a:prstGeom>
          <a:solidFill>
            <a:srgbClr val="FFFFFF"/>
          </a:solidFill>
          <a:ln w="1524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3017520" cy="4480560"/>
          </a:xfrm>
          <a:prstGeom prst="rect">
            <a:avLst/>
          </a:prstGeom>
          <a:noFill/>
        </p:spPr>
        <p:txBody>
          <a:bodyPr wrap="square">
            <a:spAutoFit/>
          </a:bodyPr>
          <a:lstStyle/>
          <a:p>
            <a:pPr>
              <a:defRPr sz="1500" b="1">
                <a:solidFill>
                  <a:srgbClr val="0B2C56"/>
                </a:solidFill>
              </a:defRPr>
            </a:pPr>
            <a:r>
              <a:t>NÚT THẮT 3: THIẾU KỸ SƯ DATA CHUYÊN SÂU</a:t>
            </a:r>
          </a:p>
          <a:p>
            <a:pPr>
              <a:spcAft>
                <a:spcPts val="800"/>
              </a:spcAft>
              <a:defRPr sz="1100">
                <a:solidFill>
                  <a:srgbClr val="64748B"/>
                </a:solidFill>
              </a:defRPr>
            </a:pPr>
            <a:r>
              <a:t>Năng lực nội bộ chưa đáp ứng</a:t>
            </a:r>
          </a:p>
          <a:p>
            <a:pPr>
              <a:spcAft>
                <a:spcPts val="800"/>
              </a:spcAft>
              <a:defRPr sz="1200">
                <a:solidFill>
                  <a:srgbClr val="1E293B"/>
                </a:solidFill>
              </a:defRPr>
            </a:pPr>
            <a:r>
              <a:t>• Phòng IT hiện tại làm rất tốt công tác quản trị hạ tầng, mạng và hỗ trợ người dùng.</a:t>
            </a:r>
          </a:p>
          <a:p>
            <a:pPr>
              <a:spcAft>
                <a:spcPts val="800"/>
              </a:spcAft>
              <a:defRPr sz="1200">
                <a:solidFill>
                  <a:srgbClr val="1E293B"/>
                </a:solidFill>
              </a:defRPr>
            </a:pPr>
            <a:r>
              <a:t>• Tuy nhiên, thiếu hụt chuyên gia Data Engineering chuyên sâu về ETL/ELT, Fabric, API bảo mật.</a:t>
            </a:r>
          </a:p>
          <a:p>
            <a:pPr>
              <a:spcAft>
                <a:spcPts val="800"/>
              </a:spcAft>
              <a:defRPr sz="1200">
                <a:solidFill>
                  <a:srgbClr val="1E293B"/>
                </a:solidFill>
              </a:defRPr>
            </a:pPr>
            <a:r>
              <a:t>• Nếu ép nội bộ tự nghiên cứu: Tốn 6-12 tháng, rủi ro lỗi kiến trúc và trễ hạn TCT.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MÔ HÌNH LUỒNG DỮ LIỆU TỪ QUẢNG NGÃI LÊN TỔNG CÔNG TY</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5. KIẾN TRÚC ĐỀ XUẤT: TRẠM TRUNG CHUYỂN DỮ LIỆU (L3 SPOKE)</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685800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6492240" cy="4480560"/>
          </a:xfrm>
          <a:prstGeom prst="rect">
            <a:avLst/>
          </a:prstGeom>
          <a:noFill/>
        </p:spPr>
        <p:txBody>
          <a:bodyPr wrap="square">
            <a:spAutoFit/>
          </a:bodyPr>
          <a:lstStyle/>
          <a:p>
            <a:pPr>
              <a:defRPr sz="1500" b="1">
                <a:solidFill>
                  <a:srgbClr val="0B2C56"/>
                </a:solidFill>
              </a:defRPr>
            </a:pPr>
            <a:r>
              <a:t>Sơ đồ nguyên lý hoạt động</a:t>
            </a:r>
          </a:p>
          <a:p>
            <a:pPr>
              <a:spcAft>
                <a:spcPts val="600"/>
              </a:spcAft>
            </a:pPr>
            <a:r>
              <a:rPr b="1">
                <a:solidFill>
                  <a:srgbClr val="0B2C56"/>
                </a:solidFill>
              </a:rPr>
              <a:t>➜ BƯỚC 1: HỆ THỐNG NỘI BỘ (QUẢNG NGÃI): </a:t>
            </a:r>
            <a:r>
              <a:rPr>
                <a:solidFill>
                  <a:srgbClr val="1E293B"/>
                </a:solidFill>
              </a:rPr>
              <a:t>Phần mềm Kế toán + Quản lý Nhân sự + Vật tư + Hợp đồng.</a:t>
            </a:r>
          </a:p>
          <a:p>
            <a:pPr>
              <a:spcAft>
                <a:spcPts val="600"/>
              </a:spcAft>
            </a:pPr>
            <a:r>
              <a:rPr b="1">
                <a:solidFill>
                  <a:srgbClr val="0B2C56"/>
                </a:solidFill>
              </a:rPr>
              <a:t>➜ BƯỚC 2: TRẠM TRUNG CHUYỂN (DATA GATEWAY): </a:t>
            </a:r>
            <a:r>
              <a:rPr>
                <a:solidFill>
                  <a:srgbClr val="1E293B"/>
                </a:solidFill>
              </a:rPr>
              <a:t>Cài đặt trên 1 máy chủ ảo tại Quảng Ngãi -&gt; Tự động trích xuất, ánh xạ dữ liệu theo chuẩn 29 Master Data của TCT -&gt; Mã hóa bảo mật.</a:t>
            </a:r>
          </a:p>
          <a:p>
            <a:pPr>
              <a:spcAft>
                <a:spcPts val="600"/>
              </a:spcAft>
            </a:pPr>
            <a:r>
              <a:rPr b="1">
                <a:solidFill>
                  <a:srgbClr val="0B2C56"/>
                </a:solidFill>
              </a:rPr>
              <a:t>➜ BƯỚC 3: ĐƯỜNG TRUYỀN BẢO MẬT (VPN / SD-WAN): </a:t>
            </a:r>
            <a:r>
              <a:rPr>
                <a:solidFill>
                  <a:srgbClr val="1E293B"/>
                </a:solidFill>
              </a:rPr>
              <a:t>Dữ liệu được đẩy qua kênh truyền riêng biệt, đảm bảo an toàn tuyệt đối.</a:t>
            </a:r>
          </a:p>
          <a:p>
            <a:pPr>
              <a:spcAft>
                <a:spcPts val="600"/>
              </a:spcAft>
            </a:pPr>
            <a:r>
              <a:rPr b="1">
                <a:solidFill>
                  <a:srgbClr val="0B2C56"/>
                </a:solidFill>
              </a:rPr>
              <a:t>➜ BƯỚC 4: WORKSPACE L3 (TỔNG CÔNG TY): </a:t>
            </a:r>
            <a:r>
              <a:rPr>
                <a:solidFill>
                  <a:srgbClr val="1E293B"/>
                </a:solidFill>
              </a:rPr>
              <a:t>Dữ liệu tiếp đất vào kho riêng của Quảng Ngãi trên đám mây TCT.</a:t>
            </a:r>
          </a:p>
          <a:p>
            <a:pPr>
              <a:spcAft>
                <a:spcPts val="600"/>
              </a:spcAft>
            </a:pPr>
            <a:r>
              <a:rPr b="1">
                <a:solidFill>
                  <a:srgbClr val="0B2C56"/>
                </a:solidFill>
              </a:rPr>
              <a:t>➜ BƯỚC 5: BÁO CÁO ĐIỀU HÀNH (POWER BI): </a:t>
            </a:r>
            <a:r>
              <a:rPr>
                <a:solidFill>
                  <a:srgbClr val="1E293B"/>
                </a:solidFill>
              </a:rPr>
              <a:t>Tự động hiển thị lên bảng Dashboard điều hành cho Ban Giám đốc xem mỗi ngày.</a:t>
            </a:r>
          </a:p>
        </p:txBody>
      </p:sp>
      <p:sp>
        <p:nvSpPr>
          <p:cNvPr id="9" name="Rounded Rectangle 8"/>
          <p:cNvSpPr/>
          <p:nvPr/>
        </p:nvSpPr>
        <p:spPr>
          <a:xfrm>
            <a:off x="7955279" y="1371600"/>
            <a:ext cx="3474720"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1508760"/>
            <a:ext cx="3108960" cy="4480560"/>
          </a:xfrm>
          <a:prstGeom prst="rect">
            <a:avLst/>
          </a:prstGeom>
          <a:noFill/>
        </p:spPr>
        <p:txBody>
          <a:bodyPr wrap="square">
            <a:spAutoFit/>
          </a:bodyPr>
          <a:lstStyle/>
          <a:p>
            <a:pPr>
              <a:defRPr sz="1500" b="1">
                <a:solidFill>
                  <a:srgbClr val="0B2C56"/>
                </a:solidFill>
              </a:defRPr>
            </a:pPr>
            <a:r>
              <a:t>Ưu điểm của mô hình này</a:t>
            </a:r>
          </a:p>
          <a:p>
            <a:pPr>
              <a:spcAft>
                <a:spcPts val="800"/>
              </a:spcAft>
              <a:defRPr sz="1100">
                <a:solidFill>
                  <a:srgbClr val="64748B"/>
                </a:solidFill>
              </a:defRPr>
            </a:pPr>
            <a:r>
              <a:t>GỌN NHẸ &amp; AN TOÀN</a:t>
            </a:r>
          </a:p>
          <a:p>
            <a:pPr>
              <a:spcAft>
                <a:spcPts val="200"/>
              </a:spcAft>
            </a:pPr>
            <a:r>
              <a:rPr b="1">
                <a:solidFill>
                  <a:srgbClr val="155DA8"/>
                </a:solidFill>
              </a:rPr>
              <a:t>★ Không động chạm dữ liệu gốc:</a:t>
            </a:r>
          </a:p>
          <a:p>
            <a:pPr>
              <a:spcAft>
                <a:spcPts val="800"/>
              </a:spcAft>
              <a:defRPr sz="1100">
                <a:solidFill>
                  <a:srgbClr val="1E293B"/>
                </a:solidFill>
              </a:defRPr>
            </a:pPr>
            <a:r>
              <a:t> Trạm trung chuyển chỉ 'đọc' bản sao, không gây ảnh hưởng hay chậm hệ thống kế toán đang chạy.</a:t>
            </a:r>
          </a:p>
          <a:p>
            <a:pPr>
              <a:spcAft>
                <a:spcPts val="200"/>
              </a:spcAft>
            </a:pPr>
            <a:r>
              <a:rPr b="1">
                <a:solidFill>
                  <a:srgbClr val="155DA8"/>
                </a:solidFill>
              </a:rPr>
              <a:t>★ Bảo mật cao:</a:t>
            </a:r>
          </a:p>
          <a:p>
            <a:pPr>
              <a:spcAft>
                <a:spcPts val="800"/>
              </a:spcAft>
              <a:defRPr sz="1100">
                <a:solidFill>
                  <a:srgbClr val="1E293B"/>
                </a:solidFill>
              </a:defRPr>
            </a:pPr>
            <a:r>
              <a:t> Không phơi bày máy chủ nội bộ ra internet, đi qua đường truyền riêng VPN của TCT.</a:t>
            </a:r>
          </a:p>
          <a:p>
            <a:pPr>
              <a:spcAft>
                <a:spcPts val="200"/>
              </a:spcAft>
            </a:pPr>
            <a:r>
              <a:rPr b="1">
                <a:solidFill>
                  <a:srgbClr val="155DA8"/>
                </a:solidFill>
              </a:rPr>
              <a:t>★ Chi phí thấp:</a:t>
            </a:r>
          </a:p>
          <a:p>
            <a:pPr>
              <a:spcAft>
                <a:spcPts val="800"/>
              </a:spcAft>
              <a:defRPr sz="1100">
                <a:solidFill>
                  <a:srgbClr val="1E293B"/>
                </a:solidFill>
              </a:defRPr>
            </a:pPr>
            <a:r>
              <a:t> Chỉ cần 1-2 máy chủ ảo (VM) cấu hình vừa phải đặt tại phòng máy chủ của đơn vị.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CĂN CỨ ĐỂ ĐỀ XUẤT THUÊ ĐỐI TÁC CHUYÊN NGHIỆP</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6. SO SÁNH PHƯƠNG ÁN: NỘI BỘ TỰ LÀM VS THUÊ NGOÀI</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103120"/>
                <a:gridCol w="4297680"/>
                <a:gridCol w="4327855"/>
              </a:tblGrid>
              <a:tr h="950976">
                <a:tc>
                  <a:txBody>
                    <a:bodyPr/>
                    <a:lstStyle/>
                    <a:p>
                      <a:pPr algn="ctr">
                        <a:defRPr b="1" sz="1300">
                          <a:solidFill>
                            <a:srgbClr val="FFFFFF"/>
                          </a:solidFill>
                        </a:defRPr>
                      </a:pPr>
                      <a:r>
                        <a:t>Tiêu chí đánh giá</a:t>
                      </a:r>
                    </a:p>
                  </a:txBody>
                  <a:tcPr>
                    <a:solidFill>
                      <a:srgbClr val="0B2C56"/>
                    </a:solidFill>
                  </a:tcPr>
                </a:tc>
                <a:tc>
                  <a:txBody>
                    <a:bodyPr/>
                    <a:lstStyle/>
                    <a:p>
                      <a:pPr algn="ctr">
                        <a:defRPr b="1" sz="1300">
                          <a:solidFill>
                            <a:srgbClr val="FFFFFF"/>
                          </a:solidFill>
                        </a:defRPr>
                      </a:pPr>
                      <a:r>
                        <a:t>Phương án 1: Tự làm 100% nội bộ</a:t>
                      </a:r>
                    </a:p>
                  </a:txBody>
                  <a:tcPr>
                    <a:solidFill>
                      <a:srgbClr val="0B2C56"/>
                    </a:solidFill>
                  </a:tcPr>
                </a:tc>
                <a:tc>
                  <a:txBody>
                    <a:bodyPr/>
                    <a:lstStyle/>
                    <a:p>
                      <a:pPr algn="ctr">
                        <a:defRPr b="1" sz="1300">
                          <a:solidFill>
                            <a:srgbClr val="FFFFFF"/>
                          </a:solidFill>
                        </a:defRPr>
                      </a:pPr>
                      <a:r>
                        <a:t>Phương án 2: Kết hợp Thuê ngoài (ĐỀ XUẤT)</a:t>
                      </a:r>
                    </a:p>
                  </a:txBody>
                  <a:tcPr>
                    <a:solidFill>
                      <a:srgbClr val="155DA8"/>
                    </a:solidFill>
                  </a:tcPr>
                </a:tc>
              </a:tr>
              <a:tr h="950976">
                <a:tc>
                  <a:txBody>
                    <a:bodyPr/>
                    <a:lstStyle/>
                    <a:p>
                      <a:pPr>
                        <a:defRPr sz="1100" b="1">
                          <a:solidFill>
                            <a:srgbClr val="0B2C56"/>
                          </a:solidFill>
                        </a:defRPr>
                      </a:pPr>
                      <a:r>
                        <a:t>Tiến độ &amp; Thời gian</a:t>
                      </a:r>
                    </a:p>
                  </a:txBody>
                  <a:tcPr>
                    <a:solidFill>
                      <a:srgbClr val="F1F5F9"/>
                    </a:solidFill>
                  </a:tcPr>
                </a:tc>
                <a:tc>
                  <a:txBody>
                    <a:bodyPr/>
                    <a:lstStyle/>
                    <a:p>
                      <a:pPr>
                        <a:defRPr sz="1100" b="0">
                          <a:solidFill>
                            <a:srgbClr val="1E293B"/>
                          </a:solidFill>
                        </a:defRPr>
                      </a:pPr>
                      <a:r>
                        <a:t>• Rất chậm (mất 8 - 12 tháng do phải vừa làm vừa học hỏi công nghệ mới).</a:t>
                      </a:r>
                      <a:br/>
                      <a:r>
                        <a:t>• Rất dễ trễ hạn deadline 2026 của TCT.</a:t>
                      </a:r>
                    </a:p>
                  </a:txBody>
                  <a:tcPr>
                    <a:solidFill>
                      <a:srgbClr val="FFFFFF"/>
                    </a:solidFill>
                  </a:tcPr>
                </a:tc>
                <a:tc>
                  <a:txBody>
                    <a:bodyPr/>
                    <a:lstStyle/>
                    <a:p>
                      <a:pPr>
                        <a:defRPr sz="1100" b="0">
                          <a:solidFill>
                            <a:srgbClr val="1E293B"/>
                          </a:solidFill>
                        </a:defRPr>
                      </a:pPr>
                      <a:r>
                        <a:t>• Rất nhanh (3 - 4 tháng là xong toàn bộ luồng kết nối).</a:t>
                      </a:r>
                      <a:br/>
                      <a:r>
                        <a:t>• Đảm bảo 100% đúng tiến độ Nghị quyết TCT.</a:t>
                      </a:r>
                    </a:p>
                  </a:txBody>
                  <a:tcPr>
                    <a:solidFill>
                      <a:srgbClr val="FFFFFF"/>
                    </a:solidFill>
                  </a:tcPr>
                </a:tc>
              </a:tr>
              <a:tr h="950976">
                <a:tc>
                  <a:txBody>
                    <a:bodyPr/>
                    <a:lstStyle/>
                    <a:p>
                      <a:pPr>
                        <a:defRPr sz="1100" b="1">
                          <a:solidFill>
                            <a:srgbClr val="0B2C56"/>
                          </a:solidFill>
                        </a:defRPr>
                      </a:pPr>
                      <a:r>
                        <a:t>Chất lượng &amp; Chuẩn kỹ thuật</a:t>
                      </a:r>
                    </a:p>
                  </a:txBody>
                  <a:tcPr>
                    <a:solidFill>
                      <a:srgbClr val="F1F5F9"/>
                    </a:solidFill>
                  </a:tcPr>
                </a:tc>
                <a:tc>
                  <a:txBody>
                    <a:bodyPr/>
                    <a:lstStyle/>
                    <a:p>
                      <a:pPr>
                        <a:defRPr sz="1100" b="0">
                          <a:solidFill>
                            <a:srgbClr val="1E293B"/>
                          </a:solidFill>
                        </a:defRPr>
                      </a:pPr>
                      <a:r>
                        <a:t>• Tiềm ẩn rủi ro lỗi pipeline, nghẽn mạng hoặc bảo mật do thiếu kinh nghiệm thực chiến.</a:t>
                      </a:r>
                    </a:p>
                  </a:txBody>
                  <a:tcPr>
                    <a:solidFill>
                      <a:srgbClr val="FFFFFF"/>
                    </a:solidFill>
                  </a:tcPr>
                </a:tc>
                <a:tc>
                  <a:txBody>
                    <a:bodyPr/>
                    <a:lstStyle/>
                    <a:p>
                      <a:pPr>
                        <a:defRPr sz="1100" b="0">
                          <a:solidFill>
                            <a:srgbClr val="1E293B"/>
                          </a:solidFill>
                        </a:defRPr>
                      </a:pPr>
                      <a:r>
                        <a:t>• Đạt chuẩn doanh nghiệp, tối ưu luồng dữ liệu, chuẩn bảo mật của Microsoft &amp; TCT ban hành.</a:t>
                      </a:r>
                    </a:p>
                  </a:txBody>
                  <a:tcPr>
                    <a:solidFill>
                      <a:srgbClr val="FFFFFF"/>
                    </a:solidFill>
                  </a:tcPr>
                </a:tc>
              </a:tr>
              <a:tr h="950976">
                <a:tc>
                  <a:txBody>
                    <a:bodyPr/>
                    <a:lstStyle/>
                    <a:p>
                      <a:pPr>
                        <a:defRPr sz="1100" b="1">
                          <a:solidFill>
                            <a:srgbClr val="0B2C56"/>
                          </a:solidFill>
                        </a:defRPr>
                      </a:pPr>
                      <a:r>
                        <a:t>Nguồn lực &amp; Rủi ro</a:t>
                      </a:r>
                    </a:p>
                  </a:txBody>
                  <a:tcPr>
                    <a:solidFill>
                      <a:srgbClr val="F1F5F9"/>
                    </a:solidFill>
                  </a:tcPr>
                </a:tc>
                <a:tc>
                  <a:txBody>
                    <a:bodyPr/>
                    <a:lstStyle/>
                    <a:p>
                      <a:pPr>
                        <a:defRPr sz="1100" b="0">
                          <a:solidFill>
                            <a:srgbClr val="1E293B"/>
                          </a:solidFill>
                        </a:defRPr>
                      </a:pPr>
                      <a:r>
                        <a:t>• Nhân sự IT quá tải, bỏ bê các nhiệm vụ hỗ trợ vận hành thường nhật.</a:t>
                      </a:r>
                      <a:br/>
                      <a:r>
                        <a:t>• Nếu nhân sự nghỉ việc, dự án bị đứt gãy hoàn toàn.</a:t>
                      </a:r>
                    </a:p>
                  </a:txBody>
                  <a:tcPr>
                    <a:solidFill>
                      <a:srgbClr val="FFFFFF"/>
                    </a:solidFill>
                  </a:tcPr>
                </a:tc>
                <a:tc>
                  <a:txBody>
                    <a:bodyPr/>
                    <a:lstStyle/>
                    <a:p>
                      <a:pPr>
                        <a:defRPr sz="1100" b="0">
                          <a:solidFill>
                            <a:srgbClr val="1E293B"/>
                          </a:solidFill>
                        </a:defRPr>
                      </a:pPr>
                      <a:r>
                        <a:t>• Có cam kết SLA, chuyển giao tài liệu chuẩn mực, bảo hành bảo trì dài hạn từ đơn vị chuyên nghiệp.</a:t>
                      </a:r>
                    </a:p>
                  </a:txBody>
                  <a:tcPr>
                    <a:solidFill>
                      <a:srgbClr val="FFFFFF"/>
                    </a:solidFill>
                  </a:tcPr>
                </a:tc>
              </a:tr>
              <a:tr h="950976">
                <a:tc>
                  <a:txBody>
                    <a:bodyPr/>
                    <a:lstStyle/>
                    <a:p>
                      <a:pPr>
                        <a:defRPr sz="1100" b="1">
                          <a:solidFill>
                            <a:srgbClr val="0B2C56"/>
                          </a:solidFill>
                        </a:defRPr>
                      </a:pPr>
                      <a:r>
                        <a:t>Vai trò của Nhân sự Quảng Ngãi</a:t>
                      </a:r>
                    </a:p>
                  </a:txBody>
                  <a:tcPr>
                    <a:solidFill>
                      <a:srgbClr val="F1F5F9"/>
                    </a:solidFill>
                  </a:tcPr>
                </a:tc>
                <a:tc>
                  <a:txBody>
                    <a:bodyPr/>
                    <a:lstStyle/>
                    <a:p>
                      <a:pPr>
                        <a:defRPr sz="1100" b="0">
                          <a:solidFill>
                            <a:srgbClr val="1E293B"/>
                          </a:solidFill>
                        </a:defRPr>
                      </a:pPr>
                      <a:r>
                        <a:t>• Bị động, lúng túng trong khâu kỹ thuật đường ống dữ liệu phức tạp.</a:t>
                      </a:r>
                    </a:p>
                  </a:txBody>
                  <a:tcPr>
                    <a:solidFill>
                      <a:srgbClr val="FFFFFF"/>
                    </a:solidFill>
                  </a:tcPr>
                </a:tc>
                <a:tc>
                  <a:txBody>
                    <a:bodyPr/>
                    <a:lstStyle/>
                    <a:p>
                      <a:pPr>
                        <a:defRPr sz="1100" b="0">
                          <a:solidFill>
                            <a:srgbClr val="1E293B"/>
                          </a:solidFill>
                        </a:defRPr>
                      </a:pPr>
                      <a:r>
                        <a:t>• Chủ động: Nội bộ tập trung vào làm chủ dữ liệu nghiệp vụ, giám sát chất lượng và tiếp nhận chuyển giao.</a:t>
                      </a:r>
                    </a:p>
                  </a:txBody>
                  <a:tcP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KẾ HOẠCH HÀNH ĐỘNG CỤ THỂ, KIỂM SOÁT CHẶT CHẼ</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7. PHẠM VI CÔNG VIỆC &amp; LỘ TRÌNH 3 GIAI ĐOẠN</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3383280" cy="4754880"/>
          </a:xfrm>
          <a:prstGeom prst="roundRect">
            <a:avLst/>
          </a:prstGeom>
          <a:solidFill>
            <a:srgbClr val="FFFFFF"/>
          </a:solidFill>
          <a:ln w="15240">
            <a:solidFill>
              <a:srgbClr val="155D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3017520" cy="4480560"/>
          </a:xfrm>
          <a:prstGeom prst="rect">
            <a:avLst/>
          </a:prstGeom>
          <a:noFill/>
        </p:spPr>
        <p:txBody>
          <a:bodyPr wrap="square">
            <a:spAutoFit/>
          </a:bodyPr>
          <a:lstStyle/>
          <a:p>
            <a:pPr>
              <a:defRPr sz="1500" b="1">
                <a:solidFill>
                  <a:srgbClr val="0B2C56"/>
                </a:solidFill>
              </a:defRPr>
            </a:pPr>
            <a:r>
              <a:t>GIAI ĐOẠN 1 (Tháng 1 - 2)</a:t>
            </a:r>
          </a:p>
          <a:p>
            <a:pPr>
              <a:spcAft>
                <a:spcPts val="800"/>
              </a:spcAft>
              <a:defRPr sz="1100">
                <a:solidFill>
                  <a:srgbClr val="64748B"/>
                </a:solidFill>
              </a:defRPr>
            </a:pPr>
            <a:r>
              <a:t>NỘI BỘ CHỦ TRÌ (0 Đồng)</a:t>
            </a:r>
          </a:p>
          <a:p>
            <a:pPr>
              <a:spcAft>
                <a:spcPts val="800"/>
              </a:spcAft>
              <a:defRPr sz="1200">
                <a:solidFill>
                  <a:srgbClr val="1E293B"/>
                </a:solidFill>
              </a:defRPr>
            </a:pPr>
            <a:r>
              <a:t>• Thành lập Tổ công tác Data Platform nội bộ.</a:t>
            </a:r>
          </a:p>
          <a:p>
            <a:pPr>
              <a:spcAft>
                <a:spcPts val="800"/>
              </a:spcAft>
              <a:defRPr sz="1200">
                <a:solidFill>
                  <a:srgbClr val="1E293B"/>
                </a:solidFill>
              </a:defRPr>
            </a:pPr>
            <a:r>
              <a:t>• Khảo sát toàn bộ cơ sở dữ liệu các phần mềm nghiệp vụ.</a:t>
            </a:r>
          </a:p>
          <a:p>
            <a:pPr>
              <a:spcAft>
                <a:spcPts val="800"/>
              </a:spcAft>
              <a:defRPr sz="1200">
                <a:solidFill>
                  <a:srgbClr val="1E293B"/>
                </a:solidFill>
              </a:defRPr>
            </a:pPr>
            <a:r>
              <a:t>• Thực hiện Ánh xạ (Mapping) dữ liệu nội bộ với 29 danh mục Master Data của TCT.</a:t>
            </a:r>
          </a:p>
          <a:p>
            <a:pPr>
              <a:spcAft>
                <a:spcPts val="800"/>
              </a:spcAft>
              <a:defRPr sz="1200">
                <a:solidFill>
                  <a:srgbClr val="1E293B"/>
                </a:solidFill>
              </a:defRPr>
            </a:pPr>
            <a:r>
              <a:t>• Lập bảng yêu cầu kỹ thuật chi tiết để chuẩn bị mời chào giá thuê ngoài.</a:t>
            </a:r>
          </a:p>
        </p:txBody>
      </p:sp>
      <p:sp>
        <p:nvSpPr>
          <p:cNvPr id="9" name="Rounded Rectangle 8"/>
          <p:cNvSpPr/>
          <p:nvPr/>
        </p:nvSpPr>
        <p:spPr>
          <a:xfrm>
            <a:off x="4389120" y="1371600"/>
            <a:ext cx="3383280" cy="4754880"/>
          </a:xfrm>
          <a:prstGeom prst="roundRect">
            <a:avLst/>
          </a:prstGeom>
          <a:solidFill>
            <a:srgbClr val="FFFFFF"/>
          </a:solidFill>
          <a:ln w="15240">
            <a:solidFill>
              <a:srgbClr val="DC35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480560"/>
          </a:xfrm>
          <a:prstGeom prst="rect">
            <a:avLst/>
          </a:prstGeom>
          <a:noFill/>
        </p:spPr>
        <p:txBody>
          <a:bodyPr wrap="square">
            <a:spAutoFit/>
          </a:bodyPr>
          <a:lstStyle/>
          <a:p>
            <a:pPr>
              <a:defRPr sz="1500" b="1">
                <a:solidFill>
                  <a:srgbClr val="0B2C56"/>
                </a:solidFill>
              </a:defRPr>
            </a:pPr>
            <a:r>
              <a:t>GIAI ĐOẠN 2 (Tháng 3 - 5)</a:t>
            </a:r>
          </a:p>
          <a:p>
            <a:pPr>
              <a:spcAft>
                <a:spcPts val="800"/>
              </a:spcAft>
              <a:defRPr sz="1100">
                <a:solidFill>
                  <a:srgbClr val="64748B"/>
                </a:solidFill>
              </a:defRPr>
            </a:pPr>
            <a:r>
              <a:t>THUÊ ĐỐI TÁC TRIỂN KHAI (Outsource)</a:t>
            </a:r>
          </a:p>
          <a:p>
            <a:pPr>
              <a:spcAft>
                <a:spcPts val="800"/>
              </a:spcAft>
              <a:defRPr sz="1200">
                <a:solidFill>
                  <a:srgbClr val="1E293B"/>
                </a:solidFill>
              </a:defRPr>
            </a:pPr>
            <a:r>
              <a:t>• Cài đặt và cấu hình Trạm trung chuyển dữ liệu trên máy chủ ảo.</a:t>
            </a:r>
          </a:p>
          <a:p>
            <a:pPr>
              <a:spcAft>
                <a:spcPts val="800"/>
              </a:spcAft>
              <a:defRPr sz="1200">
                <a:solidFill>
                  <a:srgbClr val="1E293B"/>
                </a:solidFill>
              </a:defRPr>
            </a:pPr>
            <a:r>
              <a:t>• Viết các đường ống ETL tự động trích xuất, làm sạch và đẩy dữ liệu lên TCT.</a:t>
            </a:r>
          </a:p>
          <a:p>
            <a:pPr>
              <a:spcAft>
                <a:spcPts val="800"/>
              </a:spcAft>
              <a:defRPr sz="1200">
                <a:solidFill>
                  <a:srgbClr val="1E293B"/>
                </a:solidFill>
              </a:defRPr>
            </a:pPr>
            <a:r>
              <a:t>• Cấu hình đường truyền bảo mật VPN/SD-WAN kết nối về Hub TCT.</a:t>
            </a:r>
          </a:p>
          <a:p>
            <a:pPr>
              <a:spcAft>
                <a:spcPts val="800"/>
              </a:spcAft>
              <a:defRPr sz="1200">
                <a:solidFill>
                  <a:srgbClr val="1E293B"/>
                </a:solidFill>
              </a:defRPr>
            </a:pPr>
            <a:r>
              <a:t>• Kiểm thử an toàn thông tin và nghiệm thử thông luồng dữ liệu thành công.</a:t>
            </a:r>
          </a:p>
        </p:txBody>
      </p:sp>
      <p:sp>
        <p:nvSpPr>
          <p:cNvPr id="11" name="Rounded Rectangle 10"/>
          <p:cNvSpPr/>
          <p:nvPr/>
        </p:nvSpPr>
        <p:spPr>
          <a:xfrm>
            <a:off x="8046720" y="1371600"/>
            <a:ext cx="3383280" cy="4754880"/>
          </a:xfrm>
          <a:prstGeom prst="roundRect">
            <a:avLst/>
          </a:prstGeom>
          <a:solidFill>
            <a:srgbClr val="FFFFFF"/>
          </a:solidFill>
          <a:ln w="1524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508760"/>
            <a:ext cx="3017520" cy="4480560"/>
          </a:xfrm>
          <a:prstGeom prst="rect">
            <a:avLst/>
          </a:prstGeom>
          <a:noFill/>
        </p:spPr>
        <p:txBody>
          <a:bodyPr wrap="square">
            <a:spAutoFit/>
          </a:bodyPr>
          <a:lstStyle/>
          <a:p>
            <a:pPr>
              <a:defRPr sz="1500" b="1">
                <a:solidFill>
                  <a:srgbClr val="0B2C56"/>
                </a:solidFill>
              </a:defRPr>
            </a:pPr>
            <a:r>
              <a:t>GIAI ĐOẠN 3 (Tháng 6 trở đi)</a:t>
            </a:r>
          </a:p>
          <a:p>
            <a:pPr>
              <a:spcAft>
                <a:spcPts val="800"/>
              </a:spcAft>
              <a:defRPr sz="1100">
                <a:solidFill>
                  <a:srgbClr val="64748B"/>
                </a:solidFill>
              </a:defRPr>
            </a:pPr>
            <a:r>
              <a:t>BÀN GIAO &amp; KHAI THÁC</a:t>
            </a:r>
          </a:p>
          <a:p>
            <a:pPr>
              <a:spcAft>
                <a:spcPts val="800"/>
              </a:spcAft>
              <a:defRPr sz="1200">
                <a:solidFill>
                  <a:srgbClr val="1E293B"/>
                </a:solidFill>
              </a:defRPr>
            </a:pPr>
            <a:r>
              <a:t>• Đối tác bàn giao toàn bộ mã nguồn, tài liệu hướng dẫn vận hành.</a:t>
            </a:r>
          </a:p>
          <a:p>
            <a:pPr>
              <a:spcAft>
                <a:spcPts val="800"/>
              </a:spcAft>
              <a:defRPr sz="1200">
                <a:solidFill>
                  <a:srgbClr val="1E293B"/>
                </a:solidFill>
              </a:defRPr>
            </a:pPr>
            <a:r>
              <a:t>• Đào tạo chuyển giao công nghệ cho đội ngũ IT Quảng Ngãi làm chủ 100%.</a:t>
            </a:r>
          </a:p>
          <a:p>
            <a:pPr>
              <a:spcAft>
                <a:spcPts val="800"/>
              </a:spcAft>
              <a:defRPr sz="1200">
                <a:solidFill>
                  <a:srgbClr val="1E293B"/>
                </a:solidFill>
              </a:defRPr>
            </a:pPr>
            <a:r>
              <a:t>• Cùng phòng ban xây dựng Dashboard báo cáo quản trị phục vụ Ban Giám đốc.</a:t>
            </a:r>
          </a:p>
          <a:p>
            <a:pPr>
              <a:spcAft>
                <a:spcPts val="800"/>
              </a:spcAft>
              <a:defRPr sz="1200">
                <a:solidFill>
                  <a:srgbClr val="1E293B"/>
                </a:solidFill>
              </a:defRPr>
            </a:pPr>
            <a:r>
              <a:t>• Bảo hành, hỗ trợ kỹ thuật định kỳ.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74320"/>
          </a:xfrm>
          <a:prstGeom prst="rect">
            <a:avLst/>
          </a:prstGeom>
          <a:noFill/>
        </p:spPr>
        <p:txBody>
          <a:bodyPr wrap="square">
            <a:spAutoFit/>
          </a:bodyPr>
          <a:lstStyle/>
          <a:p>
            <a:pPr>
              <a:defRPr sz="1000" b="1">
                <a:solidFill>
                  <a:srgbClr val="BAD7F5"/>
                </a:solidFill>
              </a:defRPr>
            </a:pPr>
            <a:r>
              <a:t>CÁC NỘI DUNG CẦN THÔNG QUA ĐỂ BẮT TAY THỰC HIỆN</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defRPr>
            </a:pPr>
            <a:r>
              <a:t>8. KIẾN NGHỊ &amp; ĐỀ XUẤT BAN GIÁM ĐỐC PHÊ DUYỆT</a:t>
            </a:r>
          </a:p>
        </p:txBody>
      </p:sp>
      <p:sp>
        <p:nvSpPr>
          <p:cNvPr id="5" name="Rectangle 4"/>
          <p:cNvSpPr/>
          <p:nvPr/>
        </p:nvSpPr>
        <p:spPr>
          <a:xfrm>
            <a:off x="0" y="1051560"/>
            <a:ext cx="12191695"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a:spAutoFit/>
          </a:bodyPr>
          <a:lstStyle/>
          <a:p>
            <a:pPr>
              <a:defRPr sz="900">
                <a:solidFill>
                  <a:srgbClr val="64748B"/>
                </a:solidFill>
              </a:defRPr>
            </a:pPr>
            <a:r>
              <a:t>Báo cáo Ban Giám đốc | Nền tảng Dữ liệu (Data Platform) &amp; Trạm trung chuyển dữ liệu</a:t>
            </a:r>
          </a:p>
        </p:txBody>
      </p:sp>
      <p:sp>
        <p:nvSpPr>
          <p:cNvPr id="7" name="Rounded Rectangle 6"/>
          <p:cNvSpPr/>
          <p:nvPr/>
        </p:nvSpPr>
        <p:spPr>
          <a:xfrm>
            <a:off x="731520" y="1371600"/>
            <a:ext cx="10728655" cy="4754880"/>
          </a:xfrm>
          <a:prstGeom prst="roundRect">
            <a:avLst/>
          </a:prstGeom>
          <a:solidFill>
            <a:srgbClr val="FFFFFF"/>
          </a:solidFill>
          <a:ln w="15240">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10362895" cy="4480560"/>
          </a:xfrm>
          <a:prstGeom prst="rect">
            <a:avLst/>
          </a:prstGeom>
          <a:noFill/>
        </p:spPr>
        <p:txBody>
          <a:bodyPr wrap="square">
            <a:spAutoFit/>
          </a:bodyPr>
          <a:lstStyle/>
          <a:p>
            <a:pPr>
              <a:defRPr sz="1500" b="1">
                <a:solidFill>
                  <a:srgbClr val="0B2C56"/>
                </a:solidFill>
              </a:defRPr>
            </a:pPr>
            <a:r>
              <a:t>3 Kiến nghị trọng tâm kính trình Ban Giám đốc</a:t>
            </a:r>
          </a:p>
          <a:p>
            <a:pPr>
              <a:spcAft>
                <a:spcPts val="800"/>
              </a:spcAft>
              <a:defRPr sz="1100">
                <a:solidFill>
                  <a:srgbClr val="64748B"/>
                </a:solidFill>
              </a:defRPr>
            </a:pPr>
            <a:r>
              <a:t>CĂN CỨ VÀ HÀNH ĐỘNG TIẾP THEO</a:t>
            </a:r>
          </a:p>
          <a:p>
            <a:pPr>
              <a:spcAft>
                <a:spcPts val="300"/>
              </a:spcAft>
              <a:defRPr b="1" sz="1300">
                <a:solidFill>
                  <a:srgbClr val="0B2C56"/>
                </a:solidFill>
              </a:defRPr>
            </a:pPr>
            <a:r>
              <a:t>1. PHÊ DUYỆT CHỦ TRƯƠNG TRIỂN KHAI &amp; THÀNH LẬP TỔ CÔNG TÁC DATA PLATFORM:</a:t>
            </a:r>
          </a:p>
          <a:p>
            <a:pPr>
              <a:spcAft>
                <a:spcPts val="1200"/>
              </a:spcAft>
              <a:defRPr sz="1100">
                <a:solidFill>
                  <a:srgbClr val="1E293B"/>
                </a:solidFill>
              </a:defRPr>
            </a:pPr>
            <a:r>
              <a:t>Chấp thuận thành lập Tổ công tác gồm Phòng IT (chủ trì kỹ thuật) và các cán bộ phụ trách dữ liệu (Key users) của Phòng Kế toán, Phòng Thương mại/Vật tư, Phòng HC-NS để tiến hành khảo sát và chuẩn hóa dữ liệu Master Data ngay trong Tháng tới.</a:t>
            </a:r>
          </a:p>
          <a:p>
            <a:pPr>
              <a:spcAft>
                <a:spcPts val="300"/>
              </a:spcAft>
              <a:defRPr b="1" sz="1300">
                <a:solidFill>
                  <a:srgbClr val="0B2C56"/>
                </a:solidFill>
              </a:defRPr>
            </a:pPr>
            <a:r>
              <a:t>2. PHÊ DUYỆT CẤP PHÁT TÀI NGUYÊN HẠ TẦNG NỘI BỘ:</a:t>
            </a:r>
          </a:p>
          <a:p>
            <a:pPr>
              <a:spcAft>
                <a:spcPts val="1200"/>
              </a:spcAft>
              <a:defRPr sz="1100">
                <a:solidFill>
                  <a:srgbClr val="1E293B"/>
                </a:solidFill>
              </a:defRPr>
            </a:pPr>
            <a:r>
              <a:t>Cho phép phòng IT khởi tạo 1 - 2 Máy chủ ảo (Virtual Machine) trên hạ tầng server hiện hữu của đơn vị và phối hợp cùng TCT thiết lập đường truyền mạng bảo mật (VPN) phục vụ làm Trạm trung chuyển dữ liệu.</a:t>
            </a:r>
          </a:p>
          <a:p>
            <a:pPr>
              <a:spcAft>
                <a:spcPts val="300"/>
              </a:spcAft>
              <a:defRPr b="1" sz="1300">
                <a:solidFill>
                  <a:srgbClr val="0B2C56"/>
                </a:solidFill>
              </a:defRPr>
            </a:pPr>
            <a:r>
              <a:t>3. PHÊ DUYỆT CHỦ TRƯƠNG THUÊ NGOÀI VÀ CHO PHÉP LẬP DỰ TOÁN CHI PHÍ:</a:t>
            </a:r>
          </a:p>
          <a:p>
            <a:pPr>
              <a:spcAft>
                <a:spcPts val="1200"/>
              </a:spcAft>
              <a:defRPr sz="1100">
                <a:solidFill>
                  <a:srgbClr val="1E293B"/>
                </a:solidFill>
              </a:defRPr>
            </a:pPr>
            <a:r>
              <a:t>Cho phép tổ công tác liên hệ, khảo sát thị trường và lấy báo giá cạnh tranh từ các đơn vị cung cấp giải pháp Data Engineering uy tín để lập khái toán/dự toán chi tiết trình Ban Giám đốc xem xét phê duyệt trước khi ký kết hợp đồng.</a:t>
            </a:r>
          </a:p>
        </p:txBody>
      </p:sp>
      <p:sp>
        <p:nvSpPr>
          <p:cNvPr id="9" name="Rectangle 8"/>
          <p:cNvSpPr/>
          <p:nvPr/>
        </p:nvSpPr>
        <p:spPr>
          <a:xfrm>
            <a:off x="1097280" y="5303520"/>
            <a:ext cx="9966960" cy="594360"/>
          </a:xfrm>
          <a:prstGeom prst="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92400E"/>
                </a:solidFill>
              </a:defRPr>
            </a:pPr>
            <a:r>
              <a:t>Kính trình Ban Giám đốc xem xét, cho ý kiến chỉ đạo để Đơn vị kịp thời bắt nhịp tiến độ chung của TCT!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