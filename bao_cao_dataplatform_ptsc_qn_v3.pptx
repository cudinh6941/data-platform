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đốc, hôm nay bộ phận CNTT xin báo cáo 4 nội dung trọng tâm theo đúng chỉ đạo số 9: So sánh phương án, kiến trúc trục tích hợp, dự toán chi phí, và kế hoạch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Thưa Ban Giám đốc, đây chính là bức tranh thực tế hàng ngày: 4 phần mềm hoạt động riêng rẽ, không ai nói chuyện được với ai. Hậu quả là BGĐ muốn xem số liệu tổng thể phải chờ các phòng ban ngồi gom file Excel, mất 3-5 ngày, và số liệu thường bị lệch giữa các phòng.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đơn giản, Data Platform giống hệ thống đường ống nước tự động. Trước đây mỗi phòng ban là một cái giếng, muốn dùng nước phải xách xô sang nhau – đó chính là việc copy file Excel qua lại. Giờ Data Platform nối tất cả vào một bể lọc trung tâm, nước sạch tự chảy thẳng tới vòi của Ban Giám đốc mỗi ngày.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Hub-Spoke: TCT là trung tâm đã đầu tư hàng triệu đô xây hạ tầng. Quảng Ngãi là vệ tinh, chỉ cần xây đường ống nối lên là tận dụng được toàn bộ. Rất tiết kiệm — chúng ta không tốn tiền mua Server hay phần mềm phân tích.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TCT đã đi trước 2 năm rồi, xây xong sân ga trung tâm và mở sẵn làn đường cho mình. 2026-2027 là deadline bắt buộc. Nếu chậm, đơn vị bị đánh giá KPI chuyển đổi số kém.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nút thắt: 1 - phần mềm rời rạc không nói chuyện được; 2 - mã danh mục chưa khớp chuẩn TCT nên đẩy lên sẽ bị lỗi; 3 - IT mình chuyên mạng và hạ tầng, chưa từng làm Data Engineering, nếu tự mò mẫm sẽ trễ deadline.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ưu tiên cao theo chỉ đạo: Trục tích hợp hoạt động thế nào. Dữ liệu đi 4 bước: Hút → Chuẩn hóa → Kiểm tra → Mã hóa rồi bơm qua VPN sang Cloud TCT. Quan trọng: Chỉ đọc bản sao, không bao giờ đụng vào phần mềm gốc. An toàn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 Giám đốc hay lo nhất 3 điều: sập phần mềm, lộ dữ liệu, có lỗi ai xử lý. Cả 3 đều được xử lý triệt để: chạy máy riêng, đi đường riêng, tự cảnh báo.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câu hỏi trọng tâm nhất của Ban Giám đốc: Tại sao không nhờ TCT làm luôn? Câu trả lời rất rõ: TCT chỉ xây sân ga, không có người đi vào từng ngõ ngách phần mềm của QN. Nếu chờ TCT thì trễ hạn 2026. Phương án tối ưu là tự thuê NCC dựng trạm theo chuẩn TCT.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Đầu ra rõ ràng: 1 - Ban Giám đốc có Dashboard xem tức thời trên điện thoại; 2 - Hết phụ thuộc Excel thủ công; 3 - Một con số thống nhất toàn công ty; 4 - Hoàn thành đúng chỉ tiêu KPI chuyển đổi số TCT giao.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chi phí khoảng 380 đến 600 triệu. Nhìn có vẻ lớn nhưng so với việc tự mua Cloud Server và bản quyền phần mềm phân tích thì tiết kiệm hàng tỷ đồng. Quan trọng: Giải ngân theo mốc nghiệm thu, không trả 1 cục.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chia 3 bước rõ ràng: Bước 1 nội bộ tự làm hoàn toàn miễn phí trong 2 tháng; Bước 2 mới bắt đầu giải ngân thuê NCC dựng trạm; Bước 3 nghiệm thu và đào tạo để IT làm chủ.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đốc, xin phép tóm gọn 3 đề xuất: Một là chọn phương án 2 phát triển riêng; Hai là thành lập tổ công tác để bắt đầu khảo sát ngay; Ba là cho phép chúng tôi liên hệ các NCC uy tín lấy báo giá trình Sếp duyệt trước khi ký kết. Rất mong Ban Giám đốc ủng hộ!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tôi xin trân trọng cảm ơn và lắng nghe ý kiến chỉ đạo của Ban Giám đốc!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37160" cy="4114800"/>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058400" cy="365760"/>
          </a:xfrm>
          <a:prstGeom prst="rect">
            <a:avLst/>
          </a:prstGeom>
          <a:noFill/>
        </p:spPr>
        <p:txBody>
          <a:bodyPr wrap="square">
            <a:spAutoFit/>
          </a:bodyPr>
          <a:lstStyle/>
          <a:p>
            <a:pPr algn="l">
              <a:defRPr sz="1300" b="1">
                <a:solidFill>
                  <a:srgbClr val="BAD7F5"/>
                </a:solidFill>
              </a:defRPr>
            </a:pPr>
            <a:r>
              <a:t>BÁO CÁO BAN GIÁM ĐỐC  •  THỰC HIỆN CHỈ ĐẠO SỐ 9</a:t>
            </a:r>
          </a:p>
        </p:txBody>
      </p:sp>
      <p:sp>
        <p:nvSpPr>
          <p:cNvPr id="5" name="TextBox 4"/>
          <p:cNvSpPr txBox="1"/>
          <p:nvPr/>
        </p:nvSpPr>
        <p:spPr>
          <a:xfrm>
            <a:off x="1097280" y="1920240"/>
            <a:ext cx="10058400" cy="1371600"/>
          </a:xfrm>
          <a:prstGeom prst="rect">
            <a:avLst/>
          </a:prstGeom>
          <a:noFill/>
        </p:spPr>
        <p:txBody>
          <a:bodyPr wrap="square">
            <a:spAutoFit/>
          </a:bodyPr>
          <a:lstStyle/>
          <a:p>
            <a:pPr algn="l">
              <a:defRPr sz="3200" b="1">
                <a:solidFill>
                  <a:srgbClr val="FFFFFF"/>
                </a:solidFill>
              </a:defRPr>
            </a:pPr>
            <a:r>
              <a:t>DATA PLATFORM</a:t>
            </a:r>
            <a:br/>
            <a:r>
              <a:t>&amp; TRỤC TÍCH HỢP DỮ LIỆU CÔNG TY – TCT</a:t>
            </a:r>
          </a:p>
        </p:txBody>
      </p:sp>
      <p:sp>
        <p:nvSpPr>
          <p:cNvPr id="6" name="TextBox 5"/>
          <p:cNvSpPr txBox="1"/>
          <p:nvPr/>
        </p:nvSpPr>
        <p:spPr>
          <a:xfrm>
            <a:off x="1097280" y="3657600"/>
            <a:ext cx="9144000" cy="731520"/>
          </a:xfrm>
          <a:prstGeom prst="rect">
            <a:avLst/>
          </a:prstGeom>
          <a:noFill/>
        </p:spPr>
        <p:txBody>
          <a:bodyPr wrap="square">
            <a:spAutoFit/>
          </a:bodyPr>
          <a:lstStyle/>
          <a:p>
            <a:pPr algn="l">
              <a:defRPr sz="1400" b="0">
                <a:solidFill>
                  <a:srgbClr val="DCE6F2"/>
                </a:solidFill>
              </a:defRPr>
            </a:pPr>
            <a:r>
              <a:t>So sánh Phương án  •  Kiến trúc Trục tích hợp  •  Dự toán Chi phí  •  Kế hoạch Triển khai</a:t>
            </a:r>
          </a:p>
        </p:txBody>
      </p:sp>
      <p:sp>
        <p:nvSpPr>
          <p:cNvPr id="7" name="TextBox 6"/>
          <p:cNvSpPr txBox="1"/>
          <p:nvPr/>
        </p:nvSpPr>
        <p:spPr>
          <a:xfrm>
            <a:off x="1097280" y="5029200"/>
            <a:ext cx="9144000" cy="365760"/>
          </a:xfrm>
          <a:prstGeom prst="rect">
            <a:avLst/>
          </a:prstGeom>
          <a:noFill/>
        </p:spPr>
        <p:txBody>
          <a:bodyPr wrap="square">
            <a:spAutoFit/>
          </a:bodyPr>
          <a:lstStyle/>
          <a:p>
            <a:pPr algn="l">
              <a:defRPr sz="1250" b="0">
                <a:solidFill>
                  <a:srgbClr val="FFFFFF"/>
                </a:solidFill>
              </a:defRPr>
            </a:pPr>
            <a:r>
              <a:t>Đơn vị: Tổ Công tác CĐS &amp; CNTT – PTSC Quảng Ngãi</a:t>
            </a:r>
          </a:p>
        </p:txBody>
      </p:sp>
      <p:sp>
        <p:nvSpPr>
          <p:cNvPr id="8" name="TextBox 7"/>
          <p:cNvSpPr txBox="1"/>
          <p:nvPr/>
        </p:nvSpPr>
        <p:spPr>
          <a:xfrm>
            <a:off x="1097280" y="5440680"/>
            <a:ext cx="9144000" cy="365760"/>
          </a:xfrm>
          <a:prstGeom prst="rect">
            <a:avLst/>
          </a:prstGeom>
          <a:noFill/>
        </p:spPr>
        <p:txBody>
          <a:bodyPr wrap="square">
            <a:spAutoFit/>
          </a:bodyPr>
          <a:lstStyle/>
          <a:p>
            <a:pPr algn="l">
              <a:defRPr sz="1250" b="1">
                <a:solidFill>
                  <a:srgbClr val="FDE047"/>
                </a:solidFill>
              </a:defRPr>
            </a:pPr>
            <a:r>
              <a:t>Kính trình: Ban Giám đốc Công 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BỐI CẢNH — VẤN ĐỀ CẦN GIẢI QUYẾT</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HIỆN TẠI: DỮ LIỆU ĐANG NẰM RẢI RÁC KHẮP NƠI</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463040"/>
            <a:ext cx="2286000" cy="14630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2286000" cy="548640"/>
          </a:xfrm>
          <a:prstGeom prst="rect">
            <a:avLst/>
          </a:prstGeom>
          <a:noFill/>
        </p:spPr>
        <p:txBody>
          <a:bodyPr wrap="square">
            <a:spAutoFit/>
          </a:bodyPr>
          <a:lstStyle/>
          <a:p>
            <a:pPr algn="ctr">
              <a:defRPr sz="3600" b="0">
                <a:solidFill>
                  <a:srgbClr val="1A2639"/>
                </a:solidFill>
              </a:defRPr>
            </a:pPr>
            <a:r>
              <a:t>💰</a:t>
            </a:r>
          </a:p>
        </p:txBody>
      </p:sp>
      <p:sp>
        <p:nvSpPr>
          <p:cNvPr id="9" name="TextBox 8"/>
          <p:cNvSpPr txBox="1"/>
          <p:nvPr/>
        </p:nvSpPr>
        <p:spPr>
          <a:xfrm>
            <a:off x="822960" y="2194560"/>
            <a:ext cx="2103120" cy="548640"/>
          </a:xfrm>
          <a:prstGeom prst="rect">
            <a:avLst/>
          </a:prstGeom>
          <a:noFill/>
        </p:spPr>
        <p:txBody>
          <a:bodyPr wrap="square">
            <a:spAutoFit/>
          </a:bodyPr>
          <a:lstStyle/>
          <a:p>
            <a:pPr algn="ctr">
              <a:defRPr sz="1200" b="1">
                <a:solidFill>
                  <a:srgbClr val="005FCC"/>
                </a:solidFill>
              </a:defRPr>
            </a:pPr>
            <a:r>
              <a:t>Phần mềm</a:t>
            </a:r>
            <a:br/>
            <a:r>
              <a:t>KẾ TOÁN</a:t>
            </a:r>
          </a:p>
          <a:p>
            <a:pPr algn="ctr">
              <a:defRPr sz="1000">
                <a:solidFill>
                  <a:srgbClr val="64748B"/>
                </a:solidFill>
              </a:defRPr>
            </a:pPr>
            <a:r>
              <a:t>Dữ liệu tài chính</a:t>
            </a:r>
          </a:p>
        </p:txBody>
      </p:sp>
      <p:sp>
        <p:nvSpPr>
          <p:cNvPr id="10" name="Rounded Rectangle 9"/>
          <p:cNvSpPr/>
          <p:nvPr/>
        </p:nvSpPr>
        <p:spPr>
          <a:xfrm>
            <a:off x="3383280" y="1463040"/>
            <a:ext cx="2286000" cy="14630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600200"/>
            <a:ext cx="2286000" cy="548640"/>
          </a:xfrm>
          <a:prstGeom prst="rect">
            <a:avLst/>
          </a:prstGeom>
          <a:noFill/>
        </p:spPr>
        <p:txBody>
          <a:bodyPr wrap="square">
            <a:spAutoFit/>
          </a:bodyPr>
          <a:lstStyle/>
          <a:p>
            <a:pPr algn="ctr">
              <a:defRPr sz="3600" b="0">
                <a:solidFill>
                  <a:srgbClr val="1A2639"/>
                </a:solidFill>
              </a:defRPr>
            </a:pPr>
            <a:r>
              <a:t>👷</a:t>
            </a:r>
          </a:p>
        </p:txBody>
      </p:sp>
      <p:sp>
        <p:nvSpPr>
          <p:cNvPr id="12" name="TextBox 11"/>
          <p:cNvSpPr txBox="1"/>
          <p:nvPr/>
        </p:nvSpPr>
        <p:spPr>
          <a:xfrm>
            <a:off x="3474720" y="2194560"/>
            <a:ext cx="2103120" cy="548640"/>
          </a:xfrm>
          <a:prstGeom prst="rect">
            <a:avLst/>
          </a:prstGeom>
          <a:noFill/>
        </p:spPr>
        <p:txBody>
          <a:bodyPr wrap="square">
            <a:spAutoFit/>
          </a:bodyPr>
          <a:lstStyle/>
          <a:p>
            <a:pPr algn="ctr">
              <a:defRPr sz="1200" b="1">
                <a:solidFill>
                  <a:srgbClr val="005FCC"/>
                </a:solidFill>
              </a:defRPr>
            </a:pPr>
            <a:r>
              <a:t>Phần mềm</a:t>
            </a:r>
            <a:br/>
            <a:r>
              <a:t>NHÂN SỰ</a:t>
            </a:r>
          </a:p>
          <a:p>
            <a:pPr algn="ctr">
              <a:defRPr sz="1000">
                <a:solidFill>
                  <a:srgbClr val="64748B"/>
                </a:solidFill>
              </a:defRPr>
            </a:pPr>
            <a:r>
              <a:t>Dữ liệu nhân viên</a:t>
            </a:r>
          </a:p>
        </p:txBody>
      </p:sp>
      <p:sp>
        <p:nvSpPr>
          <p:cNvPr id="13" name="Rounded Rectangle 12"/>
          <p:cNvSpPr/>
          <p:nvPr/>
        </p:nvSpPr>
        <p:spPr>
          <a:xfrm>
            <a:off x="6035040" y="1463040"/>
            <a:ext cx="2286000" cy="14630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1600200"/>
            <a:ext cx="2286000" cy="548640"/>
          </a:xfrm>
          <a:prstGeom prst="rect">
            <a:avLst/>
          </a:prstGeom>
          <a:noFill/>
        </p:spPr>
        <p:txBody>
          <a:bodyPr wrap="square">
            <a:spAutoFit/>
          </a:bodyPr>
          <a:lstStyle/>
          <a:p>
            <a:pPr algn="ctr">
              <a:defRPr sz="3600" b="0">
                <a:solidFill>
                  <a:srgbClr val="1A2639"/>
                </a:solidFill>
              </a:defRPr>
            </a:pPr>
            <a:r>
              <a:t>🔧</a:t>
            </a:r>
          </a:p>
        </p:txBody>
      </p:sp>
      <p:sp>
        <p:nvSpPr>
          <p:cNvPr id="15" name="TextBox 14"/>
          <p:cNvSpPr txBox="1"/>
          <p:nvPr/>
        </p:nvSpPr>
        <p:spPr>
          <a:xfrm>
            <a:off x="6126480" y="2194560"/>
            <a:ext cx="2103120" cy="548640"/>
          </a:xfrm>
          <a:prstGeom prst="rect">
            <a:avLst/>
          </a:prstGeom>
          <a:noFill/>
        </p:spPr>
        <p:txBody>
          <a:bodyPr wrap="square">
            <a:spAutoFit/>
          </a:bodyPr>
          <a:lstStyle/>
          <a:p>
            <a:pPr algn="ctr">
              <a:defRPr sz="1200" b="1">
                <a:solidFill>
                  <a:srgbClr val="005FCC"/>
                </a:solidFill>
              </a:defRPr>
            </a:pPr>
            <a:r>
              <a:t>Phần mềm</a:t>
            </a:r>
            <a:br/>
            <a:r>
              <a:t>VẬT TƯ</a:t>
            </a:r>
          </a:p>
          <a:p>
            <a:pPr algn="ctr">
              <a:defRPr sz="1000">
                <a:solidFill>
                  <a:srgbClr val="64748B"/>
                </a:solidFill>
              </a:defRPr>
            </a:pPr>
            <a:r>
              <a:t>Dữ liệu tồn kho</a:t>
            </a:r>
          </a:p>
        </p:txBody>
      </p:sp>
      <p:sp>
        <p:nvSpPr>
          <p:cNvPr id="16" name="Rounded Rectangle 15"/>
          <p:cNvSpPr/>
          <p:nvPr/>
        </p:nvSpPr>
        <p:spPr>
          <a:xfrm>
            <a:off x="8686800" y="1463040"/>
            <a:ext cx="2286000" cy="14630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1600200"/>
            <a:ext cx="2286000" cy="548640"/>
          </a:xfrm>
          <a:prstGeom prst="rect">
            <a:avLst/>
          </a:prstGeom>
          <a:noFill/>
        </p:spPr>
        <p:txBody>
          <a:bodyPr wrap="square">
            <a:spAutoFit/>
          </a:bodyPr>
          <a:lstStyle/>
          <a:p>
            <a:pPr algn="ctr">
              <a:defRPr sz="3600" b="0">
                <a:solidFill>
                  <a:srgbClr val="1A2639"/>
                </a:solidFill>
              </a:defRPr>
            </a:pPr>
            <a:r>
              <a:t>📋</a:t>
            </a:r>
          </a:p>
        </p:txBody>
      </p:sp>
      <p:sp>
        <p:nvSpPr>
          <p:cNvPr id="18" name="TextBox 17"/>
          <p:cNvSpPr txBox="1"/>
          <p:nvPr/>
        </p:nvSpPr>
        <p:spPr>
          <a:xfrm>
            <a:off x="8778240" y="2194560"/>
            <a:ext cx="2103120" cy="548640"/>
          </a:xfrm>
          <a:prstGeom prst="rect">
            <a:avLst/>
          </a:prstGeom>
          <a:noFill/>
        </p:spPr>
        <p:txBody>
          <a:bodyPr wrap="square">
            <a:spAutoFit/>
          </a:bodyPr>
          <a:lstStyle/>
          <a:p>
            <a:pPr algn="ctr">
              <a:defRPr sz="1200" b="1">
                <a:solidFill>
                  <a:srgbClr val="005FCC"/>
                </a:solidFill>
              </a:defRPr>
            </a:pPr>
            <a:r>
              <a:t>Quản lý</a:t>
            </a:r>
            <a:br/>
            <a:r>
              <a:t>DỰ ÁN</a:t>
            </a:r>
          </a:p>
          <a:p>
            <a:pPr algn="ctr">
              <a:defRPr sz="1000">
                <a:solidFill>
                  <a:srgbClr val="64748B"/>
                </a:solidFill>
              </a:defRPr>
            </a:pPr>
            <a:r>
              <a:t>Dữ liệu hợp đồng</a:t>
            </a:r>
          </a:p>
        </p:txBody>
      </p:sp>
      <p:sp>
        <p:nvSpPr>
          <p:cNvPr id="19" name="TextBox 18"/>
          <p:cNvSpPr txBox="1"/>
          <p:nvPr/>
        </p:nvSpPr>
        <p:spPr>
          <a:xfrm>
            <a:off x="2788920" y="1965960"/>
            <a:ext cx="548640" cy="457200"/>
          </a:xfrm>
          <a:prstGeom prst="rect">
            <a:avLst/>
          </a:prstGeom>
          <a:noFill/>
        </p:spPr>
        <p:txBody>
          <a:bodyPr wrap="square">
            <a:spAutoFit/>
          </a:bodyPr>
          <a:lstStyle/>
          <a:p>
            <a:pPr algn="ctr">
              <a:defRPr sz="2400" b="1">
                <a:solidFill>
                  <a:srgbClr val="D13535"/>
                </a:solidFill>
              </a:defRPr>
            </a:pPr>
            <a:r>
              <a:t>✕</a:t>
            </a:r>
          </a:p>
        </p:txBody>
      </p:sp>
      <p:sp>
        <p:nvSpPr>
          <p:cNvPr id="20" name="TextBox 19"/>
          <p:cNvSpPr txBox="1"/>
          <p:nvPr/>
        </p:nvSpPr>
        <p:spPr>
          <a:xfrm>
            <a:off x="5440679" y="1965960"/>
            <a:ext cx="548640" cy="457200"/>
          </a:xfrm>
          <a:prstGeom prst="rect">
            <a:avLst/>
          </a:prstGeom>
          <a:noFill/>
        </p:spPr>
        <p:txBody>
          <a:bodyPr wrap="square">
            <a:spAutoFit/>
          </a:bodyPr>
          <a:lstStyle/>
          <a:p>
            <a:pPr algn="ctr">
              <a:defRPr sz="2400" b="1">
                <a:solidFill>
                  <a:srgbClr val="D13535"/>
                </a:solidFill>
              </a:defRPr>
            </a:pPr>
            <a:r>
              <a:t>✕</a:t>
            </a:r>
          </a:p>
        </p:txBody>
      </p:sp>
      <p:sp>
        <p:nvSpPr>
          <p:cNvPr id="21" name="TextBox 20"/>
          <p:cNvSpPr txBox="1"/>
          <p:nvPr/>
        </p:nvSpPr>
        <p:spPr>
          <a:xfrm>
            <a:off x="8092440" y="1965960"/>
            <a:ext cx="548640" cy="457200"/>
          </a:xfrm>
          <a:prstGeom prst="rect">
            <a:avLst/>
          </a:prstGeom>
          <a:noFill/>
        </p:spPr>
        <p:txBody>
          <a:bodyPr wrap="square">
            <a:spAutoFit/>
          </a:bodyPr>
          <a:lstStyle/>
          <a:p>
            <a:pPr algn="ctr">
              <a:defRPr sz="2400" b="1">
                <a:solidFill>
                  <a:srgbClr val="D13535"/>
                </a:solidFill>
              </a:defRPr>
            </a:pPr>
            <a:r>
              <a:t>✕</a:t>
            </a:r>
          </a:p>
        </p:txBody>
      </p:sp>
      <p:sp>
        <p:nvSpPr>
          <p:cNvPr id="22" name="TextBox 21"/>
          <p:cNvSpPr txBox="1"/>
          <p:nvPr/>
        </p:nvSpPr>
        <p:spPr>
          <a:xfrm>
            <a:off x="731520" y="3291840"/>
            <a:ext cx="10698480" cy="365760"/>
          </a:xfrm>
          <a:prstGeom prst="rect">
            <a:avLst/>
          </a:prstGeom>
          <a:noFill/>
        </p:spPr>
        <p:txBody>
          <a:bodyPr wrap="square">
            <a:spAutoFit/>
          </a:bodyPr>
          <a:lstStyle/>
          <a:p>
            <a:pPr algn="l">
              <a:defRPr sz="1500" b="1">
                <a:solidFill>
                  <a:srgbClr val="D13535"/>
                </a:solidFill>
              </a:defRPr>
            </a:pPr>
            <a:r>
              <a:t>HẬU QUẢ NHÌN THẤY MỖI NGÀY:</a:t>
            </a:r>
          </a:p>
        </p:txBody>
      </p:sp>
      <p:sp>
        <p:nvSpPr>
          <p:cNvPr id="23" name="Rounded Rectangle 22"/>
          <p:cNvSpPr/>
          <p:nvPr/>
        </p:nvSpPr>
        <p:spPr>
          <a:xfrm>
            <a:off x="731520" y="3840480"/>
            <a:ext cx="2468880" cy="210312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977640"/>
            <a:ext cx="2468880" cy="548640"/>
          </a:xfrm>
          <a:prstGeom prst="rect">
            <a:avLst/>
          </a:prstGeom>
          <a:noFill/>
        </p:spPr>
        <p:txBody>
          <a:bodyPr wrap="square">
            <a:spAutoFit/>
          </a:bodyPr>
          <a:lstStyle/>
          <a:p>
            <a:pPr algn="ctr">
              <a:defRPr sz="3000" b="0">
                <a:solidFill>
                  <a:srgbClr val="1A2639"/>
                </a:solidFill>
              </a:defRPr>
            </a:pPr>
            <a:r>
              <a:t>⏳</a:t>
            </a:r>
          </a:p>
        </p:txBody>
      </p:sp>
      <p:sp>
        <p:nvSpPr>
          <p:cNvPr id="25" name="TextBox 24"/>
          <p:cNvSpPr txBox="1"/>
          <p:nvPr/>
        </p:nvSpPr>
        <p:spPr>
          <a:xfrm>
            <a:off x="822960" y="4572000"/>
            <a:ext cx="2286000" cy="548640"/>
          </a:xfrm>
          <a:prstGeom prst="rect">
            <a:avLst/>
          </a:prstGeom>
          <a:noFill/>
        </p:spPr>
        <p:txBody>
          <a:bodyPr wrap="square">
            <a:spAutoFit/>
          </a:bodyPr>
          <a:lstStyle/>
          <a:p>
            <a:pPr algn="ctr">
              <a:defRPr sz="1150" b="1">
                <a:solidFill>
                  <a:srgbClr val="D13535"/>
                </a:solidFill>
              </a:defRPr>
            </a:pPr>
            <a:r>
              <a:t>Chậm trễ báo cáo</a:t>
            </a:r>
          </a:p>
          <a:p>
            <a:pPr algn="ctr">
              <a:defRPr sz="1000">
                <a:solidFill>
                  <a:srgbClr val="64748B"/>
                </a:solidFill>
              </a:defRPr>
            </a:pPr>
            <a:r>
              <a:t>Phòng ban mất 3-5 ngày</a:t>
            </a:r>
            <a:br/>
            <a:r>
              <a:t>tổng hợp số liệu thủ công</a:t>
            </a:r>
          </a:p>
        </p:txBody>
      </p:sp>
      <p:sp>
        <p:nvSpPr>
          <p:cNvPr id="26" name="Rounded Rectangle 25"/>
          <p:cNvSpPr/>
          <p:nvPr/>
        </p:nvSpPr>
        <p:spPr>
          <a:xfrm>
            <a:off x="3520439" y="3840480"/>
            <a:ext cx="2468880" cy="210312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0439" y="3977640"/>
            <a:ext cx="2468880" cy="548640"/>
          </a:xfrm>
          <a:prstGeom prst="rect">
            <a:avLst/>
          </a:prstGeom>
          <a:noFill/>
        </p:spPr>
        <p:txBody>
          <a:bodyPr wrap="square">
            <a:spAutoFit/>
          </a:bodyPr>
          <a:lstStyle/>
          <a:p>
            <a:pPr algn="ctr">
              <a:defRPr sz="3000" b="0">
                <a:solidFill>
                  <a:srgbClr val="1A2639"/>
                </a:solidFill>
              </a:defRPr>
            </a:pPr>
            <a:r>
              <a:t>⚠️</a:t>
            </a:r>
          </a:p>
        </p:txBody>
      </p:sp>
      <p:sp>
        <p:nvSpPr>
          <p:cNvPr id="28" name="TextBox 27"/>
          <p:cNvSpPr txBox="1"/>
          <p:nvPr/>
        </p:nvSpPr>
        <p:spPr>
          <a:xfrm>
            <a:off x="3611879" y="4572000"/>
            <a:ext cx="2286000" cy="548640"/>
          </a:xfrm>
          <a:prstGeom prst="rect">
            <a:avLst/>
          </a:prstGeom>
          <a:noFill/>
        </p:spPr>
        <p:txBody>
          <a:bodyPr wrap="square">
            <a:spAutoFit/>
          </a:bodyPr>
          <a:lstStyle/>
          <a:p>
            <a:pPr algn="ctr">
              <a:defRPr sz="1150" b="1">
                <a:solidFill>
                  <a:srgbClr val="D13535"/>
                </a:solidFill>
              </a:defRPr>
            </a:pPr>
            <a:r>
              <a:t>Số liệu vênh nhau</a:t>
            </a:r>
          </a:p>
          <a:p>
            <a:pPr algn="ctr">
              <a:defRPr sz="1000">
                <a:solidFill>
                  <a:srgbClr val="64748B"/>
                </a:solidFill>
              </a:defRPr>
            </a:pPr>
            <a:r>
              <a:t>Kế toán báo 1 số,</a:t>
            </a:r>
            <a:br/>
            <a:r>
              <a:t>Vật tư báo số khác</a:t>
            </a:r>
          </a:p>
        </p:txBody>
      </p:sp>
      <p:sp>
        <p:nvSpPr>
          <p:cNvPr id="29" name="Rounded Rectangle 28"/>
          <p:cNvSpPr/>
          <p:nvPr/>
        </p:nvSpPr>
        <p:spPr>
          <a:xfrm>
            <a:off x="6309359" y="3840480"/>
            <a:ext cx="2468880" cy="210312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59" y="3977640"/>
            <a:ext cx="2468880" cy="548640"/>
          </a:xfrm>
          <a:prstGeom prst="rect">
            <a:avLst/>
          </a:prstGeom>
          <a:noFill/>
        </p:spPr>
        <p:txBody>
          <a:bodyPr wrap="square">
            <a:spAutoFit/>
          </a:bodyPr>
          <a:lstStyle/>
          <a:p>
            <a:pPr algn="ctr">
              <a:defRPr sz="3000" b="0">
                <a:solidFill>
                  <a:srgbClr val="1A2639"/>
                </a:solidFill>
              </a:defRPr>
            </a:pPr>
            <a:r>
              <a:t>📊</a:t>
            </a:r>
          </a:p>
        </p:txBody>
      </p:sp>
      <p:sp>
        <p:nvSpPr>
          <p:cNvPr id="31" name="TextBox 30"/>
          <p:cNvSpPr txBox="1"/>
          <p:nvPr/>
        </p:nvSpPr>
        <p:spPr>
          <a:xfrm>
            <a:off x="6400799" y="4572000"/>
            <a:ext cx="2286000" cy="548640"/>
          </a:xfrm>
          <a:prstGeom prst="rect">
            <a:avLst/>
          </a:prstGeom>
          <a:noFill/>
        </p:spPr>
        <p:txBody>
          <a:bodyPr wrap="square">
            <a:spAutoFit/>
          </a:bodyPr>
          <a:lstStyle/>
          <a:p>
            <a:pPr algn="ctr">
              <a:defRPr sz="1150" b="1">
                <a:solidFill>
                  <a:srgbClr val="D13535"/>
                </a:solidFill>
              </a:defRPr>
            </a:pPr>
            <a:r>
              <a:t>Excel chồng Excel</a:t>
            </a:r>
          </a:p>
          <a:p>
            <a:pPr algn="ctr">
              <a:defRPr sz="1000">
                <a:solidFill>
                  <a:srgbClr val="64748B"/>
                </a:solidFill>
              </a:defRPr>
            </a:pPr>
            <a:r>
              <a:t>Copy-paste qua lại,</a:t>
            </a:r>
            <a:br/>
            <a:r>
              <a:t>dễ sai, khó kiểm soát</a:t>
            </a:r>
          </a:p>
        </p:txBody>
      </p:sp>
      <p:sp>
        <p:nvSpPr>
          <p:cNvPr id="32" name="Rounded Rectangle 31"/>
          <p:cNvSpPr/>
          <p:nvPr/>
        </p:nvSpPr>
        <p:spPr>
          <a:xfrm>
            <a:off x="9098280" y="3840480"/>
            <a:ext cx="2468880" cy="210312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98280" y="3977640"/>
            <a:ext cx="2468880" cy="548640"/>
          </a:xfrm>
          <a:prstGeom prst="rect">
            <a:avLst/>
          </a:prstGeom>
          <a:noFill/>
        </p:spPr>
        <p:txBody>
          <a:bodyPr wrap="square">
            <a:spAutoFit/>
          </a:bodyPr>
          <a:lstStyle/>
          <a:p>
            <a:pPr algn="ctr">
              <a:defRPr sz="3000" b="0">
                <a:solidFill>
                  <a:srgbClr val="1A2639"/>
                </a:solidFill>
              </a:defRPr>
            </a:pPr>
            <a:r>
              <a:t>🔒</a:t>
            </a:r>
          </a:p>
        </p:txBody>
      </p:sp>
      <p:sp>
        <p:nvSpPr>
          <p:cNvPr id="34" name="TextBox 33"/>
          <p:cNvSpPr txBox="1"/>
          <p:nvPr/>
        </p:nvSpPr>
        <p:spPr>
          <a:xfrm>
            <a:off x="9189720" y="4572000"/>
            <a:ext cx="2286000" cy="548640"/>
          </a:xfrm>
          <a:prstGeom prst="rect">
            <a:avLst/>
          </a:prstGeom>
          <a:noFill/>
        </p:spPr>
        <p:txBody>
          <a:bodyPr wrap="square">
            <a:spAutoFit/>
          </a:bodyPr>
          <a:lstStyle/>
          <a:p>
            <a:pPr algn="ctr">
              <a:defRPr sz="1150" b="1">
                <a:solidFill>
                  <a:srgbClr val="D13535"/>
                </a:solidFill>
              </a:defRPr>
            </a:pPr>
            <a:r>
              <a:t>Không ai nhìn được</a:t>
            </a:r>
            <a:br/>
            <a:r>
              <a:t>toàn cảnh</a:t>
            </a:r>
          </a:p>
          <a:p>
            <a:pPr algn="ctr">
              <a:defRPr sz="1000">
                <a:solidFill>
                  <a:srgbClr val="64748B"/>
                </a:solidFill>
              </a:defRPr>
            </a:pPr>
            <a:r>
              <a:t>BGĐ muốn xem tổng thể</a:t>
            </a:r>
            <a:br/>
            <a:r>
              <a:t>phải chờ rất lâu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KHÁI NIỆM — GIẢI THÍCH ĐƠN GIẢN CHO LÃNH ĐẠO</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DATA PLATFORM = "HỆ THỐNG ĐƯỜNG ỐNG NƯỚC" CHO DỮ LIỆU</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371600"/>
            <a:ext cx="5029200" cy="4754880"/>
          </a:xfrm>
          <a:prstGeom prst="roundRect">
            <a:avLst/>
          </a:prstGeom>
          <a:solidFill>
            <a:srgbClr val="F1F5F9"/>
          </a:solidFill>
          <a:ln w="25400">
            <a:solidFill>
              <a:srgbClr val="DC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5029200" cy="365760"/>
          </a:xfrm>
          <a:prstGeom prst="rect">
            <a:avLst/>
          </a:prstGeom>
          <a:noFill/>
        </p:spPr>
        <p:txBody>
          <a:bodyPr wrap="square">
            <a:spAutoFit/>
          </a:bodyPr>
          <a:lstStyle/>
          <a:p>
            <a:pPr algn="ctr">
              <a:defRPr sz="1400" b="1">
                <a:solidFill>
                  <a:srgbClr val="D13535"/>
                </a:solidFill>
              </a:defRPr>
            </a:pPr>
            <a:r>
              <a:t>❌  TRƯỚC ĐÂY (Không có đường ống)</a:t>
            </a:r>
          </a:p>
        </p:txBody>
      </p:sp>
      <p:sp>
        <p:nvSpPr>
          <p:cNvPr id="9" name="Rounded Rectangle 8"/>
          <p:cNvSpPr/>
          <p:nvPr/>
        </p:nvSpPr>
        <p:spPr>
          <a:xfrm>
            <a:off x="1097280" y="2011680"/>
            <a:ext cx="1280160" cy="109728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48840"/>
            <a:ext cx="1280160" cy="548640"/>
          </a:xfrm>
          <a:prstGeom prst="rect">
            <a:avLst/>
          </a:prstGeom>
          <a:noFill/>
        </p:spPr>
        <p:txBody>
          <a:bodyPr wrap="square">
            <a:spAutoFit/>
          </a:bodyPr>
          <a:lstStyle/>
          <a:p>
            <a:pPr algn="ctr">
              <a:defRPr sz="2400" b="0">
                <a:solidFill>
                  <a:srgbClr val="1A2639"/>
                </a:solidFill>
              </a:defRPr>
            </a:pPr>
            <a:r>
              <a:t>💰</a:t>
            </a:r>
          </a:p>
        </p:txBody>
      </p:sp>
      <p:sp>
        <p:nvSpPr>
          <p:cNvPr id="11" name="TextBox 10"/>
          <p:cNvSpPr txBox="1"/>
          <p:nvPr/>
        </p:nvSpPr>
        <p:spPr>
          <a:xfrm>
            <a:off x="1188720" y="2743200"/>
            <a:ext cx="1097280" cy="548640"/>
          </a:xfrm>
          <a:prstGeom prst="rect">
            <a:avLst/>
          </a:prstGeom>
          <a:noFill/>
        </p:spPr>
        <p:txBody>
          <a:bodyPr wrap="square">
            <a:spAutoFit/>
          </a:bodyPr>
          <a:lstStyle/>
          <a:p>
            <a:pPr algn="ctr">
              <a:defRPr sz="900" b="1">
                <a:solidFill>
                  <a:srgbClr val="D13535"/>
                </a:solidFill>
              </a:defRPr>
            </a:pPr>
            <a:r>
              <a:t>Kế toán</a:t>
            </a:r>
          </a:p>
        </p:txBody>
      </p:sp>
      <p:sp>
        <p:nvSpPr>
          <p:cNvPr id="12" name="Rounded Rectangle 11"/>
          <p:cNvSpPr/>
          <p:nvPr/>
        </p:nvSpPr>
        <p:spPr>
          <a:xfrm>
            <a:off x="3108960" y="2011680"/>
            <a:ext cx="1280160" cy="109728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2148840"/>
            <a:ext cx="1280160" cy="548640"/>
          </a:xfrm>
          <a:prstGeom prst="rect">
            <a:avLst/>
          </a:prstGeom>
          <a:noFill/>
        </p:spPr>
        <p:txBody>
          <a:bodyPr wrap="square">
            <a:spAutoFit/>
          </a:bodyPr>
          <a:lstStyle/>
          <a:p>
            <a:pPr algn="ctr">
              <a:defRPr sz="2400" b="0">
                <a:solidFill>
                  <a:srgbClr val="1A2639"/>
                </a:solidFill>
              </a:defRPr>
            </a:pPr>
            <a:r>
              <a:t>👷</a:t>
            </a:r>
          </a:p>
        </p:txBody>
      </p:sp>
      <p:sp>
        <p:nvSpPr>
          <p:cNvPr id="14" name="TextBox 13"/>
          <p:cNvSpPr txBox="1"/>
          <p:nvPr/>
        </p:nvSpPr>
        <p:spPr>
          <a:xfrm>
            <a:off x="3200400" y="2743200"/>
            <a:ext cx="1097280" cy="548640"/>
          </a:xfrm>
          <a:prstGeom prst="rect">
            <a:avLst/>
          </a:prstGeom>
          <a:noFill/>
        </p:spPr>
        <p:txBody>
          <a:bodyPr wrap="square">
            <a:spAutoFit/>
          </a:bodyPr>
          <a:lstStyle/>
          <a:p>
            <a:pPr algn="ctr">
              <a:defRPr sz="900" b="1">
                <a:solidFill>
                  <a:srgbClr val="D13535"/>
                </a:solidFill>
              </a:defRPr>
            </a:pPr>
            <a:r>
              <a:t>Nhân sự</a:t>
            </a:r>
          </a:p>
        </p:txBody>
      </p:sp>
      <p:sp>
        <p:nvSpPr>
          <p:cNvPr id="15" name="Rounded Rectangle 14"/>
          <p:cNvSpPr/>
          <p:nvPr/>
        </p:nvSpPr>
        <p:spPr>
          <a:xfrm>
            <a:off x="4572000" y="2011680"/>
            <a:ext cx="1280160" cy="109728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148840"/>
            <a:ext cx="1280160" cy="548640"/>
          </a:xfrm>
          <a:prstGeom prst="rect">
            <a:avLst/>
          </a:prstGeom>
          <a:noFill/>
        </p:spPr>
        <p:txBody>
          <a:bodyPr wrap="square">
            <a:spAutoFit/>
          </a:bodyPr>
          <a:lstStyle/>
          <a:p>
            <a:pPr algn="ctr">
              <a:defRPr sz="2400" b="0">
                <a:solidFill>
                  <a:srgbClr val="1A2639"/>
                </a:solidFill>
              </a:defRPr>
            </a:pPr>
            <a:r>
              <a:t>🔧</a:t>
            </a:r>
          </a:p>
        </p:txBody>
      </p:sp>
      <p:sp>
        <p:nvSpPr>
          <p:cNvPr id="17" name="TextBox 16"/>
          <p:cNvSpPr txBox="1"/>
          <p:nvPr/>
        </p:nvSpPr>
        <p:spPr>
          <a:xfrm>
            <a:off x="4663440" y="2743200"/>
            <a:ext cx="1097280" cy="548640"/>
          </a:xfrm>
          <a:prstGeom prst="rect">
            <a:avLst/>
          </a:prstGeom>
          <a:noFill/>
        </p:spPr>
        <p:txBody>
          <a:bodyPr wrap="square">
            <a:spAutoFit/>
          </a:bodyPr>
          <a:lstStyle/>
          <a:p>
            <a:pPr algn="ctr">
              <a:defRPr sz="900" b="1">
                <a:solidFill>
                  <a:srgbClr val="D13535"/>
                </a:solidFill>
              </a:defRPr>
            </a:pPr>
            <a:r>
              <a:t>Vật tư</a:t>
            </a:r>
          </a:p>
        </p:txBody>
      </p:sp>
      <p:sp>
        <p:nvSpPr>
          <p:cNvPr id="18" name="Rounded Rectangle 17"/>
          <p:cNvSpPr/>
          <p:nvPr/>
        </p:nvSpPr>
        <p:spPr>
          <a:xfrm>
            <a:off x="2103120" y="3931920"/>
            <a:ext cx="1280160" cy="109728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03120" y="4069080"/>
            <a:ext cx="1280160" cy="548640"/>
          </a:xfrm>
          <a:prstGeom prst="rect">
            <a:avLst/>
          </a:prstGeom>
          <a:noFill/>
        </p:spPr>
        <p:txBody>
          <a:bodyPr wrap="square">
            <a:spAutoFit/>
          </a:bodyPr>
          <a:lstStyle/>
          <a:p>
            <a:pPr algn="ctr">
              <a:defRPr sz="2400" b="0">
                <a:solidFill>
                  <a:srgbClr val="1A2639"/>
                </a:solidFill>
              </a:defRPr>
            </a:pPr>
            <a:r>
              <a:t>📋</a:t>
            </a:r>
          </a:p>
        </p:txBody>
      </p:sp>
      <p:sp>
        <p:nvSpPr>
          <p:cNvPr id="20" name="TextBox 19"/>
          <p:cNvSpPr txBox="1"/>
          <p:nvPr/>
        </p:nvSpPr>
        <p:spPr>
          <a:xfrm>
            <a:off x="2194560" y="4663440"/>
            <a:ext cx="1097280" cy="548640"/>
          </a:xfrm>
          <a:prstGeom prst="rect">
            <a:avLst/>
          </a:prstGeom>
          <a:noFill/>
        </p:spPr>
        <p:txBody>
          <a:bodyPr wrap="square">
            <a:spAutoFit/>
          </a:bodyPr>
          <a:lstStyle/>
          <a:p>
            <a:pPr algn="ctr">
              <a:defRPr sz="900" b="1">
                <a:solidFill>
                  <a:srgbClr val="D13535"/>
                </a:solidFill>
              </a:defRPr>
            </a:pPr>
            <a:r>
              <a:t>Dự án</a:t>
            </a:r>
          </a:p>
        </p:txBody>
      </p:sp>
      <p:sp>
        <p:nvSpPr>
          <p:cNvPr id="21" name="TextBox 20"/>
          <p:cNvSpPr txBox="1"/>
          <p:nvPr/>
        </p:nvSpPr>
        <p:spPr>
          <a:xfrm>
            <a:off x="914400" y="5029200"/>
            <a:ext cx="4572000" cy="914400"/>
          </a:xfrm>
          <a:prstGeom prst="rect">
            <a:avLst/>
          </a:prstGeom>
          <a:noFill/>
        </p:spPr>
        <p:txBody>
          <a:bodyPr wrap="square">
            <a:spAutoFit/>
          </a:bodyPr>
          <a:lstStyle/>
          <a:p>
            <a:pPr algn="ctr">
              <a:defRPr sz="1200" b="0">
                <a:solidFill>
                  <a:srgbClr val="D13535"/>
                </a:solidFill>
              </a:defRPr>
            </a:pPr>
            <a:r>
              <a:t>Mỗi phòng tự "xách xô" (Excel)</a:t>
            </a:r>
            <a:br/>
            <a:r>
              <a:t>qua lại → Chậm, sai, mệt</a:t>
            </a:r>
          </a:p>
        </p:txBody>
      </p:sp>
      <p:sp>
        <p:nvSpPr>
          <p:cNvPr id="22" name="Right Arrow 21"/>
          <p:cNvSpPr/>
          <p:nvPr/>
        </p:nvSpPr>
        <p:spPr>
          <a:xfrm>
            <a:off x="5943600" y="3291840"/>
            <a:ext cx="640080" cy="36576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766560" y="1371600"/>
            <a:ext cx="4663440" cy="4754880"/>
          </a:xfrm>
          <a:prstGeom prst="roundRect">
            <a:avLst/>
          </a:prstGeom>
          <a:solidFill>
            <a:srgbClr val="DCFCE7"/>
          </a:solidFill>
          <a:ln w="254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1417320"/>
            <a:ext cx="4663440" cy="365760"/>
          </a:xfrm>
          <a:prstGeom prst="rect">
            <a:avLst/>
          </a:prstGeom>
          <a:noFill/>
        </p:spPr>
        <p:txBody>
          <a:bodyPr wrap="square">
            <a:spAutoFit/>
          </a:bodyPr>
          <a:lstStyle/>
          <a:p>
            <a:pPr algn="ctr">
              <a:defRPr sz="1300" b="1">
                <a:solidFill>
                  <a:srgbClr val="109560"/>
                </a:solidFill>
              </a:defRPr>
            </a:pPr>
            <a:r>
              <a:t>✔  KHI CÓ DATA PLATFORM (Đường ống tự động)</a:t>
            </a:r>
          </a:p>
        </p:txBody>
      </p:sp>
      <p:sp>
        <p:nvSpPr>
          <p:cNvPr id="25" name="Rounded Rectangle 24"/>
          <p:cNvSpPr/>
          <p:nvPr/>
        </p:nvSpPr>
        <p:spPr>
          <a:xfrm>
            <a:off x="7040880" y="2103120"/>
            <a:ext cx="1097280" cy="5486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2240280"/>
            <a:ext cx="1097280" cy="548640"/>
          </a:xfrm>
          <a:prstGeom prst="rect">
            <a:avLst/>
          </a:prstGeom>
          <a:noFill/>
        </p:spPr>
        <p:txBody>
          <a:bodyPr wrap="square">
            <a:spAutoFit/>
          </a:bodyPr>
          <a:lstStyle/>
          <a:p>
            <a:pPr algn="ctr">
              <a:defRPr sz="1400" b="0">
                <a:solidFill>
                  <a:srgbClr val="1A2639"/>
                </a:solidFill>
              </a:defRPr>
            </a:pPr>
            <a:r>
              <a:t>💰</a:t>
            </a:r>
          </a:p>
        </p:txBody>
      </p:sp>
      <p:sp>
        <p:nvSpPr>
          <p:cNvPr id="27" name="TextBox 26"/>
          <p:cNvSpPr txBox="1"/>
          <p:nvPr/>
        </p:nvSpPr>
        <p:spPr>
          <a:xfrm>
            <a:off x="7132320" y="2834640"/>
            <a:ext cx="914400" cy="548640"/>
          </a:xfrm>
          <a:prstGeom prst="rect">
            <a:avLst/>
          </a:prstGeom>
          <a:noFill/>
        </p:spPr>
        <p:txBody>
          <a:bodyPr wrap="square">
            <a:spAutoFit/>
          </a:bodyPr>
          <a:lstStyle/>
          <a:p>
            <a:pPr algn="ctr">
              <a:defRPr sz="850" b="1">
                <a:solidFill>
                  <a:srgbClr val="005FCC"/>
                </a:solidFill>
              </a:defRPr>
            </a:pPr>
            <a:r>
              <a:t>Kế toán</a:t>
            </a:r>
          </a:p>
        </p:txBody>
      </p:sp>
      <p:sp>
        <p:nvSpPr>
          <p:cNvPr id="28" name="Rounded Rectangle 27"/>
          <p:cNvSpPr/>
          <p:nvPr/>
        </p:nvSpPr>
        <p:spPr>
          <a:xfrm>
            <a:off x="7040880" y="2743200"/>
            <a:ext cx="1097280" cy="5486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0" y="2880360"/>
            <a:ext cx="1097280" cy="548640"/>
          </a:xfrm>
          <a:prstGeom prst="rect">
            <a:avLst/>
          </a:prstGeom>
          <a:noFill/>
        </p:spPr>
        <p:txBody>
          <a:bodyPr wrap="square">
            <a:spAutoFit/>
          </a:bodyPr>
          <a:lstStyle/>
          <a:p>
            <a:pPr algn="ctr">
              <a:defRPr sz="1400" b="0">
                <a:solidFill>
                  <a:srgbClr val="1A2639"/>
                </a:solidFill>
              </a:defRPr>
            </a:pPr>
            <a:r>
              <a:t>👷</a:t>
            </a:r>
          </a:p>
        </p:txBody>
      </p:sp>
      <p:sp>
        <p:nvSpPr>
          <p:cNvPr id="30" name="TextBox 29"/>
          <p:cNvSpPr txBox="1"/>
          <p:nvPr/>
        </p:nvSpPr>
        <p:spPr>
          <a:xfrm>
            <a:off x="7132320" y="3474720"/>
            <a:ext cx="914400" cy="548640"/>
          </a:xfrm>
          <a:prstGeom prst="rect">
            <a:avLst/>
          </a:prstGeom>
          <a:noFill/>
        </p:spPr>
        <p:txBody>
          <a:bodyPr wrap="square">
            <a:spAutoFit/>
          </a:bodyPr>
          <a:lstStyle/>
          <a:p>
            <a:pPr algn="ctr">
              <a:defRPr sz="850" b="1">
                <a:solidFill>
                  <a:srgbClr val="005FCC"/>
                </a:solidFill>
              </a:defRPr>
            </a:pPr>
            <a:r>
              <a:t>Nhân sự</a:t>
            </a:r>
          </a:p>
        </p:txBody>
      </p:sp>
      <p:sp>
        <p:nvSpPr>
          <p:cNvPr id="31" name="Rounded Rectangle 30"/>
          <p:cNvSpPr/>
          <p:nvPr/>
        </p:nvSpPr>
        <p:spPr>
          <a:xfrm>
            <a:off x="7040880" y="3383280"/>
            <a:ext cx="1097280" cy="5486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0" y="3520440"/>
            <a:ext cx="1097280" cy="548640"/>
          </a:xfrm>
          <a:prstGeom prst="rect">
            <a:avLst/>
          </a:prstGeom>
          <a:noFill/>
        </p:spPr>
        <p:txBody>
          <a:bodyPr wrap="square">
            <a:spAutoFit/>
          </a:bodyPr>
          <a:lstStyle/>
          <a:p>
            <a:pPr algn="ctr">
              <a:defRPr sz="1400" b="0">
                <a:solidFill>
                  <a:srgbClr val="1A2639"/>
                </a:solidFill>
              </a:defRPr>
            </a:pPr>
            <a:r>
              <a:t>🔧</a:t>
            </a:r>
          </a:p>
        </p:txBody>
      </p:sp>
      <p:sp>
        <p:nvSpPr>
          <p:cNvPr id="33" name="TextBox 32"/>
          <p:cNvSpPr txBox="1"/>
          <p:nvPr/>
        </p:nvSpPr>
        <p:spPr>
          <a:xfrm>
            <a:off x="7132320" y="4114800"/>
            <a:ext cx="914400" cy="548640"/>
          </a:xfrm>
          <a:prstGeom prst="rect">
            <a:avLst/>
          </a:prstGeom>
          <a:noFill/>
        </p:spPr>
        <p:txBody>
          <a:bodyPr wrap="square">
            <a:spAutoFit/>
          </a:bodyPr>
          <a:lstStyle/>
          <a:p>
            <a:pPr algn="ctr">
              <a:defRPr sz="850" b="1">
                <a:solidFill>
                  <a:srgbClr val="005FCC"/>
                </a:solidFill>
              </a:defRPr>
            </a:pPr>
            <a:r>
              <a:t>Vật tư</a:t>
            </a:r>
          </a:p>
        </p:txBody>
      </p:sp>
      <p:sp>
        <p:nvSpPr>
          <p:cNvPr id="34" name="Rounded Rectangle 33"/>
          <p:cNvSpPr/>
          <p:nvPr/>
        </p:nvSpPr>
        <p:spPr>
          <a:xfrm>
            <a:off x="7040880" y="4023359"/>
            <a:ext cx="1097280" cy="548640"/>
          </a:xfrm>
          <a:prstGeom prst="roundRect">
            <a:avLst/>
          </a:prstGeom>
          <a:solidFill>
            <a:srgbClr val="FFFFFF"/>
          </a:solidFill>
          <a:ln w="1270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0" y="4160519"/>
            <a:ext cx="1097280" cy="548640"/>
          </a:xfrm>
          <a:prstGeom prst="rect">
            <a:avLst/>
          </a:prstGeom>
          <a:noFill/>
        </p:spPr>
        <p:txBody>
          <a:bodyPr wrap="square">
            <a:spAutoFit/>
          </a:bodyPr>
          <a:lstStyle/>
          <a:p>
            <a:pPr algn="ctr">
              <a:defRPr sz="1400" b="0">
                <a:solidFill>
                  <a:srgbClr val="1A2639"/>
                </a:solidFill>
              </a:defRPr>
            </a:pPr>
            <a:r>
              <a:t>📋</a:t>
            </a:r>
          </a:p>
        </p:txBody>
      </p:sp>
      <p:sp>
        <p:nvSpPr>
          <p:cNvPr id="36" name="TextBox 35"/>
          <p:cNvSpPr txBox="1"/>
          <p:nvPr/>
        </p:nvSpPr>
        <p:spPr>
          <a:xfrm>
            <a:off x="7132320" y="4754879"/>
            <a:ext cx="914400" cy="548640"/>
          </a:xfrm>
          <a:prstGeom prst="rect">
            <a:avLst/>
          </a:prstGeom>
          <a:noFill/>
        </p:spPr>
        <p:txBody>
          <a:bodyPr wrap="square">
            <a:spAutoFit/>
          </a:bodyPr>
          <a:lstStyle/>
          <a:p>
            <a:pPr algn="ctr">
              <a:defRPr sz="850" b="1">
                <a:solidFill>
                  <a:srgbClr val="005FCC"/>
                </a:solidFill>
              </a:defRPr>
            </a:pPr>
            <a:r>
              <a:t>Dự án</a:t>
            </a:r>
          </a:p>
        </p:txBody>
      </p:sp>
      <p:sp>
        <p:nvSpPr>
          <p:cNvPr id="37" name="Rounded Rectangle 36"/>
          <p:cNvSpPr/>
          <p:nvPr/>
        </p:nvSpPr>
        <p:spPr>
          <a:xfrm>
            <a:off x="8595360" y="2286000"/>
            <a:ext cx="914400" cy="2743200"/>
          </a:xfrm>
          <a:prstGeom prst="round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0" y="2560320"/>
            <a:ext cx="914400" cy="2286000"/>
          </a:xfrm>
          <a:prstGeom prst="rect">
            <a:avLst/>
          </a:prstGeom>
          <a:noFill/>
        </p:spPr>
        <p:txBody>
          <a:bodyPr wrap="square">
            <a:spAutoFit/>
          </a:bodyPr>
          <a:lstStyle/>
          <a:p>
            <a:pPr algn="ctr">
              <a:defRPr sz="900" b="1">
                <a:solidFill>
                  <a:srgbClr val="FFFFFF"/>
                </a:solidFill>
              </a:defRPr>
            </a:pPr>
            <a:r>
              <a:t>🔄</a:t>
            </a:r>
            <a:br/>
            <a:br/>
            <a:r>
              <a:t>Tự</a:t>
            </a:r>
            <a:br/>
            <a:r>
              <a:t>động</a:t>
            </a:r>
            <a:br/>
            <a:r>
              <a:t>gom</a:t>
            </a:r>
            <a:br/>
            <a:r>
              <a:t>&amp;</a:t>
            </a:r>
            <a:br/>
            <a:r>
              <a:t>lọc</a:t>
            </a:r>
            <a:br/>
            <a:r>
              <a:t>sạch</a:t>
            </a:r>
          </a:p>
        </p:txBody>
      </p:sp>
      <p:sp>
        <p:nvSpPr>
          <p:cNvPr id="39" name="Right Arrow 38"/>
          <p:cNvSpPr/>
          <p:nvPr/>
        </p:nvSpPr>
        <p:spPr>
          <a:xfrm>
            <a:off x="8183879" y="2212848"/>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ight Arrow 39"/>
          <p:cNvSpPr/>
          <p:nvPr/>
        </p:nvSpPr>
        <p:spPr>
          <a:xfrm>
            <a:off x="8183879" y="2852928"/>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ight Arrow 40"/>
          <p:cNvSpPr/>
          <p:nvPr/>
        </p:nvSpPr>
        <p:spPr>
          <a:xfrm>
            <a:off x="8183879" y="3493008"/>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ight Arrow 41"/>
          <p:cNvSpPr/>
          <p:nvPr/>
        </p:nvSpPr>
        <p:spPr>
          <a:xfrm>
            <a:off x="8183879" y="4133087"/>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Arrow 42"/>
          <p:cNvSpPr/>
          <p:nvPr/>
        </p:nvSpPr>
        <p:spPr>
          <a:xfrm>
            <a:off x="9555480" y="3200400"/>
            <a:ext cx="36576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058400" y="2377440"/>
            <a:ext cx="1188720" cy="2011680"/>
          </a:xfrm>
          <a:prstGeom prst="roundRect">
            <a:avLst/>
          </a:prstGeom>
          <a:solidFill>
            <a:srgbClr val="FFFFFF"/>
          </a:solidFill>
          <a:ln w="1905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0" y="2468880"/>
            <a:ext cx="1188720" cy="1828800"/>
          </a:xfrm>
          <a:prstGeom prst="rect">
            <a:avLst/>
          </a:prstGeom>
          <a:noFill/>
        </p:spPr>
        <p:txBody>
          <a:bodyPr wrap="square">
            <a:spAutoFit/>
          </a:bodyPr>
          <a:lstStyle/>
          <a:p>
            <a:pPr algn="ctr">
              <a:defRPr sz="900" b="1">
                <a:solidFill>
                  <a:srgbClr val="005FCC"/>
                </a:solidFill>
              </a:defRPr>
            </a:pPr>
            <a:r>
              <a:t>📊</a:t>
            </a:r>
            <a:br/>
            <a:br/>
            <a:r>
              <a:t>Ban</a:t>
            </a:r>
            <a:br/>
            <a:r>
              <a:t>Giám</a:t>
            </a:r>
            <a:br/>
            <a:r>
              <a:t>đốc</a:t>
            </a:r>
            <a:br/>
            <a:r>
              <a:t>xem</a:t>
            </a:r>
            <a:br/>
            <a:r>
              <a:t>ngay!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MÔ HÌNH — HUB &amp; SPOKE (TRUNG TÂM – VỆ TINH)</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VỊ THẾ CỦA QUẢNG NGÃI TRONG HỆ SINH THÁI TCT</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4114800" y="2011680"/>
            <a:ext cx="3931920" cy="2560320"/>
          </a:xfrm>
          <a:prstGeom prst="round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2194560"/>
            <a:ext cx="3931920" cy="365760"/>
          </a:xfrm>
          <a:prstGeom prst="rect">
            <a:avLst/>
          </a:prstGeom>
          <a:noFill/>
        </p:spPr>
        <p:txBody>
          <a:bodyPr wrap="square">
            <a:spAutoFit/>
          </a:bodyPr>
          <a:lstStyle/>
          <a:p>
            <a:pPr algn="ctr">
              <a:defRPr sz="3000" b="0">
                <a:solidFill>
                  <a:srgbClr val="1A2639"/>
                </a:solidFill>
              </a:defRPr>
            </a:pPr>
            <a:r>
              <a:t>🏢</a:t>
            </a:r>
          </a:p>
        </p:txBody>
      </p:sp>
      <p:sp>
        <p:nvSpPr>
          <p:cNvPr id="9" name="TextBox 8"/>
          <p:cNvSpPr txBox="1"/>
          <p:nvPr/>
        </p:nvSpPr>
        <p:spPr>
          <a:xfrm>
            <a:off x="4114800" y="2743200"/>
            <a:ext cx="3931920" cy="457200"/>
          </a:xfrm>
          <a:prstGeom prst="rect">
            <a:avLst/>
          </a:prstGeom>
          <a:noFill/>
        </p:spPr>
        <p:txBody>
          <a:bodyPr wrap="square">
            <a:spAutoFit/>
          </a:bodyPr>
          <a:lstStyle/>
          <a:p>
            <a:pPr algn="ctr">
              <a:defRPr sz="1500" b="1">
                <a:solidFill>
                  <a:srgbClr val="FFFFFF"/>
                </a:solidFill>
              </a:defRPr>
            </a:pPr>
            <a:r>
              <a:t>TỔNG CÔNG TY (HUB)</a:t>
            </a:r>
          </a:p>
        </p:txBody>
      </p:sp>
      <p:sp>
        <p:nvSpPr>
          <p:cNvPr id="10" name="TextBox 9"/>
          <p:cNvSpPr txBox="1"/>
          <p:nvPr/>
        </p:nvSpPr>
        <p:spPr>
          <a:xfrm>
            <a:off x="4114800" y="3200400"/>
            <a:ext cx="3931920" cy="1097280"/>
          </a:xfrm>
          <a:prstGeom prst="rect">
            <a:avLst/>
          </a:prstGeom>
          <a:noFill/>
        </p:spPr>
        <p:txBody>
          <a:bodyPr wrap="square">
            <a:spAutoFit/>
          </a:bodyPr>
          <a:lstStyle/>
          <a:p>
            <a:pPr algn="ctr">
              <a:defRPr sz="1050" b="0">
                <a:solidFill>
                  <a:srgbClr val="BAD7F5"/>
                </a:solidFill>
              </a:defRPr>
            </a:pPr>
            <a:r>
              <a:t>• Đầu tư máy chủ khổng lồ (Data Lakehouse)</a:t>
            </a:r>
            <a:br/>
            <a:r>
              <a:t>• Mua bản quyền Microsoft Fabric, Power BI</a:t>
            </a:r>
            <a:br/>
            <a:r>
              <a:t>• Ban hành 29 chuẩn Master Data</a:t>
            </a:r>
          </a:p>
        </p:txBody>
      </p:sp>
      <p:sp>
        <p:nvSpPr>
          <p:cNvPr id="11" name="Rounded Rectangle 10"/>
          <p:cNvSpPr/>
          <p:nvPr/>
        </p:nvSpPr>
        <p:spPr>
          <a:xfrm>
            <a:off x="457200" y="2743200"/>
            <a:ext cx="3200400" cy="1463040"/>
          </a:xfrm>
          <a:prstGeom prst="roundRect">
            <a:avLst/>
          </a:prstGeom>
          <a:solidFill>
            <a:srgbClr val="FFF3E0"/>
          </a:solidFill>
          <a:ln w="3175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88920"/>
            <a:ext cx="3200400" cy="365760"/>
          </a:xfrm>
          <a:prstGeom prst="rect">
            <a:avLst/>
          </a:prstGeom>
          <a:noFill/>
        </p:spPr>
        <p:txBody>
          <a:bodyPr wrap="square">
            <a:spAutoFit/>
          </a:bodyPr>
          <a:lstStyle/>
          <a:p>
            <a:pPr algn="ctr">
              <a:defRPr sz="1300" b="1">
                <a:solidFill>
                  <a:srgbClr val="0A254A"/>
                </a:solidFill>
              </a:defRPr>
            </a:pPr>
            <a:r>
              <a:t>🏭  PTSC QUẢNG NGÃI (L3)</a:t>
            </a:r>
          </a:p>
        </p:txBody>
      </p:sp>
      <p:sp>
        <p:nvSpPr>
          <p:cNvPr id="13" name="TextBox 12"/>
          <p:cNvSpPr txBox="1"/>
          <p:nvPr/>
        </p:nvSpPr>
        <p:spPr>
          <a:xfrm>
            <a:off x="457200" y="3200400"/>
            <a:ext cx="3200400" cy="914400"/>
          </a:xfrm>
          <a:prstGeom prst="rect">
            <a:avLst/>
          </a:prstGeom>
          <a:noFill/>
        </p:spPr>
        <p:txBody>
          <a:bodyPr wrap="square">
            <a:spAutoFit/>
          </a:bodyPr>
          <a:lstStyle/>
          <a:p>
            <a:pPr algn="ctr">
              <a:defRPr sz="1100" b="0">
                <a:solidFill>
                  <a:srgbClr val="1A2639"/>
                </a:solidFill>
              </a:defRPr>
            </a:pPr>
            <a:r>
              <a:t>Chỉ cần dựng</a:t>
            </a:r>
            <a:br/>
            <a:r>
              <a:t>"Trạm trung chuyển" dữ liệu</a:t>
            </a:r>
            <a:br/>
            <a:r>
              <a:t>rồi bơm lên TCT</a:t>
            </a:r>
          </a:p>
        </p:txBody>
      </p:sp>
      <p:sp>
        <p:nvSpPr>
          <p:cNvPr id="14" name="Right Arrow 13"/>
          <p:cNvSpPr/>
          <p:nvPr/>
        </p:nvSpPr>
        <p:spPr>
          <a:xfrm>
            <a:off x="3703320" y="3200400"/>
            <a:ext cx="36576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0" y="2743200"/>
            <a:ext cx="2286000" cy="914400"/>
          </a:xfrm>
          <a:prstGeom prst="roundRect">
            <a:avLst/>
          </a:prstGeom>
          <a:solidFill>
            <a:srgbClr val="F1F5F9"/>
          </a:solidFill>
          <a:ln w="1270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2880360"/>
            <a:ext cx="2286000" cy="548640"/>
          </a:xfrm>
          <a:prstGeom prst="rect">
            <a:avLst/>
          </a:prstGeom>
          <a:noFill/>
        </p:spPr>
        <p:txBody>
          <a:bodyPr wrap="square">
            <a:spAutoFit/>
          </a:bodyPr>
          <a:lstStyle/>
          <a:p>
            <a:pPr algn="ctr">
              <a:defRPr sz="1050" b="0">
                <a:solidFill>
                  <a:srgbClr val="64748B"/>
                </a:solidFill>
              </a:defRPr>
            </a:pPr>
            <a:r>
              <a:t>🏭  Đơn vị A</a:t>
            </a:r>
          </a:p>
        </p:txBody>
      </p:sp>
      <p:sp>
        <p:nvSpPr>
          <p:cNvPr id="17" name="Rounded Rectangle 16"/>
          <p:cNvSpPr/>
          <p:nvPr/>
        </p:nvSpPr>
        <p:spPr>
          <a:xfrm>
            <a:off x="8686800" y="4572000"/>
            <a:ext cx="2286000" cy="914400"/>
          </a:xfrm>
          <a:prstGeom prst="roundRect">
            <a:avLst/>
          </a:prstGeom>
          <a:solidFill>
            <a:srgbClr val="F1F5F9"/>
          </a:solidFill>
          <a:ln w="1270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4709160"/>
            <a:ext cx="2286000" cy="548640"/>
          </a:xfrm>
          <a:prstGeom prst="rect">
            <a:avLst/>
          </a:prstGeom>
          <a:noFill/>
        </p:spPr>
        <p:txBody>
          <a:bodyPr wrap="square">
            <a:spAutoFit/>
          </a:bodyPr>
          <a:lstStyle/>
          <a:p>
            <a:pPr algn="ctr">
              <a:defRPr sz="1050" b="0">
                <a:solidFill>
                  <a:srgbClr val="64748B"/>
                </a:solidFill>
              </a:defRPr>
            </a:pPr>
            <a:r>
              <a:t>🏭  Đơn vị B</a:t>
            </a:r>
          </a:p>
        </p:txBody>
      </p:sp>
      <p:sp>
        <p:nvSpPr>
          <p:cNvPr id="19" name="Rounded Rectangle 18"/>
          <p:cNvSpPr/>
          <p:nvPr/>
        </p:nvSpPr>
        <p:spPr>
          <a:xfrm>
            <a:off x="4572000" y="5029200"/>
            <a:ext cx="2286000" cy="914400"/>
          </a:xfrm>
          <a:prstGeom prst="roundRect">
            <a:avLst/>
          </a:prstGeom>
          <a:solidFill>
            <a:srgbClr val="F1F5F9"/>
          </a:solidFill>
          <a:ln w="1270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5166360"/>
            <a:ext cx="2286000" cy="548640"/>
          </a:xfrm>
          <a:prstGeom prst="rect">
            <a:avLst/>
          </a:prstGeom>
          <a:noFill/>
        </p:spPr>
        <p:txBody>
          <a:bodyPr wrap="square">
            <a:spAutoFit/>
          </a:bodyPr>
          <a:lstStyle/>
          <a:p>
            <a:pPr algn="ctr">
              <a:defRPr sz="1050" b="0">
                <a:solidFill>
                  <a:srgbClr val="64748B"/>
                </a:solidFill>
              </a:defRPr>
            </a:pPr>
            <a:r>
              <a:t>🏭  Đơn vị C</a:t>
            </a:r>
          </a:p>
        </p:txBody>
      </p:sp>
      <p:sp>
        <p:nvSpPr>
          <p:cNvPr id="21" name="Rounded Rectangle 20"/>
          <p:cNvSpPr/>
          <p:nvPr/>
        </p:nvSpPr>
        <p:spPr>
          <a:xfrm>
            <a:off x="1828800" y="5029200"/>
            <a:ext cx="2286000" cy="914400"/>
          </a:xfrm>
          <a:prstGeom prst="roundRect">
            <a:avLst/>
          </a:prstGeom>
          <a:solidFill>
            <a:srgbClr val="F1F5F9"/>
          </a:solidFill>
          <a:ln w="12700">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0" y="5166360"/>
            <a:ext cx="2286000" cy="548640"/>
          </a:xfrm>
          <a:prstGeom prst="rect">
            <a:avLst/>
          </a:prstGeom>
          <a:noFill/>
        </p:spPr>
        <p:txBody>
          <a:bodyPr wrap="square">
            <a:spAutoFit/>
          </a:bodyPr>
          <a:lstStyle/>
          <a:p>
            <a:pPr algn="ctr">
              <a:defRPr sz="1050" b="0">
                <a:solidFill>
                  <a:srgbClr val="64748B"/>
                </a:solidFill>
              </a:defRPr>
            </a:pPr>
            <a:r>
              <a:t>🏭  Đơn vị D</a:t>
            </a:r>
          </a:p>
        </p:txBody>
      </p:sp>
      <p:sp>
        <p:nvSpPr>
          <p:cNvPr id="23" name="Rectangle 22"/>
          <p:cNvSpPr/>
          <p:nvPr/>
        </p:nvSpPr>
        <p:spPr>
          <a:xfrm>
            <a:off x="731520" y="5943600"/>
            <a:ext cx="10698480" cy="457200"/>
          </a:xfrm>
          <a:prstGeom prst="rect">
            <a:avLst/>
          </a:prstGeom>
          <a:solidFill>
            <a:srgbClr val="FFF3E0"/>
          </a:solidFill>
          <a:ln w="1905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943600"/>
            <a:ext cx="10698480" cy="457200"/>
          </a:xfrm>
          <a:prstGeom prst="rect">
            <a:avLst/>
          </a:prstGeom>
          <a:noFill/>
        </p:spPr>
        <p:txBody>
          <a:bodyPr wrap="square">
            <a:spAutoFit/>
          </a:bodyPr>
          <a:lstStyle/>
          <a:p>
            <a:pPr algn="ctr">
              <a:defRPr sz="1200" b="1">
                <a:solidFill>
                  <a:srgbClr val="0A254A"/>
                </a:solidFill>
              </a:defRPr>
            </a:pPr>
            <a:r>
              <a:t>💡 Quảng Ngãi KHÔNG phải tự mua máy chủ đắt tiền — chỉ cần xây "đường dẫn kết nối" lên TCT là được!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ÁP LỰC TIẾN ĐỘ — NGHỊ QUYẾT HĐQT</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TCT ĐÃ HOÀN THÀNH NỀN MÓNG — ĐẾN LƯỢT QUẢNG NGÃI!</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463040"/>
            <a:ext cx="3383280" cy="640080"/>
          </a:xfrm>
          <a:prstGeom prst="round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3383280" cy="320040"/>
          </a:xfrm>
          <a:prstGeom prst="rect">
            <a:avLst/>
          </a:prstGeom>
          <a:noFill/>
        </p:spPr>
        <p:txBody>
          <a:bodyPr wrap="square">
            <a:spAutoFit/>
          </a:bodyPr>
          <a:lstStyle/>
          <a:p>
            <a:pPr algn="ctr">
              <a:defRPr sz="1600" b="1">
                <a:solidFill>
                  <a:srgbClr val="FFFFFF"/>
                </a:solidFill>
              </a:defRPr>
            </a:pPr>
            <a:r>
              <a:t>2024 – 2025</a:t>
            </a:r>
          </a:p>
        </p:txBody>
      </p:sp>
      <p:sp>
        <p:nvSpPr>
          <p:cNvPr id="9" name="TextBox 8"/>
          <p:cNvSpPr txBox="1"/>
          <p:nvPr/>
        </p:nvSpPr>
        <p:spPr>
          <a:xfrm>
            <a:off x="731520" y="1810512"/>
            <a:ext cx="3383280" cy="274320"/>
          </a:xfrm>
          <a:prstGeom prst="rect">
            <a:avLst/>
          </a:prstGeom>
          <a:noFill/>
        </p:spPr>
        <p:txBody>
          <a:bodyPr wrap="square">
            <a:spAutoFit/>
          </a:bodyPr>
          <a:lstStyle/>
          <a:p>
            <a:pPr algn="ctr">
              <a:defRPr sz="1000" b="1">
                <a:solidFill>
                  <a:srgbClr val="FFFFFF"/>
                </a:solidFill>
              </a:defRPr>
            </a:pPr>
            <a:r>
              <a:t>ĐÃ HOÀN THÀNH ✔</a:t>
            </a:r>
          </a:p>
        </p:txBody>
      </p:sp>
      <p:sp>
        <p:nvSpPr>
          <p:cNvPr id="10" name="Rounded Rectangle 9"/>
          <p:cNvSpPr/>
          <p:nvPr/>
        </p:nvSpPr>
        <p:spPr>
          <a:xfrm>
            <a:off x="731520" y="2194560"/>
            <a:ext cx="3383280" cy="2560320"/>
          </a:xfrm>
          <a:prstGeom prst="roundRect">
            <a:avLst/>
          </a:prstGeom>
          <a:solidFill>
            <a:srgbClr val="DCFCE7"/>
          </a:solidFill>
          <a:ln w="1905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77440"/>
            <a:ext cx="3108960" cy="2194560"/>
          </a:xfrm>
          <a:prstGeom prst="rect">
            <a:avLst/>
          </a:prstGeom>
          <a:noFill/>
        </p:spPr>
        <p:txBody>
          <a:bodyPr wrap="square">
            <a:spAutoFit/>
          </a:bodyPr>
          <a:lstStyle/>
          <a:p>
            <a:pPr algn="ctr">
              <a:defRPr sz="1300" b="0">
                <a:solidFill>
                  <a:srgbClr val="1A2639"/>
                </a:solidFill>
              </a:defRPr>
            </a:pPr>
            <a:r>
              <a:t>TCT xây xong</a:t>
            </a:r>
            <a:br/>
            <a:r>
              <a:t>Data Lakehouse</a:t>
            </a:r>
            <a:br/>
            <a:r>
              <a:t>&amp; ban hành</a:t>
            </a:r>
            <a:br/>
            <a:r>
              <a:t>29 Master Data</a:t>
            </a:r>
          </a:p>
        </p:txBody>
      </p:sp>
      <p:sp>
        <p:nvSpPr>
          <p:cNvPr id="12" name="Right Arrow 11"/>
          <p:cNvSpPr/>
          <p:nvPr/>
        </p:nvSpPr>
        <p:spPr>
          <a:xfrm>
            <a:off x="4160520" y="2651760"/>
            <a:ext cx="32004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59" y="1463040"/>
            <a:ext cx="3383280" cy="640080"/>
          </a:xfrm>
          <a:prstGeom prst="round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1508760"/>
            <a:ext cx="3383280" cy="320040"/>
          </a:xfrm>
          <a:prstGeom prst="rect">
            <a:avLst/>
          </a:prstGeom>
          <a:noFill/>
        </p:spPr>
        <p:txBody>
          <a:bodyPr wrap="square">
            <a:spAutoFit/>
          </a:bodyPr>
          <a:lstStyle/>
          <a:p>
            <a:pPr algn="ctr">
              <a:defRPr sz="1600" b="1">
                <a:solidFill>
                  <a:srgbClr val="FFFFFF"/>
                </a:solidFill>
              </a:defRPr>
            </a:pPr>
            <a:r>
              <a:t>2026 – 2027</a:t>
            </a:r>
          </a:p>
        </p:txBody>
      </p:sp>
      <p:sp>
        <p:nvSpPr>
          <p:cNvPr id="15" name="TextBox 14"/>
          <p:cNvSpPr txBox="1"/>
          <p:nvPr/>
        </p:nvSpPr>
        <p:spPr>
          <a:xfrm>
            <a:off x="4480559" y="1810512"/>
            <a:ext cx="3383280" cy="274320"/>
          </a:xfrm>
          <a:prstGeom prst="rect">
            <a:avLst/>
          </a:prstGeom>
          <a:noFill/>
        </p:spPr>
        <p:txBody>
          <a:bodyPr wrap="square">
            <a:spAutoFit/>
          </a:bodyPr>
          <a:lstStyle/>
          <a:p>
            <a:pPr algn="ctr">
              <a:defRPr sz="1000" b="1">
                <a:solidFill>
                  <a:srgbClr val="FFFFFF"/>
                </a:solidFill>
              </a:defRPr>
            </a:pPr>
            <a:r>
              <a:t>ĐANG THỰC HIỆN ⚡</a:t>
            </a:r>
          </a:p>
        </p:txBody>
      </p:sp>
      <p:sp>
        <p:nvSpPr>
          <p:cNvPr id="16" name="Rounded Rectangle 15"/>
          <p:cNvSpPr/>
          <p:nvPr/>
        </p:nvSpPr>
        <p:spPr>
          <a:xfrm>
            <a:off x="4480559" y="2194560"/>
            <a:ext cx="3383280" cy="2560320"/>
          </a:xfrm>
          <a:prstGeom prst="roundRect">
            <a:avLst/>
          </a:prstGeom>
          <a:solidFill>
            <a:srgbClr val="FFF3E0"/>
          </a:solidFill>
          <a:ln w="1905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19" y="2377440"/>
            <a:ext cx="3108960" cy="2194560"/>
          </a:xfrm>
          <a:prstGeom prst="rect">
            <a:avLst/>
          </a:prstGeom>
          <a:noFill/>
        </p:spPr>
        <p:txBody>
          <a:bodyPr wrap="square">
            <a:spAutoFit/>
          </a:bodyPr>
          <a:lstStyle/>
          <a:p>
            <a:pPr algn="ctr">
              <a:defRPr sz="1300" b="0">
                <a:solidFill>
                  <a:srgbClr val="1A2639"/>
                </a:solidFill>
              </a:defRPr>
            </a:pPr>
            <a:r>
              <a:t>Quảng Ngãi</a:t>
            </a:r>
            <a:br/>
            <a:r>
              <a:t>phải kết nối!</a:t>
            </a:r>
            <a:br/>
            <a:r>
              <a:t>Dựng trạm trung chuyển</a:t>
            </a:r>
            <a:br/>
            <a:r>
              <a:t>&amp; bơm dữ liệu lên TCT</a:t>
            </a:r>
          </a:p>
        </p:txBody>
      </p:sp>
      <p:sp>
        <p:nvSpPr>
          <p:cNvPr id="18" name="Right Arrow 17"/>
          <p:cNvSpPr/>
          <p:nvPr/>
        </p:nvSpPr>
        <p:spPr>
          <a:xfrm>
            <a:off x="7909559" y="2651760"/>
            <a:ext cx="32004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0" y="1463040"/>
            <a:ext cx="3383280" cy="64008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508760"/>
            <a:ext cx="3383280" cy="320040"/>
          </a:xfrm>
          <a:prstGeom prst="rect">
            <a:avLst/>
          </a:prstGeom>
          <a:noFill/>
        </p:spPr>
        <p:txBody>
          <a:bodyPr wrap="square">
            <a:spAutoFit/>
          </a:bodyPr>
          <a:lstStyle/>
          <a:p>
            <a:pPr algn="ctr">
              <a:defRPr sz="1600" b="1">
                <a:solidFill>
                  <a:srgbClr val="FFFFFF"/>
                </a:solidFill>
              </a:defRPr>
            </a:pPr>
            <a:r>
              <a:t>2028 – 2030</a:t>
            </a:r>
          </a:p>
        </p:txBody>
      </p:sp>
      <p:sp>
        <p:nvSpPr>
          <p:cNvPr id="21" name="TextBox 20"/>
          <p:cNvSpPr txBox="1"/>
          <p:nvPr/>
        </p:nvSpPr>
        <p:spPr>
          <a:xfrm>
            <a:off x="8229600" y="1810512"/>
            <a:ext cx="3383280" cy="274320"/>
          </a:xfrm>
          <a:prstGeom prst="rect">
            <a:avLst/>
          </a:prstGeom>
          <a:noFill/>
        </p:spPr>
        <p:txBody>
          <a:bodyPr wrap="square">
            <a:spAutoFit/>
          </a:bodyPr>
          <a:lstStyle/>
          <a:p>
            <a:pPr algn="ctr">
              <a:defRPr sz="1000" b="1">
                <a:solidFill>
                  <a:srgbClr val="FFFFFF"/>
                </a:solidFill>
              </a:defRPr>
            </a:pPr>
            <a:r>
              <a:t>TƯƠNG LAI</a:t>
            </a:r>
          </a:p>
        </p:txBody>
      </p:sp>
      <p:sp>
        <p:nvSpPr>
          <p:cNvPr id="22" name="Rounded Rectangle 21"/>
          <p:cNvSpPr/>
          <p:nvPr/>
        </p:nvSpPr>
        <p:spPr>
          <a:xfrm>
            <a:off x="8229600" y="2194560"/>
            <a:ext cx="3383280" cy="2560320"/>
          </a:xfrm>
          <a:prstGeom prst="roundRect">
            <a:avLst/>
          </a:prstGeom>
          <a:solidFill>
            <a:srgbClr val="F1F5F9"/>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2377440"/>
            <a:ext cx="3108960" cy="2194560"/>
          </a:xfrm>
          <a:prstGeom prst="rect">
            <a:avLst/>
          </a:prstGeom>
          <a:noFill/>
        </p:spPr>
        <p:txBody>
          <a:bodyPr wrap="square">
            <a:spAutoFit/>
          </a:bodyPr>
          <a:lstStyle/>
          <a:p>
            <a:pPr algn="ctr">
              <a:defRPr sz="1300" b="0">
                <a:solidFill>
                  <a:srgbClr val="1A2639"/>
                </a:solidFill>
              </a:defRPr>
            </a:pPr>
            <a:r>
              <a:t>Khai thác toàn diện</a:t>
            </a:r>
            <a:br/>
            <a:r>
              <a:t>AI/ML phân tích</a:t>
            </a:r>
            <a:br/>
            <a:r>
              <a:t>báo cáo thông minh</a:t>
            </a:r>
          </a:p>
        </p:txBody>
      </p:sp>
      <p:sp>
        <p:nvSpPr>
          <p:cNvPr id="24" name="Rounded Rectangle 23"/>
          <p:cNvSpPr/>
          <p:nvPr/>
        </p:nvSpPr>
        <p:spPr>
          <a:xfrm>
            <a:off x="731520" y="5120640"/>
            <a:ext cx="10698480" cy="1097280"/>
          </a:xfrm>
          <a:prstGeom prst="roundRect">
            <a:avLst/>
          </a:prstGeom>
          <a:solidFill>
            <a:srgbClr val="FEE2E2"/>
          </a:solidFill>
          <a:ln w="25400">
            <a:solidFill>
              <a:srgbClr val="D1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212080"/>
            <a:ext cx="10058400" cy="320040"/>
          </a:xfrm>
          <a:prstGeom prst="rect">
            <a:avLst/>
          </a:prstGeom>
          <a:noFill/>
        </p:spPr>
        <p:txBody>
          <a:bodyPr wrap="square">
            <a:spAutoFit/>
          </a:bodyPr>
          <a:lstStyle/>
          <a:p>
            <a:pPr algn="l">
              <a:defRPr sz="1500" b="1">
                <a:solidFill>
                  <a:srgbClr val="D13535"/>
                </a:solidFill>
              </a:defRPr>
            </a:pPr>
            <a:r>
              <a:t>⏰  TẠI SAO PHẢI LÀM NGAY?</a:t>
            </a:r>
          </a:p>
        </p:txBody>
      </p:sp>
      <p:sp>
        <p:nvSpPr>
          <p:cNvPr id="26" name="TextBox 25"/>
          <p:cNvSpPr txBox="1"/>
          <p:nvPr/>
        </p:nvSpPr>
        <p:spPr>
          <a:xfrm>
            <a:off x="1097280" y="5577840"/>
            <a:ext cx="10058400" cy="548640"/>
          </a:xfrm>
          <a:prstGeom prst="rect">
            <a:avLst/>
          </a:prstGeom>
          <a:noFill/>
        </p:spPr>
        <p:txBody>
          <a:bodyPr wrap="square">
            <a:spAutoFit/>
          </a:bodyPr>
          <a:lstStyle/>
          <a:p>
            <a:pPr algn="l">
              <a:defRPr sz="1100" b="0">
                <a:solidFill>
                  <a:srgbClr val="1A2639"/>
                </a:solidFill>
              </a:defRPr>
            </a:pPr>
            <a:r>
              <a:t>• Nghị quyết số 10/NQ-HĐQT-PTSC: Data Platform là trụ cột bắt buộc cho toàn bộ đơn vị thành viên</a:t>
            </a:r>
          </a:p>
          <a:p>
            <a:pPr>
              <a:defRPr sz="1100">
                <a:solidFill>
                  <a:srgbClr val="1A2639"/>
                </a:solidFill>
              </a:defRPr>
            </a:pPr>
            <a:r>
              <a:t>• 2026-2027 là mốc deadline TCT giao — nếu trễ, đơn vị bị đánh giá chậm tiến độ CĐS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HIỆN TRẠNG — NHÌN THẲNG VÀO KHÓ KHĂN NỘI BỘ</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3 NÚT THẮT CẦN GIẢI QUYẾT TẠI QUẢNG NGÃI</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371600"/>
            <a:ext cx="3383280" cy="4572000"/>
          </a:xfrm>
          <a:prstGeom prst="roundRect">
            <a:avLst/>
          </a:prstGeom>
          <a:solidFill>
            <a:srgbClr val="FFF3E0"/>
          </a:solidFill>
          <a:ln w="254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3291840" cy="73152"/>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3383280" cy="548640"/>
          </a:xfrm>
          <a:prstGeom prst="rect">
            <a:avLst/>
          </a:prstGeom>
          <a:noFill/>
        </p:spPr>
        <p:txBody>
          <a:bodyPr wrap="square">
            <a:spAutoFit/>
          </a:bodyPr>
          <a:lstStyle/>
          <a:p>
            <a:pPr algn="ctr">
              <a:defRPr sz="4000" b="0">
                <a:solidFill>
                  <a:srgbClr val="1A2639"/>
                </a:solidFill>
              </a:defRPr>
            </a:pPr>
            <a:r>
              <a:t>🔗</a:t>
            </a:r>
          </a:p>
        </p:txBody>
      </p:sp>
      <p:sp>
        <p:nvSpPr>
          <p:cNvPr id="10" name="TextBox 9"/>
          <p:cNvSpPr txBox="1"/>
          <p:nvPr/>
        </p:nvSpPr>
        <p:spPr>
          <a:xfrm>
            <a:off x="731520" y="2377440"/>
            <a:ext cx="3383280" cy="640080"/>
          </a:xfrm>
          <a:prstGeom prst="rect">
            <a:avLst/>
          </a:prstGeom>
          <a:noFill/>
        </p:spPr>
        <p:txBody>
          <a:bodyPr wrap="square">
            <a:spAutoFit/>
          </a:bodyPr>
          <a:lstStyle/>
          <a:p>
            <a:pPr algn="ctr">
              <a:defRPr sz="1500" b="1">
                <a:solidFill>
                  <a:srgbClr val="E08A00"/>
                </a:solidFill>
              </a:defRPr>
            </a:pPr>
            <a:r>
              <a:t>DỮ LIỆU</a:t>
            </a:r>
            <a:br/>
            <a:r>
              <a:t>PHÂN MẢNH</a:t>
            </a:r>
          </a:p>
        </p:txBody>
      </p:sp>
      <p:sp>
        <p:nvSpPr>
          <p:cNvPr id="11" name="TextBox 10"/>
          <p:cNvSpPr txBox="1"/>
          <p:nvPr/>
        </p:nvSpPr>
        <p:spPr>
          <a:xfrm>
            <a:off x="1005840" y="3200400"/>
            <a:ext cx="2834640" cy="2560320"/>
          </a:xfrm>
          <a:prstGeom prst="rect">
            <a:avLst/>
          </a:prstGeom>
          <a:noFill/>
        </p:spPr>
        <p:txBody>
          <a:bodyPr wrap="square">
            <a:spAutoFit/>
          </a:bodyPr>
          <a:lstStyle/>
          <a:p>
            <a:pPr algn="ctr">
              <a:defRPr sz="1250" b="0">
                <a:solidFill>
                  <a:srgbClr val="1A2639"/>
                </a:solidFill>
              </a:defRPr>
            </a:pPr>
            <a:r>
              <a:t>4 phần mềm hoạt động</a:t>
            </a:r>
            <a:br/>
            <a:r>
              <a:t>độc lập, không kết nối.</a:t>
            </a:r>
            <a:br/>
            <a:r>
              <a:t>Chuyển dữ liệu bằng</a:t>
            </a:r>
            <a:br/>
            <a:r>
              <a:t>Excel thủ công.</a:t>
            </a:r>
          </a:p>
        </p:txBody>
      </p:sp>
      <p:sp>
        <p:nvSpPr>
          <p:cNvPr id="12" name="Rounded Rectangle 11"/>
          <p:cNvSpPr/>
          <p:nvPr/>
        </p:nvSpPr>
        <p:spPr>
          <a:xfrm>
            <a:off x="4389120" y="1371600"/>
            <a:ext cx="3383280" cy="4572000"/>
          </a:xfrm>
          <a:prstGeom prst="roundRect">
            <a:avLst/>
          </a:prstGeom>
          <a:solidFill>
            <a:srgbClr val="DBEAFE"/>
          </a:solidFill>
          <a:ln w="2540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389888"/>
            <a:ext cx="3291840" cy="73152"/>
          </a:xfrm>
          <a:prstGeom prst="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645920"/>
            <a:ext cx="3383280" cy="548640"/>
          </a:xfrm>
          <a:prstGeom prst="rect">
            <a:avLst/>
          </a:prstGeom>
          <a:noFill/>
        </p:spPr>
        <p:txBody>
          <a:bodyPr wrap="square">
            <a:spAutoFit/>
          </a:bodyPr>
          <a:lstStyle/>
          <a:p>
            <a:pPr algn="ctr">
              <a:defRPr sz="4000" b="0">
                <a:solidFill>
                  <a:srgbClr val="1A2639"/>
                </a:solidFill>
              </a:defRPr>
            </a:pPr>
            <a:r>
              <a:t>🔢</a:t>
            </a:r>
          </a:p>
        </p:txBody>
      </p:sp>
      <p:sp>
        <p:nvSpPr>
          <p:cNvPr id="15" name="TextBox 14"/>
          <p:cNvSpPr txBox="1"/>
          <p:nvPr/>
        </p:nvSpPr>
        <p:spPr>
          <a:xfrm>
            <a:off x="4389120" y="2377440"/>
            <a:ext cx="3383280" cy="640080"/>
          </a:xfrm>
          <a:prstGeom prst="rect">
            <a:avLst/>
          </a:prstGeom>
          <a:noFill/>
        </p:spPr>
        <p:txBody>
          <a:bodyPr wrap="square">
            <a:spAutoFit/>
          </a:bodyPr>
          <a:lstStyle/>
          <a:p>
            <a:pPr algn="ctr">
              <a:defRPr sz="1500" b="1">
                <a:solidFill>
                  <a:srgbClr val="005FCC"/>
                </a:solidFill>
              </a:defRPr>
            </a:pPr>
            <a:r>
              <a:t>LỆCH CHUẨN</a:t>
            </a:r>
            <a:br/>
            <a:r>
              <a:t>MASTER DATA</a:t>
            </a:r>
          </a:p>
        </p:txBody>
      </p:sp>
      <p:sp>
        <p:nvSpPr>
          <p:cNvPr id="16" name="TextBox 15"/>
          <p:cNvSpPr txBox="1"/>
          <p:nvPr/>
        </p:nvSpPr>
        <p:spPr>
          <a:xfrm>
            <a:off x="4663440" y="3200400"/>
            <a:ext cx="2834640" cy="2560320"/>
          </a:xfrm>
          <a:prstGeom prst="rect">
            <a:avLst/>
          </a:prstGeom>
          <a:noFill/>
        </p:spPr>
        <p:txBody>
          <a:bodyPr wrap="square">
            <a:spAutoFit/>
          </a:bodyPr>
          <a:lstStyle/>
          <a:p>
            <a:pPr algn="ctr">
              <a:defRPr sz="1250" b="0">
                <a:solidFill>
                  <a:srgbClr val="1A2639"/>
                </a:solidFill>
              </a:defRPr>
            </a:pPr>
            <a:r>
              <a:t>Mã vật tư, nhân sự, dự án</a:t>
            </a:r>
            <a:br/>
            <a:r>
              <a:t>của QN chưa khớp</a:t>
            </a:r>
            <a:br/>
            <a:r>
              <a:t>29 chuẩn TCT ban hành.</a:t>
            </a:r>
            <a:br/>
            <a:r>
              <a:t>Cần ánh xạ toàn bộ.</a:t>
            </a:r>
          </a:p>
        </p:txBody>
      </p:sp>
      <p:sp>
        <p:nvSpPr>
          <p:cNvPr id="17" name="Rounded Rectangle 16"/>
          <p:cNvSpPr/>
          <p:nvPr/>
        </p:nvSpPr>
        <p:spPr>
          <a:xfrm>
            <a:off x="8046720" y="1371600"/>
            <a:ext cx="3383280" cy="4572000"/>
          </a:xfrm>
          <a:prstGeom prst="roundRect">
            <a:avLst/>
          </a:prstGeom>
          <a:solidFill>
            <a:srgbClr val="FEE2E2"/>
          </a:solidFill>
          <a:ln w="25400">
            <a:solidFill>
              <a:srgbClr val="D1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389888"/>
            <a:ext cx="3291840" cy="73152"/>
          </a:xfrm>
          <a:prstGeom prst="rect">
            <a:avLst/>
          </a:prstGeom>
          <a:solidFill>
            <a:srgbClr val="D13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1645920"/>
            <a:ext cx="3383280" cy="548640"/>
          </a:xfrm>
          <a:prstGeom prst="rect">
            <a:avLst/>
          </a:prstGeom>
          <a:noFill/>
        </p:spPr>
        <p:txBody>
          <a:bodyPr wrap="square">
            <a:spAutoFit/>
          </a:bodyPr>
          <a:lstStyle/>
          <a:p>
            <a:pPr algn="ctr">
              <a:defRPr sz="4000" b="0">
                <a:solidFill>
                  <a:srgbClr val="1A2639"/>
                </a:solidFill>
              </a:defRPr>
            </a:pPr>
            <a:r>
              <a:t>👨‍💻</a:t>
            </a:r>
          </a:p>
        </p:txBody>
      </p:sp>
      <p:sp>
        <p:nvSpPr>
          <p:cNvPr id="20" name="TextBox 19"/>
          <p:cNvSpPr txBox="1"/>
          <p:nvPr/>
        </p:nvSpPr>
        <p:spPr>
          <a:xfrm>
            <a:off x="8046720" y="2377440"/>
            <a:ext cx="3383280" cy="640080"/>
          </a:xfrm>
          <a:prstGeom prst="rect">
            <a:avLst/>
          </a:prstGeom>
          <a:noFill/>
        </p:spPr>
        <p:txBody>
          <a:bodyPr wrap="square">
            <a:spAutoFit/>
          </a:bodyPr>
          <a:lstStyle/>
          <a:p>
            <a:pPr algn="ctr">
              <a:defRPr sz="1500" b="1">
                <a:solidFill>
                  <a:srgbClr val="D13535"/>
                </a:solidFill>
              </a:defRPr>
            </a:pPr>
            <a:r>
              <a:t>THIẾU KỸ SƯ DATA</a:t>
            </a:r>
            <a:br/>
            <a:r>
              <a:t>CHUYÊN SÂU</a:t>
            </a:r>
          </a:p>
        </p:txBody>
      </p:sp>
      <p:sp>
        <p:nvSpPr>
          <p:cNvPr id="21" name="TextBox 20"/>
          <p:cNvSpPr txBox="1"/>
          <p:nvPr/>
        </p:nvSpPr>
        <p:spPr>
          <a:xfrm>
            <a:off x="8321040" y="3200400"/>
            <a:ext cx="2834640" cy="2560320"/>
          </a:xfrm>
          <a:prstGeom prst="rect">
            <a:avLst/>
          </a:prstGeom>
          <a:noFill/>
        </p:spPr>
        <p:txBody>
          <a:bodyPr wrap="square">
            <a:spAutoFit/>
          </a:bodyPr>
          <a:lstStyle/>
          <a:p>
            <a:pPr algn="ctr">
              <a:defRPr sz="1250" b="0">
                <a:solidFill>
                  <a:srgbClr val="1A2639"/>
                </a:solidFill>
              </a:defRPr>
            </a:pPr>
            <a:r>
              <a:t>IT giỏi hạ tầng mạng,</a:t>
            </a:r>
            <a:br/>
            <a:r>
              <a:t>nhưng chưa có kinh nghiệm</a:t>
            </a:r>
            <a:br/>
            <a:r>
              <a:t>Data Engineering / ETL.</a:t>
            </a:r>
            <a:br/>
            <a:r>
              <a:t>Tự mày mò = Trễ hạn TCT.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KIẾN TRÚC — TRẠM TRUNG CHUYỂN DỮ LIỆU (ƯU TIÊN CAO)</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SƠ ĐỒ: DỮ LIỆU CHẢY TỪ QUẢNG NGÃI LÊN TCT NHƯ THẾ NÀO?</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365760" y="1280160"/>
            <a:ext cx="2377440" cy="4937760"/>
          </a:xfrm>
          <a:prstGeom prst="roundRect">
            <a:avLst/>
          </a:prstGeom>
          <a:solidFill>
            <a:srgbClr val="DBEAFE"/>
          </a:solidFill>
          <a:ln w="1905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98448"/>
            <a:ext cx="2377440" cy="320040"/>
          </a:xfrm>
          <a:prstGeom prst="rect">
            <a:avLst/>
          </a:prstGeom>
          <a:noFill/>
        </p:spPr>
        <p:txBody>
          <a:bodyPr wrap="square">
            <a:spAutoFit/>
          </a:bodyPr>
          <a:lstStyle/>
          <a:p>
            <a:pPr algn="ctr">
              <a:defRPr sz="1000" b="1">
                <a:solidFill>
                  <a:srgbClr val="005FCC"/>
                </a:solidFill>
              </a:defRPr>
            </a:pPr>
            <a:r>
              <a:t>PHẦN MỀM NỘI BỘ</a:t>
            </a:r>
          </a:p>
        </p:txBody>
      </p:sp>
      <p:sp>
        <p:nvSpPr>
          <p:cNvPr id="9" name="Rounded Rectangle 8"/>
          <p:cNvSpPr/>
          <p:nvPr/>
        </p:nvSpPr>
        <p:spPr>
          <a:xfrm>
            <a:off x="640080" y="1828800"/>
            <a:ext cx="1828800" cy="77724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74520"/>
            <a:ext cx="1828800" cy="365760"/>
          </a:xfrm>
          <a:prstGeom prst="rect">
            <a:avLst/>
          </a:prstGeom>
          <a:noFill/>
        </p:spPr>
        <p:txBody>
          <a:bodyPr wrap="square">
            <a:spAutoFit/>
          </a:bodyPr>
          <a:lstStyle/>
          <a:p>
            <a:pPr algn="ctr">
              <a:defRPr sz="1150" b="1">
                <a:solidFill>
                  <a:srgbClr val="0A254A"/>
                </a:solidFill>
              </a:defRPr>
            </a:pPr>
            <a:r>
              <a:t>💰  Kế toán</a:t>
            </a:r>
          </a:p>
        </p:txBody>
      </p:sp>
      <p:sp>
        <p:nvSpPr>
          <p:cNvPr id="11" name="TextBox 10"/>
          <p:cNvSpPr txBox="1"/>
          <p:nvPr/>
        </p:nvSpPr>
        <p:spPr>
          <a:xfrm>
            <a:off x="640080" y="2240280"/>
            <a:ext cx="1828800" cy="320040"/>
          </a:xfrm>
          <a:prstGeom prst="rect">
            <a:avLst/>
          </a:prstGeom>
          <a:noFill/>
        </p:spPr>
        <p:txBody>
          <a:bodyPr wrap="square">
            <a:spAutoFit/>
          </a:bodyPr>
          <a:lstStyle/>
          <a:p>
            <a:pPr algn="ctr">
              <a:defRPr sz="900" b="0">
                <a:solidFill>
                  <a:srgbClr val="64748B"/>
                </a:solidFill>
              </a:defRPr>
            </a:pPr>
            <a:r>
              <a:t>Cơ sở dữ liệu</a:t>
            </a:r>
          </a:p>
        </p:txBody>
      </p:sp>
      <p:sp>
        <p:nvSpPr>
          <p:cNvPr id="12" name="Right Arrow 11"/>
          <p:cNvSpPr/>
          <p:nvPr/>
        </p:nvSpPr>
        <p:spPr>
          <a:xfrm>
            <a:off x="2514600" y="2057400"/>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880360"/>
            <a:ext cx="1828800" cy="77724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26080"/>
            <a:ext cx="1828800" cy="365760"/>
          </a:xfrm>
          <a:prstGeom prst="rect">
            <a:avLst/>
          </a:prstGeom>
          <a:noFill/>
        </p:spPr>
        <p:txBody>
          <a:bodyPr wrap="square">
            <a:spAutoFit/>
          </a:bodyPr>
          <a:lstStyle/>
          <a:p>
            <a:pPr algn="ctr">
              <a:defRPr sz="1150" b="1">
                <a:solidFill>
                  <a:srgbClr val="0A254A"/>
                </a:solidFill>
              </a:defRPr>
            </a:pPr>
            <a:r>
              <a:t>👷  Nhân sự</a:t>
            </a:r>
          </a:p>
        </p:txBody>
      </p:sp>
      <p:sp>
        <p:nvSpPr>
          <p:cNvPr id="15" name="TextBox 14"/>
          <p:cNvSpPr txBox="1"/>
          <p:nvPr/>
        </p:nvSpPr>
        <p:spPr>
          <a:xfrm>
            <a:off x="640080" y="3291840"/>
            <a:ext cx="1828800" cy="320040"/>
          </a:xfrm>
          <a:prstGeom prst="rect">
            <a:avLst/>
          </a:prstGeom>
          <a:noFill/>
        </p:spPr>
        <p:txBody>
          <a:bodyPr wrap="square">
            <a:spAutoFit/>
          </a:bodyPr>
          <a:lstStyle/>
          <a:p>
            <a:pPr algn="ctr">
              <a:defRPr sz="900" b="0">
                <a:solidFill>
                  <a:srgbClr val="64748B"/>
                </a:solidFill>
              </a:defRPr>
            </a:pPr>
            <a:r>
              <a:t>Cơ sở dữ liệu</a:t>
            </a:r>
          </a:p>
        </p:txBody>
      </p:sp>
      <p:sp>
        <p:nvSpPr>
          <p:cNvPr id="16" name="Right Arrow 15"/>
          <p:cNvSpPr/>
          <p:nvPr/>
        </p:nvSpPr>
        <p:spPr>
          <a:xfrm>
            <a:off x="2514600" y="3108960"/>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3931920"/>
            <a:ext cx="1828800" cy="77724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77640"/>
            <a:ext cx="1828800" cy="365760"/>
          </a:xfrm>
          <a:prstGeom prst="rect">
            <a:avLst/>
          </a:prstGeom>
          <a:noFill/>
        </p:spPr>
        <p:txBody>
          <a:bodyPr wrap="square">
            <a:spAutoFit/>
          </a:bodyPr>
          <a:lstStyle/>
          <a:p>
            <a:pPr algn="ctr">
              <a:defRPr sz="1150" b="1">
                <a:solidFill>
                  <a:srgbClr val="0A254A"/>
                </a:solidFill>
              </a:defRPr>
            </a:pPr>
            <a:r>
              <a:t>🔧  Vật tư</a:t>
            </a:r>
          </a:p>
        </p:txBody>
      </p:sp>
      <p:sp>
        <p:nvSpPr>
          <p:cNvPr id="19" name="TextBox 18"/>
          <p:cNvSpPr txBox="1"/>
          <p:nvPr/>
        </p:nvSpPr>
        <p:spPr>
          <a:xfrm>
            <a:off x="640080" y="4343400"/>
            <a:ext cx="1828800" cy="320040"/>
          </a:xfrm>
          <a:prstGeom prst="rect">
            <a:avLst/>
          </a:prstGeom>
          <a:noFill/>
        </p:spPr>
        <p:txBody>
          <a:bodyPr wrap="square">
            <a:spAutoFit/>
          </a:bodyPr>
          <a:lstStyle/>
          <a:p>
            <a:pPr algn="ctr">
              <a:defRPr sz="900" b="0">
                <a:solidFill>
                  <a:srgbClr val="64748B"/>
                </a:solidFill>
              </a:defRPr>
            </a:pPr>
            <a:r>
              <a:t>Cơ sở dữ liệu</a:t>
            </a:r>
          </a:p>
        </p:txBody>
      </p:sp>
      <p:sp>
        <p:nvSpPr>
          <p:cNvPr id="20" name="Right Arrow 19"/>
          <p:cNvSpPr/>
          <p:nvPr/>
        </p:nvSpPr>
        <p:spPr>
          <a:xfrm>
            <a:off x="2514600" y="4160520"/>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4983479"/>
            <a:ext cx="1828800" cy="77724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29199"/>
            <a:ext cx="1828800" cy="365760"/>
          </a:xfrm>
          <a:prstGeom prst="rect">
            <a:avLst/>
          </a:prstGeom>
          <a:noFill/>
        </p:spPr>
        <p:txBody>
          <a:bodyPr wrap="square">
            <a:spAutoFit/>
          </a:bodyPr>
          <a:lstStyle/>
          <a:p>
            <a:pPr algn="ctr">
              <a:defRPr sz="1150" b="1">
                <a:solidFill>
                  <a:srgbClr val="0A254A"/>
                </a:solidFill>
              </a:defRPr>
            </a:pPr>
            <a:r>
              <a:t>📋  Dự án</a:t>
            </a:r>
          </a:p>
        </p:txBody>
      </p:sp>
      <p:sp>
        <p:nvSpPr>
          <p:cNvPr id="23" name="TextBox 22"/>
          <p:cNvSpPr txBox="1"/>
          <p:nvPr/>
        </p:nvSpPr>
        <p:spPr>
          <a:xfrm>
            <a:off x="640080" y="5394959"/>
            <a:ext cx="1828800" cy="320040"/>
          </a:xfrm>
          <a:prstGeom prst="rect">
            <a:avLst/>
          </a:prstGeom>
          <a:noFill/>
        </p:spPr>
        <p:txBody>
          <a:bodyPr wrap="square">
            <a:spAutoFit/>
          </a:bodyPr>
          <a:lstStyle/>
          <a:p>
            <a:pPr algn="ctr">
              <a:defRPr sz="900" b="0">
                <a:solidFill>
                  <a:srgbClr val="64748B"/>
                </a:solidFill>
              </a:defRPr>
            </a:pPr>
            <a:r>
              <a:t>Cơ sở dữ liệu</a:t>
            </a:r>
          </a:p>
        </p:txBody>
      </p:sp>
      <p:sp>
        <p:nvSpPr>
          <p:cNvPr id="24" name="Right Arrow 23"/>
          <p:cNvSpPr/>
          <p:nvPr/>
        </p:nvSpPr>
        <p:spPr>
          <a:xfrm>
            <a:off x="2514600" y="5212079"/>
            <a:ext cx="365760" cy="22860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017520" y="1280160"/>
            <a:ext cx="3200400" cy="4937760"/>
          </a:xfrm>
          <a:prstGeom prst="roundRect">
            <a:avLst/>
          </a:prstGeom>
          <a:solidFill>
            <a:srgbClr val="FFF3E0"/>
          </a:solidFill>
          <a:ln w="254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7520" y="1298448"/>
            <a:ext cx="3200400" cy="320040"/>
          </a:xfrm>
          <a:prstGeom prst="rect">
            <a:avLst/>
          </a:prstGeom>
          <a:noFill/>
        </p:spPr>
        <p:txBody>
          <a:bodyPr wrap="square">
            <a:spAutoFit/>
          </a:bodyPr>
          <a:lstStyle/>
          <a:p>
            <a:pPr algn="ctr">
              <a:defRPr sz="1000" b="1">
                <a:solidFill>
                  <a:srgbClr val="E08A00"/>
                </a:solidFill>
              </a:defRPr>
            </a:pPr>
            <a:r>
              <a:t>TRẠM TRUNG CHUYỂN (tại QN)</a:t>
            </a:r>
          </a:p>
        </p:txBody>
      </p:sp>
      <p:sp>
        <p:nvSpPr>
          <p:cNvPr id="27" name="Rounded Rectangle 26"/>
          <p:cNvSpPr/>
          <p:nvPr/>
        </p:nvSpPr>
        <p:spPr>
          <a:xfrm>
            <a:off x="3291840" y="1828800"/>
            <a:ext cx="2651760" cy="777240"/>
          </a:xfrm>
          <a:prstGeom prst="roundRect">
            <a:avLst/>
          </a:prstGeom>
          <a:solidFill>
            <a:srgbClr val="FFFFFF"/>
          </a:solidFill>
          <a:ln w="127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1874520"/>
            <a:ext cx="2468880" cy="320040"/>
          </a:xfrm>
          <a:prstGeom prst="rect">
            <a:avLst/>
          </a:prstGeom>
          <a:noFill/>
        </p:spPr>
        <p:txBody>
          <a:bodyPr wrap="square">
            <a:spAutoFit/>
          </a:bodyPr>
          <a:lstStyle/>
          <a:p>
            <a:pPr algn="l">
              <a:defRPr sz="1100" b="1">
                <a:solidFill>
                  <a:srgbClr val="0A254A"/>
                </a:solidFill>
              </a:defRPr>
            </a:pPr>
            <a:r>
              <a:t>1️⃣  Hút dữ liệu</a:t>
            </a:r>
          </a:p>
        </p:txBody>
      </p:sp>
      <p:sp>
        <p:nvSpPr>
          <p:cNvPr id="29" name="TextBox 28"/>
          <p:cNvSpPr txBox="1"/>
          <p:nvPr/>
        </p:nvSpPr>
        <p:spPr>
          <a:xfrm>
            <a:off x="3383280" y="2194560"/>
            <a:ext cx="2468880" cy="365760"/>
          </a:xfrm>
          <a:prstGeom prst="rect">
            <a:avLst/>
          </a:prstGeom>
          <a:noFill/>
        </p:spPr>
        <p:txBody>
          <a:bodyPr wrap="square">
            <a:spAutoFit/>
          </a:bodyPr>
          <a:lstStyle/>
          <a:p>
            <a:pPr algn="l">
              <a:defRPr sz="850" b="0">
                <a:solidFill>
                  <a:srgbClr val="64748B"/>
                </a:solidFill>
              </a:defRPr>
            </a:pPr>
            <a:r>
              <a:t>Chế độ CHỈ ĐỌC</a:t>
            </a:r>
            <a:br/>
            <a:r>
              <a:t>Không ảnh hưởng PM gốc</a:t>
            </a:r>
          </a:p>
        </p:txBody>
      </p:sp>
      <p:sp>
        <p:nvSpPr>
          <p:cNvPr id="30" name="Rounded Rectangle 29"/>
          <p:cNvSpPr/>
          <p:nvPr/>
        </p:nvSpPr>
        <p:spPr>
          <a:xfrm>
            <a:off x="3291840" y="2880360"/>
            <a:ext cx="2651760" cy="777240"/>
          </a:xfrm>
          <a:prstGeom prst="roundRect">
            <a:avLst/>
          </a:prstGeom>
          <a:solidFill>
            <a:srgbClr val="FFFFFF"/>
          </a:solidFill>
          <a:ln w="127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83280" y="2926080"/>
            <a:ext cx="2468880" cy="320040"/>
          </a:xfrm>
          <a:prstGeom prst="rect">
            <a:avLst/>
          </a:prstGeom>
          <a:noFill/>
        </p:spPr>
        <p:txBody>
          <a:bodyPr wrap="square">
            <a:spAutoFit/>
          </a:bodyPr>
          <a:lstStyle/>
          <a:p>
            <a:pPr algn="l">
              <a:defRPr sz="1100" b="1">
                <a:solidFill>
                  <a:srgbClr val="0A254A"/>
                </a:solidFill>
              </a:defRPr>
            </a:pPr>
            <a:r>
              <a:t>2️⃣  Chuẩn hóa</a:t>
            </a:r>
          </a:p>
        </p:txBody>
      </p:sp>
      <p:sp>
        <p:nvSpPr>
          <p:cNvPr id="32" name="TextBox 31"/>
          <p:cNvSpPr txBox="1"/>
          <p:nvPr/>
        </p:nvSpPr>
        <p:spPr>
          <a:xfrm>
            <a:off x="3383280" y="3246120"/>
            <a:ext cx="2468880" cy="365760"/>
          </a:xfrm>
          <a:prstGeom prst="rect">
            <a:avLst/>
          </a:prstGeom>
          <a:noFill/>
        </p:spPr>
        <p:txBody>
          <a:bodyPr wrap="square">
            <a:spAutoFit/>
          </a:bodyPr>
          <a:lstStyle/>
          <a:p>
            <a:pPr algn="l">
              <a:defRPr sz="850" b="0">
                <a:solidFill>
                  <a:srgbClr val="64748B"/>
                </a:solidFill>
              </a:defRPr>
            </a:pPr>
            <a:r>
              <a:t>Ánh xạ theo</a:t>
            </a:r>
            <a:br/>
            <a:r>
              <a:t>29 Master Data TCT</a:t>
            </a:r>
          </a:p>
        </p:txBody>
      </p:sp>
      <p:sp>
        <p:nvSpPr>
          <p:cNvPr id="33" name="Rounded Rectangle 32"/>
          <p:cNvSpPr/>
          <p:nvPr/>
        </p:nvSpPr>
        <p:spPr>
          <a:xfrm>
            <a:off x="3291840" y="3931920"/>
            <a:ext cx="2651760" cy="777240"/>
          </a:xfrm>
          <a:prstGeom prst="roundRect">
            <a:avLst/>
          </a:prstGeom>
          <a:solidFill>
            <a:srgbClr val="FFFFFF"/>
          </a:solidFill>
          <a:ln w="127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80" y="3977640"/>
            <a:ext cx="2468880" cy="320040"/>
          </a:xfrm>
          <a:prstGeom prst="rect">
            <a:avLst/>
          </a:prstGeom>
          <a:noFill/>
        </p:spPr>
        <p:txBody>
          <a:bodyPr wrap="square">
            <a:spAutoFit/>
          </a:bodyPr>
          <a:lstStyle/>
          <a:p>
            <a:pPr algn="l">
              <a:defRPr sz="1100" b="1">
                <a:solidFill>
                  <a:srgbClr val="0A254A"/>
                </a:solidFill>
              </a:defRPr>
            </a:pPr>
            <a:r>
              <a:t>3️⃣  Kiểm tra</a:t>
            </a:r>
          </a:p>
        </p:txBody>
      </p:sp>
      <p:sp>
        <p:nvSpPr>
          <p:cNvPr id="35" name="TextBox 34"/>
          <p:cNvSpPr txBox="1"/>
          <p:nvPr/>
        </p:nvSpPr>
        <p:spPr>
          <a:xfrm>
            <a:off x="3383280" y="4297680"/>
            <a:ext cx="2468880" cy="365760"/>
          </a:xfrm>
          <a:prstGeom prst="rect">
            <a:avLst/>
          </a:prstGeom>
          <a:noFill/>
        </p:spPr>
        <p:txBody>
          <a:bodyPr wrap="square">
            <a:spAutoFit/>
          </a:bodyPr>
          <a:lstStyle/>
          <a:p>
            <a:pPr algn="l">
              <a:defRPr sz="850" b="0">
                <a:solidFill>
                  <a:srgbClr val="64748B"/>
                </a:solidFill>
              </a:defRPr>
            </a:pPr>
            <a:r>
              <a:t>Lọc sạch &amp; kiểm</a:t>
            </a:r>
            <a:br/>
            <a:r>
              <a:t>chất lượng dữ liệu</a:t>
            </a:r>
          </a:p>
        </p:txBody>
      </p:sp>
      <p:sp>
        <p:nvSpPr>
          <p:cNvPr id="36" name="Rounded Rectangle 35"/>
          <p:cNvSpPr/>
          <p:nvPr/>
        </p:nvSpPr>
        <p:spPr>
          <a:xfrm>
            <a:off x="3291840" y="4983479"/>
            <a:ext cx="2651760" cy="777240"/>
          </a:xfrm>
          <a:prstGeom prst="roundRect">
            <a:avLst/>
          </a:prstGeom>
          <a:solidFill>
            <a:srgbClr val="FFFFFF"/>
          </a:solidFill>
          <a:ln w="127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83280" y="5029199"/>
            <a:ext cx="2468880" cy="320040"/>
          </a:xfrm>
          <a:prstGeom prst="rect">
            <a:avLst/>
          </a:prstGeom>
          <a:noFill/>
        </p:spPr>
        <p:txBody>
          <a:bodyPr wrap="square">
            <a:spAutoFit/>
          </a:bodyPr>
          <a:lstStyle/>
          <a:p>
            <a:pPr algn="l">
              <a:defRPr sz="1100" b="1">
                <a:solidFill>
                  <a:srgbClr val="0A254A"/>
                </a:solidFill>
              </a:defRPr>
            </a:pPr>
            <a:r>
              <a:t>4️⃣  Mã hóa</a:t>
            </a:r>
          </a:p>
        </p:txBody>
      </p:sp>
      <p:sp>
        <p:nvSpPr>
          <p:cNvPr id="38" name="TextBox 37"/>
          <p:cNvSpPr txBox="1"/>
          <p:nvPr/>
        </p:nvSpPr>
        <p:spPr>
          <a:xfrm>
            <a:off x="3383280" y="5349239"/>
            <a:ext cx="2468880" cy="365760"/>
          </a:xfrm>
          <a:prstGeom prst="rect">
            <a:avLst/>
          </a:prstGeom>
          <a:noFill/>
        </p:spPr>
        <p:txBody>
          <a:bodyPr wrap="square">
            <a:spAutoFit/>
          </a:bodyPr>
          <a:lstStyle/>
          <a:p>
            <a:pPr algn="l">
              <a:defRPr sz="850" b="0">
                <a:solidFill>
                  <a:srgbClr val="64748B"/>
                </a:solidFill>
              </a:defRPr>
            </a:pPr>
            <a:r>
              <a:t>Đóng gói bảo mật</a:t>
            </a:r>
            <a:br/>
            <a:r>
              <a:t>AES-256</a:t>
            </a:r>
          </a:p>
        </p:txBody>
      </p:sp>
      <p:sp>
        <p:nvSpPr>
          <p:cNvPr id="39" name="Right Arrow 38"/>
          <p:cNvSpPr/>
          <p:nvPr/>
        </p:nvSpPr>
        <p:spPr>
          <a:xfrm>
            <a:off x="6309360" y="3200400"/>
            <a:ext cx="45720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858000" y="2286000"/>
            <a:ext cx="1371600" cy="2286000"/>
          </a:xfrm>
          <a:prstGeom prst="roundRect">
            <a:avLst/>
          </a:prstGeom>
          <a:solidFill>
            <a:srgbClr val="FEF3C7"/>
          </a:solidFill>
          <a:ln w="1905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0" y="2377440"/>
            <a:ext cx="1371600" cy="2103120"/>
          </a:xfrm>
          <a:prstGeom prst="rect">
            <a:avLst/>
          </a:prstGeom>
          <a:noFill/>
        </p:spPr>
        <p:txBody>
          <a:bodyPr wrap="square">
            <a:spAutoFit/>
          </a:bodyPr>
          <a:lstStyle/>
          <a:p>
            <a:pPr algn="ctr">
              <a:defRPr sz="1050" b="1">
                <a:solidFill>
                  <a:srgbClr val="0A254A"/>
                </a:solidFill>
              </a:defRPr>
            </a:pPr>
            <a:r>
              <a:t>🔒</a:t>
            </a:r>
            <a:br/>
            <a:br/>
            <a:r>
              <a:t>Đường</a:t>
            </a:r>
            <a:br/>
            <a:r>
              <a:t>hầm</a:t>
            </a:r>
            <a:br/>
            <a:r>
              <a:t>VPN</a:t>
            </a:r>
            <a:br/>
            <a:r>
              <a:t>bảo mật</a:t>
            </a:r>
          </a:p>
        </p:txBody>
      </p:sp>
      <p:sp>
        <p:nvSpPr>
          <p:cNvPr id="42" name="Right Arrow 41"/>
          <p:cNvSpPr/>
          <p:nvPr/>
        </p:nvSpPr>
        <p:spPr>
          <a:xfrm>
            <a:off x="8321040" y="3200400"/>
            <a:ext cx="45720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869680" y="1280160"/>
            <a:ext cx="2926080" cy="4937760"/>
          </a:xfrm>
          <a:prstGeom prst="roundRect">
            <a:avLst/>
          </a:prstGeom>
          <a:solidFill>
            <a:srgbClr val="DCFCE7"/>
          </a:solidFill>
          <a:ln w="1905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0" y="1298448"/>
            <a:ext cx="2926080" cy="320040"/>
          </a:xfrm>
          <a:prstGeom prst="rect">
            <a:avLst/>
          </a:prstGeom>
          <a:noFill/>
        </p:spPr>
        <p:txBody>
          <a:bodyPr wrap="square">
            <a:spAutoFit/>
          </a:bodyPr>
          <a:lstStyle/>
          <a:p>
            <a:pPr algn="ctr">
              <a:defRPr sz="1000" b="1">
                <a:solidFill>
                  <a:srgbClr val="109560"/>
                </a:solidFill>
              </a:defRPr>
            </a:pPr>
            <a:r>
              <a:t>TỔNG CÔNG TY (CLOUD)</a:t>
            </a:r>
          </a:p>
        </p:txBody>
      </p:sp>
      <p:sp>
        <p:nvSpPr>
          <p:cNvPr id="45" name="Rounded Rectangle 44"/>
          <p:cNvSpPr/>
          <p:nvPr/>
        </p:nvSpPr>
        <p:spPr>
          <a:xfrm>
            <a:off x="9144000" y="1920240"/>
            <a:ext cx="2377440" cy="1371600"/>
          </a:xfrm>
          <a:prstGeom prst="roundRect">
            <a:avLst/>
          </a:prstGeom>
          <a:solidFill>
            <a:srgbClr val="FFFFFF"/>
          </a:solidFill>
          <a:ln w="127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0" y="1965960"/>
            <a:ext cx="2377440" cy="274320"/>
          </a:xfrm>
          <a:prstGeom prst="rect">
            <a:avLst/>
          </a:prstGeom>
          <a:noFill/>
        </p:spPr>
        <p:txBody>
          <a:bodyPr wrap="square">
            <a:spAutoFit/>
          </a:bodyPr>
          <a:lstStyle/>
          <a:p>
            <a:pPr algn="ctr">
              <a:defRPr sz="2200" b="0">
                <a:solidFill>
                  <a:srgbClr val="1A2639"/>
                </a:solidFill>
              </a:defRPr>
            </a:pPr>
            <a:r>
              <a:t>☁️</a:t>
            </a:r>
          </a:p>
        </p:txBody>
      </p:sp>
      <p:sp>
        <p:nvSpPr>
          <p:cNvPr id="47" name="TextBox 46"/>
          <p:cNvSpPr txBox="1"/>
          <p:nvPr/>
        </p:nvSpPr>
        <p:spPr>
          <a:xfrm>
            <a:off x="9144000" y="2377440"/>
            <a:ext cx="2377440" cy="457200"/>
          </a:xfrm>
          <a:prstGeom prst="rect">
            <a:avLst/>
          </a:prstGeom>
          <a:noFill/>
        </p:spPr>
        <p:txBody>
          <a:bodyPr wrap="square">
            <a:spAutoFit/>
          </a:bodyPr>
          <a:lstStyle/>
          <a:p>
            <a:pPr algn="ctr">
              <a:defRPr sz="1100" b="1">
                <a:solidFill>
                  <a:srgbClr val="0A254A"/>
                </a:solidFill>
              </a:defRPr>
            </a:pPr>
            <a:r>
              <a:t>Workspace L3</a:t>
            </a:r>
            <a:br/>
            <a:r>
              <a:t>Quảng Ngãi</a:t>
            </a:r>
          </a:p>
        </p:txBody>
      </p:sp>
      <p:sp>
        <p:nvSpPr>
          <p:cNvPr id="48" name="TextBox 47"/>
          <p:cNvSpPr txBox="1"/>
          <p:nvPr/>
        </p:nvSpPr>
        <p:spPr>
          <a:xfrm>
            <a:off x="9144000" y="2834640"/>
            <a:ext cx="2377440" cy="365760"/>
          </a:xfrm>
          <a:prstGeom prst="rect">
            <a:avLst/>
          </a:prstGeom>
          <a:noFill/>
        </p:spPr>
        <p:txBody>
          <a:bodyPr wrap="square">
            <a:spAutoFit/>
          </a:bodyPr>
          <a:lstStyle/>
          <a:p>
            <a:pPr algn="ctr">
              <a:defRPr sz="900" b="0">
                <a:solidFill>
                  <a:srgbClr val="64748B"/>
                </a:solidFill>
              </a:defRPr>
            </a:pPr>
            <a:r>
              <a:t>Microsoft Fabric</a:t>
            </a:r>
          </a:p>
        </p:txBody>
      </p:sp>
      <p:sp>
        <p:nvSpPr>
          <p:cNvPr id="49" name="Down Arrow 48"/>
          <p:cNvSpPr/>
          <p:nvPr/>
        </p:nvSpPr>
        <p:spPr>
          <a:xfrm>
            <a:off x="10195560" y="3337560"/>
            <a:ext cx="274320" cy="320040"/>
          </a:xfrm>
          <a:prstGeom prst="down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44000" y="3840480"/>
            <a:ext cx="2377440" cy="2103120"/>
          </a:xfrm>
          <a:prstGeom prst="roundRect">
            <a:avLst/>
          </a:prstGeom>
          <a:solidFill>
            <a:srgbClr val="FFFFFF"/>
          </a:solidFill>
          <a:ln w="1905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0" y="3931920"/>
            <a:ext cx="2377440" cy="274320"/>
          </a:xfrm>
          <a:prstGeom prst="rect">
            <a:avLst/>
          </a:prstGeom>
          <a:noFill/>
        </p:spPr>
        <p:txBody>
          <a:bodyPr wrap="square">
            <a:spAutoFit/>
          </a:bodyPr>
          <a:lstStyle/>
          <a:p>
            <a:pPr algn="ctr">
              <a:defRPr sz="2400" b="0">
                <a:solidFill>
                  <a:srgbClr val="1A2639"/>
                </a:solidFill>
              </a:defRPr>
            </a:pPr>
            <a:r>
              <a:t>📊</a:t>
            </a:r>
          </a:p>
        </p:txBody>
      </p:sp>
      <p:sp>
        <p:nvSpPr>
          <p:cNvPr id="52" name="TextBox 51"/>
          <p:cNvSpPr txBox="1"/>
          <p:nvPr/>
        </p:nvSpPr>
        <p:spPr>
          <a:xfrm>
            <a:off x="9144000" y="4389120"/>
            <a:ext cx="2377440" cy="457200"/>
          </a:xfrm>
          <a:prstGeom prst="rect">
            <a:avLst/>
          </a:prstGeom>
          <a:noFill/>
        </p:spPr>
        <p:txBody>
          <a:bodyPr wrap="square">
            <a:spAutoFit/>
          </a:bodyPr>
          <a:lstStyle/>
          <a:p>
            <a:pPr algn="ctr">
              <a:defRPr sz="1200" b="1">
                <a:solidFill>
                  <a:srgbClr val="005FCC"/>
                </a:solidFill>
              </a:defRPr>
            </a:pPr>
            <a:r>
              <a:t>Dashboard</a:t>
            </a:r>
            <a:br/>
            <a:r>
              <a:t>Power BI</a:t>
            </a:r>
          </a:p>
        </p:txBody>
      </p:sp>
      <p:sp>
        <p:nvSpPr>
          <p:cNvPr id="53" name="TextBox 52"/>
          <p:cNvSpPr txBox="1"/>
          <p:nvPr/>
        </p:nvSpPr>
        <p:spPr>
          <a:xfrm>
            <a:off x="9144000" y="5029200"/>
            <a:ext cx="2377440" cy="822960"/>
          </a:xfrm>
          <a:prstGeom prst="rect">
            <a:avLst/>
          </a:prstGeom>
          <a:noFill/>
        </p:spPr>
        <p:txBody>
          <a:bodyPr wrap="square">
            <a:spAutoFit/>
          </a:bodyPr>
          <a:lstStyle/>
          <a:p>
            <a:pPr algn="ctr">
              <a:defRPr sz="950" b="0">
                <a:solidFill>
                  <a:srgbClr val="1A2639"/>
                </a:solidFill>
              </a:defRPr>
            </a:pPr>
            <a:r>
              <a:t>BGĐ xem báo cáo</a:t>
            </a:r>
            <a:br/>
            <a:r>
              <a:t>trực quan mỗi ngày</a:t>
            </a:r>
            <a:br/>
            <a:r>
              <a:t>trên máy tính &amp; điện thoại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AN TOÀN — BAN GIÁM ĐỐC YÊN TÂM 100%</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3 CAM KẾT AN TOÀN KHI VẬN HÀNH TRỤC TÍCH HỢP</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371600"/>
            <a:ext cx="3383280" cy="4572000"/>
          </a:xfrm>
          <a:prstGeom prst="roundRect">
            <a:avLst/>
          </a:prstGeom>
          <a:solidFill>
            <a:srgbClr val="DBEAFE"/>
          </a:solidFill>
          <a:ln w="2540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3291840" cy="73152"/>
          </a:xfrm>
          <a:prstGeom prst="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3383280" cy="548640"/>
          </a:xfrm>
          <a:prstGeom prst="rect">
            <a:avLst/>
          </a:prstGeom>
          <a:noFill/>
        </p:spPr>
        <p:txBody>
          <a:bodyPr wrap="square">
            <a:spAutoFit/>
          </a:bodyPr>
          <a:lstStyle/>
          <a:p>
            <a:pPr algn="ctr">
              <a:defRPr sz="4200" b="0">
                <a:solidFill>
                  <a:srgbClr val="1A2639"/>
                </a:solidFill>
              </a:defRPr>
            </a:pPr>
            <a:r>
              <a:t>🛡️</a:t>
            </a:r>
          </a:p>
        </p:txBody>
      </p:sp>
      <p:sp>
        <p:nvSpPr>
          <p:cNvPr id="10" name="TextBox 9"/>
          <p:cNvSpPr txBox="1"/>
          <p:nvPr/>
        </p:nvSpPr>
        <p:spPr>
          <a:xfrm>
            <a:off x="731520" y="2377440"/>
            <a:ext cx="3383280" cy="640080"/>
          </a:xfrm>
          <a:prstGeom prst="rect">
            <a:avLst/>
          </a:prstGeom>
          <a:noFill/>
        </p:spPr>
        <p:txBody>
          <a:bodyPr wrap="square">
            <a:spAutoFit/>
          </a:bodyPr>
          <a:lstStyle/>
          <a:p>
            <a:pPr algn="ctr">
              <a:defRPr sz="1400" b="1">
                <a:solidFill>
                  <a:srgbClr val="005FCC"/>
                </a:solidFill>
              </a:defRPr>
            </a:pPr>
            <a:r>
              <a:t>KHÔNG SỢ</a:t>
            </a:r>
            <a:br/>
            <a:r>
              <a:t>SẬP PHẦN MỀM</a:t>
            </a:r>
          </a:p>
        </p:txBody>
      </p:sp>
      <p:sp>
        <p:nvSpPr>
          <p:cNvPr id="11" name="TextBox 10"/>
          <p:cNvSpPr txBox="1"/>
          <p:nvPr/>
        </p:nvSpPr>
        <p:spPr>
          <a:xfrm>
            <a:off x="1005840" y="3200400"/>
            <a:ext cx="2834640" cy="2560320"/>
          </a:xfrm>
          <a:prstGeom prst="rect">
            <a:avLst/>
          </a:prstGeom>
          <a:noFill/>
        </p:spPr>
        <p:txBody>
          <a:bodyPr wrap="square">
            <a:spAutoFit/>
          </a:bodyPr>
          <a:lstStyle/>
          <a:p>
            <a:pPr algn="ctr">
              <a:defRPr sz="1150" b="0">
                <a:solidFill>
                  <a:srgbClr val="1A2639"/>
                </a:solidFill>
              </a:defRPr>
            </a:pPr>
            <a:r>
              <a:t>Trạm trung chuyển chạy</a:t>
            </a:r>
            <a:br/>
            <a:r>
              <a:t>trên máy chủ ảo RIÊNG BIỆT.</a:t>
            </a:r>
            <a:br/>
            <a:br/>
            <a:r>
              <a:t>Chỉ đọc bản sao dữ liệu,</a:t>
            </a:r>
            <a:br/>
            <a:r>
              <a:t>không can thiệp hệ thống gốc.</a:t>
            </a:r>
            <a:br/>
            <a:br/>
            <a:r>
              <a:t>Chạy vào ban đêm / giờ vắng,</a:t>
            </a:r>
            <a:br/>
            <a:r>
              <a:t>không tranh tài nguyên.</a:t>
            </a:r>
          </a:p>
        </p:txBody>
      </p:sp>
      <p:sp>
        <p:nvSpPr>
          <p:cNvPr id="12" name="Rounded Rectangle 11"/>
          <p:cNvSpPr/>
          <p:nvPr/>
        </p:nvSpPr>
        <p:spPr>
          <a:xfrm>
            <a:off x="4389120" y="1371600"/>
            <a:ext cx="3383280" cy="4572000"/>
          </a:xfrm>
          <a:prstGeom prst="roundRect">
            <a:avLst/>
          </a:prstGeom>
          <a:solidFill>
            <a:srgbClr val="DCFCE7"/>
          </a:solidFill>
          <a:ln w="254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389888"/>
            <a:ext cx="3291840" cy="73152"/>
          </a:xfrm>
          <a:prstGeom prst="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645920"/>
            <a:ext cx="3383280" cy="548640"/>
          </a:xfrm>
          <a:prstGeom prst="rect">
            <a:avLst/>
          </a:prstGeom>
          <a:noFill/>
        </p:spPr>
        <p:txBody>
          <a:bodyPr wrap="square">
            <a:spAutoFit/>
          </a:bodyPr>
          <a:lstStyle/>
          <a:p>
            <a:pPr algn="ctr">
              <a:defRPr sz="4200" b="0">
                <a:solidFill>
                  <a:srgbClr val="1A2639"/>
                </a:solidFill>
              </a:defRPr>
            </a:pPr>
            <a:r>
              <a:t>🔐</a:t>
            </a:r>
          </a:p>
        </p:txBody>
      </p:sp>
      <p:sp>
        <p:nvSpPr>
          <p:cNvPr id="15" name="TextBox 14"/>
          <p:cNvSpPr txBox="1"/>
          <p:nvPr/>
        </p:nvSpPr>
        <p:spPr>
          <a:xfrm>
            <a:off x="4389120" y="2377440"/>
            <a:ext cx="3383280" cy="640080"/>
          </a:xfrm>
          <a:prstGeom prst="rect">
            <a:avLst/>
          </a:prstGeom>
          <a:noFill/>
        </p:spPr>
        <p:txBody>
          <a:bodyPr wrap="square">
            <a:spAutoFit/>
          </a:bodyPr>
          <a:lstStyle/>
          <a:p>
            <a:pPr algn="ctr">
              <a:defRPr sz="1400" b="1">
                <a:solidFill>
                  <a:srgbClr val="109560"/>
                </a:solidFill>
              </a:defRPr>
            </a:pPr>
            <a:r>
              <a:t>KHÔNG LỘ</a:t>
            </a:r>
            <a:br/>
            <a:r>
              <a:t>DỮ LIỆU RA NGOÀI</a:t>
            </a:r>
          </a:p>
        </p:txBody>
      </p:sp>
      <p:sp>
        <p:nvSpPr>
          <p:cNvPr id="16" name="TextBox 15"/>
          <p:cNvSpPr txBox="1"/>
          <p:nvPr/>
        </p:nvSpPr>
        <p:spPr>
          <a:xfrm>
            <a:off x="4663440" y="3200400"/>
            <a:ext cx="2834640" cy="2560320"/>
          </a:xfrm>
          <a:prstGeom prst="rect">
            <a:avLst/>
          </a:prstGeom>
          <a:noFill/>
        </p:spPr>
        <p:txBody>
          <a:bodyPr wrap="square">
            <a:spAutoFit/>
          </a:bodyPr>
          <a:lstStyle/>
          <a:p>
            <a:pPr algn="ctr">
              <a:defRPr sz="1150" b="0">
                <a:solidFill>
                  <a:srgbClr val="1A2639"/>
                </a:solidFill>
              </a:defRPr>
            </a:pPr>
            <a:r>
              <a:t>Dữ liệu chỉ đi trong</a:t>
            </a:r>
            <a:br/>
            <a:r>
              <a:t>đường hầm VPN riêng</a:t>
            </a:r>
            <a:br/>
            <a:r>
              <a:t>của Tổng công ty.</a:t>
            </a:r>
            <a:br/>
            <a:br/>
            <a:r>
              <a:t>Không mở cổng internet.</a:t>
            </a:r>
            <a:br/>
            <a:r>
              <a:t>Không đi qua bên thứ 3.</a:t>
            </a:r>
            <a:br/>
            <a:br/>
            <a:r>
              <a:t>Mã hóa AES-256</a:t>
            </a:r>
            <a:br/>
            <a:r>
              <a:t>(chuẩn ngân hàng).</a:t>
            </a:r>
          </a:p>
        </p:txBody>
      </p:sp>
      <p:sp>
        <p:nvSpPr>
          <p:cNvPr id="17" name="Rounded Rectangle 16"/>
          <p:cNvSpPr/>
          <p:nvPr/>
        </p:nvSpPr>
        <p:spPr>
          <a:xfrm>
            <a:off x="8046720" y="1371600"/>
            <a:ext cx="3383280" cy="4572000"/>
          </a:xfrm>
          <a:prstGeom prst="roundRect">
            <a:avLst/>
          </a:prstGeom>
          <a:solidFill>
            <a:srgbClr val="FFF3E0"/>
          </a:solidFill>
          <a:ln w="254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389888"/>
            <a:ext cx="3291840" cy="73152"/>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1645920"/>
            <a:ext cx="3383280" cy="548640"/>
          </a:xfrm>
          <a:prstGeom prst="rect">
            <a:avLst/>
          </a:prstGeom>
          <a:noFill/>
        </p:spPr>
        <p:txBody>
          <a:bodyPr wrap="square">
            <a:spAutoFit/>
          </a:bodyPr>
          <a:lstStyle/>
          <a:p>
            <a:pPr algn="ctr">
              <a:defRPr sz="4200" b="0">
                <a:solidFill>
                  <a:srgbClr val="1A2639"/>
                </a:solidFill>
              </a:defRPr>
            </a:pPr>
            <a:r>
              <a:t>🔔</a:t>
            </a:r>
          </a:p>
        </p:txBody>
      </p:sp>
      <p:sp>
        <p:nvSpPr>
          <p:cNvPr id="20" name="TextBox 19"/>
          <p:cNvSpPr txBox="1"/>
          <p:nvPr/>
        </p:nvSpPr>
        <p:spPr>
          <a:xfrm>
            <a:off x="8046720" y="2377440"/>
            <a:ext cx="3383280" cy="640080"/>
          </a:xfrm>
          <a:prstGeom prst="rect">
            <a:avLst/>
          </a:prstGeom>
          <a:noFill/>
        </p:spPr>
        <p:txBody>
          <a:bodyPr wrap="square">
            <a:spAutoFit/>
          </a:bodyPr>
          <a:lstStyle/>
          <a:p>
            <a:pPr algn="ctr">
              <a:defRPr sz="1400" b="1">
                <a:solidFill>
                  <a:srgbClr val="E08A00"/>
                </a:solidFill>
              </a:defRPr>
            </a:pPr>
            <a:r>
              <a:t>TỰ ĐỘNG</a:t>
            </a:r>
            <a:br/>
            <a:r>
              <a:t>CẢNH BÁO KHI LỖI</a:t>
            </a:r>
          </a:p>
        </p:txBody>
      </p:sp>
      <p:sp>
        <p:nvSpPr>
          <p:cNvPr id="21" name="TextBox 20"/>
          <p:cNvSpPr txBox="1"/>
          <p:nvPr/>
        </p:nvSpPr>
        <p:spPr>
          <a:xfrm>
            <a:off x="8321040" y="3200400"/>
            <a:ext cx="2834640" cy="2560320"/>
          </a:xfrm>
          <a:prstGeom prst="rect">
            <a:avLst/>
          </a:prstGeom>
          <a:noFill/>
        </p:spPr>
        <p:txBody>
          <a:bodyPr wrap="square">
            <a:spAutoFit/>
          </a:bodyPr>
          <a:lstStyle/>
          <a:p>
            <a:pPr algn="ctr">
              <a:defRPr sz="1150" b="0">
                <a:solidFill>
                  <a:srgbClr val="1A2639"/>
                </a:solidFill>
              </a:defRPr>
            </a:pPr>
            <a:r>
              <a:t>Nếu nghẽn mạng hoặc</a:t>
            </a:r>
            <a:br/>
            <a:r>
              <a:t>sai lệch dữ liệu,</a:t>
            </a:r>
            <a:br/>
            <a:r>
              <a:t>hệ thống tự gửi email</a:t>
            </a:r>
            <a:br/>
            <a:r>
              <a:t>cảnh báo cho IT ngay.</a:t>
            </a:r>
            <a:br/>
            <a:br/>
            <a:r>
              <a:t>Không cần người trực 24/7.</a:t>
            </a:r>
            <a:br/>
            <a:r>
              <a:t>Mọi thứ được ghi 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PHƯƠNG ÁN — CÂU HỎI TRỌNG TÂM CỦA BAN GIÁM ĐỐC</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SO SÁNH: THUÊ TCT LÀM HỘ  VS  TỰ PHÁT TRIỂN RIÊNG (CÓ NCC)</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371600"/>
            <a:ext cx="5120640" cy="4754880"/>
          </a:xfrm>
          <a:prstGeom prst="roundRect">
            <a:avLst/>
          </a:prstGeom>
          <a:solidFill>
            <a:srgbClr val="FEE2E2"/>
          </a:solidFill>
          <a:ln w="25400">
            <a:solidFill>
              <a:srgbClr val="D13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120640" cy="548640"/>
          </a:xfrm>
          <a:prstGeom prst="rect">
            <a:avLst/>
          </a:prstGeom>
          <a:solidFill>
            <a:srgbClr val="D13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5120640" cy="548640"/>
          </a:xfrm>
          <a:prstGeom prst="rect">
            <a:avLst/>
          </a:prstGeom>
          <a:noFill/>
        </p:spPr>
        <p:txBody>
          <a:bodyPr wrap="square">
            <a:spAutoFit/>
          </a:bodyPr>
          <a:lstStyle/>
          <a:p>
            <a:pPr algn="ctr">
              <a:defRPr sz="1300" b="1">
                <a:solidFill>
                  <a:srgbClr val="FFFFFF"/>
                </a:solidFill>
              </a:defRPr>
            </a:pPr>
            <a:r>
              <a:t>❌  PHƯƠNG ÁN 1: THUÊ DỊCH VỤ CỦA TCT</a:t>
            </a:r>
          </a:p>
        </p:txBody>
      </p:sp>
      <p:sp>
        <p:nvSpPr>
          <p:cNvPr id="10" name="TextBox 9"/>
          <p:cNvSpPr txBox="1"/>
          <p:nvPr/>
        </p:nvSpPr>
        <p:spPr>
          <a:xfrm>
            <a:off x="1005840" y="2103120"/>
            <a:ext cx="4572000" cy="274320"/>
          </a:xfrm>
          <a:prstGeom prst="rect">
            <a:avLst/>
          </a:prstGeom>
          <a:noFill/>
        </p:spPr>
        <p:txBody>
          <a:bodyPr wrap="square">
            <a:spAutoFit/>
          </a:bodyPr>
          <a:lstStyle/>
          <a:p>
            <a:pPr algn="l">
              <a:defRPr sz="1100" b="1">
                <a:solidFill>
                  <a:srgbClr val="D13535"/>
                </a:solidFill>
              </a:defRPr>
            </a:pPr>
            <a:r>
              <a:t>⛔  TCT chỉ xây Hub lõi chung</a:t>
            </a:r>
          </a:p>
        </p:txBody>
      </p:sp>
      <p:sp>
        <p:nvSpPr>
          <p:cNvPr id="11" name="TextBox 10"/>
          <p:cNvSpPr txBox="1"/>
          <p:nvPr/>
        </p:nvSpPr>
        <p:spPr>
          <a:xfrm>
            <a:off x="1005840" y="2359152"/>
            <a:ext cx="4572000" cy="640080"/>
          </a:xfrm>
          <a:prstGeom prst="rect">
            <a:avLst/>
          </a:prstGeom>
          <a:noFill/>
        </p:spPr>
        <p:txBody>
          <a:bodyPr wrap="square">
            <a:spAutoFit/>
          </a:bodyPr>
          <a:lstStyle/>
          <a:p>
            <a:pPr algn="l">
              <a:defRPr sz="950" b="0">
                <a:solidFill>
                  <a:srgbClr val="1A2639"/>
                </a:solidFill>
              </a:defRPr>
            </a:pPr>
            <a:r>
              <a:t>Không đủ người xuống QN khảo sát</a:t>
            </a:r>
            <a:br/>
            <a:r>
              <a:t>từng phần mềm kế toán, vật tư</a:t>
            </a:r>
          </a:p>
        </p:txBody>
      </p:sp>
      <p:sp>
        <p:nvSpPr>
          <p:cNvPr id="12" name="TextBox 11"/>
          <p:cNvSpPr txBox="1"/>
          <p:nvPr/>
        </p:nvSpPr>
        <p:spPr>
          <a:xfrm>
            <a:off x="1005840" y="3063239"/>
            <a:ext cx="4572000" cy="274320"/>
          </a:xfrm>
          <a:prstGeom prst="rect">
            <a:avLst/>
          </a:prstGeom>
          <a:noFill/>
        </p:spPr>
        <p:txBody>
          <a:bodyPr wrap="square">
            <a:spAutoFit/>
          </a:bodyPr>
          <a:lstStyle/>
          <a:p>
            <a:pPr algn="l">
              <a:defRPr sz="1100" b="1">
                <a:solidFill>
                  <a:srgbClr val="D13535"/>
                </a:solidFill>
              </a:defRPr>
            </a:pPr>
            <a:r>
              <a:t>⏳  Xếp hàng chờ lượt</a:t>
            </a:r>
          </a:p>
        </p:txBody>
      </p:sp>
      <p:sp>
        <p:nvSpPr>
          <p:cNvPr id="13" name="TextBox 12"/>
          <p:cNvSpPr txBox="1"/>
          <p:nvPr/>
        </p:nvSpPr>
        <p:spPr>
          <a:xfrm>
            <a:off x="1005840" y="3319271"/>
            <a:ext cx="4572000" cy="640080"/>
          </a:xfrm>
          <a:prstGeom prst="rect">
            <a:avLst/>
          </a:prstGeom>
          <a:noFill/>
        </p:spPr>
        <p:txBody>
          <a:bodyPr wrap="square">
            <a:spAutoFit/>
          </a:bodyPr>
          <a:lstStyle/>
          <a:p>
            <a:pPr algn="l">
              <a:defRPr sz="950" b="0">
                <a:solidFill>
                  <a:srgbClr val="1A2639"/>
                </a:solidFill>
              </a:defRPr>
            </a:pPr>
            <a:r>
              <a:t>TCT phải triển khai cho hàng chục</a:t>
            </a:r>
            <a:br/>
            <a:r>
              <a:t>đơn vị thành viên → Chắc chắn trễ 2026</a:t>
            </a:r>
          </a:p>
        </p:txBody>
      </p:sp>
      <p:sp>
        <p:nvSpPr>
          <p:cNvPr id="14" name="TextBox 13"/>
          <p:cNvSpPr txBox="1"/>
          <p:nvPr/>
        </p:nvSpPr>
        <p:spPr>
          <a:xfrm>
            <a:off x="1005840" y="4023360"/>
            <a:ext cx="4572000" cy="274320"/>
          </a:xfrm>
          <a:prstGeom prst="rect">
            <a:avLst/>
          </a:prstGeom>
          <a:noFill/>
        </p:spPr>
        <p:txBody>
          <a:bodyPr wrap="square">
            <a:spAutoFit/>
          </a:bodyPr>
          <a:lstStyle/>
          <a:p>
            <a:pPr algn="l">
              <a:defRPr sz="1100" b="1">
                <a:solidFill>
                  <a:srgbClr val="D13535"/>
                </a:solidFill>
              </a:defRPr>
            </a:pPr>
            <a:r>
              <a:t>📉  Không có báo cáo riêng</a:t>
            </a:r>
          </a:p>
        </p:txBody>
      </p:sp>
      <p:sp>
        <p:nvSpPr>
          <p:cNvPr id="15" name="TextBox 14"/>
          <p:cNvSpPr txBox="1"/>
          <p:nvPr/>
        </p:nvSpPr>
        <p:spPr>
          <a:xfrm>
            <a:off x="1005840" y="4279392"/>
            <a:ext cx="4572000" cy="640080"/>
          </a:xfrm>
          <a:prstGeom prst="rect">
            <a:avLst/>
          </a:prstGeom>
          <a:noFill/>
        </p:spPr>
        <p:txBody>
          <a:bodyPr wrap="square">
            <a:spAutoFit/>
          </a:bodyPr>
          <a:lstStyle/>
          <a:p>
            <a:pPr algn="l">
              <a:defRPr sz="950" b="0">
                <a:solidFill>
                  <a:srgbClr val="1A2639"/>
                </a:solidFill>
              </a:defRPr>
            </a:pPr>
            <a:r>
              <a:t>TCT chỉ xây Dashboard tài chính</a:t>
            </a:r>
            <a:br/>
            <a:r>
              <a:t>vĩ mô, không phục vụ bài toán</a:t>
            </a:r>
            <a:br/>
            <a:r>
              <a:t>quản trị xưởng/vật tư/nhân công của QN</a:t>
            </a:r>
          </a:p>
        </p:txBody>
      </p:sp>
      <p:sp>
        <p:nvSpPr>
          <p:cNvPr id="16" name="TextBox 15"/>
          <p:cNvSpPr txBox="1"/>
          <p:nvPr/>
        </p:nvSpPr>
        <p:spPr>
          <a:xfrm>
            <a:off x="1005840" y="4983480"/>
            <a:ext cx="4572000" cy="274320"/>
          </a:xfrm>
          <a:prstGeom prst="rect">
            <a:avLst/>
          </a:prstGeom>
          <a:noFill/>
        </p:spPr>
        <p:txBody>
          <a:bodyPr wrap="square">
            <a:spAutoFit/>
          </a:bodyPr>
          <a:lstStyle/>
          <a:p>
            <a:pPr algn="l">
              <a:defRPr sz="1100" b="1">
                <a:solidFill>
                  <a:srgbClr val="D13535"/>
                </a:solidFill>
              </a:defRPr>
            </a:pPr>
            <a:r>
              <a:t>💸  Phải trả phí duy trì hàng năm</a:t>
            </a:r>
          </a:p>
        </p:txBody>
      </p:sp>
      <p:sp>
        <p:nvSpPr>
          <p:cNvPr id="17" name="TextBox 16"/>
          <p:cNvSpPr txBox="1"/>
          <p:nvPr/>
        </p:nvSpPr>
        <p:spPr>
          <a:xfrm>
            <a:off x="1005840" y="5239512"/>
            <a:ext cx="4572000" cy="640080"/>
          </a:xfrm>
          <a:prstGeom prst="rect">
            <a:avLst/>
          </a:prstGeom>
          <a:noFill/>
        </p:spPr>
        <p:txBody>
          <a:bodyPr wrap="square">
            <a:spAutoFit/>
          </a:bodyPr>
          <a:lstStyle/>
          <a:p>
            <a:pPr algn="l">
              <a:defRPr sz="950" b="0">
                <a:solidFill>
                  <a:srgbClr val="1A2639"/>
                </a:solidFill>
              </a:defRPr>
            </a:pPr>
            <a:r>
              <a:t>Gánh phân bổ chi phí phần mềm</a:t>
            </a:r>
            <a:br/>
            <a:r>
              <a:t>từ TCT, không kiểm soát được</a:t>
            </a:r>
          </a:p>
        </p:txBody>
      </p:sp>
      <p:sp>
        <p:nvSpPr>
          <p:cNvPr id="18" name="Rounded Rectangle 17"/>
          <p:cNvSpPr/>
          <p:nvPr/>
        </p:nvSpPr>
        <p:spPr>
          <a:xfrm>
            <a:off x="6217920" y="1371600"/>
            <a:ext cx="5212080" cy="4754880"/>
          </a:xfrm>
          <a:prstGeom prst="roundRect">
            <a:avLst/>
          </a:prstGeom>
          <a:solidFill>
            <a:srgbClr val="DCFCE7"/>
          </a:solidFill>
          <a:ln w="254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371600"/>
            <a:ext cx="5212080" cy="548640"/>
          </a:xfrm>
          <a:prstGeom prst="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371600"/>
            <a:ext cx="5212080" cy="548640"/>
          </a:xfrm>
          <a:prstGeom prst="rect">
            <a:avLst/>
          </a:prstGeom>
          <a:noFill/>
        </p:spPr>
        <p:txBody>
          <a:bodyPr wrap="square">
            <a:spAutoFit/>
          </a:bodyPr>
          <a:lstStyle/>
          <a:p>
            <a:pPr algn="ctr">
              <a:defRPr sz="1250" b="1">
                <a:solidFill>
                  <a:srgbClr val="FFFFFF"/>
                </a:solidFill>
              </a:defRPr>
            </a:pPr>
            <a:r>
              <a:t>✔  PHƯƠNG ÁN 2: PHÁT TRIỂN RIÊNG + NCC  (ĐỀ XUẤT)</a:t>
            </a:r>
          </a:p>
        </p:txBody>
      </p:sp>
      <p:sp>
        <p:nvSpPr>
          <p:cNvPr id="21" name="TextBox 20"/>
          <p:cNvSpPr txBox="1"/>
          <p:nvPr/>
        </p:nvSpPr>
        <p:spPr>
          <a:xfrm>
            <a:off x="6492240" y="2103120"/>
            <a:ext cx="4663440" cy="274320"/>
          </a:xfrm>
          <a:prstGeom prst="rect">
            <a:avLst/>
          </a:prstGeom>
          <a:noFill/>
        </p:spPr>
        <p:txBody>
          <a:bodyPr wrap="square">
            <a:spAutoFit/>
          </a:bodyPr>
          <a:lstStyle/>
          <a:p>
            <a:pPr algn="l">
              <a:defRPr sz="1100" b="1">
                <a:solidFill>
                  <a:srgbClr val="109560"/>
                </a:solidFill>
              </a:defRPr>
            </a:pPr>
            <a:r>
              <a:t>✅  NCC làm việc trực tiếp tại QN</a:t>
            </a:r>
          </a:p>
        </p:txBody>
      </p:sp>
      <p:sp>
        <p:nvSpPr>
          <p:cNvPr id="22" name="TextBox 21"/>
          <p:cNvSpPr txBox="1"/>
          <p:nvPr/>
        </p:nvSpPr>
        <p:spPr>
          <a:xfrm>
            <a:off x="6492240" y="2359152"/>
            <a:ext cx="4663440" cy="640080"/>
          </a:xfrm>
          <a:prstGeom prst="rect">
            <a:avLst/>
          </a:prstGeom>
          <a:noFill/>
        </p:spPr>
        <p:txBody>
          <a:bodyPr wrap="square">
            <a:spAutoFit/>
          </a:bodyPr>
          <a:lstStyle/>
          <a:p>
            <a:pPr algn="l">
              <a:defRPr sz="950" b="0">
                <a:solidFill>
                  <a:srgbClr val="1A2639"/>
                </a:solidFill>
              </a:defRPr>
            </a:pPr>
            <a:r>
              <a:t>Đấu nối đúng từng phần mềm đặc thù</a:t>
            </a:r>
            <a:br/>
            <a:r>
              <a:t>mà công ty đang dùng hàng ngày</a:t>
            </a:r>
          </a:p>
        </p:txBody>
      </p:sp>
      <p:sp>
        <p:nvSpPr>
          <p:cNvPr id="23" name="TextBox 22"/>
          <p:cNvSpPr txBox="1"/>
          <p:nvPr/>
        </p:nvSpPr>
        <p:spPr>
          <a:xfrm>
            <a:off x="6492240" y="3063239"/>
            <a:ext cx="4663440" cy="274320"/>
          </a:xfrm>
          <a:prstGeom prst="rect">
            <a:avLst/>
          </a:prstGeom>
          <a:noFill/>
        </p:spPr>
        <p:txBody>
          <a:bodyPr wrap="square">
            <a:spAutoFit/>
          </a:bodyPr>
          <a:lstStyle/>
          <a:p>
            <a:pPr algn="l">
              <a:defRPr sz="1100" b="1">
                <a:solidFill>
                  <a:srgbClr val="109560"/>
                </a:solidFill>
              </a:defRPr>
            </a:pPr>
            <a:r>
              <a:t>⚡  Hoàn thành trong 3-4 tháng</a:t>
            </a:r>
          </a:p>
        </p:txBody>
      </p:sp>
      <p:sp>
        <p:nvSpPr>
          <p:cNvPr id="24" name="TextBox 23"/>
          <p:cNvSpPr txBox="1"/>
          <p:nvPr/>
        </p:nvSpPr>
        <p:spPr>
          <a:xfrm>
            <a:off x="6492240" y="3319271"/>
            <a:ext cx="4663440" cy="640080"/>
          </a:xfrm>
          <a:prstGeom prst="rect">
            <a:avLst/>
          </a:prstGeom>
          <a:noFill/>
        </p:spPr>
        <p:txBody>
          <a:bodyPr wrap="square">
            <a:spAutoFit/>
          </a:bodyPr>
          <a:lstStyle/>
          <a:p>
            <a:pPr algn="l">
              <a:defRPr sz="950" b="0">
                <a:solidFill>
                  <a:srgbClr val="1A2639"/>
                </a:solidFill>
              </a:defRPr>
            </a:pPr>
            <a:r>
              <a:t>Đơn vị chủ động 100% tiến độ,</a:t>
            </a:r>
            <a:br/>
            <a:r>
              <a:t>đảm bảo kịp mốc hạn TCT giao</a:t>
            </a:r>
          </a:p>
        </p:txBody>
      </p:sp>
      <p:sp>
        <p:nvSpPr>
          <p:cNvPr id="25" name="TextBox 24"/>
          <p:cNvSpPr txBox="1"/>
          <p:nvPr/>
        </p:nvSpPr>
        <p:spPr>
          <a:xfrm>
            <a:off x="6492240" y="4023360"/>
            <a:ext cx="4663440" cy="274320"/>
          </a:xfrm>
          <a:prstGeom prst="rect">
            <a:avLst/>
          </a:prstGeom>
          <a:noFill/>
        </p:spPr>
        <p:txBody>
          <a:bodyPr wrap="square">
            <a:spAutoFit/>
          </a:bodyPr>
          <a:lstStyle/>
          <a:p>
            <a:pPr algn="l">
              <a:defRPr sz="1100" b="1">
                <a:solidFill>
                  <a:srgbClr val="109560"/>
                </a:solidFill>
              </a:defRPr>
            </a:pPr>
            <a:r>
              <a:t>📊  Có Dashboard riêng cho BGĐ</a:t>
            </a:r>
          </a:p>
        </p:txBody>
      </p:sp>
      <p:sp>
        <p:nvSpPr>
          <p:cNvPr id="26" name="TextBox 25"/>
          <p:cNvSpPr txBox="1"/>
          <p:nvPr/>
        </p:nvSpPr>
        <p:spPr>
          <a:xfrm>
            <a:off x="6492240" y="4279392"/>
            <a:ext cx="4663440" cy="640080"/>
          </a:xfrm>
          <a:prstGeom prst="rect">
            <a:avLst/>
          </a:prstGeom>
          <a:noFill/>
        </p:spPr>
        <p:txBody>
          <a:bodyPr wrap="square">
            <a:spAutoFit/>
          </a:bodyPr>
          <a:lstStyle/>
          <a:p>
            <a:pPr algn="l">
              <a:defRPr sz="950" b="0">
                <a:solidFill>
                  <a:srgbClr val="1A2639"/>
                </a:solidFill>
              </a:defRPr>
            </a:pPr>
            <a:r>
              <a:t>Vừa đồng bộ chuẩn cho TCT,</a:t>
            </a:r>
            <a:br/>
            <a:r>
              <a:t>vừa có báo cáo tùy biến</a:t>
            </a:r>
            <a:br/>
            <a:r>
              <a:t>phục vụ điều hành tại đơn vị</a:t>
            </a:r>
          </a:p>
        </p:txBody>
      </p:sp>
      <p:sp>
        <p:nvSpPr>
          <p:cNvPr id="27" name="TextBox 26"/>
          <p:cNvSpPr txBox="1"/>
          <p:nvPr/>
        </p:nvSpPr>
        <p:spPr>
          <a:xfrm>
            <a:off x="6492240" y="4983480"/>
            <a:ext cx="4663440" cy="274320"/>
          </a:xfrm>
          <a:prstGeom prst="rect">
            <a:avLst/>
          </a:prstGeom>
          <a:noFill/>
        </p:spPr>
        <p:txBody>
          <a:bodyPr wrap="square">
            <a:spAutoFit/>
          </a:bodyPr>
          <a:lstStyle/>
          <a:p>
            <a:pPr algn="l">
              <a:defRPr sz="1100" b="1">
                <a:solidFill>
                  <a:srgbClr val="109560"/>
                </a:solidFill>
              </a:defRPr>
            </a:pPr>
            <a:r>
              <a:t>💰  Chi 1 lần, tận dụng Cloud TCT</a:t>
            </a:r>
          </a:p>
        </p:txBody>
      </p:sp>
      <p:sp>
        <p:nvSpPr>
          <p:cNvPr id="28" name="TextBox 27"/>
          <p:cNvSpPr txBox="1"/>
          <p:nvPr/>
        </p:nvSpPr>
        <p:spPr>
          <a:xfrm>
            <a:off x="6492240" y="5239512"/>
            <a:ext cx="4663440" cy="640080"/>
          </a:xfrm>
          <a:prstGeom prst="rect">
            <a:avLst/>
          </a:prstGeom>
          <a:noFill/>
        </p:spPr>
        <p:txBody>
          <a:bodyPr wrap="square">
            <a:spAutoFit/>
          </a:bodyPr>
          <a:lstStyle/>
          <a:p>
            <a:pPr algn="l">
              <a:defRPr sz="950" b="0">
                <a:solidFill>
                  <a:srgbClr val="1A2639"/>
                </a:solidFill>
              </a:defRPr>
            </a:pPr>
            <a:r>
              <a:t>Tiết kiệm tiền tỷ nhờ dùng miễn phí</a:t>
            </a:r>
            <a:br/>
            <a:r>
              <a:t>hạ tầng Cloud mà TCT đã mua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KẾT QUẢ — ĐẦU RA NHÌN THẤY ĐƯỢC</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BAN GIÁM ĐỐC SẼ NHẬN ĐƯỢC GÌ KHI HOÀN THÀNH?</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371600"/>
            <a:ext cx="2468880" cy="4572000"/>
          </a:xfrm>
          <a:prstGeom prst="roundRect">
            <a:avLst/>
          </a:prstGeom>
          <a:solidFill>
            <a:srgbClr val="DBEAFE"/>
          </a:solidFill>
          <a:ln w="2540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2377440" cy="73152"/>
          </a:xfrm>
          <a:prstGeom prst="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2468880" cy="548640"/>
          </a:xfrm>
          <a:prstGeom prst="rect">
            <a:avLst/>
          </a:prstGeom>
          <a:noFill/>
        </p:spPr>
        <p:txBody>
          <a:bodyPr wrap="square">
            <a:spAutoFit/>
          </a:bodyPr>
          <a:lstStyle/>
          <a:p>
            <a:pPr algn="ctr">
              <a:defRPr sz="3800" b="0">
                <a:solidFill>
                  <a:srgbClr val="1A2639"/>
                </a:solidFill>
              </a:defRPr>
            </a:pPr>
            <a:r>
              <a:t>📊</a:t>
            </a:r>
          </a:p>
        </p:txBody>
      </p:sp>
      <p:sp>
        <p:nvSpPr>
          <p:cNvPr id="10" name="TextBox 9"/>
          <p:cNvSpPr txBox="1"/>
          <p:nvPr/>
        </p:nvSpPr>
        <p:spPr>
          <a:xfrm>
            <a:off x="731520" y="2377440"/>
            <a:ext cx="2468880" cy="640080"/>
          </a:xfrm>
          <a:prstGeom prst="rect">
            <a:avLst/>
          </a:prstGeom>
          <a:noFill/>
        </p:spPr>
        <p:txBody>
          <a:bodyPr wrap="square">
            <a:spAutoFit/>
          </a:bodyPr>
          <a:lstStyle/>
          <a:p>
            <a:pPr algn="ctr">
              <a:defRPr sz="1300" b="1">
                <a:solidFill>
                  <a:srgbClr val="005FCC"/>
                </a:solidFill>
              </a:defRPr>
            </a:pPr>
            <a:r>
              <a:t>DASHBOARD</a:t>
            </a:r>
            <a:br/>
            <a:r>
              <a:t>ĐIỀU HÀNH</a:t>
            </a:r>
          </a:p>
        </p:txBody>
      </p:sp>
      <p:sp>
        <p:nvSpPr>
          <p:cNvPr id="11" name="TextBox 10"/>
          <p:cNvSpPr txBox="1"/>
          <p:nvPr/>
        </p:nvSpPr>
        <p:spPr>
          <a:xfrm>
            <a:off x="914400" y="3200400"/>
            <a:ext cx="2103120" cy="2560320"/>
          </a:xfrm>
          <a:prstGeom prst="rect">
            <a:avLst/>
          </a:prstGeom>
          <a:noFill/>
        </p:spPr>
        <p:txBody>
          <a:bodyPr wrap="square">
            <a:spAutoFit/>
          </a:bodyPr>
          <a:lstStyle/>
          <a:p>
            <a:pPr algn="ctr">
              <a:defRPr sz="1200" b="0">
                <a:solidFill>
                  <a:srgbClr val="1A2639"/>
                </a:solidFill>
              </a:defRPr>
            </a:pPr>
            <a:r>
              <a:t>Báo cáo trực quan</a:t>
            </a:r>
            <a:br/>
            <a:r>
              <a:t>cập nhật mỗi ngày.</a:t>
            </a:r>
            <a:br/>
            <a:r>
              <a:t>Xem trên máy tính</a:t>
            </a:r>
            <a:br/>
            <a:r>
              <a:t>hoặc điện thoại.</a:t>
            </a:r>
          </a:p>
        </p:txBody>
      </p:sp>
      <p:sp>
        <p:nvSpPr>
          <p:cNvPr id="12" name="Rounded Rectangle 11"/>
          <p:cNvSpPr/>
          <p:nvPr/>
        </p:nvSpPr>
        <p:spPr>
          <a:xfrm>
            <a:off x="3520439" y="1371600"/>
            <a:ext cx="2468880" cy="4572000"/>
          </a:xfrm>
          <a:prstGeom prst="roundRect">
            <a:avLst/>
          </a:prstGeom>
          <a:solidFill>
            <a:srgbClr val="CCFBF1"/>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66159" y="1389888"/>
            <a:ext cx="2377440"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39" y="1645920"/>
            <a:ext cx="2468880" cy="548640"/>
          </a:xfrm>
          <a:prstGeom prst="rect">
            <a:avLst/>
          </a:prstGeom>
          <a:noFill/>
        </p:spPr>
        <p:txBody>
          <a:bodyPr wrap="square">
            <a:spAutoFit/>
          </a:bodyPr>
          <a:lstStyle/>
          <a:p>
            <a:pPr algn="ctr">
              <a:defRPr sz="3800" b="0">
                <a:solidFill>
                  <a:srgbClr val="1A2639"/>
                </a:solidFill>
              </a:defRPr>
            </a:pPr>
            <a:r>
              <a:t>🔄</a:t>
            </a:r>
          </a:p>
        </p:txBody>
      </p:sp>
      <p:sp>
        <p:nvSpPr>
          <p:cNvPr id="15" name="TextBox 14"/>
          <p:cNvSpPr txBox="1"/>
          <p:nvPr/>
        </p:nvSpPr>
        <p:spPr>
          <a:xfrm>
            <a:off x="3520439" y="2377440"/>
            <a:ext cx="2468880" cy="640080"/>
          </a:xfrm>
          <a:prstGeom prst="rect">
            <a:avLst/>
          </a:prstGeom>
          <a:noFill/>
        </p:spPr>
        <p:txBody>
          <a:bodyPr wrap="square">
            <a:spAutoFit/>
          </a:bodyPr>
          <a:lstStyle/>
          <a:p>
            <a:pPr algn="ctr">
              <a:defRPr sz="1300" b="1">
                <a:solidFill>
                  <a:srgbClr val="14B8A6"/>
                </a:solidFill>
              </a:defRPr>
            </a:pPr>
            <a:r>
              <a:t>DỮ LIỆU</a:t>
            </a:r>
            <a:br/>
            <a:r>
              <a:t>TỰ ĐỘNG</a:t>
            </a:r>
          </a:p>
        </p:txBody>
      </p:sp>
      <p:sp>
        <p:nvSpPr>
          <p:cNvPr id="16" name="TextBox 15"/>
          <p:cNvSpPr txBox="1"/>
          <p:nvPr/>
        </p:nvSpPr>
        <p:spPr>
          <a:xfrm>
            <a:off x="3703319" y="3200400"/>
            <a:ext cx="2103120" cy="2560320"/>
          </a:xfrm>
          <a:prstGeom prst="rect">
            <a:avLst/>
          </a:prstGeom>
          <a:noFill/>
        </p:spPr>
        <p:txBody>
          <a:bodyPr wrap="square">
            <a:spAutoFit/>
          </a:bodyPr>
          <a:lstStyle/>
          <a:p>
            <a:pPr algn="ctr">
              <a:defRPr sz="1200" b="0">
                <a:solidFill>
                  <a:srgbClr val="1A2639"/>
                </a:solidFill>
              </a:defRPr>
            </a:pPr>
            <a:r>
              <a:t>Hết phụ thuộc Excel.</a:t>
            </a:r>
            <a:br/>
            <a:r>
              <a:t>Phòng ban không cần</a:t>
            </a:r>
            <a:br/>
            <a:r>
              <a:t>xuất file thủ công.</a:t>
            </a:r>
            <a:br/>
            <a:r>
              <a:t>Số liệu tự chảy về.</a:t>
            </a:r>
          </a:p>
        </p:txBody>
      </p:sp>
      <p:sp>
        <p:nvSpPr>
          <p:cNvPr id="17" name="Rounded Rectangle 16"/>
          <p:cNvSpPr/>
          <p:nvPr/>
        </p:nvSpPr>
        <p:spPr>
          <a:xfrm>
            <a:off x="6309359" y="1371600"/>
            <a:ext cx="2468880" cy="4572000"/>
          </a:xfrm>
          <a:prstGeom prst="roundRect">
            <a:avLst/>
          </a:prstGeom>
          <a:solidFill>
            <a:srgbClr val="DCFCE7"/>
          </a:solidFill>
          <a:ln w="254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79" y="1389888"/>
            <a:ext cx="2377440" cy="73152"/>
          </a:xfrm>
          <a:prstGeom prst="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59" y="1645920"/>
            <a:ext cx="2468880" cy="548640"/>
          </a:xfrm>
          <a:prstGeom prst="rect">
            <a:avLst/>
          </a:prstGeom>
          <a:noFill/>
        </p:spPr>
        <p:txBody>
          <a:bodyPr wrap="square">
            <a:spAutoFit/>
          </a:bodyPr>
          <a:lstStyle/>
          <a:p>
            <a:pPr algn="ctr">
              <a:defRPr sz="3800" b="0">
                <a:solidFill>
                  <a:srgbClr val="1A2639"/>
                </a:solidFill>
              </a:defRPr>
            </a:pPr>
            <a:r>
              <a:t>✅</a:t>
            </a:r>
          </a:p>
        </p:txBody>
      </p:sp>
      <p:sp>
        <p:nvSpPr>
          <p:cNvPr id="20" name="TextBox 19"/>
          <p:cNvSpPr txBox="1"/>
          <p:nvPr/>
        </p:nvSpPr>
        <p:spPr>
          <a:xfrm>
            <a:off x="6309359" y="2377440"/>
            <a:ext cx="2468880" cy="640080"/>
          </a:xfrm>
          <a:prstGeom prst="rect">
            <a:avLst/>
          </a:prstGeom>
          <a:noFill/>
        </p:spPr>
        <p:txBody>
          <a:bodyPr wrap="square">
            <a:spAutoFit/>
          </a:bodyPr>
          <a:lstStyle/>
          <a:p>
            <a:pPr algn="ctr">
              <a:defRPr sz="1300" b="1">
                <a:solidFill>
                  <a:srgbClr val="109560"/>
                </a:solidFill>
              </a:defRPr>
            </a:pPr>
            <a:r>
              <a:t>MỘT NGUỒN</a:t>
            </a:r>
            <a:br/>
            <a:r>
              <a:t>SỰ THẬT</a:t>
            </a:r>
          </a:p>
        </p:txBody>
      </p:sp>
      <p:sp>
        <p:nvSpPr>
          <p:cNvPr id="21" name="TextBox 20"/>
          <p:cNvSpPr txBox="1"/>
          <p:nvPr/>
        </p:nvSpPr>
        <p:spPr>
          <a:xfrm>
            <a:off x="6492239" y="3200400"/>
            <a:ext cx="2103120" cy="2560320"/>
          </a:xfrm>
          <a:prstGeom prst="rect">
            <a:avLst/>
          </a:prstGeom>
          <a:noFill/>
        </p:spPr>
        <p:txBody>
          <a:bodyPr wrap="square">
            <a:spAutoFit/>
          </a:bodyPr>
          <a:lstStyle/>
          <a:p>
            <a:pPr algn="ctr">
              <a:defRPr sz="1200" b="0">
                <a:solidFill>
                  <a:srgbClr val="1A2639"/>
                </a:solidFill>
              </a:defRPr>
            </a:pPr>
            <a:r>
              <a:t>Kế toán, Vật tư,</a:t>
            </a:r>
            <a:br/>
            <a:r>
              <a:t>Nhân sự đều nhìn</a:t>
            </a:r>
            <a:br/>
            <a:r>
              <a:t>cùng 1 con số.</a:t>
            </a:r>
            <a:br/>
            <a:r>
              <a:t>Hết tranh cãi lệch số.</a:t>
            </a:r>
          </a:p>
        </p:txBody>
      </p:sp>
      <p:sp>
        <p:nvSpPr>
          <p:cNvPr id="22" name="Rounded Rectangle 21"/>
          <p:cNvSpPr/>
          <p:nvPr/>
        </p:nvSpPr>
        <p:spPr>
          <a:xfrm>
            <a:off x="9098280" y="1371600"/>
            <a:ext cx="2468880" cy="4572000"/>
          </a:xfrm>
          <a:prstGeom prst="roundRect">
            <a:avLst/>
          </a:prstGeom>
          <a:solidFill>
            <a:srgbClr val="FFF3E0"/>
          </a:solidFill>
          <a:ln w="254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0" y="1389888"/>
            <a:ext cx="2377440" cy="73152"/>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1645920"/>
            <a:ext cx="2468880" cy="548640"/>
          </a:xfrm>
          <a:prstGeom prst="rect">
            <a:avLst/>
          </a:prstGeom>
          <a:noFill/>
        </p:spPr>
        <p:txBody>
          <a:bodyPr wrap="square">
            <a:spAutoFit/>
          </a:bodyPr>
          <a:lstStyle/>
          <a:p>
            <a:pPr algn="ctr">
              <a:defRPr sz="3800" b="0">
                <a:solidFill>
                  <a:srgbClr val="1A2639"/>
                </a:solidFill>
              </a:defRPr>
            </a:pPr>
            <a:r>
              <a:t>🏆</a:t>
            </a:r>
          </a:p>
        </p:txBody>
      </p:sp>
      <p:sp>
        <p:nvSpPr>
          <p:cNvPr id="25" name="TextBox 24"/>
          <p:cNvSpPr txBox="1"/>
          <p:nvPr/>
        </p:nvSpPr>
        <p:spPr>
          <a:xfrm>
            <a:off x="9098280" y="2377440"/>
            <a:ext cx="2468880" cy="640080"/>
          </a:xfrm>
          <a:prstGeom prst="rect">
            <a:avLst/>
          </a:prstGeom>
          <a:noFill/>
        </p:spPr>
        <p:txBody>
          <a:bodyPr wrap="square">
            <a:spAutoFit/>
          </a:bodyPr>
          <a:lstStyle/>
          <a:p>
            <a:pPr algn="ctr">
              <a:defRPr sz="1300" b="1">
                <a:solidFill>
                  <a:srgbClr val="E08A00"/>
                </a:solidFill>
              </a:defRPr>
            </a:pPr>
            <a:r>
              <a:t>ĐẠT CHỈ TIÊU</a:t>
            </a:r>
            <a:br/>
            <a:r>
              <a:t>CĐS TCT GIAO</a:t>
            </a:r>
          </a:p>
        </p:txBody>
      </p:sp>
      <p:sp>
        <p:nvSpPr>
          <p:cNvPr id="26" name="TextBox 25"/>
          <p:cNvSpPr txBox="1"/>
          <p:nvPr/>
        </p:nvSpPr>
        <p:spPr>
          <a:xfrm>
            <a:off x="9281160" y="3200400"/>
            <a:ext cx="2103120" cy="2560320"/>
          </a:xfrm>
          <a:prstGeom prst="rect">
            <a:avLst/>
          </a:prstGeom>
          <a:noFill/>
        </p:spPr>
        <p:txBody>
          <a:bodyPr wrap="square">
            <a:spAutoFit/>
          </a:bodyPr>
          <a:lstStyle/>
          <a:p>
            <a:pPr algn="ctr">
              <a:defRPr sz="1200" b="0">
                <a:solidFill>
                  <a:srgbClr val="1A2639"/>
                </a:solidFill>
              </a:defRPr>
            </a:pPr>
            <a:r>
              <a:t>Hoàn thành đúng hạn</a:t>
            </a:r>
            <a:br/>
            <a:r>
              <a:t>nhiệm vụ kết nối</a:t>
            </a:r>
            <a:br/>
            <a:r>
              <a:t>Data Platform theo</a:t>
            </a:r>
            <a:br/>
            <a:r>
              <a:t>Nghị quyết HĐQT.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NGÂN SÁCH — CHỦ ĐỘNG ĐÀM PHÁN, KHÔNG ĐỂ NCC DẪN DẮT</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DỰ TOÁN CHI PHÍ SƠ BỘ (XÂY DỰNG TRƯỚC KHI GẶP NCC)</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TextBox 6"/>
          <p:cNvSpPr txBox="1"/>
          <p:nvPr/>
        </p:nvSpPr>
        <p:spPr>
          <a:xfrm>
            <a:off x="731520" y="1463040"/>
            <a:ext cx="3200400" cy="274320"/>
          </a:xfrm>
          <a:prstGeom prst="rect">
            <a:avLst/>
          </a:prstGeom>
          <a:noFill/>
        </p:spPr>
        <p:txBody>
          <a:bodyPr wrap="square">
            <a:spAutoFit/>
          </a:bodyPr>
          <a:lstStyle/>
          <a:p>
            <a:pPr algn="l">
              <a:defRPr sz="1150" b="1">
                <a:solidFill>
                  <a:srgbClr val="0A254A"/>
                </a:solidFill>
              </a:defRPr>
            </a:pPr>
            <a:r>
              <a:t>Hạ tầng máy chủ (VM)</a:t>
            </a:r>
          </a:p>
        </p:txBody>
      </p:sp>
      <p:sp>
        <p:nvSpPr>
          <p:cNvPr id="8" name="TextBox 7"/>
          <p:cNvSpPr txBox="1"/>
          <p:nvPr/>
        </p:nvSpPr>
        <p:spPr>
          <a:xfrm>
            <a:off x="731520" y="1737360"/>
            <a:ext cx="3200400" cy="274320"/>
          </a:xfrm>
          <a:prstGeom prst="rect">
            <a:avLst/>
          </a:prstGeom>
          <a:noFill/>
        </p:spPr>
        <p:txBody>
          <a:bodyPr wrap="square">
            <a:spAutoFit/>
          </a:bodyPr>
          <a:lstStyle/>
          <a:p>
            <a:pPr algn="l">
              <a:defRPr sz="900" b="0">
                <a:solidFill>
                  <a:srgbClr val="64748B"/>
                </a:solidFill>
              </a:defRPr>
            </a:pPr>
            <a:r>
              <a:t>Tận dụng server hiện có</a:t>
            </a:r>
          </a:p>
        </p:txBody>
      </p:sp>
      <p:sp>
        <p:nvSpPr>
          <p:cNvPr id="9" name="Rounded Rectangle 8"/>
          <p:cNvSpPr/>
          <p:nvPr/>
        </p:nvSpPr>
        <p:spPr>
          <a:xfrm>
            <a:off x="4114800" y="1508760"/>
            <a:ext cx="274320" cy="411480"/>
          </a:xfrm>
          <a:prstGeom prst="round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508760"/>
            <a:ext cx="2286000" cy="411480"/>
          </a:xfrm>
          <a:prstGeom prst="rect">
            <a:avLst/>
          </a:prstGeom>
          <a:noFill/>
        </p:spPr>
        <p:txBody>
          <a:bodyPr wrap="square">
            <a:spAutoFit/>
          </a:bodyPr>
          <a:lstStyle/>
          <a:p>
            <a:pPr algn="l">
              <a:defRPr sz="1300" b="1">
                <a:solidFill>
                  <a:srgbClr val="109560"/>
                </a:solidFill>
              </a:defRPr>
            </a:pPr>
            <a:r>
              <a:t>0 đ</a:t>
            </a:r>
          </a:p>
        </p:txBody>
      </p:sp>
      <p:sp>
        <p:nvSpPr>
          <p:cNvPr id="11" name="Rounded Rectangle 10"/>
          <p:cNvSpPr/>
          <p:nvPr/>
        </p:nvSpPr>
        <p:spPr>
          <a:xfrm>
            <a:off x="9601200" y="1527048"/>
            <a:ext cx="2011680" cy="347472"/>
          </a:xfrm>
          <a:prstGeom prst="roundRect">
            <a:avLst/>
          </a:prstGeom>
          <a:solidFill>
            <a:srgbClr val="DCFCE7"/>
          </a:solidFill>
          <a:ln w="127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0" y="1527048"/>
            <a:ext cx="2011680" cy="347472"/>
          </a:xfrm>
          <a:prstGeom prst="rect">
            <a:avLst/>
          </a:prstGeom>
          <a:noFill/>
        </p:spPr>
        <p:txBody>
          <a:bodyPr wrap="square">
            <a:spAutoFit/>
          </a:bodyPr>
          <a:lstStyle/>
          <a:p>
            <a:pPr algn="ctr">
              <a:defRPr sz="850" b="1">
                <a:solidFill>
                  <a:srgbClr val="109560"/>
                </a:solidFill>
              </a:defRPr>
            </a:pPr>
            <a:r>
              <a:t>MIỄN PHÍ</a:t>
            </a:r>
          </a:p>
        </p:txBody>
      </p:sp>
      <p:sp>
        <p:nvSpPr>
          <p:cNvPr id="13" name="TextBox 12"/>
          <p:cNvSpPr txBox="1"/>
          <p:nvPr/>
        </p:nvSpPr>
        <p:spPr>
          <a:xfrm>
            <a:off x="731520" y="2331720"/>
            <a:ext cx="3200400" cy="274320"/>
          </a:xfrm>
          <a:prstGeom prst="rect">
            <a:avLst/>
          </a:prstGeom>
          <a:noFill/>
        </p:spPr>
        <p:txBody>
          <a:bodyPr wrap="square">
            <a:spAutoFit/>
          </a:bodyPr>
          <a:lstStyle/>
          <a:p>
            <a:pPr algn="l">
              <a:defRPr sz="1150" b="1">
                <a:solidFill>
                  <a:srgbClr val="0A254A"/>
                </a:solidFill>
              </a:defRPr>
            </a:pPr>
            <a:r>
              <a:t>Khảo sát &amp; Thiết kế kiến trúc</a:t>
            </a:r>
          </a:p>
        </p:txBody>
      </p:sp>
      <p:sp>
        <p:nvSpPr>
          <p:cNvPr id="14" name="TextBox 13"/>
          <p:cNvSpPr txBox="1"/>
          <p:nvPr/>
        </p:nvSpPr>
        <p:spPr>
          <a:xfrm>
            <a:off x="731520" y="2606040"/>
            <a:ext cx="3200400" cy="274320"/>
          </a:xfrm>
          <a:prstGeom prst="rect">
            <a:avLst/>
          </a:prstGeom>
          <a:noFill/>
        </p:spPr>
        <p:txBody>
          <a:bodyPr wrap="square">
            <a:spAutoFit/>
          </a:bodyPr>
          <a:lstStyle/>
          <a:p>
            <a:pPr algn="l">
              <a:defRPr sz="900" b="0">
                <a:solidFill>
                  <a:srgbClr val="64748B"/>
                </a:solidFill>
              </a:defRPr>
            </a:pPr>
            <a:r>
              <a:t>NCC khảo sát CSDL + ánh xạ 29 Master Data</a:t>
            </a:r>
          </a:p>
        </p:txBody>
      </p:sp>
      <p:sp>
        <p:nvSpPr>
          <p:cNvPr id="15" name="Rounded Rectangle 14"/>
          <p:cNvSpPr/>
          <p:nvPr/>
        </p:nvSpPr>
        <p:spPr>
          <a:xfrm>
            <a:off x="4114800" y="2377440"/>
            <a:ext cx="1645920" cy="411480"/>
          </a:xfrm>
          <a:prstGeom prst="round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97880" y="2377440"/>
            <a:ext cx="2286000" cy="411480"/>
          </a:xfrm>
          <a:prstGeom prst="rect">
            <a:avLst/>
          </a:prstGeom>
          <a:noFill/>
        </p:spPr>
        <p:txBody>
          <a:bodyPr wrap="square">
            <a:spAutoFit/>
          </a:bodyPr>
          <a:lstStyle/>
          <a:p>
            <a:pPr algn="l">
              <a:defRPr sz="1300" b="1">
                <a:solidFill>
                  <a:srgbClr val="005FCC"/>
                </a:solidFill>
              </a:defRPr>
            </a:pPr>
            <a:r>
              <a:t>80 – 120 Tr</a:t>
            </a:r>
          </a:p>
        </p:txBody>
      </p:sp>
      <p:sp>
        <p:nvSpPr>
          <p:cNvPr id="17" name="TextBox 16"/>
          <p:cNvSpPr txBox="1"/>
          <p:nvPr/>
        </p:nvSpPr>
        <p:spPr>
          <a:xfrm>
            <a:off x="731520" y="3200400"/>
            <a:ext cx="3200400" cy="274320"/>
          </a:xfrm>
          <a:prstGeom prst="rect">
            <a:avLst/>
          </a:prstGeom>
          <a:noFill/>
        </p:spPr>
        <p:txBody>
          <a:bodyPr wrap="square">
            <a:spAutoFit/>
          </a:bodyPr>
          <a:lstStyle/>
          <a:p>
            <a:pPr algn="l">
              <a:defRPr sz="1150" b="1">
                <a:solidFill>
                  <a:srgbClr val="0A254A"/>
                </a:solidFill>
              </a:defRPr>
            </a:pPr>
            <a:r>
              <a:t>Xây dựng Trục tích hợp &amp; ETL</a:t>
            </a:r>
          </a:p>
        </p:txBody>
      </p:sp>
      <p:sp>
        <p:nvSpPr>
          <p:cNvPr id="18" name="TextBox 17"/>
          <p:cNvSpPr txBox="1"/>
          <p:nvPr/>
        </p:nvSpPr>
        <p:spPr>
          <a:xfrm>
            <a:off x="731520" y="3474720"/>
            <a:ext cx="3200400" cy="274320"/>
          </a:xfrm>
          <a:prstGeom prst="rect">
            <a:avLst/>
          </a:prstGeom>
          <a:noFill/>
        </p:spPr>
        <p:txBody>
          <a:bodyPr wrap="square">
            <a:spAutoFit/>
          </a:bodyPr>
          <a:lstStyle/>
          <a:p>
            <a:pPr algn="l">
              <a:defRPr sz="900" b="0">
                <a:solidFill>
                  <a:srgbClr val="64748B"/>
                </a:solidFill>
              </a:defRPr>
            </a:pPr>
            <a:r>
              <a:t>Lập trình đường ống tự động hóa dữ liệu</a:t>
            </a:r>
          </a:p>
        </p:txBody>
      </p:sp>
      <p:sp>
        <p:nvSpPr>
          <p:cNvPr id="19" name="Rounded Rectangle 18"/>
          <p:cNvSpPr/>
          <p:nvPr/>
        </p:nvSpPr>
        <p:spPr>
          <a:xfrm>
            <a:off x="4114800" y="3246120"/>
            <a:ext cx="3017520" cy="411480"/>
          </a:xfrm>
          <a:prstGeom prst="round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3246120"/>
            <a:ext cx="2286000" cy="411480"/>
          </a:xfrm>
          <a:prstGeom prst="rect">
            <a:avLst/>
          </a:prstGeom>
          <a:noFill/>
        </p:spPr>
        <p:txBody>
          <a:bodyPr wrap="square">
            <a:spAutoFit/>
          </a:bodyPr>
          <a:lstStyle/>
          <a:p>
            <a:pPr algn="l">
              <a:defRPr sz="1300" b="1">
                <a:solidFill>
                  <a:srgbClr val="005FCC"/>
                </a:solidFill>
              </a:defRPr>
            </a:pPr>
            <a:r>
              <a:t>150 – 250 Tr</a:t>
            </a:r>
          </a:p>
        </p:txBody>
      </p:sp>
      <p:sp>
        <p:nvSpPr>
          <p:cNvPr id="21" name="Rounded Rectangle 20"/>
          <p:cNvSpPr/>
          <p:nvPr/>
        </p:nvSpPr>
        <p:spPr>
          <a:xfrm>
            <a:off x="9601200" y="3264408"/>
            <a:ext cx="2011680" cy="347472"/>
          </a:xfrm>
          <a:prstGeom prst="roundRect">
            <a:avLst/>
          </a:prstGeom>
          <a:solidFill>
            <a:srgbClr val="FFF3E0"/>
          </a:solidFill>
          <a:ln w="127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0" y="3264408"/>
            <a:ext cx="2011680" cy="347472"/>
          </a:xfrm>
          <a:prstGeom prst="rect">
            <a:avLst/>
          </a:prstGeom>
          <a:noFill/>
        </p:spPr>
        <p:txBody>
          <a:bodyPr wrap="square">
            <a:spAutoFit/>
          </a:bodyPr>
          <a:lstStyle/>
          <a:p>
            <a:pPr algn="ctr">
              <a:defRPr sz="850" b="1">
                <a:solidFill>
                  <a:srgbClr val="E08A00"/>
                </a:solidFill>
              </a:defRPr>
            </a:pPr>
            <a:r>
              <a:t>HẠNG MỤC LỚN NHẤT</a:t>
            </a:r>
          </a:p>
        </p:txBody>
      </p:sp>
      <p:sp>
        <p:nvSpPr>
          <p:cNvPr id="23" name="TextBox 22"/>
          <p:cNvSpPr txBox="1"/>
          <p:nvPr/>
        </p:nvSpPr>
        <p:spPr>
          <a:xfrm>
            <a:off x="731520" y="4069079"/>
            <a:ext cx="3200400" cy="274320"/>
          </a:xfrm>
          <a:prstGeom prst="rect">
            <a:avLst/>
          </a:prstGeom>
          <a:noFill/>
        </p:spPr>
        <p:txBody>
          <a:bodyPr wrap="square">
            <a:spAutoFit/>
          </a:bodyPr>
          <a:lstStyle/>
          <a:p>
            <a:pPr algn="l">
              <a:defRPr sz="1150" b="1">
                <a:solidFill>
                  <a:srgbClr val="0A254A"/>
                </a:solidFill>
              </a:defRPr>
            </a:pPr>
            <a:r>
              <a:t>Dashboard Power BI</a:t>
            </a:r>
          </a:p>
        </p:txBody>
      </p:sp>
      <p:sp>
        <p:nvSpPr>
          <p:cNvPr id="24" name="TextBox 23"/>
          <p:cNvSpPr txBox="1"/>
          <p:nvPr/>
        </p:nvSpPr>
        <p:spPr>
          <a:xfrm>
            <a:off x="731520" y="4343399"/>
            <a:ext cx="3200400" cy="274320"/>
          </a:xfrm>
          <a:prstGeom prst="rect">
            <a:avLst/>
          </a:prstGeom>
          <a:noFill/>
        </p:spPr>
        <p:txBody>
          <a:bodyPr wrap="square">
            <a:spAutoFit/>
          </a:bodyPr>
          <a:lstStyle/>
          <a:p>
            <a:pPr algn="l">
              <a:defRPr sz="900" b="0">
                <a:solidFill>
                  <a:srgbClr val="64748B"/>
                </a:solidFill>
              </a:defRPr>
            </a:pPr>
            <a:r>
              <a:t>3-5 bảng báo cáo cho Ban Giám đốc</a:t>
            </a:r>
          </a:p>
        </p:txBody>
      </p:sp>
      <p:sp>
        <p:nvSpPr>
          <p:cNvPr id="25" name="Rounded Rectangle 24"/>
          <p:cNvSpPr/>
          <p:nvPr/>
        </p:nvSpPr>
        <p:spPr>
          <a:xfrm>
            <a:off x="4114800" y="4114799"/>
            <a:ext cx="1554480" cy="411480"/>
          </a:xfrm>
          <a:prstGeom prst="round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06440" y="4114799"/>
            <a:ext cx="2286000" cy="411480"/>
          </a:xfrm>
          <a:prstGeom prst="rect">
            <a:avLst/>
          </a:prstGeom>
          <a:noFill/>
        </p:spPr>
        <p:txBody>
          <a:bodyPr wrap="square">
            <a:spAutoFit/>
          </a:bodyPr>
          <a:lstStyle/>
          <a:p>
            <a:pPr algn="l">
              <a:defRPr sz="1300" b="1">
                <a:solidFill>
                  <a:srgbClr val="005FCC"/>
                </a:solidFill>
              </a:defRPr>
            </a:pPr>
            <a:r>
              <a:t>100 – 150 Tr</a:t>
            </a:r>
          </a:p>
        </p:txBody>
      </p:sp>
      <p:sp>
        <p:nvSpPr>
          <p:cNvPr id="27" name="TextBox 26"/>
          <p:cNvSpPr txBox="1"/>
          <p:nvPr/>
        </p:nvSpPr>
        <p:spPr>
          <a:xfrm>
            <a:off x="731520" y="4937760"/>
            <a:ext cx="3200400" cy="274320"/>
          </a:xfrm>
          <a:prstGeom prst="rect">
            <a:avLst/>
          </a:prstGeom>
          <a:noFill/>
        </p:spPr>
        <p:txBody>
          <a:bodyPr wrap="square">
            <a:spAutoFit/>
          </a:bodyPr>
          <a:lstStyle/>
          <a:p>
            <a:pPr algn="l">
              <a:defRPr sz="1150" b="1">
                <a:solidFill>
                  <a:srgbClr val="0A254A"/>
                </a:solidFill>
              </a:defRPr>
            </a:pPr>
            <a:r>
              <a:t>Đào tạo + Bảo hành 12 tháng</a:t>
            </a:r>
          </a:p>
        </p:txBody>
      </p:sp>
      <p:sp>
        <p:nvSpPr>
          <p:cNvPr id="28" name="TextBox 27"/>
          <p:cNvSpPr txBox="1"/>
          <p:nvPr/>
        </p:nvSpPr>
        <p:spPr>
          <a:xfrm>
            <a:off x="731520" y="5212080"/>
            <a:ext cx="3200400" cy="274320"/>
          </a:xfrm>
          <a:prstGeom prst="rect">
            <a:avLst/>
          </a:prstGeom>
          <a:noFill/>
        </p:spPr>
        <p:txBody>
          <a:bodyPr wrap="square">
            <a:spAutoFit/>
          </a:bodyPr>
          <a:lstStyle/>
          <a:p>
            <a:pPr algn="l">
              <a:defRPr sz="900" b="0">
                <a:solidFill>
                  <a:srgbClr val="64748B"/>
                </a:solidFill>
              </a:defRPr>
            </a:pPr>
            <a:r>
              <a:t>Bàn giao mã nguồn, IT làm chủ 100%</a:t>
            </a:r>
          </a:p>
        </p:txBody>
      </p:sp>
      <p:sp>
        <p:nvSpPr>
          <p:cNvPr id="29" name="Rounded Rectangle 28"/>
          <p:cNvSpPr/>
          <p:nvPr/>
        </p:nvSpPr>
        <p:spPr>
          <a:xfrm>
            <a:off x="4114800" y="4983480"/>
            <a:ext cx="914400" cy="411480"/>
          </a:xfrm>
          <a:prstGeom prst="round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60" y="4983480"/>
            <a:ext cx="2286000" cy="411480"/>
          </a:xfrm>
          <a:prstGeom prst="rect">
            <a:avLst/>
          </a:prstGeom>
          <a:noFill/>
        </p:spPr>
        <p:txBody>
          <a:bodyPr wrap="square">
            <a:spAutoFit/>
          </a:bodyPr>
          <a:lstStyle/>
          <a:p>
            <a:pPr algn="l">
              <a:defRPr sz="1300" b="1">
                <a:solidFill>
                  <a:srgbClr val="005FCC"/>
                </a:solidFill>
              </a:defRPr>
            </a:pPr>
            <a:r>
              <a:t>50 – 80 Tr</a:t>
            </a:r>
          </a:p>
        </p:txBody>
      </p:sp>
      <p:sp>
        <p:nvSpPr>
          <p:cNvPr id="31" name="Rounded Rectangle 30"/>
          <p:cNvSpPr/>
          <p:nvPr/>
        </p:nvSpPr>
        <p:spPr>
          <a:xfrm>
            <a:off x="731520" y="5486400"/>
            <a:ext cx="10698480" cy="822960"/>
          </a:xfrm>
          <a:prstGeom prst="round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532120"/>
            <a:ext cx="5486400" cy="365760"/>
          </a:xfrm>
          <a:prstGeom prst="rect">
            <a:avLst/>
          </a:prstGeom>
          <a:noFill/>
        </p:spPr>
        <p:txBody>
          <a:bodyPr wrap="square">
            <a:spAutoFit/>
          </a:bodyPr>
          <a:lstStyle/>
          <a:p>
            <a:pPr algn="l">
              <a:defRPr sz="1400" b="1">
                <a:solidFill>
                  <a:srgbClr val="FFFFFF"/>
                </a:solidFill>
              </a:defRPr>
            </a:pPr>
            <a:r>
              <a:t>TỔNG DỰ TOÁN KHÁI TOÁN</a:t>
            </a:r>
          </a:p>
        </p:txBody>
      </p:sp>
      <p:sp>
        <p:nvSpPr>
          <p:cNvPr id="33" name="TextBox 32"/>
          <p:cNvSpPr txBox="1"/>
          <p:nvPr/>
        </p:nvSpPr>
        <p:spPr>
          <a:xfrm>
            <a:off x="6858000" y="5486400"/>
            <a:ext cx="4389120" cy="411480"/>
          </a:xfrm>
          <a:prstGeom prst="rect">
            <a:avLst/>
          </a:prstGeom>
          <a:noFill/>
        </p:spPr>
        <p:txBody>
          <a:bodyPr wrap="square">
            <a:spAutoFit/>
          </a:bodyPr>
          <a:lstStyle/>
          <a:p>
            <a:pPr algn="r">
              <a:defRPr sz="2200" b="1">
                <a:solidFill>
                  <a:srgbClr val="FDE047"/>
                </a:solidFill>
              </a:defRPr>
            </a:pPr>
            <a:r>
              <a:t>380 – 600 TRIỆU VNĐ</a:t>
            </a:r>
          </a:p>
        </p:txBody>
      </p:sp>
      <p:sp>
        <p:nvSpPr>
          <p:cNvPr id="34" name="TextBox 33"/>
          <p:cNvSpPr txBox="1"/>
          <p:nvPr/>
        </p:nvSpPr>
        <p:spPr>
          <a:xfrm>
            <a:off x="1097280" y="5897880"/>
            <a:ext cx="9601200" cy="365760"/>
          </a:xfrm>
          <a:prstGeom prst="rect">
            <a:avLst/>
          </a:prstGeom>
          <a:noFill/>
        </p:spPr>
        <p:txBody>
          <a:bodyPr wrap="square">
            <a:spAutoFit/>
          </a:bodyPr>
          <a:lstStyle/>
          <a:p>
            <a:pPr algn="l">
              <a:defRPr sz="1000" b="0">
                <a:solidFill>
                  <a:srgbClr val="BAD7F5"/>
                </a:solidFill>
              </a:defRPr>
            </a:pPr>
            <a:r>
              <a:t>Thanh toán phân kỳ theo mốc nghiệm thu  •  Tiết kiệm tiền tỷ nhờ tận dụng Cloud TCT đã mua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KẾ HOẠCH — TỪNG BƯỚC RÕ RÀNG, KIỂM SOÁT CHẶT CHẼ</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LỘ TRÌNH TRIỂN KHAI 3 GIAI ĐOẠN</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371600"/>
            <a:ext cx="3383280" cy="4572000"/>
          </a:xfrm>
          <a:prstGeom prst="roundRect">
            <a:avLst/>
          </a:prstGeom>
          <a:solidFill>
            <a:srgbClr val="DBEAFE"/>
          </a:solidFill>
          <a:ln w="2540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3291840" cy="73152"/>
          </a:xfrm>
          <a:prstGeom prst="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3383280" cy="320040"/>
          </a:xfrm>
          <a:prstGeom prst="rect">
            <a:avLst/>
          </a:prstGeom>
          <a:noFill/>
        </p:spPr>
        <p:txBody>
          <a:bodyPr wrap="square">
            <a:spAutoFit/>
          </a:bodyPr>
          <a:lstStyle/>
          <a:p>
            <a:pPr algn="ctr">
              <a:defRPr sz="1000" b="1">
                <a:solidFill>
                  <a:srgbClr val="005FCC"/>
                </a:solidFill>
              </a:defRPr>
            </a:pPr>
            <a:r>
              <a:t>GIAI ĐOẠN 1</a:t>
            </a:r>
          </a:p>
        </p:txBody>
      </p:sp>
      <p:sp>
        <p:nvSpPr>
          <p:cNvPr id="10" name="TextBox 9"/>
          <p:cNvSpPr txBox="1"/>
          <p:nvPr/>
        </p:nvSpPr>
        <p:spPr>
          <a:xfrm>
            <a:off x="731520" y="1874519"/>
            <a:ext cx="3383280" cy="320040"/>
          </a:xfrm>
          <a:prstGeom prst="rect">
            <a:avLst/>
          </a:prstGeom>
          <a:noFill/>
        </p:spPr>
        <p:txBody>
          <a:bodyPr wrap="square">
            <a:spAutoFit/>
          </a:bodyPr>
          <a:lstStyle/>
          <a:p>
            <a:pPr algn="ctr">
              <a:defRPr sz="1200" b="1">
                <a:solidFill>
                  <a:srgbClr val="0A254A"/>
                </a:solidFill>
              </a:defRPr>
            </a:pPr>
            <a:r>
              <a:t>Tháng 3 – 4 / 2026</a:t>
            </a:r>
          </a:p>
        </p:txBody>
      </p:sp>
      <p:sp>
        <p:nvSpPr>
          <p:cNvPr id="11" name="TextBox 10"/>
          <p:cNvSpPr txBox="1"/>
          <p:nvPr/>
        </p:nvSpPr>
        <p:spPr>
          <a:xfrm>
            <a:off x="731520" y="2331720"/>
            <a:ext cx="3383280" cy="365760"/>
          </a:xfrm>
          <a:prstGeom prst="rect">
            <a:avLst/>
          </a:prstGeom>
          <a:noFill/>
        </p:spPr>
        <p:txBody>
          <a:bodyPr wrap="square">
            <a:spAutoFit/>
          </a:bodyPr>
          <a:lstStyle/>
          <a:p>
            <a:pPr algn="ctr">
              <a:defRPr sz="1400" b="1">
                <a:solidFill>
                  <a:srgbClr val="005FCC"/>
                </a:solidFill>
              </a:defRPr>
            </a:pPr>
            <a:r>
              <a:t>KHẢO SÁT NỘI BỘ</a:t>
            </a:r>
          </a:p>
        </p:txBody>
      </p:sp>
      <p:sp>
        <p:nvSpPr>
          <p:cNvPr id="12" name="Rounded Rectangle 11"/>
          <p:cNvSpPr/>
          <p:nvPr/>
        </p:nvSpPr>
        <p:spPr>
          <a:xfrm>
            <a:off x="1051560" y="2788920"/>
            <a:ext cx="2743200" cy="320040"/>
          </a:xfrm>
          <a:prstGeom prst="round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788920"/>
            <a:ext cx="2743200" cy="320040"/>
          </a:xfrm>
          <a:prstGeom prst="rect">
            <a:avLst/>
          </a:prstGeom>
          <a:noFill/>
        </p:spPr>
        <p:txBody>
          <a:bodyPr wrap="square">
            <a:spAutoFit/>
          </a:bodyPr>
          <a:lstStyle/>
          <a:p>
            <a:pPr algn="ctr">
              <a:defRPr sz="900" b="1">
                <a:solidFill>
                  <a:srgbClr val="FFFFFF"/>
                </a:solidFill>
              </a:defRPr>
            </a:pPr>
            <a:r>
              <a:t>NỘI BỘ TỰ LÀM  •  0 VNĐ</a:t>
            </a:r>
          </a:p>
        </p:txBody>
      </p:sp>
      <p:sp>
        <p:nvSpPr>
          <p:cNvPr id="14" name="TextBox 13"/>
          <p:cNvSpPr txBox="1"/>
          <p:nvPr/>
        </p:nvSpPr>
        <p:spPr>
          <a:xfrm>
            <a:off x="1005840" y="3291840"/>
            <a:ext cx="2834640" cy="365760"/>
          </a:xfrm>
          <a:prstGeom prst="rect">
            <a:avLst/>
          </a:prstGeom>
          <a:noFill/>
        </p:spPr>
        <p:txBody>
          <a:bodyPr wrap="square">
            <a:spAutoFit/>
          </a:bodyPr>
          <a:lstStyle/>
          <a:p>
            <a:pPr algn="l">
              <a:defRPr sz="1100" b="0">
                <a:solidFill>
                  <a:srgbClr val="1A2639"/>
                </a:solidFill>
              </a:defRPr>
            </a:pPr>
            <a:r>
              <a:t>☐  Thành lập Tổ công tác</a:t>
            </a:r>
          </a:p>
        </p:txBody>
      </p:sp>
      <p:sp>
        <p:nvSpPr>
          <p:cNvPr id="15" name="TextBox 14"/>
          <p:cNvSpPr txBox="1"/>
          <p:nvPr/>
        </p:nvSpPr>
        <p:spPr>
          <a:xfrm>
            <a:off x="1005840" y="3749039"/>
            <a:ext cx="2834640" cy="365760"/>
          </a:xfrm>
          <a:prstGeom prst="rect">
            <a:avLst/>
          </a:prstGeom>
          <a:noFill/>
        </p:spPr>
        <p:txBody>
          <a:bodyPr wrap="square">
            <a:spAutoFit/>
          </a:bodyPr>
          <a:lstStyle/>
          <a:p>
            <a:pPr algn="l">
              <a:defRPr sz="1100" b="0">
                <a:solidFill>
                  <a:srgbClr val="1A2639"/>
                </a:solidFill>
              </a:defRPr>
            </a:pPr>
            <a:r>
              <a:t>☐  Khảo sát CSDL 4 phần mềm</a:t>
            </a:r>
          </a:p>
        </p:txBody>
      </p:sp>
      <p:sp>
        <p:nvSpPr>
          <p:cNvPr id="16" name="TextBox 15"/>
          <p:cNvSpPr txBox="1"/>
          <p:nvPr/>
        </p:nvSpPr>
        <p:spPr>
          <a:xfrm>
            <a:off x="1005840" y="4206240"/>
            <a:ext cx="2834640" cy="365760"/>
          </a:xfrm>
          <a:prstGeom prst="rect">
            <a:avLst/>
          </a:prstGeom>
          <a:noFill/>
        </p:spPr>
        <p:txBody>
          <a:bodyPr wrap="square">
            <a:spAutoFit/>
          </a:bodyPr>
          <a:lstStyle/>
          <a:p>
            <a:pPr algn="l">
              <a:defRPr sz="1100" b="0">
                <a:solidFill>
                  <a:srgbClr val="1A2639"/>
                </a:solidFill>
              </a:defRPr>
            </a:pPr>
            <a:r>
              <a:t>☐  Ánh xạ 29 Master Data</a:t>
            </a:r>
          </a:p>
        </p:txBody>
      </p:sp>
      <p:sp>
        <p:nvSpPr>
          <p:cNvPr id="17" name="TextBox 16"/>
          <p:cNvSpPr txBox="1"/>
          <p:nvPr/>
        </p:nvSpPr>
        <p:spPr>
          <a:xfrm>
            <a:off x="1005840" y="4663440"/>
            <a:ext cx="2834640" cy="365760"/>
          </a:xfrm>
          <a:prstGeom prst="rect">
            <a:avLst/>
          </a:prstGeom>
          <a:noFill/>
        </p:spPr>
        <p:txBody>
          <a:bodyPr wrap="square">
            <a:spAutoFit/>
          </a:bodyPr>
          <a:lstStyle/>
          <a:p>
            <a:pPr algn="l">
              <a:defRPr sz="1100" b="0">
                <a:solidFill>
                  <a:srgbClr val="1A2639"/>
                </a:solidFill>
              </a:defRPr>
            </a:pPr>
            <a:r>
              <a:t>☐  Lập đề bài cho NCC</a:t>
            </a:r>
          </a:p>
        </p:txBody>
      </p:sp>
      <p:sp>
        <p:nvSpPr>
          <p:cNvPr id="18" name="Right Arrow 17"/>
          <p:cNvSpPr/>
          <p:nvPr/>
        </p:nvSpPr>
        <p:spPr>
          <a:xfrm>
            <a:off x="4160520" y="3200400"/>
            <a:ext cx="32004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80559" y="1371600"/>
            <a:ext cx="3383280" cy="4572000"/>
          </a:xfrm>
          <a:prstGeom prst="roundRect">
            <a:avLst/>
          </a:prstGeom>
          <a:solidFill>
            <a:srgbClr val="FFF3E0"/>
          </a:solidFill>
          <a:ln w="2540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26279" y="1389888"/>
            <a:ext cx="3291840" cy="73152"/>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59" y="1600200"/>
            <a:ext cx="3383280" cy="320040"/>
          </a:xfrm>
          <a:prstGeom prst="rect">
            <a:avLst/>
          </a:prstGeom>
          <a:noFill/>
        </p:spPr>
        <p:txBody>
          <a:bodyPr wrap="square">
            <a:spAutoFit/>
          </a:bodyPr>
          <a:lstStyle/>
          <a:p>
            <a:pPr algn="ctr">
              <a:defRPr sz="1000" b="1">
                <a:solidFill>
                  <a:srgbClr val="E08A00"/>
                </a:solidFill>
              </a:defRPr>
            </a:pPr>
            <a:r>
              <a:t>GIAI ĐOẠN 2</a:t>
            </a:r>
          </a:p>
        </p:txBody>
      </p:sp>
      <p:sp>
        <p:nvSpPr>
          <p:cNvPr id="22" name="TextBox 21"/>
          <p:cNvSpPr txBox="1"/>
          <p:nvPr/>
        </p:nvSpPr>
        <p:spPr>
          <a:xfrm>
            <a:off x="4480559" y="1874519"/>
            <a:ext cx="3383280" cy="320040"/>
          </a:xfrm>
          <a:prstGeom prst="rect">
            <a:avLst/>
          </a:prstGeom>
          <a:noFill/>
        </p:spPr>
        <p:txBody>
          <a:bodyPr wrap="square">
            <a:spAutoFit/>
          </a:bodyPr>
          <a:lstStyle/>
          <a:p>
            <a:pPr algn="ctr">
              <a:defRPr sz="1200" b="1">
                <a:solidFill>
                  <a:srgbClr val="0A254A"/>
                </a:solidFill>
              </a:defRPr>
            </a:pPr>
            <a:r>
              <a:t>Tháng 5 – 7 / 2026</a:t>
            </a:r>
          </a:p>
        </p:txBody>
      </p:sp>
      <p:sp>
        <p:nvSpPr>
          <p:cNvPr id="23" name="TextBox 22"/>
          <p:cNvSpPr txBox="1"/>
          <p:nvPr/>
        </p:nvSpPr>
        <p:spPr>
          <a:xfrm>
            <a:off x="4480559" y="2331720"/>
            <a:ext cx="3383280" cy="365760"/>
          </a:xfrm>
          <a:prstGeom prst="rect">
            <a:avLst/>
          </a:prstGeom>
          <a:noFill/>
        </p:spPr>
        <p:txBody>
          <a:bodyPr wrap="square">
            <a:spAutoFit/>
          </a:bodyPr>
          <a:lstStyle/>
          <a:p>
            <a:pPr algn="ctr">
              <a:defRPr sz="1400" b="1">
                <a:solidFill>
                  <a:srgbClr val="E08A00"/>
                </a:solidFill>
              </a:defRPr>
            </a:pPr>
            <a:r>
              <a:t>THUÊ NCC TRIỂN KHAI</a:t>
            </a:r>
          </a:p>
        </p:txBody>
      </p:sp>
      <p:sp>
        <p:nvSpPr>
          <p:cNvPr id="24" name="Rounded Rectangle 23"/>
          <p:cNvSpPr/>
          <p:nvPr/>
        </p:nvSpPr>
        <p:spPr>
          <a:xfrm>
            <a:off x="4800599" y="2788920"/>
            <a:ext cx="2743200" cy="320040"/>
          </a:xfrm>
          <a:prstGeom prst="round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599" y="2788920"/>
            <a:ext cx="2743200" cy="320040"/>
          </a:xfrm>
          <a:prstGeom prst="rect">
            <a:avLst/>
          </a:prstGeom>
          <a:noFill/>
        </p:spPr>
        <p:txBody>
          <a:bodyPr wrap="square">
            <a:spAutoFit/>
          </a:bodyPr>
          <a:lstStyle/>
          <a:p>
            <a:pPr algn="ctr">
              <a:defRPr sz="900" b="1">
                <a:solidFill>
                  <a:srgbClr val="FFFFFF"/>
                </a:solidFill>
              </a:defRPr>
            </a:pPr>
            <a:r>
              <a:t>THUÊ NCC  •  GIAI ĐOẠN CHÍNH</a:t>
            </a:r>
          </a:p>
        </p:txBody>
      </p:sp>
      <p:sp>
        <p:nvSpPr>
          <p:cNvPr id="26" name="TextBox 25"/>
          <p:cNvSpPr txBox="1"/>
          <p:nvPr/>
        </p:nvSpPr>
        <p:spPr>
          <a:xfrm>
            <a:off x="4754879" y="3291840"/>
            <a:ext cx="2834640" cy="365760"/>
          </a:xfrm>
          <a:prstGeom prst="rect">
            <a:avLst/>
          </a:prstGeom>
          <a:noFill/>
        </p:spPr>
        <p:txBody>
          <a:bodyPr wrap="square">
            <a:spAutoFit/>
          </a:bodyPr>
          <a:lstStyle/>
          <a:p>
            <a:pPr algn="l">
              <a:defRPr sz="1100" b="0">
                <a:solidFill>
                  <a:srgbClr val="1A2639"/>
                </a:solidFill>
              </a:defRPr>
            </a:pPr>
            <a:r>
              <a:t>☐  Lựa chọn NCC tối ưu</a:t>
            </a:r>
          </a:p>
        </p:txBody>
      </p:sp>
      <p:sp>
        <p:nvSpPr>
          <p:cNvPr id="27" name="TextBox 26"/>
          <p:cNvSpPr txBox="1"/>
          <p:nvPr/>
        </p:nvSpPr>
        <p:spPr>
          <a:xfrm>
            <a:off x="4754879" y="3749039"/>
            <a:ext cx="2834640" cy="365760"/>
          </a:xfrm>
          <a:prstGeom prst="rect">
            <a:avLst/>
          </a:prstGeom>
          <a:noFill/>
        </p:spPr>
        <p:txBody>
          <a:bodyPr wrap="square">
            <a:spAutoFit/>
          </a:bodyPr>
          <a:lstStyle/>
          <a:p>
            <a:pPr algn="l">
              <a:defRPr sz="1100" b="0">
                <a:solidFill>
                  <a:srgbClr val="1A2639"/>
                </a:solidFill>
              </a:defRPr>
            </a:pPr>
            <a:r>
              <a:t>☐  Dựng Trạm trung chuyển</a:t>
            </a:r>
          </a:p>
        </p:txBody>
      </p:sp>
      <p:sp>
        <p:nvSpPr>
          <p:cNvPr id="28" name="TextBox 27"/>
          <p:cNvSpPr txBox="1"/>
          <p:nvPr/>
        </p:nvSpPr>
        <p:spPr>
          <a:xfrm>
            <a:off x="4754879" y="4206240"/>
            <a:ext cx="2834640" cy="365760"/>
          </a:xfrm>
          <a:prstGeom prst="rect">
            <a:avLst/>
          </a:prstGeom>
          <a:noFill/>
        </p:spPr>
        <p:txBody>
          <a:bodyPr wrap="square">
            <a:spAutoFit/>
          </a:bodyPr>
          <a:lstStyle/>
          <a:p>
            <a:pPr algn="l">
              <a:defRPr sz="1100" b="0">
                <a:solidFill>
                  <a:srgbClr val="1A2639"/>
                </a:solidFill>
              </a:defRPr>
            </a:pPr>
            <a:r>
              <a:t>☐  Viết đường ống ETL</a:t>
            </a:r>
          </a:p>
        </p:txBody>
      </p:sp>
      <p:sp>
        <p:nvSpPr>
          <p:cNvPr id="29" name="TextBox 28"/>
          <p:cNvSpPr txBox="1"/>
          <p:nvPr/>
        </p:nvSpPr>
        <p:spPr>
          <a:xfrm>
            <a:off x="4754879" y="4663440"/>
            <a:ext cx="2834640" cy="365760"/>
          </a:xfrm>
          <a:prstGeom prst="rect">
            <a:avLst/>
          </a:prstGeom>
          <a:noFill/>
        </p:spPr>
        <p:txBody>
          <a:bodyPr wrap="square">
            <a:spAutoFit/>
          </a:bodyPr>
          <a:lstStyle/>
          <a:p>
            <a:pPr algn="l">
              <a:defRPr sz="1100" b="0">
                <a:solidFill>
                  <a:srgbClr val="1A2639"/>
                </a:solidFill>
              </a:defRPr>
            </a:pPr>
            <a:r>
              <a:t>☐  Kiểm thử kết nối TCT</a:t>
            </a:r>
          </a:p>
        </p:txBody>
      </p:sp>
      <p:sp>
        <p:nvSpPr>
          <p:cNvPr id="30" name="Right Arrow 29"/>
          <p:cNvSpPr/>
          <p:nvPr/>
        </p:nvSpPr>
        <p:spPr>
          <a:xfrm>
            <a:off x="7909559" y="3200400"/>
            <a:ext cx="320040" cy="274320"/>
          </a:xfrm>
          <a:prstGeom prst="rightArrow">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229600" y="1371600"/>
            <a:ext cx="3383280" cy="4572000"/>
          </a:xfrm>
          <a:prstGeom prst="roundRect">
            <a:avLst/>
          </a:prstGeom>
          <a:solidFill>
            <a:srgbClr val="DCFCE7"/>
          </a:solidFill>
          <a:ln w="254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75320" y="1389888"/>
            <a:ext cx="3291840" cy="73152"/>
          </a:xfrm>
          <a:prstGeom prst="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1600200"/>
            <a:ext cx="3383280" cy="320040"/>
          </a:xfrm>
          <a:prstGeom prst="rect">
            <a:avLst/>
          </a:prstGeom>
          <a:noFill/>
        </p:spPr>
        <p:txBody>
          <a:bodyPr wrap="square">
            <a:spAutoFit/>
          </a:bodyPr>
          <a:lstStyle/>
          <a:p>
            <a:pPr algn="ctr">
              <a:defRPr sz="1000" b="1">
                <a:solidFill>
                  <a:srgbClr val="109560"/>
                </a:solidFill>
              </a:defRPr>
            </a:pPr>
            <a:r>
              <a:t>GIAI ĐOẠN 3</a:t>
            </a:r>
          </a:p>
        </p:txBody>
      </p:sp>
      <p:sp>
        <p:nvSpPr>
          <p:cNvPr id="34" name="TextBox 33"/>
          <p:cNvSpPr txBox="1"/>
          <p:nvPr/>
        </p:nvSpPr>
        <p:spPr>
          <a:xfrm>
            <a:off x="8229600" y="1874519"/>
            <a:ext cx="3383280" cy="320040"/>
          </a:xfrm>
          <a:prstGeom prst="rect">
            <a:avLst/>
          </a:prstGeom>
          <a:noFill/>
        </p:spPr>
        <p:txBody>
          <a:bodyPr wrap="square">
            <a:spAutoFit/>
          </a:bodyPr>
          <a:lstStyle/>
          <a:p>
            <a:pPr algn="ctr">
              <a:defRPr sz="1200" b="1">
                <a:solidFill>
                  <a:srgbClr val="0A254A"/>
                </a:solidFill>
              </a:defRPr>
            </a:pPr>
            <a:r>
              <a:t>Tháng 8 / 2026 →</a:t>
            </a:r>
          </a:p>
        </p:txBody>
      </p:sp>
      <p:sp>
        <p:nvSpPr>
          <p:cNvPr id="35" name="TextBox 34"/>
          <p:cNvSpPr txBox="1"/>
          <p:nvPr/>
        </p:nvSpPr>
        <p:spPr>
          <a:xfrm>
            <a:off x="8229600" y="2331720"/>
            <a:ext cx="3383280" cy="365760"/>
          </a:xfrm>
          <a:prstGeom prst="rect">
            <a:avLst/>
          </a:prstGeom>
          <a:noFill/>
        </p:spPr>
        <p:txBody>
          <a:bodyPr wrap="square">
            <a:spAutoFit/>
          </a:bodyPr>
          <a:lstStyle/>
          <a:p>
            <a:pPr algn="ctr">
              <a:defRPr sz="1400" b="1">
                <a:solidFill>
                  <a:srgbClr val="109560"/>
                </a:solidFill>
              </a:defRPr>
            </a:pPr>
            <a:r>
              <a:t>BÀN GIAO &amp; KHAI THÁC</a:t>
            </a:r>
          </a:p>
        </p:txBody>
      </p:sp>
      <p:sp>
        <p:nvSpPr>
          <p:cNvPr id="36" name="Rounded Rectangle 35"/>
          <p:cNvSpPr/>
          <p:nvPr/>
        </p:nvSpPr>
        <p:spPr>
          <a:xfrm>
            <a:off x="8549640" y="2788920"/>
            <a:ext cx="2743200" cy="320040"/>
          </a:xfrm>
          <a:prstGeom prst="round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49640" y="2788920"/>
            <a:ext cx="2743200" cy="320040"/>
          </a:xfrm>
          <a:prstGeom prst="rect">
            <a:avLst/>
          </a:prstGeom>
          <a:noFill/>
        </p:spPr>
        <p:txBody>
          <a:bodyPr wrap="square">
            <a:spAutoFit/>
          </a:bodyPr>
          <a:lstStyle/>
          <a:p>
            <a:pPr algn="ctr">
              <a:defRPr sz="900" b="1">
                <a:solidFill>
                  <a:srgbClr val="FFFFFF"/>
                </a:solidFill>
              </a:defRPr>
            </a:pPr>
            <a:r>
              <a:t>IT LÀM CHỦ 100%</a:t>
            </a:r>
          </a:p>
        </p:txBody>
      </p:sp>
      <p:sp>
        <p:nvSpPr>
          <p:cNvPr id="38" name="TextBox 37"/>
          <p:cNvSpPr txBox="1"/>
          <p:nvPr/>
        </p:nvSpPr>
        <p:spPr>
          <a:xfrm>
            <a:off x="8503920" y="3291840"/>
            <a:ext cx="2834640" cy="365760"/>
          </a:xfrm>
          <a:prstGeom prst="rect">
            <a:avLst/>
          </a:prstGeom>
          <a:noFill/>
        </p:spPr>
        <p:txBody>
          <a:bodyPr wrap="square">
            <a:spAutoFit/>
          </a:bodyPr>
          <a:lstStyle/>
          <a:p>
            <a:pPr algn="l">
              <a:defRPr sz="1100" b="0">
                <a:solidFill>
                  <a:srgbClr val="1A2639"/>
                </a:solidFill>
              </a:defRPr>
            </a:pPr>
            <a:r>
              <a:t>☐  Nghiệm thu hệ thống</a:t>
            </a:r>
          </a:p>
        </p:txBody>
      </p:sp>
      <p:sp>
        <p:nvSpPr>
          <p:cNvPr id="39" name="TextBox 38"/>
          <p:cNvSpPr txBox="1"/>
          <p:nvPr/>
        </p:nvSpPr>
        <p:spPr>
          <a:xfrm>
            <a:off x="8503920" y="3749039"/>
            <a:ext cx="2834640" cy="365760"/>
          </a:xfrm>
          <a:prstGeom prst="rect">
            <a:avLst/>
          </a:prstGeom>
          <a:noFill/>
        </p:spPr>
        <p:txBody>
          <a:bodyPr wrap="square">
            <a:spAutoFit/>
          </a:bodyPr>
          <a:lstStyle/>
          <a:p>
            <a:pPr algn="l">
              <a:defRPr sz="1100" b="0">
                <a:solidFill>
                  <a:srgbClr val="1A2639"/>
                </a:solidFill>
              </a:defRPr>
            </a:pPr>
            <a:r>
              <a:t>☐  NCC bàn giao mã nguồn</a:t>
            </a:r>
          </a:p>
        </p:txBody>
      </p:sp>
      <p:sp>
        <p:nvSpPr>
          <p:cNvPr id="40" name="TextBox 39"/>
          <p:cNvSpPr txBox="1"/>
          <p:nvPr/>
        </p:nvSpPr>
        <p:spPr>
          <a:xfrm>
            <a:off x="8503920" y="4206240"/>
            <a:ext cx="2834640" cy="365760"/>
          </a:xfrm>
          <a:prstGeom prst="rect">
            <a:avLst/>
          </a:prstGeom>
          <a:noFill/>
        </p:spPr>
        <p:txBody>
          <a:bodyPr wrap="square">
            <a:spAutoFit/>
          </a:bodyPr>
          <a:lstStyle/>
          <a:p>
            <a:pPr algn="l">
              <a:defRPr sz="1100" b="0">
                <a:solidFill>
                  <a:srgbClr val="1A2639"/>
                </a:solidFill>
              </a:defRPr>
            </a:pPr>
            <a:r>
              <a:t>☐  Đào tạo IT vận hành</a:t>
            </a:r>
          </a:p>
        </p:txBody>
      </p:sp>
      <p:sp>
        <p:nvSpPr>
          <p:cNvPr id="41" name="TextBox 40"/>
          <p:cNvSpPr txBox="1"/>
          <p:nvPr/>
        </p:nvSpPr>
        <p:spPr>
          <a:xfrm>
            <a:off x="8503920" y="4663440"/>
            <a:ext cx="2834640" cy="365760"/>
          </a:xfrm>
          <a:prstGeom prst="rect">
            <a:avLst/>
          </a:prstGeom>
          <a:noFill/>
        </p:spPr>
        <p:txBody>
          <a:bodyPr wrap="square">
            <a:spAutoFit/>
          </a:bodyPr>
          <a:lstStyle/>
          <a:p>
            <a:pPr algn="l">
              <a:defRPr sz="1100" b="0">
                <a:solidFill>
                  <a:srgbClr val="1A2639"/>
                </a:solidFill>
              </a:defRPr>
            </a:pPr>
            <a:r>
              <a:t>☐  Xây Dashboard cho BGĐ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274320"/>
          </a:xfrm>
          <a:prstGeom prst="rect">
            <a:avLst/>
          </a:prstGeom>
          <a:noFill/>
        </p:spPr>
        <p:txBody>
          <a:bodyPr wrap="square">
            <a:spAutoFit/>
          </a:bodyPr>
          <a:lstStyle/>
          <a:p>
            <a:pPr algn="l">
              <a:defRPr sz="950" b="1">
                <a:solidFill>
                  <a:srgbClr val="A0C3EB"/>
                </a:solidFill>
              </a:defRPr>
            </a:pPr>
            <a:r>
              <a:t>KIẾN NGHỊ — 3 NỘI DUNG XIN CHỦ TRƯƠNG</a:t>
            </a:r>
          </a:p>
        </p:txBody>
      </p:sp>
      <p:sp>
        <p:nvSpPr>
          <p:cNvPr id="5" name="TextBox 4"/>
          <p:cNvSpPr txBox="1"/>
          <p:nvPr/>
        </p:nvSpPr>
        <p:spPr>
          <a:xfrm>
            <a:off x="731520" y="384048"/>
            <a:ext cx="10515600" cy="502920"/>
          </a:xfrm>
          <a:prstGeom prst="rect">
            <a:avLst/>
          </a:prstGeom>
          <a:noFill/>
        </p:spPr>
        <p:txBody>
          <a:bodyPr wrap="square">
            <a:spAutoFit/>
          </a:bodyPr>
          <a:lstStyle/>
          <a:p>
            <a:pPr algn="l">
              <a:defRPr sz="2000" b="1">
                <a:solidFill>
                  <a:srgbClr val="FFFFFF"/>
                </a:solidFill>
              </a:defRPr>
            </a:pPr>
            <a:r>
              <a:t>KÍNH ĐỀ NGHỊ BAN GIÁM ĐỐC PHÊ DUYỆT</a:t>
            </a:r>
          </a:p>
        </p:txBody>
      </p:sp>
      <p:sp>
        <p:nvSpPr>
          <p:cNvPr id="6" name="TextBox 5"/>
          <p:cNvSpPr txBox="1"/>
          <p:nvPr/>
        </p:nvSpPr>
        <p:spPr>
          <a:xfrm>
            <a:off x="731520" y="6510528"/>
            <a:ext cx="10698480" cy="274320"/>
          </a:xfrm>
          <a:prstGeom prst="rect">
            <a:avLst/>
          </a:prstGeom>
          <a:noFill/>
        </p:spPr>
        <p:txBody>
          <a:bodyPr wrap="square">
            <a:spAutoFit/>
          </a:bodyPr>
          <a:lstStyle/>
          <a:p>
            <a:pPr algn="l">
              <a:defRPr sz="850" b="0">
                <a:solidFill>
                  <a:srgbClr val="64748B"/>
                </a:solidFill>
              </a:defRPr>
            </a:pPr>
            <a:r>
              <a:t>PTSC Quảng Ngãi | Báo cáo Data Platform — Chỉ đạo số 9 BGĐ</a:t>
            </a:r>
          </a:p>
        </p:txBody>
      </p:sp>
      <p:sp>
        <p:nvSpPr>
          <p:cNvPr id="7" name="Rounded Rectangle 6"/>
          <p:cNvSpPr/>
          <p:nvPr/>
        </p:nvSpPr>
        <p:spPr>
          <a:xfrm>
            <a:off x="731520" y="1371600"/>
            <a:ext cx="3383280" cy="3840480"/>
          </a:xfrm>
          <a:prstGeom prst="roundRect">
            <a:avLst/>
          </a:prstGeom>
          <a:solidFill>
            <a:srgbClr val="DBEAFE"/>
          </a:solidFill>
          <a:ln w="31750">
            <a:solidFill>
              <a:srgbClr val="005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3291840" cy="73152"/>
          </a:xfrm>
          <a:prstGeom prst="rect">
            <a:avLst/>
          </a:prstGeom>
          <a:solidFill>
            <a:srgbClr val="005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3383280" cy="457200"/>
          </a:xfrm>
          <a:prstGeom prst="rect">
            <a:avLst/>
          </a:prstGeom>
          <a:noFill/>
        </p:spPr>
        <p:txBody>
          <a:bodyPr wrap="square">
            <a:spAutoFit/>
          </a:bodyPr>
          <a:lstStyle/>
          <a:p>
            <a:pPr algn="ctr">
              <a:defRPr sz="3000" b="0">
                <a:solidFill>
                  <a:srgbClr val="1A2639"/>
                </a:solidFill>
              </a:defRPr>
            </a:pPr>
            <a:r>
              <a:t>1️⃣</a:t>
            </a:r>
          </a:p>
        </p:txBody>
      </p:sp>
      <p:sp>
        <p:nvSpPr>
          <p:cNvPr id="10" name="TextBox 9"/>
          <p:cNvSpPr txBox="1"/>
          <p:nvPr/>
        </p:nvSpPr>
        <p:spPr>
          <a:xfrm>
            <a:off x="731520" y="2286000"/>
            <a:ext cx="3383280" cy="640080"/>
          </a:xfrm>
          <a:prstGeom prst="rect">
            <a:avLst/>
          </a:prstGeom>
          <a:noFill/>
        </p:spPr>
        <p:txBody>
          <a:bodyPr wrap="square">
            <a:spAutoFit/>
          </a:bodyPr>
          <a:lstStyle/>
          <a:p>
            <a:pPr algn="ctr">
              <a:defRPr sz="1600" b="1">
                <a:solidFill>
                  <a:srgbClr val="005FCC"/>
                </a:solidFill>
              </a:defRPr>
            </a:pPr>
            <a:r>
              <a:t>CHỌN PHƯƠNG ÁN 2</a:t>
            </a:r>
          </a:p>
        </p:txBody>
      </p:sp>
      <p:sp>
        <p:nvSpPr>
          <p:cNvPr id="11" name="TextBox 10"/>
          <p:cNvSpPr txBox="1"/>
          <p:nvPr/>
        </p:nvSpPr>
        <p:spPr>
          <a:xfrm>
            <a:off x="1005840" y="3108960"/>
            <a:ext cx="2834640" cy="1828800"/>
          </a:xfrm>
          <a:prstGeom prst="rect">
            <a:avLst/>
          </a:prstGeom>
          <a:noFill/>
        </p:spPr>
        <p:txBody>
          <a:bodyPr wrap="square">
            <a:spAutoFit/>
          </a:bodyPr>
          <a:lstStyle/>
          <a:p>
            <a:pPr algn="ctr">
              <a:defRPr sz="1300" b="0">
                <a:solidFill>
                  <a:srgbClr val="1A2639"/>
                </a:solidFill>
              </a:defRPr>
            </a:pPr>
            <a:r>
              <a:t>Phát triển riêng</a:t>
            </a:r>
            <a:br/>
            <a:r>
              <a:t>đồng bộ TCT</a:t>
            </a:r>
            <a:br/>
            <a:r>
              <a:t>(có thuê NCC tư vấn)</a:t>
            </a:r>
          </a:p>
        </p:txBody>
      </p:sp>
      <p:sp>
        <p:nvSpPr>
          <p:cNvPr id="12" name="Rounded Rectangle 11"/>
          <p:cNvSpPr/>
          <p:nvPr/>
        </p:nvSpPr>
        <p:spPr>
          <a:xfrm>
            <a:off x="4480559" y="1371600"/>
            <a:ext cx="3383280" cy="3840480"/>
          </a:xfrm>
          <a:prstGeom prst="roundRect">
            <a:avLst/>
          </a:prstGeom>
          <a:solidFill>
            <a:srgbClr val="FFF3E0"/>
          </a:solidFill>
          <a:ln w="3175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79" y="1389888"/>
            <a:ext cx="3291840" cy="73152"/>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1645920"/>
            <a:ext cx="3383280" cy="457200"/>
          </a:xfrm>
          <a:prstGeom prst="rect">
            <a:avLst/>
          </a:prstGeom>
          <a:noFill/>
        </p:spPr>
        <p:txBody>
          <a:bodyPr wrap="square">
            <a:spAutoFit/>
          </a:bodyPr>
          <a:lstStyle/>
          <a:p>
            <a:pPr algn="ctr">
              <a:defRPr sz="3000" b="0">
                <a:solidFill>
                  <a:srgbClr val="1A2639"/>
                </a:solidFill>
              </a:defRPr>
            </a:pPr>
            <a:r>
              <a:t>2️⃣</a:t>
            </a:r>
          </a:p>
        </p:txBody>
      </p:sp>
      <p:sp>
        <p:nvSpPr>
          <p:cNvPr id="15" name="TextBox 14"/>
          <p:cNvSpPr txBox="1"/>
          <p:nvPr/>
        </p:nvSpPr>
        <p:spPr>
          <a:xfrm>
            <a:off x="4480559" y="2286000"/>
            <a:ext cx="3383280" cy="640080"/>
          </a:xfrm>
          <a:prstGeom prst="rect">
            <a:avLst/>
          </a:prstGeom>
          <a:noFill/>
        </p:spPr>
        <p:txBody>
          <a:bodyPr wrap="square">
            <a:spAutoFit/>
          </a:bodyPr>
          <a:lstStyle/>
          <a:p>
            <a:pPr algn="ctr">
              <a:defRPr sz="1600" b="1">
                <a:solidFill>
                  <a:srgbClr val="E08A00"/>
                </a:solidFill>
              </a:defRPr>
            </a:pPr>
            <a:r>
              <a:t>THÀNH LẬP</a:t>
            </a:r>
            <a:br/>
            <a:r>
              <a:t>TỔ CÔNG TÁC</a:t>
            </a:r>
          </a:p>
        </p:txBody>
      </p:sp>
      <p:sp>
        <p:nvSpPr>
          <p:cNvPr id="16" name="TextBox 15"/>
          <p:cNvSpPr txBox="1"/>
          <p:nvPr/>
        </p:nvSpPr>
        <p:spPr>
          <a:xfrm>
            <a:off x="4754879" y="3108960"/>
            <a:ext cx="2834640" cy="1828800"/>
          </a:xfrm>
          <a:prstGeom prst="rect">
            <a:avLst/>
          </a:prstGeom>
          <a:noFill/>
        </p:spPr>
        <p:txBody>
          <a:bodyPr wrap="square">
            <a:spAutoFit/>
          </a:bodyPr>
          <a:lstStyle/>
          <a:p>
            <a:pPr algn="ctr">
              <a:defRPr sz="1300" b="0">
                <a:solidFill>
                  <a:srgbClr val="1A2639"/>
                </a:solidFill>
              </a:defRPr>
            </a:pPr>
            <a:r>
              <a:t>IT chủ trì +</a:t>
            </a:r>
            <a:br/>
            <a:r>
              <a:t>Key Users các Phòng ban</a:t>
            </a:r>
            <a:br/>
            <a:r>
              <a:t>bắt đầu Giai đoạn 1 ngay</a:t>
            </a:r>
          </a:p>
        </p:txBody>
      </p:sp>
      <p:sp>
        <p:nvSpPr>
          <p:cNvPr id="17" name="Rounded Rectangle 16"/>
          <p:cNvSpPr/>
          <p:nvPr/>
        </p:nvSpPr>
        <p:spPr>
          <a:xfrm>
            <a:off x="8229600" y="1371600"/>
            <a:ext cx="3383280" cy="3840480"/>
          </a:xfrm>
          <a:prstGeom prst="roundRect">
            <a:avLst/>
          </a:prstGeom>
          <a:solidFill>
            <a:srgbClr val="DCFCE7"/>
          </a:solidFill>
          <a:ln w="3175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1389888"/>
            <a:ext cx="3291840" cy="73152"/>
          </a:xfrm>
          <a:prstGeom prst="rect">
            <a:avLst/>
          </a:prstGeom>
          <a:solidFill>
            <a:srgbClr val="109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645920"/>
            <a:ext cx="3383280" cy="457200"/>
          </a:xfrm>
          <a:prstGeom prst="rect">
            <a:avLst/>
          </a:prstGeom>
          <a:noFill/>
        </p:spPr>
        <p:txBody>
          <a:bodyPr wrap="square">
            <a:spAutoFit/>
          </a:bodyPr>
          <a:lstStyle/>
          <a:p>
            <a:pPr algn="ctr">
              <a:defRPr sz="3000" b="0">
                <a:solidFill>
                  <a:srgbClr val="1A2639"/>
                </a:solidFill>
              </a:defRPr>
            </a:pPr>
            <a:r>
              <a:t>3️⃣</a:t>
            </a:r>
          </a:p>
        </p:txBody>
      </p:sp>
      <p:sp>
        <p:nvSpPr>
          <p:cNvPr id="20" name="TextBox 19"/>
          <p:cNvSpPr txBox="1"/>
          <p:nvPr/>
        </p:nvSpPr>
        <p:spPr>
          <a:xfrm>
            <a:off x="8229600" y="2286000"/>
            <a:ext cx="3383280" cy="640080"/>
          </a:xfrm>
          <a:prstGeom prst="rect">
            <a:avLst/>
          </a:prstGeom>
          <a:noFill/>
        </p:spPr>
        <p:txBody>
          <a:bodyPr wrap="square">
            <a:spAutoFit/>
          </a:bodyPr>
          <a:lstStyle/>
          <a:p>
            <a:pPr algn="ctr">
              <a:defRPr sz="1600" b="1">
                <a:solidFill>
                  <a:srgbClr val="109560"/>
                </a:solidFill>
              </a:defRPr>
            </a:pPr>
            <a:r>
              <a:t>CHO PHÉP</a:t>
            </a:r>
            <a:br/>
            <a:r>
              <a:t>LIÊN HỆ NCC</a:t>
            </a:r>
          </a:p>
        </p:txBody>
      </p:sp>
      <p:sp>
        <p:nvSpPr>
          <p:cNvPr id="21" name="TextBox 20"/>
          <p:cNvSpPr txBox="1"/>
          <p:nvPr/>
        </p:nvSpPr>
        <p:spPr>
          <a:xfrm>
            <a:off x="8503920" y="3108960"/>
            <a:ext cx="2834640" cy="1828800"/>
          </a:xfrm>
          <a:prstGeom prst="rect">
            <a:avLst/>
          </a:prstGeom>
          <a:noFill/>
        </p:spPr>
        <p:txBody>
          <a:bodyPr wrap="square">
            <a:spAutoFit/>
          </a:bodyPr>
          <a:lstStyle/>
          <a:p>
            <a:pPr algn="ctr">
              <a:defRPr sz="1300" b="0">
                <a:solidFill>
                  <a:srgbClr val="1A2639"/>
                </a:solidFill>
              </a:defRPr>
            </a:pPr>
            <a:r>
              <a:t>Khảo sát thị trường,</a:t>
            </a:r>
            <a:br/>
            <a:r>
              <a:t>lấy báo giá cạnh tranh</a:t>
            </a:r>
            <a:br/>
            <a:r>
              <a:t>theo khung kiến trúc</a:t>
            </a:r>
            <a:br/>
            <a:r>
              <a:t>đã xây dựng</a:t>
            </a:r>
          </a:p>
        </p:txBody>
      </p:sp>
      <p:sp>
        <p:nvSpPr>
          <p:cNvPr id="22" name="Rounded Rectangle 21"/>
          <p:cNvSpPr/>
          <p:nvPr/>
        </p:nvSpPr>
        <p:spPr>
          <a:xfrm>
            <a:off x="731520" y="5486400"/>
            <a:ext cx="10698480" cy="731520"/>
          </a:xfrm>
          <a:prstGeom prst="roundRect">
            <a:avLst/>
          </a:prstGeom>
          <a:solidFill>
            <a:srgbClr val="DCFCE7"/>
          </a:solidFill>
          <a:ln w="25400">
            <a:solidFill>
              <a:srgbClr val="109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86400"/>
            <a:ext cx="10698480" cy="731520"/>
          </a:xfrm>
          <a:prstGeom prst="rect">
            <a:avLst/>
          </a:prstGeom>
          <a:noFill/>
        </p:spPr>
        <p:txBody>
          <a:bodyPr wrap="square">
            <a:spAutoFit/>
          </a:bodyPr>
          <a:lstStyle/>
          <a:p>
            <a:pPr algn="ctr">
              <a:defRPr sz="1300" b="1">
                <a:solidFill>
                  <a:srgbClr val="166534"/>
                </a:solidFill>
              </a:defRPr>
            </a:pPr>
            <a:r>
              <a:t>Kính trình Ban Giám đốc xem xét, thông qua chủ trương</a:t>
            </a:r>
            <a:br/>
            <a:r>
              <a:t>để đơn vị kịp tiến độ kết nối năm 2026 của Tổng công 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286000"/>
            <a:ext cx="137160" cy="2286000"/>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286000"/>
            <a:ext cx="10058400" cy="914400"/>
          </a:xfrm>
          <a:prstGeom prst="rect">
            <a:avLst/>
          </a:prstGeom>
          <a:noFill/>
        </p:spPr>
        <p:txBody>
          <a:bodyPr wrap="square">
            <a:spAutoFit/>
          </a:bodyPr>
          <a:lstStyle/>
          <a:p>
            <a:pPr algn="l">
              <a:defRPr sz="3000" b="1">
                <a:solidFill>
                  <a:srgbClr val="FFFFFF"/>
                </a:solidFill>
              </a:defRPr>
            </a:pPr>
            <a:r>
              <a:t>XIN TRÂN TRỌNG CẢM ƠN</a:t>
            </a:r>
            <a:br/>
            <a:r>
              <a:t>BAN GIÁM ĐỐC!</a:t>
            </a:r>
          </a:p>
        </p:txBody>
      </p:sp>
      <p:sp>
        <p:nvSpPr>
          <p:cNvPr id="5" name="TextBox 4"/>
          <p:cNvSpPr txBox="1"/>
          <p:nvPr/>
        </p:nvSpPr>
        <p:spPr>
          <a:xfrm>
            <a:off x="1097280" y="3657600"/>
            <a:ext cx="10058400" cy="457200"/>
          </a:xfrm>
          <a:prstGeom prst="rect">
            <a:avLst/>
          </a:prstGeom>
          <a:noFill/>
        </p:spPr>
        <p:txBody>
          <a:bodyPr wrap="square">
            <a:spAutoFit/>
          </a:bodyPr>
          <a:lstStyle/>
          <a:p>
            <a:pPr algn="l">
              <a:defRPr sz="1600" b="0">
                <a:solidFill>
                  <a:srgbClr val="DCE6F2"/>
                </a:solidFill>
              </a:defRPr>
            </a:pPr>
            <a:r>
              <a:t>Kính mời Ban Giám đốc cho ý kiến chỉ đạo.</a:t>
            </a:r>
          </a:p>
        </p:txBody>
      </p:sp>
      <p:sp>
        <p:nvSpPr>
          <p:cNvPr id="6" name="TextBox 5"/>
          <p:cNvSpPr txBox="1"/>
          <p:nvPr/>
        </p:nvSpPr>
        <p:spPr>
          <a:xfrm>
            <a:off x="1097280" y="4572000"/>
            <a:ext cx="10058400" cy="731520"/>
          </a:xfrm>
          <a:prstGeom prst="rect">
            <a:avLst/>
          </a:prstGeom>
          <a:noFill/>
        </p:spPr>
        <p:txBody>
          <a:bodyPr wrap="square">
            <a:spAutoFit/>
          </a:bodyPr>
          <a:lstStyle/>
          <a:p>
            <a:pPr algn="l">
              <a:defRPr sz="1200" b="0">
                <a:solidFill>
                  <a:srgbClr val="BAD7F5"/>
                </a:solidFill>
              </a:defRPr>
            </a:pPr>
            <a:r>
              <a:t>Tài liệu đính kèm: Kế hoạch chi tiết Giai đoạn 1 &amp; 2 &amp; 3</a:t>
            </a:r>
            <a:br/>
            <a:r>
              <a:t>Đơn vị thực hiện: Tổ Công tác CĐS – Bộ phận CNTT PTSC Quảng Ngãi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