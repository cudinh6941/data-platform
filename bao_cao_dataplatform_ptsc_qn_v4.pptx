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Ban Giám đốc, hôm nay bộ phận CNTT xin báo cáo 4 nội dung trọng tâm theo đúng chỉ đạo số 9 của Ban Giám đốc.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bức tranh thực tế: 4 phần mềm hoạt động rời rạc, không kết nối. Hậu quả là BGĐ muốn xem số liệu tổng thể phải chờ rất lâu, và số liệu thường lệch giữa các phòng.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Platform giống hệ thống đường ống nước tự động. Trước đây mỗi phòng ban là một cái giếng, muốn dùng nước phải xách xô – giờ nước sạch tự chảy thẳng tới vòi của Ban Giám đốc.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TCT là trung tâm, đã đầu tư hàng triệu đô xây hạ tầng. Quảng Ngãi là vệ tinh, chỉ cần xây đường ống nối lên là tận dụng được toàn bộ.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TCT đã đi trước 2 năm, xây xong sân ga trung tâm và mở sẵn làn đường cho mình. 2026-2027 là deadline bắt buộc.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thách thức: dữ liệu rời rạc, lệch chuẩn TCT, và thiếu kỹ sư Data chuyên sâu.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Trục tích hợp hoạt động 4 bước tự động: Hút → Chuẩn hóa → Kiểm tra → Mã hóa, rồi bơm qua VPN sang Cloud TCT. Chế độ chỉ đọc, không bao giờ ảnh hưởng phần mềm gốc.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cam kết an toàn: chạy máy riêng không ảnh hưởng PM kế toán, đi đường truyền riêng không lộ ra internet, tự cảnh báo khi có lỗi.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trọng tâm: Tại sao không nhờ TCT? Vì TCT chỉ xây Hub lõi, không có người đi sâu vào PM của QN. Phương án 2 thuê NCC là tối ưu: làm nhanh, có báo cáo riêng cho Sếp, và chủ động tiến độ.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đầu ra cụ thể: Dashboard tức thời, tự động hóa, một nguồn sự thật, và đạt KPI chuyển đổi số.</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chi phí khoảng 380-600 triệu. So với tự mua Cloud Server và bản quyền thì tiết kiệm hàng tỷ. Giải ngân theo mốc nghiệm thu, không trả 1 cục.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bước: Bước 1 nội bộ tự làm miễn phí 2 tháng; Bước 2 thuê NCC dựng trạm; Bước 3 nghiệm thu và đào tạo IT làm chủ.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đề xuất: Chọn phương án 2, thành lập tổ công tác, và cho phép liên hệ NCC lấy báo giá.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tôi xin trân trọng cảm ơn và lắng nghe ý kiến chỉ đạo của Ban Giám đốc!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3657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03520"/>
            <a:ext cx="12191695" cy="13716"/>
          </a:xfrm>
          <a:prstGeom prst="rect">
            <a:avLst/>
          </a:prstGeom>
          <a:solidFill>
            <a:srgbClr val="3C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058400" cy="365760"/>
          </a:xfrm>
          <a:prstGeom prst="rect">
            <a:avLst/>
          </a:prstGeom>
          <a:noFill/>
        </p:spPr>
        <p:txBody>
          <a:bodyPr wrap="square">
            <a:spAutoFit/>
          </a:bodyPr>
          <a:lstStyle/>
          <a:p>
            <a:pPr algn="l">
              <a:defRPr sz="1300" b="1">
                <a:solidFill>
                  <a:srgbClr val="B4C8E1"/>
                </a:solidFill>
              </a:defRPr>
            </a:pPr>
            <a:r>
              <a:t>BÁO CÁO BAN GIÁM ĐỐC  —  THỰC HIỆN CHỈ ĐẠO MỤC 9</a:t>
            </a:r>
          </a:p>
        </p:txBody>
      </p:sp>
      <p:sp>
        <p:nvSpPr>
          <p:cNvPr id="6" name="TextBox 5"/>
          <p:cNvSpPr txBox="1"/>
          <p:nvPr/>
        </p:nvSpPr>
        <p:spPr>
          <a:xfrm>
            <a:off x="914400" y="2286000"/>
            <a:ext cx="10058400" cy="1463040"/>
          </a:xfrm>
          <a:prstGeom prst="rect">
            <a:avLst/>
          </a:prstGeom>
          <a:noFill/>
        </p:spPr>
        <p:txBody>
          <a:bodyPr wrap="square">
            <a:spAutoFit/>
          </a:bodyPr>
          <a:lstStyle/>
          <a:p>
            <a:pPr algn="l">
              <a:defRPr sz="3000" b="1">
                <a:solidFill>
                  <a:srgbClr val="FFFFFF"/>
                </a:solidFill>
              </a:defRPr>
            </a:pPr>
            <a:r>
              <a:t>PHƯƠNG ÁN TRIỂN KHAI DATA PLATFORM</a:t>
            </a:r>
            <a:br/>
            <a:r>
              <a:t>VÀ TRỤC TÍCH HỢP DỮ LIỆU CÔNG TY – TCT</a:t>
            </a:r>
          </a:p>
        </p:txBody>
      </p:sp>
      <p:sp>
        <p:nvSpPr>
          <p:cNvPr id="7" name="Rectangle 6"/>
          <p:cNvSpPr/>
          <p:nvPr/>
        </p:nvSpPr>
        <p:spPr>
          <a:xfrm>
            <a:off x="914400" y="4023360"/>
            <a:ext cx="2286000" cy="3657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297680"/>
            <a:ext cx="10058400" cy="274320"/>
          </a:xfrm>
          <a:prstGeom prst="rect">
            <a:avLst/>
          </a:prstGeom>
          <a:noFill/>
        </p:spPr>
        <p:txBody>
          <a:bodyPr wrap="square">
            <a:spAutoFit/>
          </a:bodyPr>
          <a:lstStyle/>
          <a:p>
            <a:pPr algn="l">
              <a:defRPr sz="1200" b="0">
                <a:solidFill>
                  <a:srgbClr val="C8D7EB"/>
                </a:solidFill>
              </a:defRPr>
            </a:pPr>
            <a:r>
              <a:t>—  So sánh 2 Phương án: Thuê TCT  vs  Phát triển riêng đồng bộ TCT (có NCC tư vấn)</a:t>
            </a:r>
          </a:p>
        </p:txBody>
      </p:sp>
      <p:sp>
        <p:nvSpPr>
          <p:cNvPr id="9" name="TextBox 8"/>
          <p:cNvSpPr txBox="1"/>
          <p:nvPr/>
        </p:nvSpPr>
        <p:spPr>
          <a:xfrm>
            <a:off x="914400" y="4590288"/>
            <a:ext cx="10058400" cy="274320"/>
          </a:xfrm>
          <a:prstGeom prst="rect">
            <a:avLst/>
          </a:prstGeom>
          <a:noFill/>
        </p:spPr>
        <p:txBody>
          <a:bodyPr wrap="square">
            <a:spAutoFit/>
          </a:bodyPr>
          <a:lstStyle/>
          <a:p>
            <a:pPr algn="l">
              <a:defRPr sz="1200" b="0">
                <a:solidFill>
                  <a:srgbClr val="C8D7EB"/>
                </a:solidFill>
              </a:defRPr>
            </a:pPr>
            <a:r>
              <a:t>—  Mô hình Kiến trúc tổng quan và Trục tích hợp phần mềm Công ty – TCT (Ưu tiên cao)</a:t>
            </a:r>
          </a:p>
        </p:txBody>
      </p:sp>
      <p:sp>
        <p:nvSpPr>
          <p:cNvPr id="10" name="TextBox 9"/>
          <p:cNvSpPr txBox="1"/>
          <p:nvPr/>
        </p:nvSpPr>
        <p:spPr>
          <a:xfrm>
            <a:off x="914400" y="4882896"/>
            <a:ext cx="10058400" cy="274320"/>
          </a:xfrm>
          <a:prstGeom prst="rect">
            <a:avLst/>
          </a:prstGeom>
          <a:noFill/>
        </p:spPr>
        <p:txBody>
          <a:bodyPr wrap="square">
            <a:spAutoFit/>
          </a:bodyPr>
          <a:lstStyle/>
          <a:p>
            <a:pPr algn="l">
              <a:defRPr sz="1200" b="0">
                <a:solidFill>
                  <a:srgbClr val="C8D7EB"/>
                </a:solidFill>
              </a:defRPr>
            </a:pPr>
            <a:r>
              <a:t>—  Khung Chi phí Dự toán và Kế hoạch triển khai cụ thể</a:t>
            </a:r>
          </a:p>
        </p:txBody>
      </p:sp>
      <p:sp>
        <p:nvSpPr>
          <p:cNvPr id="11" name="TextBox 10"/>
          <p:cNvSpPr txBox="1"/>
          <p:nvPr/>
        </p:nvSpPr>
        <p:spPr>
          <a:xfrm>
            <a:off x="914400" y="5577840"/>
            <a:ext cx="10058400" cy="274320"/>
          </a:xfrm>
          <a:prstGeom prst="rect">
            <a:avLst/>
          </a:prstGeom>
          <a:noFill/>
        </p:spPr>
        <p:txBody>
          <a:bodyPr wrap="square">
            <a:spAutoFit/>
          </a:bodyPr>
          <a:lstStyle/>
          <a:p>
            <a:pPr algn="l">
              <a:defRPr sz="1150" b="0">
                <a:solidFill>
                  <a:srgbClr val="FFFFFF"/>
                </a:solidFill>
              </a:defRPr>
            </a:pPr>
            <a:r>
              <a:t>Đơn vị thực hiện:  Tổ Công tác CĐS &amp; CNTT  –  PTSC Quảng Ngãi</a:t>
            </a:r>
          </a:p>
        </p:txBody>
      </p:sp>
      <p:sp>
        <p:nvSpPr>
          <p:cNvPr id="12" name="TextBox 11"/>
          <p:cNvSpPr txBox="1"/>
          <p:nvPr/>
        </p:nvSpPr>
        <p:spPr>
          <a:xfrm>
            <a:off x="914400" y="5897880"/>
            <a:ext cx="10058400" cy="274320"/>
          </a:xfrm>
          <a:prstGeom prst="rect">
            <a:avLst/>
          </a:prstGeom>
          <a:noFill/>
        </p:spPr>
        <p:txBody>
          <a:bodyPr wrap="square">
            <a:spAutoFit/>
          </a:bodyPr>
          <a:lstStyle/>
          <a:p>
            <a:pPr algn="l">
              <a:defRPr sz="1150" b="1">
                <a:solidFill>
                  <a:srgbClr val="FDE047"/>
                </a:solidFill>
              </a:defRPr>
            </a:pPr>
            <a:r>
              <a:t>Kính trình:  Ban Giám đốc Công ty PTSC Quảng Ngãi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BỐI CẢNH — VẤN ĐỀ CẦN GIẢI QUYẾT</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HIỆN TRẠNG: DỮ LIỆU ĐANG PHÂN MẢNH VÀ THỦ CÔNG</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01</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2331720" cy="118872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115214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63040"/>
            <a:ext cx="1920240" cy="914400"/>
          </a:xfrm>
          <a:prstGeom prst="rect">
            <a:avLst/>
          </a:prstGeom>
          <a:noFill/>
        </p:spPr>
        <p:txBody>
          <a:bodyPr wrap="square">
            <a:spAutoFit/>
          </a:bodyPr>
          <a:lstStyle/>
          <a:p>
            <a:pPr algn="ctr">
              <a:defRPr sz="1300" b="1">
                <a:solidFill>
                  <a:srgbClr val="0C2344"/>
                </a:solidFill>
              </a:defRPr>
            </a:pPr>
            <a:r>
              <a:t>Phần mềm</a:t>
            </a:r>
            <a:br/>
            <a:r>
              <a:t>KẾ TOÁN</a:t>
            </a:r>
          </a:p>
        </p:txBody>
      </p:sp>
      <p:sp>
        <p:nvSpPr>
          <p:cNvPr id="12" name="TextBox 11"/>
          <p:cNvSpPr txBox="1"/>
          <p:nvPr/>
        </p:nvSpPr>
        <p:spPr>
          <a:xfrm>
            <a:off x="2834640" y="1691640"/>
            <a:ext cx="457200" cy="365760"/>
          </a:xfrm>
          <a:prstGeom prst="rect">
            <a:avLst/>
          </a:prstGeom>
          <a:noFill/>
        </p:spPr>
        <p:txBody>
          <a:bodyPr wrap="square">
            <a:spAutoFit/>
          </a:bodyPr>
          <a:lstStyle/>
          <a:p>
            <a:pPr algn="ctr">
              <a:defRPr sz="1800" b="1">
                <a:solidFill>
                  <a:srgbClr val="B42828"/>
                </a:solidFill>
              </a:defRPr>
            </a:pPr>
            <a:r>
              <a:t>✕</a:t>
            </a:r>
          </a:p>
        </p:txBody>
      </p:sp>
      <p:sp>
        <p:nvSpPr>
          <p:cNvPr id="13" name="Rounded Rectangle 12"/>
          <p:cNvSpPr/>
          <p:nvPr/>
        </p:nvSpPr>
        <p:spPr>
          <a:xfrm>
            <a:off x="3429000" y="1371600"/>
            <a:ext cx="2331720" cy="118872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65576" y="1389888"/>
            <a:ext cx="73152" cy="115214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463040"/>
            <a:ext cx="1920240" cy="914400"/>
          </a:xfrm>
          <a:prstGeom prst="rect">
            <a:avLst/>
          </a:prstGeom>
          <a:noFill/>
        </p:spPr>
        <p:txBody>
          <a:bodyPr wrap="square">
            <a:spAutoFit/>
          </a:bodyPr>
          <a:lstStyle/>
          <a:p>
            <a:pPr algn="ctr">
              <a:defRPr sz="1300" b="1">
                <a:solidFill>
                  <a:srgbClr val="0C2344"/>
                </a:solidFill>
              </a:defRPr>
            </a:pPr>
            <a:r>
              <a:t>Phần mềm</a:t>
            </a:r>
            <a:br/>
            <a:r>
              <a:t>NHÂN SỰ</a:t>
            </a:r>
          </a:p>
        </p:txBody>
      </p:sp>
      <p:sp>
        <p:nvSpPr>
          <p:cNvPr id="16" name="TextBox 15"/>
          <p:cNvSpPr txBox="1"/>
          <p:nvPr/>
        </p:nvSpPr>
        <p:spPr>
          <a:xfrm>
            <a:off x="5532120" y="1691640"/>
            <a:ext cx="457200" cy="365760"/>
          </a:xfrm>
          <a:prstGeom prst="rect">
            <a:avLst/>
          </a:prstGeom>
          <a:noFill/>
        </p:spPr>
        <p:txBody>
          <a:bodyPr wrap="square">
            <a:spAutoFit/>
          </a:bodyPr>
          <a:lstStyle/>
          <a:p>
            <a:pPr algn="ctr">
              <a:defRPr sz="1800" b="1">
                <a:solidFill>
                  <a:srgbClr val="B42828"/>
                </a:solidFill>
              </a:defRPr>
            </a:pPr>
            <a:r>
              <a:t>✕</a:t>
            </a:r>
          </a:p>
        </p:txBody>
      </p:sp>
      <p:sp>
        <p:nvSpPr>
          <p:cNvPr id="17" name="Rounded Rectangle 16"/>
          <p:cNvSpPr/>
          <p:nvPr/>
        </p:nvSpPr>
        <p:spPr>
          <a:xfrm>
            <a:off x="6126480" y="1371600"/>
            <a:ext cx="2331720" cy="118872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3056" y="1389888"/>
            <a:ext cx="73152" cy="115214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463040"/>
            <a:ext cx="1920240" cy="914400"/>
          </a:xfrm>
          <a:prstGeom prst="rect">
            <a:avLst/>
          </a:prstGeom>
          <a:noFill/>
        </p:spPr>
        <p:txBody>
          <a:bodyPr wrap="square">
            <a:spAutoFit/>
          </a:bodyPr>
          <a:lstStyle/>
          <a:p>
            <a:pPr algn="ctr">
              <a:defRPr sz="1300" b="1">
                <a:solidFill>
                  <a:srgbClr val="0C2344"/>
                </a:solidFill>
              </a:defRPr>
            </a:pPr>
            <a:r>
              <a:t>Phần mềm</a:t>
            </a:r>
            <a:br/>
            <a:r>
              <a:t>VẬT TƯ</a:t>
            </a:r>
          </a:p>
        </p:txBody>
      </p:sp>
      <p:sp>
        <p:nvSpPr>
          <p:cNvPr id="20" name="TextBox 19"/>
          <p:cNvSpPr txBox="1"/>
          <p:nvPr/>
        </p:nvSpPr>
        <p:spPr>
          <a:xfrm>
            <a:off x="8229600" y="1691640"/>
            <a:ext cx="457200" cy="365760"/>
          </a:xfrm>
          <a:prstGeom prst="rect">
            <a:avLst/>
          </a:prstGeom>
          <a:noFill/>
        </p:spPr>
        <p:txBody>
          <a:bodyPr wrap="square">
            <a:spAutoFit/>
          </a:bodyPr>
          <a:lstStyle/>
          <a:p>
            <a:pPr algn="ctr">
              <a:defRPr sz="1800" b="1">
                <a:solidFill>
                  <a:srgbClr val="B42828"/>
                </a:solidFill>
              </a:defRPr>
            </a:pPr>
            <a:r>
              <a:t>✕</a:t>
            </a:r>
          </a:p>
        </p:txBody>
      </p:sp>
      <p:sp>
        <p:nvSpPr>
          <p:cNvPr id="21" name="Rounded Rectangle 20"/>
          <p:cNvSpPr/>
          <p:nvPr/>
        </p:nvSpPr>
        <p:spPr>
          <a:xfrm>
            <a:off x="8823960" y="1371600"/>
            <a:ext cx="2331720" cy="118872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0536" y="1389888"/>
            <a:ext cx="73152" cy="1152144"/>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0" y="1463040"/>
            <a:ext cx="1920240" cy="914400"/>
          </a:xfrm>
          <a:prstGeom prst="rect">
            <a:avLst/>
          </a:prstGeom>
          <a:noFill/>
        </p:spPr>
        <p:txBody>
          <a:bodyPr wrap="square">
            <a:spAutoFit/>
          </a:bodyPr>
          <a:lstStyle/>
          <a:p>
            <a:pPr algn="ctr">
              <a:defRPr sz="1300" b="1">
                <a:solidFill>
                  <a:srgbClr val="0C2344"/>
                </a:solidFill>
              </a:defRPr>
            </a:pPr>
            <a:r>
              <a:t>Quản lý</a:t>
            </a:r>
            <a:br/>
            <a:r>
              <a:t>DỰ ÁN</a:t>
            </a:r>
          </a:p>
        </p:txBody>
      </p:sp>
      <p:sp>
        <p:nvSpPr>
          <p:cNvPr id="24" name="TextBox 23"/>
          <p:cNvSpPr txBox="1"/>
          <p:nvPr/>
        </p:nvSpPr>
        <p:spPr>
          <a:xfrm>
            <a:off x="731520" y="2926080"/>
            <a:ext cx="10698480" cy="320040"/>
          </a:xfrm>
          <a:prstGeom prst="rect">
            <a:avLst/>
          </a:prstGeom>
          <a:noFill/>
        </p:spPr>
        <p:txBody>
          <a:bodyPr wrap="square">
            <a:spAutoFit/>
          </a:bodyPr>
          <a:lstStyle/>
          <a:p>
            <a:pPr algn="l">
              <a:defRPr sz="1400" b="1">
                <a:solidFill>
                  <a:srgbClr val="B42828"/>
                </a:solidFill>
              </a:defRPr>
            </a:pPr>
            <a:r>
              <a:t>Hệ quả trực tiếp đối với công tác điều hành:</a:t>
            </a:r>
          </a:p>
        </p:txBody>
      </p:sp>
      <p:sp>
        <p:nvSpPr>
          <p:cNvPr id="25" name="Rounded Rectangle 24"/>
          <p:cNvSpPr/>
          <p:nvPr/>
        </p:nvSpPr>
        <p:spPr>
          <a:xfrm>
            <a:off x="731520" y="3474720"/>
            <a:ext cx="2468880" cy="246888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8096" y="3493008"/>
            <a:ext cx="73152" cy="2432304"/>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4400" y="3566160"/>
            <a:ext cx="365760" cy="365760"/>
          </a:xfrm>
          <a:prstGeom prst="ellipse">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28" name="TextBox 27"/>
          <p:cNvSpPr txBox="1"/>
          <p:nvPr/>
        </p:nvSpPr>
        <p:spPr>
          <a:xfrm>
            <a:off x="1371600" y="3566160"/>
            <a:ext cx="1645920" cy="320040"/>
          </a:xfrm>
          <a:prstGeom prst="rect">
            <a:avLst/>
          </a:prstGeom>
          <a:noFill/>
        </p:spPr>
        <p:txBody>
          <a:bodyPr wrap="square">
            <a:spAutoFit/>
          </a:bodyPr>
          <a:lstStyle/>
          <a:p>
            <a:pPr algn="l">
              <a:defRPr sz="1150" b="1">
                <a:solidFill>
                  <a:srgbClr val="B42828"/>
                </a:solidFill>
              </a:defRPr>
            </a:pPr>
            <a:r>
              <a:t>Chậm trễ báo cáo</a:t>
            </a:r>
          </a:p>
        </p:txBody>
      </p:sp>
      <p:sp>
        <p:nvSpPr>
          <p:cNvPr id="29" name="TextBox 28"/>
          <p:cNvSpPr txBox="1"/>
          <p:nvPr/>
        </p:nvSpPr>
        <p:spPr>
          <a:xfrm>
            <a:off x="960120" y="4069080"/>
            <a:ext cx="2011680" cy="1645920"/>
          </a:xfrm>
          <a:prstGeom prst="rect">
            <a:avLst/>
          </a:prstGeom>
          <a:noFill/>
        </p:spPr>
        <p:txBody>
          <a:bodyPr wrap="square">
            <a:spAutoFit/>
          </a:bodyPr>
          <a:lstStyle/>
          <a:p>
            <a:pPr algn="l">
              <a:defRPr sz="1050" b="0">
                <a:solidFill>
                  <a:srgbClr val="1C2330"/>
                </a:solidFill>
              </a:defRPr>
            </a:pPr>
            <a:r>
              <a:t>Các phòng ban mất 3–5 ngày</a:t>
            </a:r>
            <a:br/>
            <a:r>
              <a:t>tổng hợp số liệu thủ công</a:t>
            </a:r>
            <a:br/>
            <a:r>
              <a:t>bằng Excel mỗi tháng</a:t>
            </a:r>
          </a:p>
        </p:txBody>
      </p:sp>
      <p:sp>
        <p:nvSpPr>
          <p:cNvPr id="30" name="Rounded Rectangle 29"/>
          <p:cNvSpPr/>
          <p:nvPr/>
        </p:nvSpPr>
        <p:spPr>
          <a:xfrm>
            <a:off x="3520439" y="3474720"/>
            <a:ext cx="2468880" cy="246888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57015" y="3493008"/>
            <a:ext cx="73152" cy="2432304"/>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703319" y="3566160"/>
            <a:ext cx="365760" cy="365760"/>
          </a:xfrm>
          <a:prstGeom prst="ellipse">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33" name="TextBox 32"/>
          <p:cNvSpPr txBox="1"/>
          <p:nvPr/>
        </p:nvSpPr>
        <p:spPr>
          <a:xfrm>
            <a:off x="4160519" y="3566160"/>
            <a:ext cx="1645920" cy="320040"/>
          </a:xfrm>
          <a:prstGeom prst="rect">
            <a:avLst/>
          </a:prstGeom>
          <a:noFill/>
        </p:spPr>
        <p:txBody>
          <a:bodyPr wrap="square">
            <a:spAutoFit/>
          </a:bodyPr>
          <a:lstStyle/>
          <a:p>
            <a:pPr algn="l">
              <a:defRPr sz="1150" b="1">
                <a:solidFill>
                  <a:srgbClr val="B42828"/>
                </a:solidFill>
              </a:defRPr>
            </a:pPr>
            <a:r>
              <a:t>Số liệu không thống nhất</a:t>
            </a:r>
          </a:p>
        </p:txBody>
      </p:sp>
      <p:sp>
        <p:nvSpPr>
          <p:cNvPr id="34" name="TextBox 33"/>
          <p:cNvSpPr txBox="1"/>
          <p:nvPr/>
        </p:nvSpPr>
        <p:spPr>
          <a:xfrm>
            <a:off x="3749039" y="4069080"/>
            <a:ext cx="2011680" cy="1645920"/>
          </a:xfrm>
          <a:prstGeom prst="rect">
            <a:avLst/>
          </a:prstGeom>
          <a:noFill/>
        </p:spPr>
        <p:txBody>
          <a:bodyPr wrap="square">
            <a:spAutoFit/>
          </a:bodyPr>
          <a:lstStyle/>
          <a:p>
            <a:pPr algn="l">
              <a:defRPr sz="1050" b="0">
                <a:solidFill>
                  <a:srgbClr val="1C2330"/>
                </a:solidFill>
              </a:defRPr>
            </a:pPr>
            <a:r>
              <a:t>Kế toán và Vật tư thường</a:t>
            </a:r>
            <a:br/>
            <a:r>
              <a:t>báo cáo lệch số do</a:t>
            </a:r>
            <a:br/>
            <a:r>
              <a:t>lấy dữ liệu khác nguồn</a:t>
            </a:r>
          </a:p>
        </p:txBody>
      </p:sp>
      <p:sp>
        <p:nvSpPr>
          <p:cNvPr id="35" name="Rounded Rectangle 34"/>
          <p:cNvSpPr/>
          <p:nvPr/>
        </p:nvSpPr>
        <p:spPr>
          <a:xfrm>
            <a:off x="6309359" y="3474720"/>
            <a:ext cx="2468880" cy="246888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45935" y="3493008"/>
            <a:ext cx="73152" cy="2432304"/>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92239" y="3566160"/>
            <a:ext cx="365760" cy="365760"/>
          </a:xfrm>
          <a:prstGeom prst="ellipse">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38" name="TextBox 37"/>
          <p:cNvSpPr txBox="1"/>
          <p:nvPr/>
        </p:nvSpPr>
        <p:spPr>
          <a:xfrm>
            <a:off x="6949439" y="3566160"/>
            <a:ext cx="1645920" cy="320040"/>
          </a:xfrm>
          <a:prstGeom prst="rect">
            <a:avLst/>
          </a:prstGeom>
          <a:noFill/>
        </p:spPr>
        <p:txBody>
          <a:bodyPr wrap="square">
            <a:spAutoFit/>
          </a:bodyPr>
          <a:lstStyle/>
          <a:p>
            <a:pPr algn="l">
              <a:defRPr sz="1150" b="1">
                <a:solidFill>
                  <a:srgbClr val="B42828"/>
                </a:solidFill>
              </a:defRPr>
            </a:pPr>
            <a:r>
              <a:t>Phụ thuộc con người</a:t>
            </a:r>
          </a:p>
        </p:txBody>
      </p:sp>
      <p:sp>
        <p:nvSpPr>
          <p:cNvPr id="39" name="TextBox 38"/>
          <p:cNvSpPr txBox="1"/>
          <p:nvPr/>
        </p:nvSpPr>
        <p:spPr>
          <a:xfrm>
            <a:off x="6537959" y="4069080"/>
            <a:ext cx="2011680" cy="1645920"/>
          </a:xfrm>
          <a:prstGeom prst="rect">
            <a:avLst/>
          </a:prstGeom>
          <a:noFill/>
        </p:spPr>
        <p:txBody>
          <a:bodyPr wrap="square">
            <a:spAutoFit/>
          </a:bodyPr>
          <a:lstStyle/>
          <a:p>
            <a:pPr algn="l">
              <a:defRPr sz="1050" b="0">
                <a:solidFill>
                  <a:srgbClr val="1C2330"/>
                </a:solidFill>
              </a:defRPr>
            </a:pPr>
            <a:r>
              <a:t>Nếu cán bộ phụ trách nghỉ,</a:t>
            </a:r>
            <a:br/>
            <a:r>
              <a:t>báo cáo bị đình trệ.</a:t>
            </a:r>
            <a:br/>
            <a:r>
              <a:t>Không có cơ chế tự động</a:t>
            </a:r>
          </a:p>
        </p:txBody>
      </p:sp>
      <p:sp>
        <p:nvSpPr>
          <p:cNvPr id="40" name="Rounded Rectangle 39"/>
          <p:cNvSpPr/>
          <p:nvPr/>
        </p:nvSpPr>
        <p:spPr>
          <a:xfrm>
            <a:off x="9098280" y="3474720"/>
            <a:ext cx="2468880" cy="2468880"/>
          </a:xfrm>
          <a:prstGeom prst="roundRect">
            <a:avLst/>
          </a:prstGeom>
          <a:solidFill>
            <a:srgbClr val="FFFFFF"/>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134856" y="3493008"/>
            <a:ext cx="73152" cy="2432304"/>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281160" y="3566160"/>
            <a:ext cx="365760" cy="365760"/>
          </a:xfrm>
          <a:prstGeom prst="ellipse">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4</a:t>
            </a:r>
          </a:p>
        </p:txBody>
      </p:sp>
      <p:sp>
        <p:nvSpPr>
          <p:cNvPr id="43" name="TextBox 42"/>
          <p:cNvSpPr txBox="1"/>
          <p:nvPr/>
        </p:nvSpPr>
        <p:spPr>
          <a:xfrm>
            <a:off x="9738360" y="3566160"/>
            <a:ext cx="1645920" cy="320040"/>
          </a:xfrm>
          <a:prstGeom prst="rect">
            <a:avLst/>
          </a:prstGeom>
          <a:noFill/>
        </p:spPr>
        <p:txBody>
          <a:bodyPr wrap="square">
            <a:spAutoFit/>
          </a:bodyPr>
          <a:lstStyle/>
          <a:p>
            <a:pPr algn="l">
              <a:defRPr sz="1150" b="1">
                <a:solidFill>
                  <a:srgbClr val="B42828"/>
                </a:solidFill>
              </a:defRPr>
            </a:pPr>
            <a:r>
              <a:t>Thiếu tầm nhìn toàn cảnh</a:t>
            </a:r>
          </a:p>
        </p:txBody>
      </p:sp>
      <p:sp>
        <p:nvSpPr>
          <p:cNvPr id="44" name="TextBox 43"/>
          <p:cNvSpPr txBox="1"/>
          <p:nvPr/>
        </p:nvSpPr>
        <p:spPr>
          <a:xfrm>
            <a:off x="9326880" y="4069080"/>
            <a:ext cx="2011680" cy="1645920"/>
          </a:xfrm>
          <a:prstGeom prst="rect">
            <a:avLst/>
          </a:prstGeom>
          <a:noFill/>
        </p:spPr>
        <p:txBody>
          <a:bodyPr wrap="square">
            <a:spAutoFit/>
          </a:bodyPr>
          <a:lstStyle/>
          <a:p>
            <a:pPr algn="l">
              <a:defRPr sz="1050" b="0">
                <a:solidFill>
                  <a:srgbClr val="1C2330"/>
                </a:solidFill>
              </a:defRPr>
            </a:pPr>
            <a:r>
              <a:t>Ban Giám đốc muốn xem</a:t>
            </a:r>
            <a:br/>
            <a:r>
              <a:t>tổng thể phải chờ rất lâu,</a:t>
            </a:r>
            <a:br/>
            <a:r>
              <a:t>không có công cụ trực quan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GIẢI PHÁP — GIẢI THÍCH ĐƠN GIẢN</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DATA PLATFORM: TỪ "ỐC ĐẢO DỮ LIỆU" ĐẾN "ĐƯỜNG ỐNG TỰ ĐỘNG"</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02</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5029200" cy="457200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029200" cy="45720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89888"/>
            <a:ext cx="5029200" cy="411480"/>
          </a:xfrm>
          <a:prstGeom prst="rect">
            <a:avLst/>
          </a:prstGeom>
          <a:noFill/>
        </p:spPr>
        <p:txBody>
          <a:bodyPr wrap="square">
            <a:spAutoFit/>
          </a:bodyPr>
          <a:lstStyle/>
          <a:p>
            <a:pPr algn="ctr">
              <a:defRPr sz="1200" b="1">
                <a:solidFill>
                  <a:srgbClr val="FFFFFF"/>
                </a:solidFill>
              </a:defRPr>
            </a:pPr>
            <a:r>
              <a:t>TRƯỚC ĐÂY  —  Không có Data Platform</a:t>
            </a:r>
          </a:p>
        </p:txBody>
      </p:sp>
      <p:sp>
        <p:nvSpPr>
          <p:cNvPr id="12" name="TextBox 11"/>
          <p:cNvSpPr txBox="1"/>
          <p:nvPr/>
        </p:nvSpPr>
        <p:spPr>
          <a:xfrm>
            <a:off x="1188720" y="2057400"/>
            <a:ext cx="4206240" cy="548640"/>
          </a:xfrm>
          <a:prstGeom prst="rect">
            <a:avLst/>
          </a:prstGeom>
          <a:noFill/>
        </p:spPr>
        <p:txBody>
          <a:bodyPr wrap="square">
            <a:spAutoFit/>
          </a:bodyPr>
          <a:lstStyle/>
          <a:p>
            <a:pPr algn="l">
              <a:defRPr sz="1150" b="0">
                <a:solidFill>
                  <a:srgbClr val="B42828"/>
                </a:solidFill>
              </a:defRPr>
            </a:pPr>
            <a:r>
              <a:t>✕  Mỗi phần mềm là một "ốc đảo" riêng biệt</a:t>
            </a:r>
          </a:p>
        </p:txBody>
      </p:sp>
      <p:sp>
        <p:nvSpPr>
          <p:cNvPr id="13" name="TextBox 12"/>
          <p:cNvSpPr txBox="1"/>
          <p:nvPr/>
        </p:nvSpPr>
        <p:spPr>
          <a:xfrm>
            <a:off x="1188720" y="2697480"/>
            <a:ext cx="4206240" cy="548640"/>
          </a:xfrm>
          <a:prstGeom prst="rect">
            <a:avLst/>
          </a:prstGeom>
          <a:noFill/>
        </p:spPr>
        <p:txBody>
          <a:bodyPr wrap="square">
            <a:spAutoFit/>
          </a:bodyPr>
          <a:lstStyle/>
          <a:p>
            <a:pPr algn="l">
              <a:defRPr sz="1150" b="0">
                <a:solidFill>
                  <a:srgbClr val="1C2330"/>
                </a:solidFill>
              </a:defRPr>
            </a:pPr>
            <a:r>
              <a:t>✕  Muốn có số liệu → nhân viên xuất Excel, copy-paste ghép file</a:t>
            </a:r>
          </a:p>
        </p:txBody>
      </p:sp>
      <p:sp>
        <p:nvSpPr>
          <p:cNvPr id="14" name="TextBox 13"/>
          <p:cNvSpPr txBox="1"/>
          <p:nvPr/>
        </p:nvSpPr>
        <p:spPr>
          <a:xfrm>
            <a:off x="1188720" y="3337560"/>
            <a:ext cx="4206240" cy="548640"/>
          </a:xfrm>
          <a:prstGeom prst="rect">
            <a:avLst/>
          </a:prstGeom>
          <a:noFill/>
        </p:spPr>
        <p:txBody>
          <a:bodyPr wrap="square">
            <a:spAutoFit/>
          </a:bodyPr>
          <a:lstStyle/>
          <a:p>
            <a:pPr algn="l">
              <a:defRPr sz="1150" b="0">
                <a:solidFill>
                  <a:srgbClr val="1C2330"/>
                </a:solidFill>
              </a:defRPr>
            </a:pPr>
            <a:r>
              <a:t>✕  Mất 3–5 ngày mới có báo cáo tổng hợp</a:t>
            </a:r>
          </a:p>
        </p:txBody>
      </p:sp>
      <p:sp>
        <p:nvSpPr>
          <p:cNvPr id="15" name="TextBox 14"/>
          <p:cNvSpPr txBox="1"/>
          <p:nvPr/>
        </p:nvSpPr>
        <p:spPr>
          <a:xfrm>
            <a:off x="1188720" y="3977639"/>
            <a:ext cx="4206240" cy="548640"/>
          </a:xfrm>
          <a:prstGeom prst="rect">
            <a:avLst/>
          </a:prstGeom>
          <a:noFill/>
        </p:spPr>
        <p:txBody>
          <a:bodyPr wrap="square">
            <a:spAutoFit/>
          </a:bodyPr>
          <a:lstStyle/>
          <a:p>
            <a:pPr algn="l">
              <a:defRPr sz="1150" b="0">
                <a:solidFill>
                  <a:srgbClr val="1C2330"/>
                </a:solidFill>
              </a:defRPr>
            </a:pPr>
            <a:r>
              <a:t>✕  Phòng Kế toán báo một số, Phòng Vật tư báo số khác</a:t>
            </a:r>
          </a:p>
        </p:txBody>
      </p:sp>
      <p:sp>
        <p:nvSpPr>
          <p:cNvPr id="16" name="TextBox 15"/>
          <p:cNvSpPr txBox="1"/>
          <p:nvPr/>
        </p:nvSpPr>
        <p:spPr>
          <a:xfrm>
            <a:off x="1188720" y="4617720"/>
            <a:ext cx="4206240" cy="548640"/>
          </a:xfrm>
          <a:prstGeom prst="rect">
            <a:avLst/>
          </a:prstGeom>
          <a:noFill/>
        </p:spPr>
        <p:txBody>
          <a:bodyPr wrap="square">
            <a:spAutoFit/>
          </a:bodyPr>
          <a:lstStyle/>
          <a:p>
            <a:pPr algn="l">
              <a:defRPr sz="1150" b="0">
                <a:solidFill>
                  <a:srgbClr val="1C2330"/>
                </a:solidFill>
              </a:defRPr>
            </a:pPr>
            <a:r>
              <a:t>✕  Ban Giám đốc không có công cụ nhìn toàn cảnh tức thời</a:t>
            </a:r>
          </a:p>
        </p:txBody>
      </p:sp>
      <p:sp>
        <p:nvSpPr>
          <p:cNvPr id="17" name="Right Arrow 16"/>
          <p:cNvSpPr/>
          <p:nvPr/>
        </p:nvSpPr>
        <p:spPr>
          <a:xfrm>
            <a:off x="5943600" y="338328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0" y="1371600"/>
            <a:ext cx="4846320" cy="457200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0" y="1371600"/>
            <a:ext cx="484632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1389888"/>
            <a:ext cx="4846320" cy="411480"/>
          </a:xfrm>
          <a:prstGeom prst="rect">
            <a:avLst/>
          </a:prstGeom>
          <a:noFill/>
        </p:spPr>
        <p:txBody>
          <a:bodyPr wrap="square">
            <a:spAutoFit/>
          </a:bodyPr>
          <a:lstStyle/>
          <a:p>
            <a:pPr algn="ctr">
              <a:defRPr sz="1200" b="1">
                <a:solidFill>
                  <a:srgbClr val="FFFFFF"/>
                </a:solidFill>
              </a:defRPr>
            </a:pPr>
            <a:r>
              <a:t>SAU KHI CÓ  —  Data Platform</a:t>
            </a:r>
          </a:p>
        </p:txBody>
      </p:sp>
      <p:sp>
        <p:nvSpPr>
          <p:cNvPr id="21" name="TextBox 20"/>
          <p:cNvSpPr txBox="1"/>
          <p:nvPr/>
        </p:nvSpPr>
        <p:spPr>
          <a:xfrm>
            <a:off x="7040880" y="2057400"/>
            <a:ext cx="4023360" cy="548640"/>
          </a:xfrm>
          <a:prstGeom prst="rect">
            <a:avLst/>
          </a:prstGeom>
          <a:noFill/>
        </p:spPr>
        <p:txBody>
          <a:bodyPr wrap="square">
            <a:spAutoFit/>
          </a:bodyPr>
          <a:lstStyle/>
          <a:p>
            <a:pPr algn="l">
              <a:defRPr sz="1150" b="0">
                <a:solidFill>
                  <a:srgbClr val="158050"/>
                </a:solidFill>
              </a:defRPr>
            </a:pPr>
            <a:r>
              <a:t>✔  Tất cả dữ liệu được gom tự động về một nơi duy nhất</a:t>
            </a:r>
          </a:p>
        </p:txBody>
      </p:sp>
      <p:sp>
        <p:nvSpPr>
          <p:cNvPr id="22" name="TextBox 21"/>
          <p:cNvSpPr txBox="1"/>
          <p:nvPr/>
        </p:nvSpPr>
        <p:spPr>
          <a:xfrm>
            <a:off x="7040880" y="2697480"/>
            <a:ext cx="4023360" cy="548640"/>
          </a:xfrm>
          <a:prstGeom prst="rect">
            <a:avLst/>
          </a:prstGeom>
          <a:noFill/>
        </p:spPr>
        <p:txBody>
          <a:bodyPr wrap="square">
            <a:spAutoFit/>
          </a:bodyPr>
          <a:lstStyle/>
          <a:p>
            <a:pPr algn="l">
              <a:defRPr sz="1150" b="0">
                <a:solidFill>
                  <a:srgbClr val="1C2330"/>
                </a:solidFill>
              </a:defRPr>
            </a:pPr>
            <a:r>
              <a:t>✔  Hệ thống tự trích xuất, làm sạch, chuẩn hóa mỗi ngày</a:t>
            </a:r>
          </a:p>
        </p:txBody>
      </p:sp>
      <p:sp>
        <p:nvSpPr>
          <p:cNvPr id="23" name="TextBox 22"/>
          <p:cNvSpPr txBox="1"/>
          <p:nvPr/>
        </p:nvSpPr>
        <p:spPr>
          <a:xfrm>
            <a:off x="7040880" y="3337560"/>
            <a:ext cx="4023360" cy="548640"/>
          </a:xfrm>
          <a:prstGeom prst="rect">
            <a:avLst/>
          </a:prstGeom>
          <a:noFill/>
        </p:spPr>
        <p:txBody>
          <a:bodyPr wrap="square">
            <a:spAutoFit/>
          </a:bodyPr>
          <a:lstStyle/>
          <a:p>
            <a:pPr algn="l">
              <a:defRPr sz="1150" b="0">
                <a:solidFill>
                  <a:srgbClr val="1C2330"/>
                </a:solidFill>
              </a:defRPr>
            </a:pPr>
            <a:r>
              <a:t>✔  Báo cáo Dashboard cập nhật tức thời, không chờ đợi</a:t>
            </a:r>
          </a:p>
        </p:txBody>
      </p:sp>
      <p:sp>
        <p:nvSpPr>
          <p:cNvPr id="24" name="TextBox 23"/>
          <p:cNvSpPr txBox="1"/>
          <p:nvPr/>
        </p:nvSpPr>
        <p:spPr>
          <a:xfrm>
            <a:off x="7040880" y="3977639"/>
            <a:ext cx="4023360" cy="548640"/>
          </a:xfrm>
          <a:prstGeom prst="rect">
            <a:avLst/>
          </a:prstGeom>
          <a:noFill/>
        </p:spPr>
        <p:txBody>
          <a:bodyPr wrap="square">
            <a:spAutoFit/>
          </a:bodyPr>
          <a:lstStyle/>
          <a:p>
            <a:pPr algn="l">
              <a:defRPr sz="1150" b="0">
                <a:solidFill>
                  <a:srgbClr val="1C2330"/>
                </a:solidFill>
              </a:defRPr>
            </a:pPr>
            <a:r>
              <a:t>✔  Một nguồn sự thật duy nhất — mọi phòng ban đều nhìn cùng một số</a:t>
            </a:r>
          </a:p>
        </p:txBody>
      </p:sp>
      <p:sp>
        <p:nvSpPr>
          <p:cNvPr id="25" name="TextBox 24"/>
          <p:cNvSpPr txBox="1"/>
          <p:nvPr/>
        </p:nvSpPr>
        <p:spPr>
          <a:xfrm>
            <a:off x="7040880" y="4617720"/>
            <a:ext cx="4023360" cy="548640"/>
          </a:xfrm>
          <a:prstGeom prst="rect">
            <a:avLst/>
          </a:prstGeom>
          <a:noFill/>
        </p:spPr>
        <p:txBody>
          <a:bodyPr wrap="square">
            <a:spAutoFit/>
          </a:bodyPr>
          <a:lstStyle/>
          <a:p>
            <a:pPr algn="l">
              <a:defRPr sz="1150" b="0">
                <a:solidFill>
                  <a:srgbClr val="1C2330"/>
                </a:solidFill>
              </a:defRPr>
            </a:pPr>
            <a:r>
              <a:t>✔  Ban Giám đốc xem trực quan trên máy tính hoặc điện thoại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MÔ HÌNH — HUB &amp; SPOKE (TRUNG TÂM – VỆ TINH)</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VỊ THẾ CỦA QUẢNG NGÃI TRONG HỆ SINH THÁI DATA TCT</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03</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3840480" y="1828800"/>
            <a:ext cx="4480560" cy="2560320"/>
          </a:xfrm>
          <a:prstGeom prst="round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2011680"/>
            <a:ext cx="4480560" cy="411480"/>
          </a:xfrm>
          <a:prstGeom prst="rect">
            <a:avLst/>
          </a:prstGeom>
          <a:noFill/>
        </p:spPr>
        <p:txBody>
          <a:bodyPr wrap="square">
            <a:spAutoFit/>
          </a:bodyPr>
          <a:lstStyle/>
          <a:p>
            <a:pPr algn="ctr">
              <a:defRPr sz="1500" b="1">
                <a:solidFill>
                  <a:srgbClr val="FFFFFF"/>
                </a:solidFill>
              </a:defRPr>
            </a:pPr>
            <a:r>
              <a:t>TỔNG CÔNG TY PTSC  (HUB)</a:t>
            </a:r>
          </a:p>
        </p:txBody>
      </p:sp>
      <p:sp>
        <p:nvSpPr>
          <p:cNvPr id="11" name="Rectangle 10"/>
          <p:cNvSpPr/>
          <p:nvPr/>
        </p:nvSpPr>
        <p:spPr>
          <a:xfrm>
            <a:off x="4297680" y="2468880"/>
            <a:ext cx="3566160" cy="13716"/>
          </a:xfrm>
          <a:prstGeom prst="rect">
            <a:avLst/>
          </a:prstGeom>
          <a:solidFill>
            <a:srgbClr val="3C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2606040"/>
            <a:ext cx="4114800" cy="1463040"/>
          </a:xfrm>
          <a:prstGeom prst="rect">
            <a:avLst/>
          </a:prstGeom>
          <a:noFill/>
        </p:spPr>
        <p:txBody>
          <a:bodyPr wrap="square">
            <a:spAutoFit/>
          </a:bodyPr>
          <a:lstStyle/>
          <a:p>
            <a:pPr algn="ctr">
              <a:defRPr sz="1100" b="0">
                <a:solidFill>
                  <a:srgbClr val="BAD7F5"/>
                </a:solidFill>
              </a:defRPr>
            </a:pPr>
            <a:r>
              <a:t>Đầu tư máy chủ Data Lakehouse</a:t>
            </a:r>
          </a:p>
          <a:p>
            <a:pPr algn="ctr">
              <a:defRPr sz="1100">
                <a:solidFill>
                  <a:srgbClr val="BAD7F5"/>
                </a:solidFill>
              </a:defRPr>
            </a:pPr>
            <a:r>
              <a:t>Mua bản quyền Microsoft Fabric, Power BI</a:t>
            </a:r>
          </a:p>
          <a:p>
            <a:pPr algn="ctr">
              <a:defRPr sz="1100">
                <a:solidFill>
                  <a:srgbClr val="BAD7F5"/>
                </a:solidFill>
              </a:defRPr>
            </a:pPr>
            <a:r>
              <a:t>Ban hành 29 chuẩn Master Data</a:t>
            </a:r>
          </a:p>
          <a:p>
            <a:pPr algn="ctr">
              <a:defRPr sz="1100">
                <a:solidFill>
                  <a:srgbClr val="BAD7F5"/>
                </a:solidFill>
              </a:defRPr>
            </a:pPr>
            <a:r>
              <a:t>Cấp sẵn Workspace L3 cho Quảng Ngãi</a:t>
            </a:r>
          </a:p>
        </p:txBody>
      </p:sp>
      <p:sp>
        <p:nvSpPr>
          <p:cNvPr id="13" name="Rounded Rectangle 12"/>
          <p:cNvSpPr/>
          <p:nvPr/>
        </p:nvSpPr>
        <p:spPr>
          <a:xfrm>
            <a:off x="457200" y="2377440"/>
            <a:ext cx="3017520" cy="1645920"/>
          </a:xfrm>
          <a:prstGeom prst="roundRect">
            <a:avLst/>
          </a:prstGeom>
          <a:solidFill>
            <a:srgbClr val="FFF5E1"/>
          </a:solidFill>
          <a:ln w="254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3776" y="2395728"/>
            <a:ext cx="73152" cy="1572768"/>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468880"/>
            <a:ext cx="2468880" cy="365760"/>
          </a:xfrm>
          <a:prstGeom prst="rect">
            <a:avLst/>
          </a:prstGeom>
          <a:noFill/>
        </p:spPr>
        <p:txBody>
          <a:bodyPr wrap="square">
            <a:spAutoFit/>
          </a:bodyPr>
          <a:lstStyle/>
          <a:p>
            <a:pPr algn="l">
              <a:defRPr sz="1200" b="1">
                <a:solidFill>
                  <a:srgbClr val="0C2344"/>
                </a:solidFill>
              </a:defRPr>
            </a:pPr>
            <a:r>
              <a:t>PTSC QUẢNG NGÃI</a:t>
            </a:r>
          </a:p>
        </p:txBody>
      </p:sp>
      <p:sp>
        <p:nvSpPr>
          <p:cNvPr id="16" name="TextBox 15"/>
          <p:cNvSpPr txBox="1"/>
          <p:nvPr/>
        </p:nvSpPr>
        <p:spPr>
          <a:xfrm>
            <a:off x="731520" y="2788920"/>
            <a:ext cx="2468880" cy="274320"/>
          </a:xfrm>
          <a:prstGeom prst="rect">
            <a:avLst/>
          </a:prstGeom>
          <a:noFill/>
        </p:spPr>
        <p:txBody>
          <a:bodyPr wrap="square">
            <a:spAutoFit/>
          </a:bodyPr>
          <a:lstStyle/>
          <a:p>
            <a:pPr algn="l">
              <a:defRPr sz="1000" b="1">
                <a:solidFill>
                  <a:srgbClr val="B47300"/>
                </a:solidFill>
              </a:defRPr>
            </a:pPr>
            <a:r>
              <a:t>Level 3 Spoke</a:t>
            </a:r>
          </a:p>
        </p:txBody>
      </p:sp>
      <p:sp>
        <p:nvSpPr>
          <p:cNvPr id="17" name="TextBox 16"/>
          <p:cNvSpPr txBox="1"/>
          <p:nvPr/>
        </p:nvSpPr>
        <p:spPr>
          <a:xfrm>
            <a:off x="731520" y="3154680"/>
            <a:ext cx="2468880" cy="731520"/>
          </a:xfrm>
          <a:prstGeom prst="rect">
            <a:avLst/>
          </a:prstGeom>
          <a:noFill/>
        </p:spPr>
        <p:txBody>
          <a:bodyPr wrap="square">
            <a:spAutoFit/>
          </a:bodyPr>
          <a:lstStyle/>
          <a:p>
            <a:pPr algn="l">
              <a:defRPr sz="1050" b="0">
                <a:solidFill>
                  <a:srgbClr val="1C2330"/>
                </a:solidFill>
              </a:defRPr>
            </a:pPr>
            <a:r>
              <a:t>Chỉ cần dựng</a:t>
            </a:r>
            <a:br/>
            <a:r>
              <a:t>"Trạm trung chuyển" dữ liệu</a:t>
            </a:r>
            <a:br/>
            <a:r>
              <a:t>rồi bơm lên TCT</a:t>
            </a:r>
          </a:p>
        </p:txBody>
      </p:sp>
      <p:sp>
        <p:nvSpPr>
          <p:cNvPr id="18" name="Right Arrow 17"/>
          <p:cNvSpPr/>
          <p:nvPr/>
        </p:nvSpPr>
        <p:spPr>
          <a:xfrm>
            <a:off x="3520440" y="2971800"/>
            <a:ext cx="274320" cy="22860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0" y="2194560"/>
            <a:ext cx="2560320" cy="822960"/>
          </a:xfrm>
          <a:prstGeom prst="roundRect">
            <a:avLst/>
          </a:prstGeom>
          <a:solidFill>
            <a:srgbClr val="F3F5F8"/>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23960" y="2331720"/>
            <a:ext cx="2286000" cy="502920"/>
          </a:xfrm>
          <a:prstGeom prst="rect">
            <a:avLst/>
          </a:prstGeom>
          <a:noFill/>
        </p:spPr>
        <p:txBody>
          <a:bodyPr wrap="square">
            <a:spAutoFit/>
          </a:bodyPr>
          <a:lstStyle/>
          <a:p>
            <a:pPr algn="ctr">
              <a:defRPr sz="1000" b="0">
                <a:solidFill>
                  <a:srgbClr val="6C7684"/>
                </a:solidFill>
              </a:defRPr>
            </a:pPr>
            <a:r>
              <a:t>PTSC M&amp;C</a:t>
            </a:r>
          </a:p>
        </p:txBody>
      </p:sp>
      <p:sp>
        <p:nvSpPr>
          <p:cNvPr id="21" name="Rounded Rectangle 20"/>
          <p:cNvSpPr/>
          <p:nvPr/>
        </p:nvSpPr>
        <p:spPr>
          <a:xfrm>
            <a:off x="8686800" y="3657600"/>
            <a:ext cx="2560320" cy="822960"/>
          </a:xfrm>
          <a:prstGeom prst="roundRect">
            <a:avLst/>
          </a:prstGeom>
          <a:solidFill>
            <a:srgbClr val="F3F5F8"/>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23960" y="3794760"/>
            <a:ext cx="2286000" cy="502920"/>
          </a:xfrm>
          <a:prstGeom prst="rect">
            <a:avLst/>
          </a:prstGeom>
          <a:noFill/>
        </p:spPr>
        <p:txBody>
          <a:bodyPr wrap="square">
            <a:spAutoFit/>
          </a:bodyPr>
          <a:lstStyle/>
          <a:p>
            <a:pPr algn="ctr">
              <a:defRPr sz="1000" b="0">
                <a:solidFill>
                  <a:srgbClr val="6C7684"/>
                </a:solidFill>
              </a:defRPr>
            </a:pPr>
            <a:r>
              <a:t>PTSC Thanh Hóa</a:t>
            </a:r>
          </a:p>
        </p:txBody>
      </p:sp>
      <p:sp>
        <p:nvSpPr>
          <p:cNvPr id="23" name="Rounded Rectangle 22"/>
          <p:cNvSpPr/>
          <p:nvPr/>
        </p:nvSpPr>
        <p:spPr>
          <a:xfrm>
            <a:off x="4297680" y="4846320"/>
            <a:ext cx="2560320" cy="822960"/>
          </a:xfrm>
          <a:prstGeom prst="roundRect">
            <a:avLst/>
          </a:prstGeom>
          <a:solidFill>
            <a:srgbClr val="F3F5F8"/>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4983480"/>
            <a:ext cx="2286000" cy="502920"/>
          </a:xfrm>
          <a:prstGeom prst="rect">
            <a:avLst/>
          </a:prstGeom>
          <a:noFill/>
        </p:spPr>
        <p:txBody>
          <a:bodyPr wrap="square">
            <a:spAutoFit/>
          </a:bodyPr>
          <a:lstStyle/>
          <a:p>
            <a:pPr algn="ctr">
              <a:defRPr sz="1000" b="0">
                <a:solidFill>
                  <a:srgbClr val="6C7684"/>
                </a:solidFill>
              </a:defRPr>
            </a:pPr>
            <a:r>
              <a:t>PTSC Đình Vũ</a:t>
            </a:r>
          </a:p>
        </p:txBody>
      </p:sp>
      <p:sp>
        <p:nvSpPr>
          <p:cNvPr id="25" name="Rounded Rectangle 24"/>
          <p:cNvSpPr/>
          <p:nvPr/>
        </p:nvSpPr>
        <p:spPr>
          <a:xfrm>
            <a:off x="1371600" y="4846320"/>
            <a:ext cx="2560320" cy="822960"/>
          </a:xfrm>
          <a:prstGeom prst="roundRect">
            <a:avLst/>
          </a:prstGeom>
          <a:solidFill>
            <a:srgbClr val="F3F5F8"/>
          </a:solidFill>
          <a:ln w="1016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08760" y="4983480"/>
            <a:ext cx="2286000" cy="502920"/>
          </a:xfrm>
          <a:prstGeom prst="rect">
            <a:avLst/>
          </a:prstGeom>
          <a:noFill/>
        </p:spPr>
        <p:txBody>
          <a:bodyPr wrap="square">
            <a:spAutoFit/>
          </a:bodyPr>
          <a:lstStyle/>
          <a:p>
            <a:pPr algn="ctr">
              <a:defRPr sz="1000" b="0">
                <a:solidFill>
                  <a:srgbClr val="6C7684"/>
                </a:solidFill>
              </a:defRPr>
            </a:pPr>
            <a:r>
              <a:t>Đơn vị khác...</a:t>
            </a:r>
          </a:p>
        </p:txBody>
      </p:sp>
      <p:sp>
        <p:nvSpPr>
          <p:cNvPr id="27" name="Rectangle 26"/>
          <p:cNvSpPr/>
          <p:nvPr/>
        </p:nvSpPr>
        <p:spPr>
          <a:xfrm>
            <a:off x="731520" y="5943600"/>
            <a:ext cx="10698480" cy="502920"/>
          </a:xfrm>
          <a:prstGeom prst="rect">
            <a:avLst/>
          </a:prstGeom>
          <a:solidFill>
            <a:srgbClr val="E6F0FC"/>
          </a:solidFill>
          <a:ln w="127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943600"/>
            <a:ext cx="10698480" cy="502920"/>
          </a:xfrm>
          <a:prstGeom prst="rect">
            <a:avLst/>
          </a:prstGeom>
          <a:noFill/>
        </p:spPr>
        <p:txBody>
          <a:bodyPr wrap="square">
            <a:spAutoFit/>
          </a:bodyPr>
          <a:lstStyle/>
          <a:p>
            <a:pPr algn="ctr">
              <a:defRPr sz="1150" b="1">
                <a:solidFill>
                  <a:srgbClr val="0C2344"/>
                </a:solidFill>
              </a:defRPr>
            </a:pPr>
            <a:r>
              <a:t>Quảng Ngãi không phải tự mua máy chủ đắt tiền  —  chỉ cần xây "đường dẫn kết nối" lên hạ tầng TCT đã sẵn có.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ÁP LỰC — LỘ TRÌNH CHIẾN LƯỢC TCT</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TCT ĐÃ HOÀN THÀNH NỀN MÓNG — ĐẾN LƯỢT QUẢNG NGÃI</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04</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3383280" cy="594360"/>
          </a:xfrm>
          <a:prstGeom prst="round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99032"/>
            <a:ext cx="3383280" cy="274320"/>
          </a:xfrm>
          <a:prstGeom prst="rect">
            <a:avLst/>
          </a:prstGeom>
          <a:noFill/>
        </p:spPr>
        <p:txBody>
          <a:bodyPr wrap="square">
            <a:spAutoFit/>
          </a:bodyPr>
          <a:lstStyle/>
          <a:p>
            <a:pPr algn="ctr">
              <a:defRPr sz="1500" b="1">
                <a:solidFill>
                  <a:srgbClr val="FFFFFF"/>
                </a:solidFill>
              </a:defRPr>
            </a:pPr>
            <a:r>
              <a:t>2024 – 2025</a:t>
            </a:r>
          </a:p>
        </p:txBody>
      </p:sp>
      <p:sp>
        <p:nvSpPr>
          <p:cNvPr id="11" name="TextBox 10"/>
          <p:cNvSpPr txBox="1"/>
          <p:nvPr/>
        </p:nvSpPr>
        <p:spPr>
          <a:xfrm>
            <a:off x="731520" y="1664208"/>
            <a:ext cx="3383280" cy="228600"/>
          </a:xfrm>
          <a:prstGeom prst="rect">
            <a:avLst/>
          </a:prstGeom>
          <a:noFill/>
        </p:spPr>
        <p:txBody>
          <a:bodyPr wrap="square">
            <a:spAutoFit/>
          </a:bodyPr>
          <a:lstStyle/>
          <a:p>
            <a:pPr algn="ctr">
              <a:defRPr sz="900" b="1">
                <a:solidFill>
                  <a:srgbClr val="FFFFFF"/>
                </a:solidFill>
              </a:defRPr>
            </a:pPr>
            <a:r>
              <a:t>ĐÃ HOÀN THÀNH</a:t>
            </a:r>
          </a:p>
        </p:txBody>
      </p:sp>
      <p:sp>
        <p:nvSpPr>
          <p:cNvPr id="12" name="Rounded Rectangle 11"/>
          <p:cNvSpPr/>
          <p:nvPr/>
        </p:nvSpPr>
        <p:spPr>
          <a:xfrm>
            <a:off x="731520" y="2057400"/>
            <a:ext cx="3383280" cy="2377440"/>
          </a:xfrm>
          <a:prstGeom prst="roundRect">
            <a:avLst/>
          </a:prstGeom>
          <a:solidFill>
            <a:srgbClr val="E8F8EF"/>
          </a:solidFill>
          <a:ln w="127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240280"/>
            <a:ext cx="2926080" cy="457200"/>
          </a:xfrm>
          <a:prstGeom prst="rect">
            <a:avLst/>
          </a:prstGeom>
          <a:noFill/>
        </p:spPr>
        <p:txBody>
          <a:bodyPr wrap="square">
            <a:spAutoFit/>
          </a:bodyPr>
          <a:lstStyle/>
          <a:p>
            <a:pPr algn="l">
              <a:defRPr sz="1200" b="0">
                <a:solidFill>
                  <a:srgbClr val="1C2330"/>
                </a:solidFill>
              </a:defRPr>
            </a:pPr>
            <a:r>
              <a:t>—  TCT xây xong Data Lakehouse</a:t>
            </a:r>
          </a:p>
        </p:txBody>
      </p:sp>
      <p:sp>
        <p:nvSpPr>
          <p:cNvPr id="14" name="TextBox 13"/>
          <p:cNvSpPr txBox="1"/>
          <p:nvPr/>
        </p:nvSpPr>
        <p:spPr>
          <a:xfrm>
            <a:off x="960120" y="2743200"/>
            <a:ext cx="2926080" cy="457200"/>
          </a:xfrm>
          <a:prstGeom prst="rect">
            <a:avLst/>
          </a:prstGeom>
          <a:noFill/>
        </p:spPr>
        <p:txBody>
          <a:bodyPr wrap="square">
            <a:spAutoFit/>
          </a:bodyPr>
          <a:lstStyle/>
          <a:p>
            <a:pPr algn="l">
              <a:defRPr sz="1200" b="0">
                <a:solidFill>
                  <a:srgbClr val="1C2330"/>
                </a:solidFill>
              </a:defRPr>
            </a:pPr>
            <a:r>
              <a:t>—  Ban hành 29 Master Data</a:t>
            </a:r>
          </a:p>
        </p:txBody>
      </p:sp>
      <p:sp>
        <p:nvSpPr>
          <p:cNvPr id="15" name="TextBox 14"/>
          <p:cNvSpPr txBox="1"/>
          <p:nvPr/>
        </p:nvSpPr>
        <p:spPr>
          <a:xfrm>
            <a:off x="960120" y="3246120"/>
            <a:ext cx="2926080" cy="457200"/>
          </a:xfrm>
          <a:prstGeom prst="rect">
            <a:avLst/>
          </a:prstGeom>
          <a:noFill/>
        </p:spPr>
        <p:txBody>
          <a:bodyPr wrap="square">
            <a:spAutoFit/>
          </a:bodyPr>
          <a:lstStyle/>
          <a:p>
            <a:pPr algn="l">
              <a:defRPr sz="1200" b="0">
                <a:solidFill>
                  <a:srgbClr val="1C2330"/>
                </a:solidFill>
              </a:defRPr>
            </a:pPr>
            <a:r>
              <a:t>—  Cấp Workspace L3 cho đơn vị</a:t>
            </a:r>
          </a:p>
        </p:txBody>
      </p:sp>
      <p:sp>
        <p:nvSpPr>
          <p:cNvPr id="16" name="Right Arrow 15"/>
          <p:cNvSpPr/>
          <p:nvPr/>
        </p:nvSpPr>
        <p:spPr>
          <a:xfrm>
            <a:off x="4160520" y="265176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80559" y="1371600"/>
            <a:ext cx="3383280" cy="594360"/>
          </a:xfrm>
          <a:prstGeom prst="round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1399032"/>
            <a:ext cx="3383280" cy="274320"/>
          </a:xfrm>
          <a:prstGeom prst="rect">
            <a:avLst/>
          </a:prstGeom>
          <a:noFill/>
        </p:spPr>
        <p:txBody>
          <a:bodyPr wrap="square">
            <a:spAutoFit/>
          </a:bodyPr>
          <a:lstStyle/>
          <a:p>
            <a:pPr algn="ctr">
              <a:defRPr sz="1500" b="1">
                <a:solidFill>
                  <a:srgbClr val="FFFFFF"/>
                </a:solidFill>
              </a:defRPr>
            </a:pPr>
            <a:r>
              <a:t>2026 – 2027</a:t>
            </a:r>
          </a:p>
        </p:txBody>
      </p:sp>
      <p:sp>
        <p:nvSpPr>
          <p:cNvPr id="19" name="TextBox 18"/>
          <p:cNvSpPr txBox="1"/>
          <p:nvPr/>
        </p:nvSpPr>
        <p:spPr>
          <a:xfrm>
            <a:off x="4480559" y="1664208"/>
            <a:ext cx="3383280" cy="228600"/>
          </a:xfrm>
          <a:prstGeom prst="rect">
            <a:avLst/>
          </a:prstGeom>
          <a:noFill/>
        </p:spPr>
        <p:txBody>
          <a:bodyPr wrap="square">
            <a:spAutoFit/>
          </a:bodyPr>
          <a:lstStyle/>
          <a:p>
            <a:pPr algn="ctr">
              <a:defRPr sz="900" b="1">
                <a:solidFill>
                  <a:srgbClr val="FFFFFF"/>
                </a:solidFill>
              </a:defRPr>
            </a:pPr>
            <a:r>
              <a:t>ĐANG THỰC HIỆN</a:t>
            </a:r>
          </a:p>
        </p:txBody>
      </p:sp>
      <p:sp>
        <p:nvSpPr>
          <p:cNvPr id="20" name="Rounded Rectangle 19"/>
          <p:cNvSpPr/>
          <p:nvPr/>
        </p:nvSpPr>
        <p:spPr>
          <a:xfrm>
            <a:off x="4480559" y="2057400"/>
            <a:ext cx="3383280" cy="2377440"/>
          </a:xfrm>
          <a:prstGeom prst="roundRect">
            <a:avLst/>
          </a:prstGeom>
          <a:solidFill>
            <a:srgbClr val="FFF5E1"/>
          </a:solidFill>
          <a:ln w="127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09159" y="2240280"/>
            <a:ext cx="2926080" cy="457200"/>
          </a:xfrm>
          <a:prstGeom prst="rect">
            <a:avLst/>
          </a:prstGeom>
          <a:noFill/>
        </p:spPr>
        <p:txBody>
          <a:bodyPr wrap="square">
            <a:spAutoFit/>
          </a:bodyPr>
          <a:lstStyle/>
          <a:p>
            <a:pPr algn="l">
              <a:defRPr sz="1200" b="0">
                <a:solidFill>
                  <a:srgbClr val="1C2330"/>
                </a:solidFill>
              </a:defRPr>
            </a:pPr>
            <a:r>
              <a:t>—  Quảng Ngãi phải kết nối!</a:t>
            </a:r>
          </a:p>
        </p:txBody>
      </p:sp>
      <p:sp>
        <p:nvSpPr>
          <p:cNvPr id="22" name="TextBox 21"/>
          <p:cNvSpPr txBox="1"/>
          <p:nvPr/>
        </p:nvSpPr>
        <p:spPr>
          <a:xfrm>
            <a:off x="4709159" y="2743200"/>
            <a:ext cx="2926080" cy="457200"/>
          </a:xfrm>
          <a:prstGeom prst="rect">
            <a:avLst/>
          </a:prstGeom>
          <a:noFill/>
        </p:spPr>
        <p:txBody>
          <a:bodyPr wrap="square">
            <a:spAutoFit/>
          </a:bodyPr>
          <a:lstStyle/>
          <a:p>
            <a:pPr algn="l">
              <a:defRPr sz="1200" b="0">
                <a:solidFill>
                  <a:srgbClr val="1C2330"/>
                </a:solidFill>
              </a:defRPr>
            </a:pPr>
            <a:r>
              <a:t>—  Dựng Trạm trung chuyển</a:t>
            </a:r>
          </a:p>
        </p:txBody>
      </p:sp>
      <p:sp>
        <p:nvSpPr>
          <p:cNvPr id="23" name="TextBox 22"/>
          <p:cNvSpPr txBox="1"/>
          <p:nvPr/>
        </p:nvSpPr>
        <p:spPr>
          <a:xfrm>
            <a:off x="4709159" y="3246120"/>
            <a:ext cx="2926080" cy="457200"/>
          </a:xfrm>
          <a:prstGeom prst="rect">
            <a:avLst/>
          </a:prstGeom>
          <a:noFill/>
        </p:spPr>
        <p:txBody>
          <a:bodyPr wrap="square">
            <a:spAutoFit/>
          </a:bodyPr>
          <a:lstStyle/>
          <a:p>
            <a:pPr algn="l">
              <a:defRPr sz="1200" b="0">
                <a:solidFill>
                  <a:srgbClr val="1C2330"/>
                </a:solidFill>
              </a:defRPr>
            </a:pPr>
            <a:r>
              <a:t>—  Bơm dữ liệu lên TCT</a:t>
            </a:r>
          </a:p>
        </p:txBody>
      </p:sp>
      <p:sp>
        <p:nvSpPr>
          <p:cNvPr id="24" name="Right Arrow 23"/>
          <p:cNvSpPr/>
          <p:nvPr/>
        </p:nvSpPr>
        <p:spPr>
          <a:xfrm>
            <a:off x="7909559" y="265176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29600" y="1371600"/>
            <a:ext cx="3383280" cy="594360"/>
          </a:xfrm>
          <a:prstGeom prst="roundRect">
            <a:avLst/>
          </a:prstGeom>
          <a:solidFill>
            <a:srgbClr val="6C7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1399032"/>
            <a:ext cx="3383280" cy="274320"/>
          </a:xfrm>
          <a:prstGeom prst="rect">
            <a:avLst/>
          </a:prstGeom>
          <a:noFill/>
        </p:spPr>
        <p:txBody>
          <a:bodyPr wrap="square">
            <a:spAutoFit/>
          </a:bodyPr>
          <a:lstStyle/>
          <a:p>
            <a:pPr algn="ctr">
              <a:defRPr sz="1500" b="1">
                <a:solidFill>
                  <a:srgbClr val="FFFFFF"/>
                </a:solidFill>
              </a:defRPr>
            </a:pPr>
            <a:r>
              <a:t>2028 – 2030</a:t>
            </a:r>
          </a:p>
        </p:txBody>
      </p:sp>
      <p:sp>
        <p:nvSpPr>
          <p:cNvPr id="27" name="TextBox 26"/>
          <p:cNvSpPr txBox="1"/>
          <p:nvPr/>
        </p:nvSpPr>
        <p:spPr>
          <a:xfrm>
            <a:off x="8229600" y="1664208"/>
            <a:ext cx="3383280" cy="228600"/>
          </a:xfrm>
          <a:prstGeom prst="rect">
            <a:avLst/>
          </a:prstGeom>
          <a:noFill/>
        </p:spPr>
        <p:txBody>
          <a:bodyPr wrap="square">
            <a:spAutoFit/>
          </a:bodyPr>
          <a:lstStyle/>
          <a:p>
            <a:pPr algn="ctr">
              <a:defRPr sz="900" b="1">
                <a:solidFill>
                  <a:srgbClr val="FFFFFF"/>
                </a:solidFill>
              </a:defRPr>
            </a:pPr>
            <a:r>
              <a:t>TƯƠNG LAI</a:t>
            </a:r>
          </a:p>
        </p:txBody>
      </p:sp>
      <p:sp>
        <p:nvSpPr>
          <p:cNvPr id="28" name="Rounded Rectangle 27"/>
          <p:cNvSpPr/>
          <p:nvPr/>
        </p:nvSpPr>
        <p:spPr>
          <a:xfrm>
            <a:off x="8229600" y="2057400"/>
            <a:ext cx="3383280" cy="2377440"/>
          </a:xfrm>
          <a:prstGeom prst="roundRect">
            <a:avLst/>
          </a:prstGeom>
          <a:solidFill>
            <a:srgbClr val="F3F5F8"/>
          </a:solidFill>
          <a:ln w="12700">
            <a:solidFill>
              <a:srgbClr val="6C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2240280"/>
            <a:ext cx="2926080" cy="457200"/>
          </a:xfrm>
          <a:prstGeom prst="rect">
            <a:avLst/>
          </a:prstGeom>
          <a:noFill/>
        </p:spPr>
        <p:txBody>
          <a:bodyPr wrap="square">
            <a:spAutoFit/>
          </a:bodyPr>
          <a:lstStyle/>
          <a:p>
            <a:pPr algn="l">
              <a:defRPr sz="1200" b="0">
                <a:solidFill>
                  <a:srgbClr val="1C2330"/>
                </a:solidFill>
              </a:defRPr>
            </a:pPr>
            <a:r>
              <a:t>—  Khai thác toàn diện</a:t>
            </a:r>
          </a:p>
        </p:txBody>
      </p:sp>
      <p:sp>
        <p:nvSpPr>
          <p:cNvPr id="30" name="TextBox 29"/>
          <p:cNvSpPr txBox="1"/>
          <p:nvPr/>
        </p:nvSpPr>
        <p:spPr>
          <a:xfrm>
            <a:off x="8458200" y="2743200"/>
            <a:ext cx="2926080" cy="457200"/>
          </a:xfrm>
          <a:prstGeom prst="rect">
            <a:avLst/>
          </a:prstGeom>
          <a:noFill/>
        </p:spPr>
        <p:txBody>
          <a:bodyPr wrap="square">
            <a:spAutoFit/>
          </a:bodyPr>
          <a:lstStyle/>
          <a:p>
            <a:pPr algn="l">
              <a:defRPr sz="1200" b="0">
                <a:solidFill>
                  <a:srgbClr val="1C2330"/>
                </a:solidFill>
              </a:defRPr>
            </a:pPr>
            <a:r>
              <a:t>—  AI/ML phân tích dự báo</a:t>
            </a:r>
          </a:p>
        </p:txBody>
      </p:sp>
      <p:sp>
        <p:nvSpPr>
          <p:cNvPr id="31" name="TextBox 30"/>
          <p:cNvSpPr txBox="1"/>
          <p:nvPr/>
        </p:nvSpPr>
        <p:spPr>
          <a:xfrm>
            <a:off x="8458200" y="3246120"/>
            <a:ext cx="2926080" cy="457200"/>
          </a:xfrm>
          <a:prstGeom prst="rect">
            <a:avLst/>
          </a:prstGeom>
          <a:noFill/>
        </p:spPr>
        <p:txBody>
          <a:bodyPr wrap="square">
            <a:spAutoFit/>
          </a:bodyPr>
          <a:lstStyle/>
          <a:p>
            <a:pPr algn="l">
              <a:defRPr sz="1200" b="0">
                <a:solidFill>
                  <a:srgbClr val="1C2330"/>
                </a:solidFill>
              </a:defRPr>
            </a:pPr>
            <a:r>
              <a:t>—  Báo cáo thông minh</a:t>
            </a:r>
          </a:p>
        </p:txBody>
      </p:sp>
      <p:sp>
        <p:nvSpPr>
          <p:cNvPr id="32" name="Rounded Rectangle 31"/>
          <p:cNvSpPr/>
          <p:nvPr/>
        </p:nvSpPr>
        <p:spPr>
          <a:xfrm>
            <a:off x="731520" y="4846320"/>
            <a:ext cx="10698480" cy="137160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68096" y="4864608"/>
            <a:ext cx="73152" cy="1298448"/>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4937760"/>
            <a:ext cx="9875520" cy="320040"/>
          </a:xfrm>
          <a:prstGeom prst="rect">
            <a:avLst/>
          </a:prstGeom>
          <a:noFill/>
        </p:spPr>
        <p:txBody>
          <a:bodyPr wrap="square">
            <a:spAutoFit/>
          </a:bodyPr>
          <a:lstStyle/>
          <a:p>
            <a:pPr algn="l">
              <a:defRPr sz="1400" b="1">
                <a:solidFill>
                  <a:srgbClr val="B42828"/>
                </a:solidFill>
              </a:defRPr>
            </a:pPr>
            <a:r>
              <a:t>Tại sao phải triển khai ngay?</a:t>
            </a:r>
          </a:p>
        </p:txBody>
      </p:sp>
      <p:sp>
        <p:nvSpPr>
          <p:cNvPr id="35" name="TextBox 34"/>
          <p:cNvSpPr txBox="1"/>
          <p:nvPr/>
        </p:nvSpPr>
        <p:spPr>
          <a:xfrm>
            <a:off x="1097280" y="5349240"/>
            <a:ext cx="9875520" cy="320040"/>
          </a:xfrm>
          <a:prstGeom prst="rect">
            <a:avLst/>
          </a:prstGeom>
          <a:noFill/>
        </p:spPr>
        <p:txBody>
          <a:bodyPr wrap="square">
            <a:spAutoFit/>
          </a:bodyPr>
          <a:lstStyle/>
          <a:p>
            <a:pPr algn="l">
              <a:defRPr sz="1100" b="0">
                <a:solidFill>
                  <a:srgbClr val="1C2330"/>
                </a:solidFill>
              </a:defRPr>
            </a:pPr>
            <a:r>
              <a:t>Nghị quyết số 10/NQ-HĐQT-PTSC: Data Platform là trụ cột bắt buộc cho toàn bộ đơn vị thành viên</a:t>
            </a:r>
          </a:p>
          <a:p>
            <a:pPr>
              <a:defRPr sz="1100">
                <a:solidFill>
                  <a:srgbClr val="1C2330"/>
                </a:solidFill>
              </a:defRPr>
            </a:pPr>
            <a:r>
              <a:t>Giai đoạn 2026–2027 là mốc deadline do TCT giao — chậm trễ sẽ ảnh hưởng đến đánh giá KPI chuyển đổi số của đơn vị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HIỆN TRẠNG — ĐÁNH GIÁ NĂNG LỰC NỘI BỘ</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3 THÁCH THỨC CẦN GIẢI QUYẾT TẠI QUẢNG NGÃI</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05</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3383280" cy="47548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70001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5840" y="155448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12" name="TextBox 11"/>
          <p:cNvSpPr txBox="1"/>
          <p:nvPr/>
        </p:nvSpPr>
        <p:spPr>
          <a:xfrm>
            <a:off x="1508760" y="1572768"/>
            <a:ext cx="2377440" cy="640080"/>
          </a:xfrm>
          <a:prstGeom prst="rect">
            <a:avLst/>
          </a:prstGeom>
          <a:noFill/>
        </p:spPr>
        <p:txBody>
          <a:bodyPr wrap="square">
            <a:spAutoFit/>
          </a:bodyPr>
          <a:lstStyle/>
          <a:p>
            <a:pPr algn="l">
              <a:defRPr sz="1300" b="1">
                <a:solidFill>
                  <a:srgbClr val="B47300"/>
                </a:solidFill>
              </a:defRPr>
            </a:pPr>
            <a:r>
              <a:t>DỮ LIỆU PHÂN MẢNH</a:t>
            </a:r>
          </a:p>
        </p:txBody>
      </p:sp>
      <p:sp>
        <p:nvSpPr>
          <p:cNvPr id="13" name="Rounded Rectangle 12"/>
          <p:cNvSpPr/>
          <p:nvPr/>
        </p:nvSpPr>
        <p:spPr>
          <a:xfrm>
            <a:off x="1005840" y="242316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514600"/>
            <a:ext cx="2377440" cy="822960"/>
          </a:xfrm>
          <a:prstGeom prst="rect">
            <a:avLst/>
          </a:prstGeom>
          <a:noFill/>
        </p:spPr>
        <p:txBody>
          <a:bodyPr wrap="square">
            <a:spAutoFit/>
          </a:bodyPr>
          <a:lstStyle/>
          <a:p>
            <a:pPr algn="l">
              <a:defRPr sz="1100" b="0">
                <a:solidFill>
                  <a:srgbClr val="1C2330"/>
                </a:solidFill>
              </a:defRPr>
            </a:pPr>
            <a:r>
              <a:t>4 phần mềm hoạt động</a:t>
            </a:r>
            <a:br/>
            <a:r>
              <a:t>độc lập, không kết nối</a:t>
            </a:r>
          </a:p>
        </p:txBody>
      </p:sp>
      <p:sp>
        <p:nvSpPr>
          <p:cNvPr id="15" name="Rounded Rectangle 14"/>
          <p:cNvSpPr/>
          <p:nvPr/>
        </p:nvSpPr>
        <p:spPr>
          <a:xfrm>
            <a:off x="1005840" y="370332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794760"/>
            <a:ext cx="2377440" cy="822960"/>
          </a:xfrm>
          <a:prstGeom prst="rect">
            <a:avLst/>
          </a:prstGeom>
          <a:noFill/>
        </p:spPr>
        <p:txBody>
          <a:bodyPr wrap="square">
            <a:spAutoFit/>
          </a:bodyPr>
          <a:lstStyle/>
          <a:p>
            <a:pPr algn="l">
              <a:defRPr sz="1100" b="0">
                <a:solidFill>
                  <a:srgbClr val="1C2330"/>
                </a:solidFill>
              </a:defRPr>
            </a:pPr>
            <a:r>
              <a:t>Chuyển dữ liệu bằng</a:t>
            </a:r>
            <a:br/>
            <a:r>
              <a:t>Excel thủ công</a:t>
            </a:r>
          </a:p>
        </p:txBody>
      </p:sp>
      <p:sp>
        <p:nvSpPr>
          <p:cNvPr id="17" name="Rounded Rectangle 16"/>
          <p:cNvSpPr/>
          <p:nvPr/>
        </p:nvSpPr>
        <p:spPr>
          <a:xfrm>
            <a:off x="1005840" y="4983479"/>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5074919"/>
            <a:ext cx="2377440" cy="822960"/>
          </a:xfrm>
          <a:prstGeom prst="rect">
            <a:avLst/>
          </a:prstGeom>
          <a:noFill/>
        </p:spPr>
        <p:txBody>
          <a:bodyPr wrap="square">
            <a:spAutoFit/>
          </a:bodyPr>
          <a:lstStyle/>
          <a:p>
            <a:pPr algn="l">
              <a:defRPr sz="1100" b="0">
                <a:solidFill>
                  <a:srgbClr val="1C2330"/>
                </a:solidFill>
              </a:defRPr>
            </a:pPr>
            <a:r>
              <a:t>Chưa có cơ chế</a:t>
            </a:r>
            <a:br/>
            <a:r>
              <a:t>tập trung dữ liệu</a:t>
            </a:r>
          </a:p>
        </p:txBody>
      </p:sp>
      <p:sp>
        <p:nvSpPr>
          <p:cNvPr id="19" name="Rounded Rectangle 18"/>
          <p:cNvSpPr/>
          <p:nvPr/>
        </p:nvSpPr>
        <p:spPr>
          <a:xfrm>
            <a:off x="4480559" y="1371600"/>
            <a:ext cx="3383280" cy="475488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17135" y="1389888"/>
            <a:ext cx="73152" cy="470001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54879" y="1554480"/>
            <a:ext cx="365760" cy="365760"/>
          </a:xfrm>
          <a:prstGeom prst="ellipse">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22" name="TextBox 21"/>
          <p:cNvSpPr txBox="1"/>
          <p:nvPr/>
        </p:nvSpPr>
        <p:spPr>
          <a:xfrm>
            <a:off x="5257799" y="1572768"/>
            <a:ext cx="2377440" cy="640080"/>
          </a:xfrm>
          <a:prstGeom prst="rect">
            <a:avLst/>
          </a:prstGeom>
          <a:noFill/>
        </p:spPr>
        <p:txBody>
          <a:bodyPr wrap="square">
            <a:spAutoFit/>
          </a:bodyPr>
          <a:lstStyle/>
          <a:p>
            <a:pPr algn="l">
              <a:defRPr sz="1300" b="1">
                <a:solidFill>
                  <a:srgbClr val="1E64BE"/>
                </a:solidFill>
              </a:defRPr>
            </a:pPr>
            <a:r>
              <a:t>LỆCH CHUẨN MASTER DATA</a:t>
            </a:r>
          </a:p>
        </p:txBody>
      </p:sp>
      <p:sp>
        <p:nvSpPr>
          <p:cNvPr id="23" name="Rounded Rectangle 22"/>
          <p:cNvSpPr/>
          <p:nvPr/>
        </p:nvSpPr>
        <p:spPr>
          <a:xfrm>
            <a:off x="4754879" y="242316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59" y="2514600"/>
            <a:ext cx="2377440" cy="822960"/>
          </a:xfrm>
          <a:prstGeom prst="rect">
            <a:avLst/>
          </a:prstGeom>
          <a:noFill/>
        </p:spPr>
        <p:txBody>
          <a:bodyPr wrap="square">
            <a:spAutoFit/>
          </a:bodyPr>
          <a:lstStyle/>
          <a:p>
            <a:pPr algn="l">
              <a:defRPr sz="1100" b="0">
                <a:solidFill>
                  <a:srgbClr val="1C2330"/>
                </a:solidFill>
              </a:defRPr>
            </a:pPr>
            <a:r>
              <a:t>Mã vật tư, nhân sự, dự án</a:t>
            </a:r>
            <a:br/>
            <a:r>
              <a:t>của QN chưa khớp chuẩn TCT</a:t>
            </a:r>
          </a:p>
        </p:txBody>
      </p:sp>
      <p:sp>
        <p:nvSpPr>
          <p:cNvPr id="25" name="Rounded Rectangle 24"/>
          <p:cNvSpPr/>
          <p:nvPr/>
        </p:nvSpPr>
        <p:spPr>
          <a:xfrm>
            <a:off x="4754879" y="370332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59" y="3794760"/>
            <a:ext cx="2377440" cy="822960"/>
          </a:xfrm>
          <a:prstGeom prst="rect">
            <a:avLst/>
          </a:prstGeom>
          <a:noFill/>
        </p:spPr>
        <p:txBody>
          <a:bodyPr wrap="square">
            <a:spAutoFit/>
          </a:bodyPr>
          <a:lstStyle/>
          <a:p>
            <a:pPr algn="l">
              <a:defRPr sz="1100" b="0">
                <a:solidFill>
                  <a:srgbClr val="1C2330"/>
                </a:solidFill>
              </a:defRPr>
            </a:pPr>
            <a:r>
              <a:t>Cần ánh xạ toàn bộ</a:t>
            </a:r>
            <a:br/>
            <a:r>
              <a:t>với 29 danh mục Master Data</a:t>
            </a:r>
          </a:p>
        </p:txBody>
      </p:sp>
      <p:sp>
        <p:nvSpPr>
          <p:cNvPr id="27" name="Rounded Rectangle 26"/>
          <p:cNvSpPr/>
          <p:nvPr/>
        </p:nvSpPr>
        <p:spPr>
          <a:xfrm>
            <a:off x="4754879" y="4983479"/>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59" y="5074919"/>
            <a:ext cx="2377440" cy="822960"/>
          </a:xfrm>
          <a:prstGeom prst="rect">
            <a:avLst/>
          </a:prstGeom>
          <a:noFill/>
        </p:spPr>
        <p:txBody>
          <a:bodyPr wrap="square">
            <a:spAutoFit/>
          </a:bodyPr>
          <a:lstStyle/>
          <a:p>
            <a:pPr algn="l">
              <a:defRPr sz="1100" b="0">
                <a:solidFill>
                  <a:srgbClr val="1C2330"/>
                </a:solidFill>
              </a:defRPr>
            </a:pPr>
            <a:r>
              <a:t>Nếu không mapping trước,</a:t>
            </a:r>
            <a:br/>
            <a:r>
              <a:t>TCT sẽ từ chối tiếp nhận</a:t>
            </a:r>
          </a:p>
        </p:txBody>
      </p:sp>
      <p:sp>
        <p:nvSpPr>
          <p:cNvPr id="29" name="Rounded Rectangle 28"/>
          <p:cNvSpPr/>
          <p:nvPr/>
        </p:nvSpPr>
        <p:spPr>
          <a:xfrm>
            <a:off x="8229600" y="1371600"/>
            <a:ext cx="3383280" cy="475488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66176" y="1389888"/>
            <a:ext cx="73152" cy="4700016"/>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03920" y="1554480"/>
            <a:ext cx="365760" cy="365760"/>
          </a:xfrm>
          <a:prstGeom prst="ellipse">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32" name="TextBox 31"/>
          <p:cNvSpPr txBox="1"/>
          <p:nvPr/>
        </p:nvSpPr>
        <p:spPr>
          <a:xfrm>
            <a:off x="9006840" y="1572768"/>
            <a:ext cx="2377440" cy="640080"/>
          </a:xfrm>
          <a:prstGeom prst="rect">
            <a:avLst/>
          </a:prstGeom>
          <a:noFill/>
        </p:spPr>
        <p:txBody>
          <a:bodyPr wrap="square">
            <a:spAutoFit/>
          </a:bodyPr>
          <a:lstStyle/>
          <a:p>
            <a:pPr algn="l">
              <a:defRPr sz="1300" b="1">
                <a:solidFill>
                  <a:srgbClr val="B42828"/>
                </a:solidFill>
              </a:defRPr>
            </a:pPr>
            <a:r>
              <a:t>THIẾU CHUYÊN GIA</a:t>
            </a:r>
            <a:br/>
            <a:r>
              <a:t>DATA ENGINEERING</a:t>
            </a:r>
          </a:p>
        </p:txBody>
      </p:sp>
      <p:sp>
        <p:nvSpPr>
          <p:cNvPr id="33" name="Rounded Rectangle 32"/>
          <p:cNvSpPr/>
          <p:nvPr/>
        </p:nvSpPr>
        <p:spPr>
          <a:xfrm>
            <a:off x="8503920" y="242316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0" y="2514600"/>
            <a:ext cx="2377440" cy="822960"/>
          </a:xfrm>
          <a:prstGeom prst="rect">
            <a:avLst/>
          </a:prstGeom>
          <a:noFill/>
        </p:spPr>
        <p:txBody>
          <a:bodyPr wrap="square">
            <a:spAutoFit/>
          </a:bodyPr>
          <a:lstStyle/>
          <a:p>
            <a:pPr algn="l">
              <a:defRPr sz="1100" b="0">
                <a:solidFill>
                  <a:srgbClr val="1C2330"/>
                </a:solidFill>
              </a:defRPr>
            </a:pPr>
            <a:r>
              <a:t>IT giỏi hạ tầng mạng</a:t>
            </a:r>
            <a:br/>
            <a:r>
              <a:t>và hỗ trợ người dùng</a:t>
            </a:r>
          </a:p>
        </p:txBody>
      </p:sp>
      <p:sp>
        <p:nvSpPr>
          <p:cNvPr id="35" name="Rounded Rectangle 34"/>
          <p:cNvSpPr/>
          <p:nvPr/>
        </p:nvSpPr>
        <p:spPr>
          <a:xfrm>
            <a:off x="8503920" y="370332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0" y="3794760"/>
            <a:ext cx="2377440" cy="822960"/>
          </a:xfrm>
          <a:prstGeom prst="rect">
            <a:avLst/>
          </a:prstGeom>
          <a:noFill/>
        </p:spPr>
        <p:txBody>
          <a:bodyPr wrap="square">
            <a:spAutoFit/>
          </a:bodyPr>
          <a:lstStyle/>
          <a:p>
            <a:pPr algn="l">
              <a:defRPr sz="1100" b="0">
                <a:solidFill>
                  <a:srgbClr val="1C2330"/>
                </a:solidFill>
              </a:defRPr>
            </a:pPr>
            <a:r>
              <a:t>Chưa có kinh nghiệm</a:t>
            </a:r>
            <a:br/>
            <a:r>
              <a:t>Data Pipeline / ETL</a:t>
            </a:r>
          </a:p>
        </p:txBody>
      </p:sp>
      <p:sp>
        <p:nvSpPr>
          <p:cNvPr id="37" name="Rounded Rectangle 36"/>
          <p:cNvSpPr/>
          <p:nvPr/>
        </p:nvSpPr>
        <p:spPr>
          <a:xfrm>
            <a:off x="8503920" y="4983479"/>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0" y="5074919"/>
            <a:ext cx="2377440" cy="822960"/>
          </a:xfrm>
          <a:prstGeom prst="rect">
            <a:avLst/>
          </a:prstGeom>
          <a:noFill/>
        </p:spPr>
        <p:txBody>
          <a:bodyPr wrap="square">
            <a:spAutoFit/>
          </a:bodyPr>
          <a:lstStyle/>
          <a:p>
            <a:pPr algn="l">
              <a:defRPr sz="1100" b="0">
                <a:solidFill>
                  <a:srgbClr val="1C2330"/>
                </a:solidFill>
              </a:defRPr>
            </a:pPr>
            <a:r>
              <a:t>Tự nghiên cứu:</a:t>
            </a:r>
            <a:br/>
            <a:r>
              <a:t>mất 8–12 tháng, rủi ro trễ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KIẾN TRÚC — NỘI DUNG ƯU TIÊN CAO THEO CHỈ ĐẠO</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TRỤC TÍCH HỢP: DỮ LIỆU CHẢY TỪ QUẢNG NGÃI LÊN TCT NHƯ THẾ NÀO?</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06</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274320" y="1234440"/>
            <a:ext cx="2468880" cy="4983480"/>
          </a:xfrm>
          <a:prstGeom prst="roundRect">
            <a:avLst/>
          </a:prstGeom>
          <a:solidFill>
            <a:srgbClr val="E6F0FC"/>
          </a:solidFill>
          <a:ln w="127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261872"/>
            <a:ext cx="2468880" cy="320040"/>
          </a:xfrm>
          <a:prstGeom prst="rect">
            <a:avLst/>
          </a:prstGeom>
          <a:noFill/>
        </p:spPr>
        <p:txBody>
          <a:bodyPr wrap="square">
            <a:spAutoFit/>
          </a:bodyPr>
          <a:lstStyle/>
          <a:p>
            <a:pPr algn="ctr">
              <a:defRPr sz="900" b="1">
                <a:solidFill>
                  <a:srgbClr val="1E64BE"/>
                </a:solidFill>
              </a:defRPr>
            </a:pPr>
            <a:r>
              <a:t>NGUỒN DỮ LIỆU NỘI BỘ</a:t>
            </a:r>
          </a:p>
        </p:txBody>
      </p:sp>
      <p:sp>
        <p:nvSpPr>
          <p:cNvPr id="11" name="Rounded Rectangle 10"/>
          <p:cNvSpPr/>
          <p:nvPr/>
        </p:nvSpPr>
        <p:spPr>
          <a:xfrm>
            <a:off x="502920" y="1783080"/>
            <a:ext cx="2011680" cy="77724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874520"/>
            <a:ext cx="1828800" cy="320040"/>
          </a:xfrm>
          <a:prstGeom prst="rect">
            <a:avLst/>
          </a:prstGeom>
          <a:noFill/>
        </p:spPr>
        <p:txBody>
          <a:bodyPr wrap="square">
            <a:spAutoFit/>
          </a:bodyPr>
          <a:lstStyle/>
          <a:p>
            <a:pPr algn="ctr">
              <a:defRPr sz="1050" b="1">
                <a:solidFill>
                  <a:srgbClr val="0C2344"/>
                </a:solidFill>
              </a:defRPr>
            </a:pPr>
            <a:r>
              <a:t>Kế toán – Tài chính</a:t>
            </a:r>
          </a:p>
        </p:txBody>
      </p:sp>
      <p:sp>
        <p:nvSpPr>
          <p:cNvPr id="13" name="TextBox 12"/>
          <p:cNvSpPr txBox="1"/>
          <p:nvPr/>
        </p:nvSpPr>
        <p:spPr>
          <a:xfrm>
            <a:off x="594360" y="2194560"/>
            <a:ext cx="1828800" cy="274320"/>
          </a:xfrm>
          <a:prstGeom prst="rect">
            <a:avLst/>
          </a:prstGeom>
          <a:noFill/>
        </p:spPr>
        <p:txBody>
          <a:bodyPr wrap="square">
            <a:spAutoFit/>
          </a:bodyPr>
          <a:lstStyle/>
          <a:p>
            <a:pPr algn="ctr">
              <a:defRPr sz="850" b="0">
                <a:solidFill>
                  <a:srgbClr val="6C7684"/>
                </a:solidFill>
              </a:defRPr>
            </a:pPr>
            <a:r>
              <a:t>Cơ sở dữ liệu</a:t>
            </a:r>
          </a:p>
        </p:txBody>
      </p:sp>
      <p:sp>
        <p:nvSpPr>
          <p:cNvPr id="14" name="Right Arrow 13"/>
          <p:cNvSpPr/>
          <p:nvPr/>
        </p:nvSpPr>
        <p:spPr>
          <a:xfrm>
            <a:off x="2560320" y="2011680"/>
            <a:ext cx="32004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2880360"/>
            <a:ext cx="2011680" cy="77724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971800"/>
            <a:ext cx="1828800" cy="320040"/>
          </a:xfrm>
          <a:prstGeom prst="rect">
            <a:avLst/>
          </a:prstGeom>
          <a:noFill/>
        </p:spPr>
        <p:txBody>
          <a:bodyPr wrap="square">
            <a:spAutoFit/>
          </a:bodyPr>
          <a:lstStyle/>
          <a:p>
            <a:pPr algn="ctr">
              <a:defRPr sz="1050" b="1">
                <a:solidFill>
                  <a:srgbClr val="0C2344"/>
                </a:solidFill>
              </a:defRPr>
            </a:pPr>
            <a:r>
              <a:t>Quản lý Nhân sự</a:t>
            </a:r>
          </a:p>
        </p:txBody>
      </p:sp>
      <p:sp>
        <p:nvSpPr>
          <p:cNvPr id="17" name="TextBox 16"/>
          <p:cNvSpPr txBox="1"/>
          <p:nvPr/>
        </p:nvSpPr>
        <p:spPr>
          <a:xfrm>
            <a:off x="594360" y="3291840"/>
            <a:ext cx="1828800" cy="274320"/>
          </a:xfrm>
          <a:prstGeom prst="rect">
            <a:avLst/>
          </a:prstGeom>
          <a:noFill/>
        </p:spPr>
        <p:txBody>
          <a:bodyPr wrap="square">
            <a:spAutoFit/>
          </a:bodyPr>
          <a:lstStyle/>
          <a:p>
            <a:pPr algn="ctr">
              <a:defRPr sz="850" b="0">
                <a:solidFill>
                  <a:srgbClr val="6C7684"/>
                </a:solidFill>
              </a:defRPr>
            </a:pPr>
            <a:r>
              <a:t>Cơ sở dữ liệu</a:t>
            </a:r>
          </a:p>
        </p:txBody>
      </p:sp>
      <p:sp>
        <p:nvSpPr>
          <p:cNvPr id="18" name="Right Arrow 17"/>
          <p:cNvSpPr/>
          <p:nvPr/>
        </p:nvSpPr>
        <p:spPr>
          <a:xfrm>
            <a:off x="2560320" y="3108960"/>
            <a:ext cx="32004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3977639"/>
            <a:ext cx="2011680" cy="77724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069079"/>
            <a:ext cx="1828800" cy="320040"/>
          </a:xfrm>
          <a:prstGeom prst="rect">
            <a:avLst/>
          </a:prstGeom>
          <a:noFill/>
        </p:spPr>
        <p:txBody>
          <a:bodyPr wrap="square">
            <a:spAutoFit/>
          </a:bodyPr>
          <a:lstStyle/>
          <a:p>
            <a:pPr algn="ctr">
              <a:defRPr sz="1050" b="1">
                <a:solidFill>
                  <a:srgbClr val="0C2344"/>
                </a:solidFill>
              </a:defRPr>
            </a:pPr>
            <a:r>
              <a:t>Vật tư – Thiết bị</a:t>
            </a:r>
          </a:p>
        </p:txBody>
      </p:sp>
      <p:sp>
        <p:nvSpPr>
          <p:cNvPr id="21" name="TextBox 20"/>
          <p:cNvSpPr txBox="1"/>
          <p:nvPr/>
        </p:nvSpPr>
        <p:spPr>
          <a:xfrm>
            <a:off x="594360" y="4389119"/>
            <a:ext cx="1828800" cy="274320"/>
          </a:xfrm>
          <a:prstGeom prst="rect">
            <a:avLst/>
          </a:prstGeom>
          <a:noFill/>
        </p:spPr>
        <p:txBody>
          <a:bodyPr wrap="square">
            <a:spAutoFit/>
          </a:bodyPr>
          <a:lstStyle/>
          <a:p>
            <a:pPr algn="ctr">
              <a:defRPr sz="850" b="0">
                <a:solidFill>
                  <a:srgbClr val="6C7684"/>
                </a:solidFill>
              </a:defRPr>
            </a:pPr>
            <a:r>
              <a:t>Cơ sở dữ liệu</a:t>
            </a:r>
          </a:p>
        </p:txBody>
      </p:sp>
      <p:sp>
        <p:nvSpPr>
          <p:cNvPr id="22" name="Right Arrow 21"/>
          <p:cNvSpPr/>
          <p:nvPr/>
        </p:nvSpPr>
        <p:spPr>
          <a:xfrm>
            <a:off x="2560320" y="4206239"/>
            <a:ext cx="32004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5074920"/>
            <a:ext cx="2011680" cy="777240"/>
          </a:xfrm>
          <a:prstGeom prst="roundRect">
            <a:avLst/>
          </a:prstGeom>
          <a:solidFill>
            <a:srgbClr val="FFFFFF"/>
          </a:solidFill>
          <a:ln w="1016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166360"/>
            <a:ext cx="1828800" cy="320040"/>
          </a:xfrm>
          <a:prstGeom prst="rect">
            <a:avLst/>
          </a:prstGeom>
          <a:noFill/>
        </p:spPr>
        <p:txBody>
          <a:bodyPr wrap="square">
            <a:spAutoFit/>
          </a:bodyPr>
          <a:lstStyle/>
          <a:p>
            <a:pPr algn="ctr">
              <a:defRPr sz="1050" b="1">
                <a:solidFill>
                  <a:srgbClr val="0C2344"/>
                </a:solidFill>
              </a:defRPr>
            </a:pPr>
            <a:r>
              <a:t>Hợp đồng – Dự án</a:t>
            </a:r>
          </a:p>
        </p:txBody>
      </p:sp>
      <p:sp>
        <p:nvSpPr>
          <p:cNvPr id="25" name="TextBox 24"/>
          <p:cNvSpPr txBox="1"/>
          <p:nvPr/>
        </p:nvSpPr>
        <p:spPr>
          <a:xfrm>
            <a:off x="594360" y="5486400"/>
            <a:ext cx="1828800" cy="274320"/>
          </a:xfrm>
          <a:prstGeom prst="rect">
            <a:avLst/>
          </a:prstGeom>
          <a:noFill/>
        </p:spPr>
        <p:txBody>
          <a:bodyPr wrap="square">
            <a:spAutoFit/>
          </a:bodyPr>
          <a:lstStyle/>
          <a:p>
            <a:pPr algn="ctr">
              <a:defRPr sz="850" b="0">
                <a:solidFill>
                  <a:srgbClr val="6C7684"/>
                </a:solidFill>
              </a:defRPr>
            </a:pPr>
            <a:r>
              <a:t>Cơ sở dữ liệu</a:t>
            </a:r>
          </a:p>
        </p:txBody>
      </p:sp>
      <p:sp>
        <p:nvSpPr>
          <p:cNvPr id="26" name="Right Arrow 25"/>
          <p:cNvSpPr/>
          <p:nvPr/>
        </p:nvSpPr>
        <p:spPr>
          <a:xfrm>
            <a:off x="2560320" y="5303520"/>
            <a:ext cx="32004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017520" y="1234440"/>
            <a:ext cx="3383280" cy="49834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1261872"/>
            <a:ext cx="3383280" cy="320040"/>
          </a:xfrm>
          <a:prstGeom prst="rect">
            <a:avLst/>
          </a:prstGeom>
          <a:noFill/>
        </p:spPr>
        <p:txBody>
          <a:bodyPr wrap="square">
            <a:spAutoFit/>
          </a:bodyPr>
          <a:lstStyle/>
          <a:p>
            <a:pPr algn="ctr">
              <a:defRPr sz="900" b="1">
                <a:solidFill>
                  <a:srgbClr val="B47300"/>
                </a:solidFill>
              </a:defRPr>
            </a:pPr>
            <a:r>
              <a:t>TRẠM TRUNG CHUYỂN (đặt tại QN)</a:t>
            </a:r>
          </a:p>
        </p:txBody>
      </p:sp>
      <p:sp>
        <p:nvSpPr>
          <p:cNvPr id="29" name="Rounded Rectangle 28"/>
          <p:cNvSpPr/>
          <p:nvPr/>
        </p:nvSpPr>
        <p:spPr>
          <a:xfrm>
            <a:off x="3246120" y="1783080"/>
            <a:ext cx="2926080" cy="777240"/>
          </a:xfrm>
          <a:prstGeom prst="roundRect">
            <a:avLst/>
          </a:prstGeom>
          <a:solidFill>
            <a:srgbClr val="FFFFFF"/>
          </a:solidFill>
          <a:ln w="1016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37560" y="1984248"/>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31" name="TextBox 30"/>
          <p:cNvSpPr txBox="1"/>
          <p:nvPr/>
        </p:nvSpPr>
        <p:spPr>
          <a:xfrm>
            <a:off x="3794760" y="1856232"/>
            <a:ext cx="2286000" cy="320040"/>
          </a:xfrm>
          <a:prstGeom prst="rect">
            <a:avLst/>
          </a:prstGeom>
          <a:noFill/>
        </p:spPr>
        <p:txBody>
          <a:bodyPr wrap="square">
            <a:spAutoFit/>
          </a:bodyPr>
          <a:lstStyle/>
          <a:p>
            <a:pPr algn="l">
              <a:defRPr sz="1050" b="1">
                <a:solidFill>
                  <a:srgbClr val="0C2344"/>
                </a:solidFill>
              </a:defRPr>
            </a:pPr>
            <a:r>
              <a:t>1.  Trích xuất</a:t>
            </a:r>
          </a:p>
        </p:txBody>
      </p:sp>
      <p:sp>
        <p:nvSpPr>
          <p:cNvPr id="32" name="TextBox 31"/>
          <p:cNvSpPr txBox="1"/>
          <p:nvPr/>
        </p:nvSpPr>
        <p:spPr>
          <a:xfrm>
            <a:off x="3794760" y="2167128"/>
            <a:ext cx="2286000" cy="365760"/>
          </a:xfrm>
          <a:prstGeom prst="rect">
            <a:avLst/>
          </a:prstGeom>
          <a:noFill/>
        </p:spPr>
        <p:txBody>
          <a:bodyPr wrap="square">
            <a:spAutoFit/>
          </a:bodyPr>
          <a:lstStyle/>
          <a:p>
            <a:pPr algn="l">
              <a:defRPr sz="850" b="0">
                <a:solidFill>
                  <a:srgbClr val="6C7684"/>
                </a:solidFill>
              </a:defRPr>
            </a:pPr>
            <a:r>
              <a:t>Chế độ CHỈ ĐỌC</a:t>
            </a:r>
            <a:br/>
            <a:r>
              <a:t>Không ảnh hưởng PM gốc</a:t>
            </a:r>
          </a:p>
        </p:txBody>
      </p:sp>
      <p:sp>
        <p:nvSpPr>
          <p:cNvPr id="33" name="Rounded Rectangle 32"/>
          <p:cNvSpPr/>
          <p:nvPr/>
        </p:nvSpPr>
        <p:spPr>
          <a:xfrm>
            <a:off x="3246120" y="2880360"/>
            <a:ext cx="2926080" cy="777240"/>
          </a:xfrm>
          <a:prstGeom prst="roundRect">
            <a:avLst/>
          </a:prstGeom>
          <a:solidFill>
            <a:srgbClr val="FFFFFF"/>
          </a:solidFill>
          <a:ln w="1016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337560" y="3081528"/>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35" name="TextBox 34"/>
          <p:cNvSpPr txBox="1"/>
          <p:nvPr/>
        </p:nvSpPr>
        <p:spPr>
          <a:xfrm>
            <a:off x="3794760" y="2953512"/>
            <a:ext cx="2286000" cy="320040"/>
          </a:xfrm>
          <a:prstGeom prst="rect">
            <a:avLst/>
          </a:prstGeom>
          <a:noFill/>
        </p:spPr>
        <p:txBody>
          <a:bodyPr wrap="square">
            <a:spAutoFit/>
          </a:bodyPr>
          <a:lstStyle/>
          <a:p>
            <a:pPr algn="l">
              <a:defRPr sz="1050" b="1">
                <a:solidFill>
                  <a:srgbClr val="0C2344"/>
                </a:solidFill>
              </a:defRPr>
            </a:pPr>
            <a:r>
              <a:t>2.  Chuẩn hóa</a:t>
            </a:r>
          </a:p>
        </p:txBody>
      </p:sp>
      <p:sp>
        <p:nvSpPr>
          <p:cNvPr id="36" name="TextBox 35"/>
          <p:cNvSpPr txBox="1"/>
          <p:nvPr/>
        </p:nvSpPr>
        <p:spPr>
          <a:xfrm>
            <a:off x="3794760" y="3264408"/>
            <a:ext cx="2286000" cy="365760"/>
          </a:xfrm>
          <a:prstGeom prst="rect">
            <a:avLst/>
          </a:prstGeom>
          <a:noFill/>
        </p:spPr>
        <p:txBody>
          <a:bodyPr wrap="square">
            <a:spAutoFit/>
          </a:bodyPr>
          <a:lstStyle/>
          <a:p>
            <a:pPr algn="l">
              <a:defRPr sz="850" b="0">
                <a:solidFill>
                  <a:srgbClr val="6C7684"/>
                </a:solidFill>
              </a:defRPr>
            </a:pPr>
            <a:r>
              <a:t>Ánh xạ theo</a:t>
            </a:r>
            <a:br/>
            <a:r>
              <a:t>29 Master Data TCT</a:t>
            </a:r>
          </a:p>
        </p:txBody>
      </p:sp>
      <p:sp>
        <p:nvSpPr>
          <p:cNvPr id="37" name="Rounded Rectangle 36"/>
          <p:cNvSpPr/>
          <p:nvPr/>
        </p:nvSpPr>
        <p:spPr>
          <a:xfrm>
            <a:off x="3246120" y="3977639"/>
            <a:ext cx="2926080" cy="777240"/>
          </a:xfrm>
          <a:prstGeom prst="roundRect">
            <a:avLst/>
          </a:prstGeom>
          <a:solidFill>
            <a:srgbClr val="FFFFFF"/>
          </a:solidFill>
          <a:ln w="1016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337560" y="4178807"/>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39" name="TextBox 38"/>
          <p:cNvSpPr txBox="1"/>
          <p:nvPr/>
        </p:nvSpPr>
        <p:spPr>
          <a:xfrm>
            <a:off x="3794760" y="4050791"/>
            <a:ext cx="2286000" cy="320040"/>
          </a:xfrm>
          <a:prstGeom prst="rect">
            <a:avLst/>
          </a:prstGeom>
          <a:noFill/>
        </p:spPr>
        <p:txBody>
          <a:bodyPr wrap="square">
            <a:spAutoFit/>
          </a:bodyPr>
          <a:lstStyle/>
          <a:p>
            <a:pPr algn="l">
              <a:defRPr sz="1050" b="1">
                <a:solidFill>
                  <a:srgbClr val="0C2344"/>
                </a:solidFill>
              </a:defRPr>
            </a:pPr>
            <a:r>
              <a:t>3.  Kiểm tra chất lượng</a:t>
            </a:r>
          </a:p>
        </p:txBody>
      </p:sp>
      <p:sp>
        <p:nvSpPr>
          <p:cNvPr id="40" name="TextBox 39"/>
          <p:cNvSpPr txBox="1"/>
          <p:nvPr/>
        </p:nvSpPr>
        <p:spPr>
          <a:xfrm>
            <a:off x="3794760" y="4361687"/>
            <a:ext cx="2286000" cy="365760"/>
          </a:xfrm>
          <a:prstGeom prst="rect">
            <a:avLst/>
          </a:prstGeom>
          <a:noFill/>
        </p:spPr>
        <p:txBody>
          <a:bodyPr wrap="square">
            <a:spAutoFit/>
          </a:bodyPr>
          <a:lstStyle/>
          <a:p>
            <a:pPr algn="l">
              <a:defRPr sz="850" b="0">
                <a:solidFill>
                  <a:srgbClr val="6C7684"/>
                </a:solidFill>
              </a:defRPr>
            </a:pPr>
            <a:r>
              <a:t>Lọc dữ liệu bẩn</a:t>
            </a:r>
            <a:br/>
            <a:r>
              <a:t>Đảm bảo chính xác</a:t>
            </a:r>
          </a:p>
        </p:txBody>
      </p:sp>
      <p:sp>
        <p:nvSpPr>
          <p:cNvPr id="41" name="Rounded Rectangle 40"/>
          <p:cNvSpPr/>
          <p:nvPr/>
        </p:nvSpPr>
        <p:spPr>
          <a:xfrm>
            <a:off x="3246120" y="5074920"/>
            <a:ext cx="2926080" cy="777240"/>
          </a:xfrm>
          <a:prstGeom prst="roundRect">
            <a:avLst/>
          </a:prstGeom>
          <a:solidFill>
            <a:srgbClr val="FFFFFF"/>
          </a:solidFill>
          <a:ln w="1016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337560" y="5276088"/>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4</a:t>
            </a:r>
          </a:p>
        </p:txBody>
      </p:sp>
      <p:sp>
        <p:nvSpPr>
          <p:cNvPr id="43" name="TextBox 42"/>
          <p:cNvSpPr txBox="1"/>
          <p:nvPr/>
        </p:nvSpPr>
        <p:spPr>
          <a:xfrm>
            <a:off x="3794760" y="5148072"/>
            <a:ext cx="2286000" cy="320040"/>
          </a:xfrm>
          <a:prstGeom prst="rect">
            <a:avLst/>
          </a:prstGeom>
          <a:noFill/>
        </p:spPr>
        <p:txBody>
          <a:bodyPr wrap="square">
            <a:spAutoFit/>
          </a:bodyPr>
          <a:lstStyle/>
          <a:p>
            <a:pPr algn="l">
              <a:defRPr sz="1050" b="1">
                <a:solidFill>
                  <a:srgbClr val="0C2344"/>
                </a:solidFill>
              </a:defRPr>
            </a:pPr>
            <a:r>
              <a:t>4.  Mã hóa bảo mật</a:t>
            </a:r>
          </a:p>
        </p:txBody>
      </p:sp>
      <p:sp>
        <p:nvSpPr>
          <p:cNvPr id="44" name="TextBox 43"/>
          <p:cNvSpPr txBox="1"/>
          <p:nvPr/>
        </p:nvSpPr>
        <p:spPr>
          <a:xfrm>
            <a:off x="3794760" y="5458968"/>
            <a:ext cx="2286000" cy="365760"/>
          </a:xfrm>
          <a:prstGeom prst="rect">
            <a:avLst/>
          </a:prstGeom>
          <a:noFill/>
        </p:spPr>
        <p:txBody>
          <a:bodyPr wrap="square">
            <a:spAutoFit/>
          </a:bodyPr>
          <a:lstStyle/>
          <a:p>
            <a:pPr algn="l">
              <a:defRPr sz="850" b="0">
                <a:solidFill>
                  <a:srgbClr val="6C7684"/>
                </a:solidFill>
              </a:defRPr>
            </a:pPr>
            <a:r>
              <a:t>Đóng gói AES-256</a:t>
            </a:r>
            <a:br/>
            <a:r>
              <a:t>Sẵn sàng truyền đi</a:t>
            </a:r>
          </a:p>
        </p:txBody>
      </p:sp>
      <p:sp>
        <p:nvSpPr>
          <p:cNvPr id="45" name="Right Arrow 44"/>
          <p:cNvSpPr/>
          <p:nvPr/>
        </p:nvSpPr>
        <p:spPr>
          <a:xfrm>
            <a:off x="6492240" y="3337560"/>
            <a:ext cx="36576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949440" y="2103120"/>
            <a:ext cx="1280160" cy="2743200"/>
          </a:xfrm>
          <a:prstGeom prst="roundRect">
            <a:avLst/>
          </a:prstGeom>
          <a:solidFill>
            <a:srgbClr val="F3F5F8"/>
          </a:solidFill>
          <a:ln w="12700">
            <a:solidFill>
              <a:srgbClr val="0C2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49440" y="2423160"/>
            <a:ext cx="1280160" cy="320040"/>
          </a:xfrm>
          <a:prstGeom prst="rect">
            <a:avLst/>
          </a:prstGeom>
          <a:noFill/>
        </p:spPr>
        <p:txBody>
          <a:bodyPr wrap="square">
            <a:spAutoFit/>
          </a:bodyPr>
          <a:lstStyle/>
          <a:p>
            <a:pPr algn="ctr">
              <a:defRPr sz="900" b="1">
                <a:solidFill>
                  <a:srgbClr val="0C2344"/>
                </a:solidFill>
              </a:defRPr>
            </a:pPr>
            <a:r>
              <a:t>Đường hầm</a:t>
            </a:r>
          </a:p>
        </p:txBody>
      </p:sp>
      <p:sp>
        <p:nvSpPr>
          <p:cNvPr id="48" name="TextBox 47"/>
          <p:cNvSpPr txBox="1"/>
          <p:nvPr/>
        </p:nvSpPr>
        <p:spPr>
          <a:xfrm>
            <a:off x="6949440" y="2697480"/>
            <a:ext cx="1280160" cy="320040"/>
          </a:xfrm>
          <a:prstGeom prst="rect">
            <a:avLst/>
          </a:prstGeom>
          <a:noFill/>
        </p:spPr>
        <p:txBody>
          <a:bodyPr wrap="square">
            <a:spAutoFit/>
          </a:bodyPr>
          <a:lstStyle/>
          <a:p>
            <a:pPr algn="ctr">
              <a:defRPr sz="1000" b="1">
                <a:solidFill>
                  <a:srgbClr val="0C2344"/>
                </a:solidFill>
              </a:defRPr>
            </a:pPr>
            <a:r>
              <a:t>VPN bảo mật</a:t>
            </a:r>
          </a:p>
        </p:txBody>
      </p:sp>
      <p:sp>
        <p:nvSpPr>
          <p:cNvPr id="49" name="TextBox 48"/>
          <p:cNvSpPr txBox="1"/>
          <p:nvPr/>
        </p:nvSpPr>
        <p:spPr>
          <a:xfrm>
            <a:off x="6949440" y="3200400"/>
            <a:ext cx="1280160" cy="731520"/>
          </a:xfrm>
          <a:prstGeom prst="rect">
            <a:avLst/>
          </a:prstGeom>
          <a:noFill/>
        </p:spPr>
        <p:txBody>
          <a:bodyPr wrap="square">
            <a:spAutoFit/>
          </a:bodyPr>
          <a:lstStyle/>
          <a:p>
            <a:pPr algn="ctr">
              <a:defRPr sz="850" b="0">
                <a:solidFill>
                  <a:srgbClr val="6C7684"/>
                </a:solidFill>
              </a:defRPr>
            </a:pPr>
            <a:r>
              <a:t>Mã hóa</a:t>
            </a:r>
            <a:br/>
            <a:r>
              <a:t>SSL/IPSec</a:t>
            </a:r>
            <a:br/>
            <a:r>
              <a:t>Site-to-Site</a:t>
            </a:r>
          </a:p>
        </p:txBody>
      </p:sp>
      <p:sp>
        <p:nvSpPr>
          <p:cNvPr id="50" name="Right Arrow 49"/>
          <p:cNvSpPr/>
          <p:nvPr/>
        </p:nvSpPr>
        <p:spPr>
          <a:xfrm>
            <a:off x="8321040" y="3337560"/>
            <a:ext cx="365760" cy="201168"/>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778240" y="1234440"/>
            <a:ext cx="3017520" cy="4983480"/>
          </a:xfrm>
          <a:prstGeom prst="roundRect">
            <a:avLst/>
          </a:prstGeom>
          <a:solidFill>
            <a:srgbClr val="E8F8EF"/>
          </a:solidFill>
          <a:ln w="127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78240" y="1261872"/>
            <a:ext cx="3017520" cy="320040"/>
          </a:xfrm>
          <a:prstGeom prst="rect">
            <a:avLst/>
          </a:prstGeom>
          <a:noFill/>
        </p:spPr>
        <p:txBody>
          <a:bodyPr wrap="square">
            <a:spAutoFit/>
          </a:bodyPr>
          <a:lstStyle/>
          <a:p>
            <a:pPr algn="ctr">
              <a:defRPr sz="900" b="1">
                <a:solidFill>
                  <a:srgbClr val="158050"/>
                </a:solidFill>
              </a:defRPr>
            </a:pPr>
            <a:r>
              <a:t>TỔNG CÔNG TY (CLOUD)</a:t>
            </a:r>
          </a:p>
        </p:txBody>
      </p:sp>
      <p:sp>
        <p:nvSpPr>
          <p:cNvPr id="53" name="Rounded Rectangle 52"/>
          <p:cNvSpPr/>
          <p:nvPr/>
        </p:nvSpPr>
        <p:spPr>
          <a:xfrm>
            <a:off x="9006840" y="1783080"/>
            <a:ext cx="2560320" cy="1463040"/>
          </a:xfrm>
          <a:prstGeom prst="roundRect">
            <a:avLst/>
          </a:prstGeom>
          <a:solidFill>
            <a:srgbClr val="FFFFFF"/>
          </a:solidFill>
          <a:ln w="1016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06840" y="1874519"/>
            <a:ext cx="2560320" cy="320040"/>
          </a:xfrm>
          <a:prstGeom prst="rect">
            <a:avLst/>
          </a:prstGeom>
          <a:noFill/>
        </p:spPr>
        <p:txBody>
          <a:bodyPr wrap="square">
            <a:spAutoFit/>
          </a:bodyPr>
          <a:lstStyle/>
          <a:p>
            <a:pPr algn="ctr">
              <a:defRPr sz="1100" b="1">
                <a:solidFill>
                  <a:srgbClr val="0C2344"/>
                </a:solidFill>
              </a:defRPr>
            </a:pPr>
            <a:r>
              <a:t>Workspace L3</a:t>
            </a:r>
          </a:p>
        </p:txBody>
      </p:sp>
      <p:sp>
        <p:nvSpPr>
          <p:cNvPr id="55" name="TextBox 54"/>
          <p:cNvSpPr txBox="1"/>
          <p:nvPr/>
        </p:nvSpPr>
        <p:spPr>
          <a:xfrm>
            <a:off x="9006840" y="2194560"/>
            <a:ext cx="2560320" cy="274320"/>
          </a:xfrm>
          <a:prstGeom prst="rect">
            <a:avLst/>
          </a:prstGeom>
          <a:noFill/>
        </p:spPr>
        <p:txBody>
          <a:bodyPr wrap="square">
            <a:spAutoFit/>
          </a:bodyPr>
          <a:lstStyle/>
          <a:p>
            <a:pPr algn="ctr">
              <a:defRPr sz="1000" b="1">
                <a:solidFill>
                  <a:srgbClr val="1E64BE"/>
                </a:solidFill>
              </a:defRPr>
            </a:pPr>
            <a:r>
              <a:t>Quảng Ngãi</a:t>
            </a:r>
          </a:p>
        </p:txBody>
      </p:sp>
      <p:sp>
        <p:nvSpPr>
          <p:cNvPr id="56" name="TextBox 55"/>
          <p:cNvSpPr txBox="1"/>
          <p:nvPr/>
        </p:nvSpPr>
        <p:spPr>
          <a:xfrm>
            <a:off x="9006840" y="2514600"/>
            <a:ext cx="2560320" cy="640080"/>
          </a:xfrm>
          <a:prstGeom prst="rect">
            <a:avLst/>
          </a:prstGeom>
          <a:noFill/>
        </p:spPr>
        <p:txBody>
          <a:bodyPr wrap="square">
            <a:spAutoFit/>
          </a:bodyPr>
          <a:lstStyle/>
          <a:p>
            <a:pPr algn="ctr">
              <a:defRPr sz="900" b="0">
                <a:solidFill>
                  <a:srgbClr val="6C7684"/>
                </a:solidFill>
              </a:defRPr>
            </a:pPr>
            <a:r>
              <a:t>Lưu trữ trên</a:t>
            </a:r>
            <a:br/>
            <a:r>
              <a:t>Microsoft Fabric</a:t>
            </a:r>
            <a:br/>
            <a:r>
              <a:t>(Cloud TCT)</a:t>
            </a:r>
          </a:p>
        </p:txBody>
      </p:sp>
      <p:sp>
        <p:nvSpPr>
          <p:cNvPr id="57" name="Down Arrow 56"/>
          <p:cNvSpPr/>
          <p:nvPr/>
        </p:nvSpPr>
        <p:spPr>
          <a:xfrm>
            <a:off x="10131552" y="3337560"/>
            <a:ext cx="320040" cy="201168"/>
          </a:xfrm>
          <a:prstGeom prst="down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9006840" y="3840480"/>
            <a:ext cx="2560320" cy="2103120"/>
          </a:xfrm>
          <a:prstGeom prst="roundRect">
            <a:avLst/>
          </a:prstGeom>
          <a:solidFill>
            <a:srgbClr val="FFFFFF"/>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006840" y="3977639"/>
            <a:ext cx="2560320" cy="320040"/>
          </a:xfrm>
          <a:prstGeom prst="rect">
            <a:avLst/>
          </a:prstGeom>
          <a:noFill/>
        </p:spPr>
        <p:txBody>
          <a:bodyPr wrap="square">
            <a:spAutoFit/>
          </a:bodyPr>
          <a:lstStyle/>
          <a:p>
            <a:pPr algn="ctr">
              <a:defRPr sz="1100" b="1">
                <a:solidFill>
                  <a:srgbClr val="1E64BE"/>
                </a:solidFill>
              </a:defRPr>
            </a:pPr>
            <a:r>
              <a:t>Dashboard Power BI</a:t>
            </a:r>
          </a:p>
        </p:txBody>
      </p:sp>
      <p:sp>
        <p:nvSpPr>
          <p:cNvPr id="60" name="Rectangle 59"/>
          <p:cNvSpPr/>
          <p:nvPr/>
        </p:nvSpPr>
        <p:spPr>
          <a:xfrm>
            <a:off x="9235440" y="4343400"/>
            <a:ext cx="2103120" cy="13716"/>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006840" y="4526280"/>
            <a:ext cx="2560320" cy="1280160"/>
          </a:xfrm>
          <a:prstGeom prst="rect">
            <a:avLst/>
          </a:prstGeom>
          <a:noFill/>
        </p:spPr>
        <p:txBody>
          <a:bodyPr wrap="square">
            <a:spAutoFit/>
          </a:bodyPr>
          <a:lstStyle/>
          <a:p>
            <a:pPr algn="ctr">
              <a:defRPr sz="950" b="0">
                <a:solidFill>
                  <a:srgbClr val="1C2330"/>
                </a:solidFill>
              </a:defRPr>
            </a:pPr>
            <a:r>
              <a:t>Báo cáo trực quan</a:t>
            </a:r>
            <a:br/>
            <a:r>
              <a:t>cập nhật tự động</a:t>
            </a:r>
            <a:br/>
            <a:br/>
            <a:r>
              <a:t>Ban Giám đốc xem</a:t>
            </a:r>
            <a:br/>
            <a:r>
              <a:t>trên máy tính</a:t>
            </a:r>
            <a:br/>
            <a:r>
              <a:t>hoặc điện thoại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AN TOÀN — ĐẢM BẢO CHO HỆ THỐNG HIỆN TẠI</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3 NGUYÊN TẮC AN TOÀN KHI VẬN HÀNH TRỤC TÍCH HỢP</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07</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3383280" cy="475488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700016"/>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5840" y="1554480"/>
            <a:ext cx="365760" cy="365760"/>
          </a:xfrm>
          <a:prstGeom prst="ellipse">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12" name="TextBox 11"/>
          <p:cNvSpPr txBox="1"/>
          <p:nvPr/>
        </p:nvSpPr>
        <p:spPr>
          <a:xfrm>
            <a:off x="1508760" y="1554480"/>
            <a:ext cx="2377440" cy="640080"/>
          </a:xfrm>
          <a:prstGeom prst="rect">
            <a:avLst/>
          </a:prstGeom>
          <a:noFill/>
        </p:spPr>
        <p:txBody>
          <a:bodyPr wrap="square">
            <a:spAutoFit/>
          </a:bodyPr>
          <a:lstStyle/>
          <a:p>
            <a:pPr algn="l">
              <a:defRPr sz="1300" b="1">
                <a:solidFill>
                  <a:srgbClr val="158050"/>
                </a:solidFill>
              </a:defRPr>
            </a:pPr>
            <a:r>
              <a:t>KHÔNG ẢNH HƯỞNG</a:t>
            </a:r>
            <a:br/>
            <a:r>
              <a:t>PHẦN MỀM HIỆN TẠI</a:t>
            </a:r>
          </a:p>
        </p:txBody>
      </p:sp>
      <p:sp>
        <p:nvSpPr>
          <p:cNvPr id="13" name="Rounded Rectangle 12"/>
          <p:cNvSpPr/>
          <p:nvPr/>
        </p:nvSpPr>
        <p:spPr>
          <a:xfrm>
            <a:off x="1005840" y="242316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532888"/>
            <a:ext cx="2377440" cy="777240"/>
          </a:xfrm>
          <a:prstGeom prst="rect">
            <a:avLst/>
          </a:prstGeom>
          <a:noFill/>
        </p:spPr>
        <p:txBody>
          <a:bodyPr wrap="square">
            <a:spAutoFit/>
          </a:bodyPr>
          <a:lstStyle/>
          <a:p>
            <a:pPr algn="l">
              <a:defRPr sz="1100" b="0">
                <a:solidFill>
                  <a:srgbClr val="1C2330"/>
                </a:solidFill>
              </a:defRPr>
            </a:pPr>
            <a:r>
              <a:t>Trạm trung chuyển chạy trên</a:t>
            </a:r>
            <a:br/>
            <a:r>
              <a:t>máy chủ ảo riêng biệt</a:t>
            </a:r>
          </a:p>
        </p:txBody>
      </p:sp>
      <p:sp>
        <p:nvSpPr>
          <p:cNvPr id="15" name="Rounded Rectangle 14"/>
          <p:cNvSpPr/>
          <p:nvPr/>
        </p:nvSpPr>
        <p:spPr>
          <a:xfrm>
            <a:off x="1005840" y="370332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813048"/>
            <a:ext cx="2377440" cy="777240"/>
          </a:xfrm>
          <a:prstGeom prst="rect">
            <a:avLst/>
          </a:prstGeom>
          <a:noFill/>
        </p:spPr>
        <p:txBody>
          <a:bodyPr wrap="square">
            <a:spAutoFit/>
          </a:bodyPr>
          <a:lstStyle/>
          <a:p>
            <a:pPr algn="l">
              <a:defRPr sz="1100" b="0">
                <a:solidFill>
                  <a:srgbClr val="1C2330"/>
                </a:solidFill>
              </a:defRPr>
            </a:pPr>
            <a:r>
              <a:t>Chỉ đọc bản sao dữ liệu,</a:t>
            </a:r>
            <a:br/>
            <a:r>
              <a:t>không can thiệp hệ thống gốc</a:t>
            </a:r>
          </a:p>
        </p:txBody>
      </p:sp>
      <p:sp>
        <p:nvSpPr>
          <p:cNvPr id="17" name="Rounded Rectangle 16"/>
          <p:cNvSpPr/>
          <p:nvPr/>
        </p:nvSpPr>
        <p:spPr>
          <a:xfrm>
            <a:off x="1005840" y="4983479"/>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5093207"/>
            <a:ext cx="2377440" cy="777240"/>
          </a:xfrm>
          <a:prstGeom prst="rect">
            <a:avLst/>
          </a:prstGeom>
          <a:noFill/>
        </p:spPr>
        <p:txBody>
          <a:bodyPr wrap="square">
            <a:spAutoFit/>
          </a:bodyPr>
          <a:lstStyle/>
          <a:p>
            <a:pPr algn="l">
              <a:defRPr sz="1100" b="0">
                <a:solidFill>
                  <a:srgbClr val="1C2330"/>
                </a:solidFill>
              </a:defRPr>
            </a:pPr>
            <a:r>
              <a:t>Chạy vào ban đêm hoặc</a:t>
            </a:r>
            <a:br/>
            <a:r>
              <a:t>giờ thấp điểm</a:t>
            </a:r>
          </a:p>
        </p:txBody>
      </p:sp>
      <p:sp>
        <p:nvSpPr>
          <p:cNvPr id="19" name="Rounded Rectangle 18"/>
          <p:cNvSpPr/>
          <p:nvPr/>
        </p:nvSpPr>
        <p:spPr>
          <a:xfrm>
            <a:off x="4480559" y="1371600"/>
            <a:ext cx="3383280" cy="4754880"/>
          </a:xfrm>
          <a:prstGeom prst="roundRect">
            <a:avLst/>
          </a:prstGeom>
          <a:solidFill>
            <a:srgbClr val="E6F0FC"/>
          </a:solidFill>
          <a:ln w="19050">
            <a:solidFill>
              <a:srgbClr val="0C2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17135" y="1389888"/>
            <a:ext cx="73152" cy="4700016"/>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54879" y="1554480"/>
            <a:ext cx="365760" cy="365760"/>
          </a:xfrm>
          <a:prstGeom prst="ellipse">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22" name="TextBox 21"/>
          <p:cNvSpPr txBox="1"/>
          <p:nvPr/>
        </p:nvSpPr>
        <p:spPr>
          <a:xfrm>
            <a:off x="5257799" y="1554480"/>
            <a:ext cx="2377440" cy="640080"/>
          </a:xfrm>
          <a:prstGeom prst="rect">
            <a:avLst/>
          </a:prstGeom>
          <a:noFill/>
        </p:spPr>
        <p:txBody>
          <a:bodyPr wrap="square">
            <a:spAutoFit/>
          </a:bodyPr>
          <a:lstStyle/>
          <a:p>
            <a:pPr algn="l">
              <a:defRPr sz="1300" b="1">
                <a:solidFill>
                  <a:srgbClr val="0C2344"/>
                </a:solidFill>
              </a:defRPr>
            </a:pPr>
            <a:r>
              <a:t>KHÔNG RÒ RỈ</a:t>
            </a:r>
            <a:br/>
            <a:r>
              <a:t>DỮ LIỆU RA NGOÀI</a:t>
            </a:r>
          </a:p>
        </p:txBody>
      </p:sp>
      <p:sp>
        <p:nvSpPr>
          <p:cNvPr id="23" name="Rounded Rectangle 22"/>
          <p:cNvSpPr/>
          <p:nvPr/>
        </p:nvSpPr>
        <p:spPr>
          <a:xfrm>
            <a:off x="4754879" y="242316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59" y="2532888"/>
            <a:ext cx="2377440" cy="777240"/>
          </a:xfrm>
          <a:prstGeom prst="rect">
            <a:avLst/>
          </a:prstGeom>
          <a:noFill/>
        </p:spPr>
        <p:txBody>
          <a:bodyPr wrap="square">
            <a:spAutoFit/>
          </a:bodyPr>
          <a:lstStyle/>
          <a:p>
            <a:pPr algn="l">
              <a:defRPr sz="1100" b="0">
                <a:solidFill>
                  <a:srgbClr val="1C2330"/>
                </a:solidFill>
              </a:defRPr>
            </a:pPr>
            <a:r>
              <a:t>Dữ liệu chỉ đi trong</a:t>
            </a:r>
            <a:br/>
            <a:r>
              <a:t>đường hầm VPN riêng của TCT</a:t>
            </a:r>
          </a:p>
        </p:txBody>
      </p:sp>
      <p:sp>
        <p:nvSpPr>
          <p:cNvPr id="25" name="Rounded Rectangle 24"/>
          <p:cNvSpPr/>
          <p:nvPr/>
        </p:nvSpPr>
        <p:spPr>
          <a:xfrm>
            <a:off x="4754879" y="370332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37759" y="3813048"/>
            <a:ext cx="2377440" cy="777240"/>
          </a:xfrm>
          <a:prstGeom prst="rect">
            <a:avLst/>
          </a:prstGeom>
          <a:noFill/>
        </p:spPr>
        <p:txBody>
          <a:bodyPr wrap="square">
            <a:spAutoFit/>
          </a:bodyPr>
          <a:lstStyle/>
          <a:p>
            <a:pPr algn="l">
              <a:defRPr sz="1100" b="0">
                <a:solidFill>
                  <a:srgbClr val="1C2330"/>
                </a:solidFill>
              </a:defRPr>
            </a:pPr>
            <a:r>
              <a:t>Không mở cổng internet</a:t>
            </a:r>
            <a:br/>
            <a:r>
              <a:t>công cộng</a:t>
            </a:r>
          </a:p>
        </p:txBody>
      </p:sp>
      <p:sp>
        <p:nvSpPr>
          <p:cNvPr id="27" name="Rounded Rectangle 26"/>
          <p:cNvSpPr/>
          <p:nvPr/>
        </p:nvSpPr>
        <p:spPr>
          <a:xfrm>
            <a:off x="4754879" y="4983479"/>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59" y="5093207"/>
            <a:ext cx="2377440" cy="777240"/>
          </a:xfrm>
          <a:prstGeom prst="rect">
            <a:avLst/>
          </a:prstGeom>
          <a:noFill/>
        </p:spPr>
        <p:txBody>
          <a:bodyPr wrap="square">
            <a:spAutoFit/>
          </a:bodyPr>
          <a:lstStyle/>
          <a:p>
            <a:pPr algn="l">
              <a:defRPr sz="1100" b="0">
                <a:solidFill>
                  <a:srgbClr val="1C2330"/>
                </a:solidFill>
              </a:defRPr>
            </a:pPr>
            <a:r>
              <a:t>Mã hóa AES-256</a:t>
            </a:r>
            <a:br/>
            <a:r>
              <a:t>(tiêu chuẩn ngân hàng)</a:t>
            </a:r>
          </a:p>
        </p:txBody>
      </p:sp>
      <p:sp>
        <p:nvSpPr>
          <p:cNvPr id="29" name="Rounded Rectangle 28"/>
          <p:cNvSpPr/>
          <p:nvPr/>
        </p:nvSpPr>
        <p:spPr>
          <a:xfrm>
            <a:off x="8229600" y="1371600"/>
            <a:ext cx="3383280" cy="47548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66176" y="1389888"/>
            <a:ext cx="73152" cy="470001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03920" y="155448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32" name="TextBox 31"/>
          <p:cNvSpPr txBox="1"/>
          <p:nvPr/>
        </p:nvSpPr>
        <p:spPr>
          <a:xfrm>
            <a:off x="9006840" y="1554480"/>
            <a:ext cx="2377440" cy="640080"/>
          </a:xfrm>
          <a:prstGeom prst="rect">
            <a:avLst/>
          </a:prstGeom>
          <a:noFill/>
        </p:spPr>
        <p:txBody>
          <a:bodyPr wrap="square">
            <a:spAutoFit/>
          </a:bodyPr>
          <a:lstStyle/>
          <a:p>
            <a:pPr algn="l">
              <a:defRPr sz="1300" b="1">
                <a:solidFill>
                  <a:srgbClr val="B47300"/>
                </a:solidFill>
              </a:defRPr>
            </a:pPr>
            <a:r>
              <a:t>TỰ ĐỘNG PHÁT HIỆN</a:t>
            </a:r>
            <a:br/>
            <a:r>
              <a:t>VÀ CẢNH BÁO LỖI</a:t>
            </a:r>
          </a:p>
        </p:txBody>
      </p:sp>
      <p:sp>
        <p:nvSpPr>
          <p:cNvPr id="33" name="Rounded Rectangle 32"/>
          <p:cNvSpPr/>
          <p:nvPr/>
        </p:nvSpPr>
        <p:spPr>
          <a:xfrm>
            <a:off x="8503920" y="242316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0" y="2532888"/>
            <a:ext cx="2377440" cy="777240"/>
          </a:xfrm>
          <a:prstGeom prst="rect">
            <a:avLst/>
          </a:prstGeom>
          <a:noFill/>
        </p:spPr>
        <p:txBody>
          <a:bodyPr wrap="square">
            <a:spAutoFit/>
          </a:bodyPr>
          <a:lstStyle/>
          <a:p>
            <a:pPr algn="l">
              <a:defRPr sz="1100" b="0">
                <a:solidFill>
                  <a:srgbClr val="1C2330"/>
                </a:solidFill>
              </a:defRPr>
            </a:pPr>
            <a:r>
              <a:t>Nếu nghẽn mạng hoặc</a:t>
            </a:r>
            <a:br/>
            <a:r>
              <a:t>sai lệch dữ liệu</a:t>
            </a:r>
          </a:p>
        </p:txBody>
      </p:sp>
      <p:sp>
        <p:nvSpPr>
          <p:cNvPr id="35" name="Rounded Rectangle 34"/>
          <p:cNvSpPr/>
          <p:nvPr/>
        </p:nvSpPr>
        <p:spPr>
          <a:xfrm>
            <a:off x="8503920" y="3703320"/>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0" y="3813048"/>
            <a:ext cx="2377440" cy="777240"/>
          </a:xfrm>
          <a:prstGeom prst="rect">
            <a:avLst/>
          </a:prstGeom>
          <a:noFill/>
        </p:spPr>
        <p:txBody>
          <a:bodyPr wrap="square">
            <a:spAutoFit/>
          </a:bodyPr>
          <a:lstStyle/>
          <a:p>
            <a:pPr algn="l">
              <a:defRPr sz="1100" b="0">
                <a:solidFill>
                  <a:srgbClr val="1C2330"/>
                </a:solidFill>
              </a:defRPr>
            </a:pPr>
            <a:r>
              <a:t>Hệ thống tự gửi email</a:t>
            </a:r>
            <a:br/>
            <a:r>
              <a:t>cảnh báo cho IT ngay</a:t>
            </a:r>
          </a:p>
        </p:txBody>
      </p:sp>
      <p:sp>
        <p:nvSpPr>
          <p:cNvPr id="37" name="Rounded Rectangle 36"/>
          <p:cNvSpPr/>
          <p:nvPr/>
        </p:nvSpPr>
        <p:spPr>
          <a:xfrm>
            <a:off x="8503920" y="4983479"/>
            <a:ext cx="2743200" cy="1005840"/>
          </a:xfrm>
          <a:prstGeom prst="roundRect">
            <a:avLst/>
          </a:prstGeom>
          <a:solidFill>
            <a:srgbClr val="FFFFFF"/>
          </a:solidFill>
          <a:ln w="6350">
            <a:solidFill>
              <a:srgbClr val="C8D0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0" y="5093207"/>
            <a:ext cx="2377440" cy="777240"/>
          </a:xfrm>
          <a:prstGeom prst="rect">
            <a:avLst/>
          </a:prstGeom>
          <a:noFill/>
        </p:spPr>
        <p:txBody>
          <a:bodyPr wrap="square">
            <a:spAutoFit/>
          </a:bodyPr>
          <a:lstStyle/>
          <a:p>
            <a:pPr algn="l">
              <a:defRPr sz="1100" b="0">
                <a:solidFill>
                  <a:srgbClr val="1C2330"/>
                </a:solidFill>
              </a:defRPr>
            </a:pPr>
            <a:r>
              <a:t>Toàn bộ hoạt động</a:t>
            </a:r>
            <a:br/>
            <a:r>
              <a:t>được ghi log kiểm toán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PHÂN TÍCH — CÂU HỎI TRỌNG TÂM CỦA BAN GIÁM ĐỐC</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SO SÁNH: THUÊ TCT LÀM HỘ  VS  PHÁT TRIỂN RIÊNG CÓ NCC</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08</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5120640" cy="4846320"/>
          </a:xfrm>
          <a:prstGeom prst="roundRect">
            <a:avLst/>
          </a:prstGeom>
          <a:solidFill>
            <a:srgbClr val="FCEBEB"/>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120640" cy="45720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71600"/>
            <a:ext cx="5120640" cy="457200"/>
          </a:xfrm>
          <a:prstGeom prst="rect">
            <a:avLst/>
          </a:prstGeom>
          <a:noFill/>
        </p:spPr>
        <p:txBody>
          <a:bodyPr wrap="square">
            <a:spAutoFit/>
          </a:bodyPr>
          <a:lstStyle/>
          <a:p>
            <a:pPr algn="ctr">
              <a:defRPr sz="1200" b="1">
                <a:solidFill>
                  <a:srgbClr val="FFFFFF"/>
                </a:solidFill>
              </a:defRPr>
            </a:pPr>
            <a:r>
              <a:t>PHƯƠNG ÁN 1:  Thuê dịch vụ của TCT</a:t>
            </a:r>
          </a:p>
        </p:txBody>
      </p:sp>
      <p:sp>
        <p:nvSpPr>
          <p:cNvPr id="12" name="TextBox 11"/>
          <p:cNvSpPr txBox="1"/>
          <p:nvPr/>
        </p:nvSpPr>
        <p:spPr>
          <a:xfrm>
            <a:off x="1005840" y="2011680"/>
            <a:ext cx="4572000" cy="274320"/>
          </a:xfrm>
          <a:prstGeom prst="rect">
            <a:avLst/>
          </a:prstGeom>
          <a:noFill/>
        </p:spPr>
        <p:txBody>
          <a:bodyPr wrap="square">
            <a:spAutoFit/>
          </a:bodyPr>
          <a:lstStyle/>
          <a:p>
            <a:pPr algn="l">
              <a:defRPr sz="1100" b="1">
                <a:solidFill>
                  <a:srgbClr val="B42828"/>
                </a:solidFill>
              </a:defRPr>
            </a:pPr>
            <a:r>
              <a:t>✕  TCT không đủ nguồn lực</a:t>
            </a:r>
          </a:p>
        </p:txBody>
      </p:sp>
      <p:sp>
        <p:nvSpPr>
          <p:cNvPr id="13" name="TextBox 12"/>
          <p:cNvSpPr txBox="1"/>
          <p:nvPr/>
        </p:nvSpPr>
        <p:spPr>
          <a:xfrm>
            <a:off x="1234440" y="2267712"/>
            <a:ext cx="4297680" cy="594360"/>
          </a:xfrm>
          <a:prstGeom prst="rect">
            <a:avLst/>
          </a:prstGeom>
          <a:noFill/>
        </p:spPr>
        <p:txBody>
          <a:bodyPr wrap="square">
            <a:spAutoFit/>
          </a:bodyPr>
          <a:lstStyle/>
          <a:p>
            <a:pPr algn="l">
              <a:defRPr sz="950" b="0">
                <a:solidFill>
                  <a:srgbClr val="1C2330"/>
                </a:solidFill>
              </a:defRPr>
            </a:pPr>
            <a:r>
              <a:t>Ban CNTT TCT chỉ phụ trách hạ tầng lõi Hub.</a:t>
            </a:r>
            <a:br/>
            <a:r>
              <a:t>Không có người xuống QN khảo sát từng CSDL.</a:t>
            </a:r>
          </a:p>
        </p:txBody>
      </p:sp>
      <p:sp>
        <p:nvSpPr>
          <p:cNvPr id="14" name="TextBox 13"/>
          <p:cNvSpPr txBox="1"/>
          <p:nvPr/>
        </p:nvSpPr>
        <p:spPr>
          <a:xfrm>
            <a:off x="1005840" y="2971800"/>
            <a:ext cx="4572000" cy="274320"/>
          </a:xfrm>
          <a:prstGeom prst="rect">
            <a:avLst/>
          </a:prstGeom>
          <a:noFill/>
        </p:spPr>
        <p:txBody>
          <a:bodyPr wrap="square">
            <a:spAutoFit/>
          </a:bodyPr>
          <a:lstStyle/>
          <a:p>
            <a:pPr algn="l">
              <a:defRPr sz="1100" b="1">
                <a:solidFill>
                  <a:srgbClr val="B42828"/>
                </a:solidFill>
              </a:defRPr>
            </a:pPr>
            <a:r>
              <a:t>✕  Bị động về tiến độ</a:t>
            </a:r>
          </a:p>
        </p:txBody>
      </p:sp>
      <p:sp>
        <p:nvSpPr>
          <p:cNvPr id="15" name="TextBox 14"/>
          <p:cNvSpPr txBox="1"/>
          <p:nvPr/>
        </p:nvSpPr>
        <p:spPr>
          <a:xfrm>
            <a:off x="1234440" y="3227832"/>
            <a:ext cx="4297680" cy="594360"/>
          </a:xfrm>
          <a:prstGeom prst="rect">
            <a:avLst/>
          </a:prstGeom>
          <a:noFill/>
        </p:spPr>
        <p:txBody>
          <a:bodyPr wrap="square">
            <a:spAutoFit/>
          </a:bodyPr>
          <a:lstStyle/>
          <a:p>
            <a:pPr algn="l">
              <a:defRPr sz="950" b="0">
                <a:solidFill>
                  <a:srgbClr val="1C2330"/>
                </a:solidFill>
              </a:defRPr>
            </a:pPr>
            <a:r>
              <a:t>Phải xếp hàng chờ TCT triển khai cho hàng chục</a:t>
            </a:r>
            <a:br/>
            <a:r>
              <a:t>đơn vị thành viên. Chắc chắn trễ hạn 2026.</a:t>
            </a:r>
          </a:p>
        </p:txBody>
      </p:sp>
      <p:sp>
        <p:nvSpPr>
          <p:cNvPr id="16" name="TextBox 15"/>
          <p:cNvSpPr txBox="1"/>
          <p:nvPr/>
        </p:nvSpPr>
        <p:spPr>
          <a:xfrm>
            <a:off x="1005840" y="3931920"/>
            <a:ext cx="4572000" cy="274320"/>
          </a:xfrm>
          <a:prstGeom prst="rect">
            <a:avLst/>
          </a:prstGeom>
          <a:noFill/>
        </p:spPr>
        <p:txBody>
          <a:bodyPr wrap="square">
            <a:spAutoFit/>
          </a:bodyPr>
          <a:lstStyle/>
          <a:p>
            <a:pPr algn="l">
              <a:defRPr sz="1100" b="1">
                <a:solidFill>
                  <a:srgbClr val="B42828"/>
                </a:solidFill>
              </a:defRPr>
            </a:pPr>
            <a:r>
              <a:t>✕  Không có báo cáo riêng</a:t>
            </a:r>
          </a:p>
        </p:txBody>
      </p:sp>
      <p:sp>
        <p:nvSpPr>
          <p:cNvPr id="17" name="TextBox 16"/>
          <p:cNvSpPr txBox="1"/>
          <p:nvPr/>
        </p:nvSpPr>
        <p:spPr>
          <a:xfrm>
            <a:off x="1234440" y="4187952"/>
            <a:ext cx="4297680" cy="594360"/>
          </a:xfrm>
          <a:prstGeom prst="rect">
            <a:avLst/>
          </a:prstGeom>
          <a:noFill/>
        </p:spPr>
        <p:txBody>
          <a:bodyPr wrap="square">
            <a:spAutoFit/>
          </a:bodyPr>
          <a:lstStyle/>
          <a:p>
            <a:pPr algn="l">
              <a:defRPr sz="950" b="0">
                <a:solidFill>
                  <a:srgbClr val="1C2330"/>
                </a:solidFill>
              </a:defRPr>
            </a:pPr>
            <a:r>
              <a:t>TCT chỉ xây Dashboard tài chính vĩ mô.</a:t>
            </a:r>
            <a:br/>
            <a:r>
              <a:t>Không phục vụ bài toán quản trị tại QN.</a:t>
            </a:r>
          </a:p>
        </p:txBody>
      </p:sp>
      <p:sp>
        <p:nvSpPr>
          <p:cNvPr id="18" name="TextBox 17"/>
          <p:cNvSpPr txBox="1"/>
          <p:nvPr/>
        </p:nvSpPr>
        <p:spPr>
          <a:xfrm>
            <a:off x="1005840" y="4892040"/>
            <a:ext cx="4572000" cy="274320"/>
          </a:xfrm>
          <a:prstGeom prst="rect">
            <a:avLst/>
          </a:prstGeom>
          <a:noFill/>
        </p:spPr>
        <p:txBody>
          <a:bodyPr wrap="square">
            <a:spAutoFit/>
          </a:bodyPr>
          <a:lstStyle/>
          <a:p>
            <a:pPr algn="l">
              <a:defRPr sz="1100" b="1">
                <a:solidFill>
                  <a:srgbClr val="B42828"/>
                </a:solidFill>
              </a:defRPr>
            </a:pPr>
            <a:r>
              <a:t>✕  Phải trả phí duy trì</a:t>
            </a:r>
          </a:p>
        </p:txBody>
      </p:sp>
      <p:sp>
        <p:nvSpPr>
          <p:cNvPr id="19" name="TextBox 18"/>
          <p:cNvSpPr txBox="1"/>
          <p:nvPr/>
        </p:nvSpPr>
        <p:spPr>
          <a:xfrm>
            <a:off x="1234440" y="5148072"/>
            <a:ext cx="4297680" cy="594360"/>
          </a:xfrm>
          <a:prstGeom prst="rect">
            <a:avLst/>
          </a:prstGeom>
          <a:noFill/>
        </p:spPr>
        <p:txBody>
          <a:bodyPr wrap="square">
            <a:spAutoFit/>
          </a:bodyPr>
          <a:lstStyle/>
          <a:p>
            <a:pPr algn="l">
              <a:defRPr sz="950" b="0">
                <a:solidFill>
                  <a:srgbClr val="1C2330"/>
                </a:solidFill>
              </a:defRPr>
            </a:pPr>
            <a:r>
              <a:t>Gánh phân bổ chi phí phần mềm từ TCT,</a:t>
            </a:r>
            <a:br/>
            <a:r>
              <a:t>khó kiểm soát ngân sách dài hạn.</a:t>
            </a:r>
          </a:p>
        </p:txBody>
      </p:sp>
      <p:sp>
        <p:nvSpPr>
          <p:cNvPr id="20" name="Rounded Rectangle 19"/>
          <p:cNvSpPr/>
          <p:nvPr/>
        </p:nvSpPr>
        <p:spPr>
          <a:xfrm>
            <a:off x="6217920" y="1371600"/>
            <a:ext cx="5212080" cy="484632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371600"/>
            <a:ext cx="5212080" cy="457200"/>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1371600"/>
            <a:ext cx="5212080" cy="457200"/>
          </a:xfrm>
          <a:prstGeom prst="rect">
            <a:avLst/>
          </a:prstGeom>
          <a:noFill/>
        </p:spPr>
        <p:txBody>
          <a:bodyPr wrap="square">
            <a:spAutoFit/>
          </a:bodyPr>
          <a:lstStyle/>
          <a:p>
            <a:pPr algn="ctr">
              <a:defRPr sz="1200" b="1">
                <a:solidFill>
                  <a:srgbClr val="FFFFFF"/>
                </a:solidFill>
              </a:defRPr>
            </a:pPr>
            <a:r>
              <a:t>PHƯƠNG ÁN 2:  Phát triển riêng + NCC   ĐỀ XUẤT</a:t>
            </a:r>
          </a:p>
        </p:txBody>
      </p:sp>
      <p:sp>
        <p:nvSpPr>
          <p:cNvPr id="23" name="TextBox 22"/>
          <p:cNvSpPr txBox="1"/>
          <p:nvPr/>
        </p:nvSpPr>
        <p:spPr>
          <a:xfrm>
            <a:off x="6492240" y="2011680"/>
            <a:ext cx="4663440" cy="274320"/>
          </a:xfrm>
          <a:prstGeom prst="rect">
            <a:avLst/>
          </a:prstGeom>
          <a:noFill/>
        </p:spPr>
        <p:txBody>
          <a:bodyPr wrap="square">
            <a:spAutoFit/>
          </a:bodyPr>
          <a:lstStyle/>
          <a:p>
            <a:pPr algn="l">
              <a:defRPr sz="1100" b="1">
                <a:solidFill>
                  <a:srgbClr val="158050"/>
                </a:solidFill>
              </a:defRPr>
            </a:pPr>
            <a:r>
              <a:t>✔  NCC làm việc trực tiếp tại QN</a:t>
            </a:r>
          </a:p>
        </p:txBody>
      </p:sp>
      <p:sp>
        <p:nvSpPr>
          <p:cNvPr id="24" name="TextBox 23"/>
          <p:cNvSpPr txBox="1"/>
          <p:nvPr/>
        </p:nvSpPr>
        <p:spPr>
          <a:xfrm>
            <a:off x="6720840" y="2267712"/>
            <a:ext cx="4389120" cy="594360"/>
          </a:xfrm>
          <a:prstGeom prst="rect">
            <a:avLst/>
          </a:prstGeom>
          <a:noFill/>
        </p:spPr>
        <p:txBody>
          <a:bodyPr wrap="square">
            <a:spAutoFit/>
          </a:bodyPr>
          <a:lstStyle/>
          <a:p>
            <a:pPr algn="l">
              <a:defRPr sz="950" b="0">
                <a:solidFill>
                  <a:srgbClr val="1C2330"/>
                </a:solidFill>
              </a:defRPr>
            </a:pPr>
            <a:r>
              <a:t>Đấu nối đúng từng phần mềm đặc thù</a:t>
            </a:r>
            <a:br/>
            <a:r>
              <a:t>mà công ty đang dùng hàng ngày.</a:t>
            </a:r>
          </a:p>
        </p:txBody>
      </p:sp>
      <p:sp>
        <p:nvSpPr>
          <p:cNvPr id="25" name="TextBox 24"/>
          <p:cNvSpPr txBox="1"/>
          <p:nvPr/>
        </p:nvSpPr>
        <p:spPr>
          <a:xfrm>
            <a:off x="6492240" y="2971800"/>
            <a:ext cx="4663440" cy="274320"/>
          </a:xfrm>
          <a:prstGeom prst="rect">
            <a:avLst/>
          </a:prstGeom>
          <a:noFill/>
        </p:spPr>
        <p:txBody>
          <a:bodyPr wrap="square">
            <a:spAutoFit/>
          </a:bodyPr>
          <a:lstStyle/>
          <a:p>
            <a:pPr algn="l">
              <a:defRPr sz="1100" b="1">
                <a:solidFill>
                  <a:srgbClr val="158050"/>
                </a:solidFill>
              </a:defRPr>
            </a:pPr>
            <a:r>
              <a:t>✔  Hoàn thành trong 3–4 tháng</a:t>
            </a:r>
          </a:p>
        </p:txBody>
      </p:sp>
      <p:sp>
        <p:nvSpPr>
          <p:cNvPr id="26" name="TextBox 25"/>
          <p:cNvSpPr txBox="1"/>
          <p:nvPr/>
        </p:nvSpPr>
        <p:spPr>
          <a:xfrm>
            <a:off x="6720840" y="3227832"/>
            <a:ext cx="4389120" cy="594360"/>
          </a:xfrm>
          <a:prstGeom prst="rect">
            <a:avLst/>
          </a:prstGeom>
          <a:noFill/>
        </p:spPr>
        <p:txBody>
          <a:bodyPr wrap="square">
            <a:spAutoFit/>
          </a:bodyPr>
          <a:lstStyle/>
          <a:p>
            <a:pPr algn="l">
              <a:defRPr sz="950" b="0">
                <a:solidFill>
                  <a:srgbClr val="1C2330"/>
                </a:solidFill>
              </a:defRPr>
            </a:pPr>
            <a:r>
              <a:t>Đơn vị chủ động 100% tiến độ.</a:t>
            </a:r>
            <a:br/>
            <a:r>
              <a:t>Đảm bảo kịp mốc hạn TCT giao.</a:t>
            </a:r>
          </a:p>
        </p:txBody>
      </p:sp>
      <p:sp>
        <p:nvSpPr>
          <p:cNvPr id="27" name="TextBox 26"/>
          <p:cNvSpPr txBox="1"/>
          <p:nvPr/>
        </p:nvSpPr>
        <p:spPr>
          <a:xfrm>
            <a:off x="6492240" y="3931920"/>
            <a:ext cx="4663440" cy="274320"/>
          </a:xfrm>
          <a:prstGeom prst="rect">
            <a:avLst/>
          </a:prstGeom>
          <a:noFill/>
        </p:spPr>
        <p:txBody>
          <a:bodyPr wrap="square">
            <a:spAutoFit/>
          </a:bodyPr>
          <a:lstStyle/>
          <a:p>
            <a:pPr algn="l">
              <a:defRPr sz="1100" b="1">
                <a:solidFill>
                  <a:srgbClr val="158050"/>
                </a:solidFill>
              </a:defRPr>
            </a:pPr>
            <a:r>
              <a:t>✔  Có Dashboard riêng cho BGĐ</a:t>
            </a:r>
          </a:p>
        </p:txBody>
      </p:sp>
      <p:sp>
        <p:nvSpPr>
          <p:cNvPr id="28" name="TextBox 27"/>
          <p:cNvSpPr txBox="1"/>
          <p:nvPr/>
        </p:nvSpPr>
        <p:spPr>
          <a:xfrm>
            <a:off x="6720840" y="4187952"/>
            <a:ext cx="4389120" cy="594360"/>
          </a:xfrm>
          <a:prstGeom prst="rect">
            <a:avLst/>
          </a:prstGeom>
          <a:noFill/>
        </p:spPr>
        <p:txBody>
          <a:bodyPr wrap="square">
            <a:spAutoFit/>
          </a:bodyPr>
          <a:lstStyle/>
          <a:p>
            <a:pPr algn="l">
              <a:defRPr sz="950" b="0">
                <a:solidFill>
                  <a:srgbClr val="1C2330"/>
                </a:solidFill>
              </a:defRPr>
            </a:pPr>
            <a:r>
              <a:t>Vừa đồng bộ chuẩn cho TCT, vừa có</a:t>
            </a:r>
            <a:br/>
            <a:r>
              <a:t>báo cáo tùy biến phục vụ điều hành tại QN.</a:t>
            </a:r>
          </a:p>
        </p:txBody>
      </p:sp>
      <p:sp>
        <p:nvSpPr>
          <p:cNvPr id="29" name="TextBox 28"/>
          <p:cNvSpPr txBox="1"/>
          <p:nvPr/>
        </p:nvSpPr>
        <p:spPr>
          <a:xfrm>
            <a:off x="6492240" y="4892040"/>
            <a:ext cx="4663440" cy="274320"/>
          </a:xfrm>
          <a:prstGeom prst="rect">
            <a:avLst/>
          </a:prstGeom>
          <a:noFill/>
        </p:spPr>
        <p:txBody>
          <a:bodyPr wrap="square">
            <a:spAutoFit/>
          </a:bodyPr>
          <a:lstStyle/>
          <a:p>
            <a:pPr algn="l">
              <a:defRPr sz="1100" b="1">
                <a:solidFill>
                  <a:srgbClr val="158050"/>
                </a:solidFill>
              </a:defRPr>
            </a:pPr>
            <a:r>
              <a:t>✔  Chi 1 lần, tận dụng Cloud TCT</a:t>
            </a:r>
          </a:p>
        </p:txBody>
      </p:sp>
      <p:sp>
        <p:nvSpPr>
          <p:cNvPr id="30" name="TextBox 29"/>
          <p:cNvSpPr txBox="1"/>
          <p:nvPr/>
        </p:nvSpPr>
        <p:spPr>
          <a:xfrm>
            <a:off x="6720840" y="5148072"/>
            <a:ext cx="4389120" cy="594360"/>
          </a:xfrm>
          <a:prstGeom prst="rect">
            <a:avLst/>
          </a:prstGeom>
          <a:noFill/>
        </p:spPr>
        <p:txBody>
          <a:bodyPr wrap="square">
            <a:spAutoFit/>
          </a:bodyPr>
          <a:lstStyle/>
          <a:p>
            <a:pPr algn="l">
              <a:defRPr sz="950" b="0">
                <a:solidFill>
                  <a:srgbClr val="1C2330"/>
                </a:solidFill>
              </a:defRPr>
            </a:pPr>
            <a:r>
              <a:t>Tiết kiệm tiền tỷ nhờ dùng miễn phí</a:t>
            </a:r>
            <a:br/>
            <a:r>
              <a:t>hạ tầng Cloud mà TCT đã mua.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ĐẦU RA — GIÁ TRỊ CHO BAN GIÁM ĐỐC VÀ ĐƠN VỊ</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KẾT QUẢ ĐẠT ĐƯỢC KHI HOÀN THÀNH DỰ ÁN</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09</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2468880" cy="457200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51713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1554480"/>
            <a:ext cx="365760" cy="365760"/>
          </a:xfrm>
          <a:prstGeom prst="ellipse">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12" name="TextBox 11"/>
          <p:cNvSpPr txBox="1"/>
          <p:nvPr/>
        </p:nvSpPr>
        <p:spPr>
          <a:xfrm>
            <a:off x="868680" y="2103120"/>
            <a:ext cx="2194560" cy="731520"/>
          </a:xfrm>
          <a:prstGeom prst="rect">
            <a:avLst/>
          </a:prstGeom>
          <a:noFill/>
        </p:spPr>
        <p:txBody>
          <a:bodyPr wrap="square">
            <a:spAutoFit/>
          </a:bodyPr>
          <a:lstStyle/>
          <a:p>
            <a:pPr algn="ctr">
              <a:defRPr sz="1300" b="1">
                <a:solidFill>
                  <a:srgbClr val="1E64BE"/>
                </a:solidFill>
              </a:defRPr>
            </a:pPr>
            <a:r>
              <a:t>BÁO CÁO ĐIỀU HÀNH</a:t>
            </a:r>
            <a:br/>
            <a:r>
              <a:t>TRỰC QUAN</a:t>
            </a:r>
          </a:p>
        </p:txBody>
      </p:sp>
      <p:sp>
        <p:nvSpPr>
          <p:cNvPr id="13" name="Rectangle 12"/>
          <p:cNvSpPr/>
          <p:nvPr/>
        </p:nvSpPr>
        <p:spPr>
          <a:xfrm>
            <a:off x="1097280" y="2926080"/>
            <a:ext cx="173736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08960"/>
            <a:ext cx="2103120" cy="2560320"/>
          </a:xfrm>
          <a:prstGeom prst="rect">
            <a:avLst/>
          </a:prstGeom>
          <a:noFill/>
        </p:spPr>
        <p:txBody>
          <a:bodyPr wrap="square">
            <a:spAutoFit/>
          </a:bodyPr>
          <a:lstStyle/>
          <a:p>
            <a:pPr algn="ctr">
              <a:defRPr sz="1150" b="0">
                <a:solidFill>
                  <a:srgbClr val="1C2330"/>
                </a:solidFill>
              </a:defRPr>
            </a:pPr>
            <a:r>
              <a:t>Dashboard cập nhật mỗi ngày.</a:t>
            </a:r>
            <a:br/>
            <a:r>
              <a:t>Xem trên máy tính hoặc</a:t>
            </a:r>
            <a:br/>
            <a:r>
              <a:t>điện thoại, mọi lúc mọi nơi.</a:t>
            </a:r>
          </a:p>
        </p:txBody>
      </p:sp>
      <p:sp>
        <p:nvSpPr>
          <p:cNvPr id="15" name="Rounded Rectangle 14"/>
          <p:cNvSpPr/>
          <p:nvPr/>
        </p:nvSpPr>
        <p:spPr>
          <a:xfrm>
            <a:off x="3520439" y="1371600"/>
            <a:ext cx="2468880" cy="4572000"/>
          </a:xfrm>
          <a:prstGeom prst="roundRect">
            <a:avLst/>
          </a:prstGeom>
          <a:solidFill>
            <a:srgbClr val="CCFBF1"/>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7015" y="1389888"/>
            <a:ext cx="73152" cy="45171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749039" y="1554480"/>
            <a:ext cx="365760" cy="36576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18" name="TextBox 17"/>
          <p:cNvSpPr txBox="1"/>
          <p:nvPr/>
        </p:nvSpPr>
        <p:spPr>
          <a:xfrm>
            <a:off x="3657599" y="2103120"/>
            <a:ext cx="2194560" cy="731520"/>
          </a:xfrm>
          <a:prstGeom prst="rect">
            <a:avLst/>
          </a:prstGeom>
          <a:noFill/>
        </p:spPr>
        <p:txBody>
          <a:bodyPr wrap="square">
            <a:spAutoFit/>
          </a:bodyPr>
          <a:lstStyle/>
          <a:p>
            <a:pPr algn="ctr">
              <a:defRPr sz="1300" b="1">
                <a:solidFill>
                  <a:srgbClr val="0D9488"/>
                </a:solidFill>
              </a:defRPr>
            </a:pPr>
            <a:r>
              <a:t>DỮ LIỆU TỰ ĐỘNG</a:t>
            </a:r>
            <a:br/>
            <a:r>
              <a:t>KHÔNG PHỤ THUỘC EXCEL</a:t>
            </a:r>
          </a:p>
        </p:txBody>
      </p:sp>
      <p:sp>
        <p:nvSpPr>
          <p:cNvPr id="19" name="Rectangle 18"/>
          <p:cNvSpPr/>
          <p:nvPr/>
        </p:nvSpPr>
        <p:spPr>
          <a:xfrm>
            <a:off x="3886199" y="2926080"/>
            <a:ext cx="173736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3319" y="3108960"/>
            <a:ext cx="2103120" cy="2560320"/>
          </a:xfrm>
          <a:prstGeom prst="rect">
            <a:avLst/>
          </a:prstGeom>
          <a:noFill/>
        </p:spPr>
        <p:txBody>
          <a:bodyPr wrap="square">
            <a:spAutoFit/>
          </a:bodyPr>
          <a:lstStyle/>
          <a:p>
            <a:pPr algn="ctr">
              <a:defRPr sz="1150" b="0">
                <a:solidFill>
                  <a:srgbClr val="1C2330"/>
                </a:solidFill>
              </a:defRPr>
            </a:pPr>
            <a:r>
              <a:t>Phòng ban không cần</a:t>
            </a:r>
            <a:br/>
            <a:r>
              <a:t>xuất file thủ công.</a:t>
            </a:r>
            <a:br/>
            <a:r>
              <a:t>Số liệu tự chảy về hệ thống.</a:t>
            </a:r>
          </a:p>
        </p:txBody>
      </p:sp>
      <p:sp>
        <p:nvSpPr>
          <p:cNvPr id="21" name="Rounded Rectangle 20"/>
          <p:cNvSpPr/>
          <p:nvPr/>
        </p:nvSpPr>
        <p:spPr>
          <a:xfrm>
            <a:off x="6309359" y="1371600"/>
            <a:ext cx="2468880" cy="457200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45935" y="1389888"/>
            <a:ext cx="73152" cy="4517136"/>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37959" y="1554480"/>
            <a:ext cx="365760" cy="365760"/>
          </a:xfrm>
          <a:prstGeom prst="ellipse">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24" name="TextBox 23"/>
          <p:cNvSpPr txBox="1"/>
          <p:nvPr/>
        </p:nvSpPr>
        <p:spPr>
          <a:xfrm>
            <a:off x="6446519" y="2103120"/>
            <a:ext cx="2194560" cy="731520"/>
          </a:xfrm>
          <a:prstGeom prst="rect">
            <a:avLst/>
          </a:prstGeom>
          <a:noFill/>
        </p:spPr>
        <p:txBody>
          <a:bodyPr wrap="square">
            <a:spAutoFit/>
          </a:bodyPr>
          <a:lstStyle/>
          <a:p>
            <a:pPr algn="ctr">
              <a:defRPr sz="1300" b="1">
                <a:solidFill>
                  <a:srgbClr val="158050"/>
                </a:solidFill>
              </a:defRPr>
            </a:pPr>
            <a:r>
              <a:t>MỘT NGUỒN SỰ THẬT</a:t>
            </a:r>
            <a:br/>
            <a:r>
              <a:t>DUY NHẤT</a:t>
            </a:r>
          </a:p>
        </p:txBody>
      </p:sp>
      <p:sp>
        <p:nvSpPr>
          <p:cNvPr id="25" name="Rectangle 24"/>
          <p:cNvSpPr/>
          <p:nvPr/>
        </p:nvSpPr>
        <p:spPr>
          <a:xfrm>
            <a:off x="6675119" y="2926080"/>
            <a:ext cx="173736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39" y="3108960"/>
            <a:ext cx="2103120" cy="2560320"/>
          </a:xfrm>
          <a:prstGeom prst="rect">
            <a:avLst/>
          </a:prstGeom>
          <a:noFill/>
        </p:spPr>
        <p:txBody>
          <a:bodyPr wrap="square">
            <a:spAutoFit/>
          </a:bodyPr>
          <a:lstStyle/>
          <a:p>
            <a:pPr algn="ctr">
              <a:defRPr sz="1150" b="0">
                <a:solidFill>
                  <a:srgbClr val="1C2330"/>
                </a:solidFill>
              </a:defRPr>
            </a:pPr>
            <a:r>
              <a:t>Kế toán, Vật tư, Nhân sự</a:t>
            </a:r>
            <a:br/>
            <a:r>
              <a:t>đều nhìn cùng một con số.</a:t>
            </a:r>
            <a:br/>
            <a:r>
              <a:t>Hết tranh cãi lệch số liệu.</a:t>
            </a:r>
          </a:p>
        </p:txBody>
      </p:sp>
      <p:sp>
        <p:nvSpPr>
          <p:cNvPr id="27" name="Rounded Rectangle 26"/>
          <p:cNvSpPr/>
          <p:nvPr/>
        </p:nvSpPr>
        <p:spPr>
          <a:xfrm>
            <a:off x="9098280" y="1371600"/>
            <a:ext cx="2468880" cy="457200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34856" y="1389888"/>
            <a:ext cx="73152" cy="451713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326880" y="155448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4</a:t>
            </a:r>
          </a:p>
        </p:txBody>
      </p:sp>
      <p:sp>
        <p:nvSpPr>
          <p:cNvPr id="30" name="TextBox 29"/>
          <p:cNvSpPr txBox="1"/>
          <p:nvPr/>
        </p:nvSpPr>
        <p:spPr>
          <a:xfrm>
            <a:off x="9235440" y="2103120"/>
            <a:ext cx="2194560" cy="731520"/>
          </a:xfrm>
          <a:prstGeom prst="rect">
            <a:avLst/>
          </a:prstGeom>
          <a:noFill/>
        </p:spPr>
        <p:txBody>
          <a:bodyPr wrap="square">
            <a:spAutoFit/>
          </a:bodyPr>
          <a:lstStyle/>
          <a:p>
            <a:pPr algn="ctr">
              <a:defRPr sz="1300" b="1">
                <a:solidFill>
                  <a:srgbClr val="B47300"/>
                </a:solidFill>
              </a:defRPr>
            </a:pPr>
            <a:r>
              <a:t>ĐẠT CHỈ TIÊU CĐS</a:t>
            </a:r>
            <a:br/>
            <a:r>
              <a:t>TCT GIAO</a:t>
            </a:r>
          </a:p>
        </p:txBody>
      </p:sp>
      <p:sp>
        <p:nvSpPr>
          <p:cNvPr id="31" name="Rectangle 30"/>
          <p:cNvSpPr/>
          <p:nvPr/>
        </p:nvSpPr>
        <p:spPr>
          <a:xfrm>
            <a:off x="9464040" y="2926080"/>
            <a:ext cx="173736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108960"/>
            <a:ext cx="2103120" cy="2560320"/>
          </a:xfrm>
          <a:prstGeom prst="rect">
            <a:avLst/>
          </a:prstGeom>
          <a:noFill/>
        </p:spPr>
        <p:txBody>
          <a:bodyPr wrap="square">
            <a:spAutoFit/>
          </a:bodyPr>
          <a:lstStyle/>
          <a:p>
            <a:pPr algn="ctr">
              <a:defRPr sz="1150" b="0">
                <a:solidFill>
                  <a:srgbClr val="1C2330"/>
                </a:solidFill>
              </a:defRPr>
            </a:pPr>
            <a:r>
              <a:t>Hoàn thành đúng hạn</a:t>
            </a:r>
            <a:br/>
            <a:r>
              <a:t>nhiệm vụ kết nối Data Platform</a:t>
            </a:r>
            <a:br/>
            <a:r>
              <a:t>theo Nghị quyết HĐQT.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NGÂN SÁCH — CHỦ ĐỘNG TRƯỚC KHI LÀM VIỆC VỚI NCC</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KHUNG DỰ TOÁN CHI PHÍ SƠ BỘ</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10</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graphicFrame>
        <p:nvGraphicFramePr>
          <p:cNvPr id="9" name="Table 8"/>
          <p:cNvGraphicFramePr>
            <a:graphicFrameLocks noGrp="1"/>
          </p:cNvGraphicFramePr>
          <p:nvPr/>
        </p:nvGraphicFramePr>
        <p:xfrm>
          <a:off x="731520" y="1371600"/>
          <a:ext cx="10728655" cy="3200400"/>
        </p:xfrm>
        <a:graphic>
          <a:graphicData uri="http://schemas.openxmlformats.org/drawingml/2006/table">
            <a:tbl>
              <a:tblPr firstRow="1" bandRow="1">
                <a:tableStyleId>{5C22544A-7EE6-4342-B048-85BDC9FD1C3A}</a:tableStyleId>
              </a:tblPr>
              <a:tblGrid>
                <a:gridCol w="457200"/>
                <a:gridCol w="3657600"/>
                <a:gridCol w="4572000"/>
                <a:gridCol w="2041855"/>
              </a:tblGrid>
              <a:tr h="533400">
                <a:tc>
                  <a:txBody>
                    <a:bodyPr/>
                    <a:lstStyle/>
                    <a:p>
                      <a:pPr algn="ctr">
                        <a:defRPr sz="1100" b="1">
                          <a:solidFill>
                            <a:srgbClr val="FFFFFF"/>
                          </a:solidFill>
                        </a:defRPr>
                      </a:pPr>
                    </a:p>
                  </a:txBody>
                  <a:tcPr>
                    <a:solidFill>
                      <a:srgbClr val="0C2344"/>
                    </a:solidFill>
                  </a:tcPr>
                </a:tc>
                <a:tc>
                  <a:txBody>
                    <a:bodyPr/>
                    <a:lstStyle/>
                    <a:p>
                      <a:pPr algn="ctr">
                        <a:defRPr sz="1100" b="1">
                          <a:solidFill>
                            <a:srgbClr val="FFFFFF"/>
                          </a:solidFill>
                        </a:defRPr>
                      </a:pPr>
                      <a:r>
                        <a:t>Hạng mục</a:t>
                      </a:r>
                    </a:p>
                  </a:txBody>
                  <a:tcPr>
                    <a:solidFill>
                      <a:srgbClr val="0C2344"/>
                    </a:solidFill>
                  </a:tcPr>
                </a:tc>
                <a:tc>
                  <a:txBody>
                    <a:bodyPr/>
                    <a:lstStyle/>
                    <a:p>
                      <a:pPr algn="ctr">
                        <a:defRPr sz="1100" b="1">
                          <a:solidFill>
                            <a:srgbClr val="FFFFFF"/>
                          </a:solidFill>
                        </a:defRPr>
                      </a:pPr>
                      <a:r>
                        <a:t>Phạm vi thực hiện</a:t>
                      </a:r>
                    </a:p>
                  </a:txBody>
                  <a:tcPr>
                    <a:solidFill>
                      <a:srgbClr val="0C2344"/>
                    </a:solidFill>
                  </a:tcPr>
                </a:tc>
                <a:tc>
                  <a:txBody>
                    <a:bodyPr/>
                    <a:lstStyle/>
                    <a:p>
                      <a:pPr algn="ctr">
                        <a:defRPr sz="1100" b="1">
                          <a:solidFill>
                            <a:srgbClr val="FFFFFF"/>
                          </a:solidFill>
                        </a:defRPr>
                      </a:pPr>
                      <a:r>
                        <a:t>Dự toán</a:t>
                      </a:r>
                    </a:p>
                  </a:txBody>
                  <a:tcPr>
                    <a:solidFill>
                      <a:srgbClr val="0C2344"/>
                    </a:solidFill>
                  </a:tcPr>
                </a:tc>
              </a:tr>
              <a:tr h="533400">
                <a:tc>
                  <a:txBody>
                    <a:bodyPr/>
                    <a:lstStyle/>
                    <a:p>
                      <a:pPr algn="ctr">
                        <a:defRPr sz="1050">
                          <a:solidFill>
                            <a:srgbClr val="1C2330"/>
                          </a:solidFill>
                        </a:defRPr>
                      </a:pPr>
                      <a:r>
                        <a:t>1</a:t>
                      </a:r>
                    </a:p>
                  </a:txBody>
                  <a:tcPr>
                    <a:solidFill>
                      <a:srgbClr val="FFFFFF"/>
                    </a:solidFill>
                  </a:tcPr>
                </a:tc>
                <a:tc>
                  <a:txBody>
                    <a:bodyPr/>
                    <a:lstStyle/>
                    <a:p>
                      <a:pPr>
                        <a:defRPr sz="1050">
                          <a:solidFill>
                            <a:srgbClr val="1C2330"/>
                          </a:solidFill>
                        </a:defRPr>
                      </a:pPr>
                      <a:r>
                        <a:t>Hạ tầng máy chủ (VM)</a:t>
                      </a:r>
                    </a:p>
                  </a:txBody>
                  <a:tcPr>
                    <a:solidFill>
                      <a:srgbClr val="FFFFFF"/>
                    </a:solidFill>
                  </a:tcPr>
                </a:tc>
                <a:tc>
                  <a:txBody>
                    <a:bodyPr/>
                    <a:lstStyle/>
                    <a:p>
                      <a:pPr>
                        <a:defRPr sz="1050">
                          <a:solidFill>
                            <a:srgbClr val="1C2330"/>
                          </a:solidFill>
                        </a:defRPr>
                      </a:pPr>
                      <a:r>
                        <a:t>Tận dụng máy chủ hiện có của Công ty</a:t>
                      </a:r>
                    </a:p>
                  </a:txBody>
                  <a:tcPr>
                    <a:solidFill>
                      <a:srgbClr val="FFFFFF"/>
                    </a:solidFill>
                  </a:tcPr>
                </a:tc>
                <a:tc>
                  <a:txBody>
                    <a:bodyPr/>
                    <a:lstStyle/>
                    <a:p>
                      <a:pPr algn="ctr">
                        <a:defRPr sz="1050" b="1">
                          <a:solidFill>
                            <a:srgbClr val="1E64BE"/>
                          </a:solidFill>
                        </a:defRPr>
                      </a:pPr>
                      <a:r>
                        <a:t>0 đ  (Tự có)</a:t>
                      </a:r>
                    </a:p>
                  </a:txBody>
                  <a:tcPr>
                    <a:solidFill>
                      <a:srgbClr val="FFFFFF"/>
                    </a:solidFill>
                  </a:tcPr>
                </a:tc>
              </a:tr>
              <a:tr h="533400">
                <a:tc>
                  <a:txBody>
                    <a:bodyPr/>
                    <a:lstStyle/>
                    <a:p>
                      <a:pPr algn="ctr">
                        <a:defRPr sz="1050">
                          <a:solidFill>
                            <a:srgbClr val="1C2330"/>
                          </a:solidFill>
                        </a:defRPr>
                      </a:pPr>
                      <a:r>
                        <a:t>2</a:t>
                      </a:r>
                    </a:p>
                  </a:txBody>
                  <a:tcPr>
                    <a:solidFill>
                      <a:srgbClr val="F3F5F8"/>
                    </a:solidFill>
                  </a:tcPr>
                </a:tc>
                <a:tc>
                  <a:txBody>
                    <a:bodyPr/>
                    <a:lstStyle/>
                    <a:p>
                      <a:pPr>
                        <a:defRPr sz="1050">
                          <a:solidFill>
                            <a:srgbClr val="1C2330"/>
                          </a:solidFill>
                        </a:defRPr>
                      </a:pPr>
                      <a:r>
                        <a:t>Khảo sát &amp; Thiết kế kiến trúc</a:t>
                      </a:r>
                    </a:p>
                  </a:txBody>
                  <a:tcPr>
                    <a:solidFill>
                      <a:srgbClr val="F3F5F8"/>
                    </a:solidFill>
                  </a:tcPr>
                </a:tc>
                <a:tc>
                  <a:txBody>
                    <a:bodyPr/>
                    <a:lstStyle/>
                    <a:p>
                      <a:pPr>
                        <a:defRPr sz="1050">
                          <a:solidFill>
                            <a:srgbClr val="1C2330"/>
                          </a:solidFill>
                        </a:defRPr>
                      </a:pPr>
                      <a:r>
                        <a:t>Khảo sát CSDL + Ánh xạ 29 Master Data TCT</a:t>
                      </a:r>
                    </a:p>
                  </a:txBody>
                  <a:tcPr>
                    <a:solidFill>
                      <a:srgbClr val="F3F5F8"/>
                    </a:solidFill>
                  </a:tcPr>
                </a:tc>
                <a:tc>
                  <a:txBody>
                    <a:bodyPr/>
                    <a:lstStyle/>
                    <a:p>
                      <a:pPr algn="ctr">
                        <a:defRPr sz="1050" b="1">
                          <a:solidFill>
                            <a:srgbClr val="1E64BE"/>
                          </a:solidFill>
                        </a:defRPr>
                      </a:pPr>
                      <a:r>
                        <a:t>80 – 120 Triệu</a:t>
                      </a:r>
                    </a:p>
                  </a:txBody>
                  <a:tcPr>
                    <a:solidFill>
                      <a:srgbClr val="F3F5F8"/>
                    </a:solidFill>
                  </a:tcPr>
                </a:tc>
              </a:tr>
              <a:tr h="533400">
                <a:tc>
                  <a:txBody>
                    <a:bodyPr/>
                    <a:lstStyle/>
                    <a:p>
                      <a:pPr algn="ctr">
                        <a:defRPr sz="1050">
                          <a:solidFill>
                            <a:srgbClr val="1C2330"/>
                          </a:solidFill>
                        </a:defRPr>
                      </a:pPr>
                      <a:r>
                        <a:t>3</a:t>
                      </a:r>
                    </a:p>
                  </a:txBody>
                  <a:tcPr>
                    <a:solidFill>
                      <a:srgbClr val="FFFFFF"/>
                    </a:solidFill>
                  </a:tcPr>
                </a:tc>
                <a:tc>
                  <a:txBody>
                    <a:bodyPr/>
                    <a:lstStyle/>
                    <a:p>
                      <a:pPr>
                        <a:defRPr sz="1050">
                          <a:solidFill>
                            <a:srgbClr val="1C2330"/>
                          </a:solidFill>
                        </a:defRPr>
                      </a:pPr>
                      <a:r>
                        <a:t>Xây dựng Trục tích hợp &amp; ETL</a:t>
                      </a:r>
                    </a:p>
                  </a:txBody>
                  <a:tcPr>
                    <a:solidFill>
                      <a:srgbClr val="FFFFFF"/>
                    </a:solidFill>
                  </a:tcPr>
                </a:tc>
                <a:tc>
                  <a:txBody>
                    <a:bodyPr/>
                    <a:lstStyle/>
                    <a:p>
                      <a:pPr>
                        <a:defRPr sz="1050">
                          <a:solidFill>
                            <a:srgbClr val="1C2330"/>
                          </a:solidFill>
                        </a:defRPr>
                      </a:pPr>
                      <a:r>
                        <a:t>Đường ống trích xuất, làm sạch, mã hóa, bơm lên TCT</a:t>
                      </a:r>
                    </a:p>
                  </a:txBody>
                  <a:tcPr>
                    <a:solidFill>
                      <a:srgbClr val="FFFFFF"/>
                    </a:solidFill>
                  </a:tcPr>
                </a:tc>
                <a:tc>
                  <a:txBody>
                    <a:bodyPr/>
                    <a:lstStyle/>
                    <a:p>
                      <a:pPr algn="ctr">
                        <a:defRPr sz="1050" b="1">
                          <a:solidFill>
                            <a:srgbClr val="1E64BE"/>
                          </a:solidFill>
                        </a:defRPr>
                      </a:pPr>
                      <a:r>
                        <a:t>150 – 250 Triệu</a:t>
                      </a:r>
                    </a:p>
                  </a:txBody>
                  <a:tcPr>
                    <a:solidFill>
                      <a:srgbClr val="FFFFFF"/>
                    </a:solidFill>
                  </a:tcPr>
                </a:tc>
              </a:tr>
              <a:tr h="533400">
                <a:tc>
                  <a:txBody>
                    <a:bodyPr/>
                    <a:lstStyle/>
                    <a:p>
                      <a:pPr algn="ctr">
                        <a:defRPr sz="1050">
                          <a:solidFill>
                            <a:srgbClr val="1C2330"/>
                          </a:solidFill>
                        </a:defRPr>
                      </a:pPr>
                      <a:r>
                        <a:t>4</a:t>
                      </a:r>
                    </a:p>
                  </a:txBody>
                  <a:tcPr>
                    <a:solidFill>
                      <a:srgbClr val="F3F5F8"/>
                    </a:solidFill>
                  </a:tcPr>
                </a:tc>
                <a:tc>
                  <a:txBody>
                    <a:bodyPr/>
                    <a:lstStyle/>
                    <a:p>
                      <a:pPr>
                        <a:defRPr sz="1050">
                          <a:solidFill>
                            <a:srgbClr val="1C2330"/>
                          </a:solidFill>
                        </a:defRPr>
                      </a:pPr>
                      <a:r>
                        <a:t>Dashboard Power BI</a:t>
                      </a:r>
                    </a:p>
                  </a:txBody>
                  <a:tcPr>
                    <a:solidFill>
                      <a:srgbClr val="F3F5F8"/>
                    </a:solidFill>
                  </a:tcPr>
                </a:tc>
                <a:tc>
                  <a:txBody>
                    <a:bodyPr/>
                    <a:lstStyle/>
                    <a:p>
                      <a:pPr>
                        <a:defRPr sz="1050">
                          <a:solidFill>
                            <a:srgbClr val="1C2330"/>
                          </a:solidFill>
                        </a:defRPr>
                      </a:pPr>
                      <a:r>
                        <a:t>3–5 bảng báo cáo quản trị cho Ban Giám đốc</a:t>
                      </a:r>
                    </a:p>
                  </a:txBody>
                  <a:tcPr>
                    <a:solidFill>
                      <a:srgbClr val="F3F5F8"/>
                    </a:solidFill>
                  </a:tcPr>
                </a:tc>
                <a:tc>
                  <a:txBody>
                    <a:bodyPr/>
                    <a:lstStyle/>
                    <a:p>
                      <a:pPr algn="ctr">
                        <a:defRPr sz="1050" b="1">
                          <a:solidFill>
                            <a:srgbClr val="1E64BE"/>
                          </a:solidFill>
                        </a:defRPr>
                      </a:pPr>
                      <a:r>
                        <a:t>100 – 150 Triệu</a:t>
                      </a:r>
                    </a:p>
                  </a:txBody>
                  <a:tcPr>
                    <a:solidFill>
                      <a:srgbClr val="F3F5F8"/>
                    </a:solidFill>
                  </a:tcPr>
                </a:tc>
              </a:tr>
              <a:tr h="533400">
                <a:tc>
                  <a:txBody>
                    <a:bodyPr/>
                    <a:lstStyle/>
                    <a:p>
                      <a:pPr algn="ctr">
                        <a:defRPr sz="1050">
                          <a:solidFill>
                            <a:srgbClr val="1C2330"/>
                          </a:solidFill>
                        </a:defRPr>
                      </a:pPr>
                      <a:r>
                        <a:t>5</a:t>
                      </a:r>
                    </a:p>
                  </a:txBody>
                  <a:tcPr>
                    <a:solidFill>
                      <a:srgbClr val="FFFFFF"/>
                    </a:solidFill>
                  </a:tcPr>
                </a:tc>
                <a:tc>
                  <a:txBody>
                    <a:bodyPr/>
                    <a:lstStyle/>
                    <a:p>
                      <a:pPr>
                        <a:defRPr sz="1050">
                          <a:solidFill>
                            <a:srgbClr val="1C2330"/>
                          </a:solidFill>
                        </a:defRPr>
                      </a:pPr>
                      <a:r>
                        <a:t>Đào tạo + Bảo hành 12 tháng</a:t>
                      </a:r>
                    </a:p>
                  </a:txBody>
                  <a:tcPr>
                    <a:solidFill>
                      <a:srgbClr val="FFFFFF"/>
                    </a:solidFill>
                  </a:tcPr>
                </a:tc>
                <a:tc>
                  <a:txBody>
                    <a:bodyPr/>
                    <a:lstStyle/>
                    <a:p>
                      <a:pPr>
                        <a:defRPr sz="1050">
                          <a:solidFill>
                            <a:srgbClr val="1C2330"/>
                          </a:solidFill>
                        </a:defRPr>
                      </a:pPr>
                      <a:r>
                        <a:t>Bàn giao mã nguồn, đào tạo IT làm chủ 100%</a:t>
                      </a:r>
                    </a:p>
                  </a:txBody>
                  <a:tcPr>
                    <a:solidFill>
                      <a:srgbClr val="FFFFFF"/>
                    </a:solidFill>
                  </a:tcPr>
                </a:tc>
                <a:tc>
                  <a:txBody>
                    <a:bodyPr/>
                    <a:lstStyle/>
                    <a:p>
                      <a:pPr algn="ctr">
                        <a:defRPr sz="1050" b="1">
                          <a:solidFill>
                            <a:srgbClr val="1E64BE"/>
                          </a:solidFill>
                        </a:defRPr>
                      </a:pPr>
                      <a:r>
                        <a:t>50 – 80 Triệu</a:t>
                      </a:r>
                    </a:p>
                  </a:txBody>
                  <a:tcPr>
                    <a:solidFill>
                      <a:srgbClr val="FFFFFF"/>
                    </a:solidFill>
                  </a:tcPr>
                </a:tc>
              </a:tr>
            </a:tbl>
          </a:graphicData>
        </a:graphic>
      </p:graphicFrame>
      <p:sp>
        <p:nvSpPr>
          <p:cNvPr id="10" name="Rounded Rectangle 9"/>
          <p:cNvSpPr/>
          <p:nvPr/>
        </p:nvSpPr>
        <p:spPr>
          <a:xfrm>
            <a:off x="731520" y="4800600"/>
            <a:ext cx="10728655" cy="640080"/>
          </a:xfrm>
          <a:prstGeom prst="round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846320"/>
            <a:ext cx="4572000" cy="320040"/>
          </a:xfrm>
          <a:prstGeom prst="rect">
            <a:avLst/>
          </a:prstGeom>
          <a:noFill/>
        </p:spPr>
        <p:txBody>
          <a:bodyPr wrap="square">
            <a:spAutoFit/>
          </a:bodyPr>
          <a:lstStyle/>
          <a:p>
            <a:pPr algn="l">
              <a:defRPr sz="1300" b="1">
                <a:solidFill>
                  <a:srgbClr val="FFFFFF"/>
                </a:solidFill>
              </a:defRPr>
            </a:pPr>
            <a:r>
              <a:t>TỔNG KHÁI TOÁN DỰ KIẾN</a:t>
            </a:r>
          </a:p>
        </p:txBody>
      </p:sp>
      <p:sp>
        <p:nvSpPr>
          <p:cNvPr id="12" name="TextBox 11"/>
          <p:cNvSpPr txBox="1"/>
          <p:nvPr/>
        </p:nvSpPr>
        <p:spPr>
          <a:xfrm>
            <a:off x="7315200" y="4800600"/>
            <a:ext cx="3931920" cy="365760"/>
          </a:xfrm>
          <a:prstGeom prst="rect">
            <a:avLst/>
          </a:prstGeom>
          <a:noFill/>
        </p:spPr>
        <p:txBody>
          <a:bodyPr wrap="square">
            <a:spAutoFit/>
          </a:bodyPr>
          <a:lstStyle/>
          <a:p>
            <a:pPr algn="r">
              <a:defRPr sz="2000" b="1">
                <a:solidFill>
                  <a:srgbClr val="FDE047"/>
                </a:solidFill>
              </a:defRPr>
            </a:pPr>
            <a:r>
              <a:t>380 – 600 Triệu VNĐ</a:t>
            </a:r>
          </a:p>
        </p:txBody>
      </p:sp>
      <p:sp>
        <p:nvSpPr>
          <p:cNvPr id="13" name="TextBox 12"/>
          <p:cNvSpPr txBox="1"/>
          <p:nvPr/>
        </p:nvSpPr>
        <p:spPr>
          <a:xfrm>
            <a:off x="7315200" y="5120640"/>
            <a:ext cx="3931920" cy="274320"/>
          </a:xfrm>
          <a:prstGeom prst="rect">
            <a:avLst/>
          </a:prstGeom>
          <a:noFill/>
        </p:spPr>
        <p:txBody>
          <a:bodyPr wrap="square">
            <a:spAutoFit/>
          </a:bodyPr>
          <a:lstStyle/>
          <a:p>
            <a:pPr algn="r">
              <a:defRPr sz="950" b="0">
                <a:solidFill>
                  <a:srgbClr val="BAD7F5"/>
                </a:solidFill>
              </a:defRPr>
            </a:pPr>
            <a:r>
              <a:t>Thanh toán phân kỳ theo mốc nghiệm thu</a:t>
            </a:r>
          </a:p>
        </p:txBody>
      </p:sp>
      <p:sp>
        <p:nvSpPr>
          <p:cNvPr id="14" name="Rounded Rectangle 13"/>
          <p:cNvSpPr/>
          <p:nvPr/>
        </p:nvSpPr>
        <p:spPr>
          <a:xfrm>
            <a:off x="731520" y="5623560"/>
            <a:ext cx="10728655" cy="777240"/>
          </a:xfrm>
          <a:prstGeom prst="roundRect">
            <a:avLst/>
          </a:prstGeom>
          <a:solidFill>
            <a:srgbClr val="E6F0FC"/>
          </a:solidFill>
          <a:ln w="127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 y="5641848"/>
            <a:ext cx="64008" cy="713232"/>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5669280"/>
            <a:ext cx="10058400" cy="274320"/>
          </a:xfrm>
          <a:prstGeom prst="rect">
            <a:avLst/>
          </a:prstGeom>
          <a:noFill/>
        </p:spPr>
        <p:txBody>
          <a:bodyPr wrap="square">
            <a:spAutoFit/>
          </a:bodyPr>
          <a:lstStyle/>
          <a:p>
            <a:pPr algn="l">
              <a:defRPr sz="1050" b="1">
                <a:solidFill>
                  <a:srgbClr val="0C2344"/>
                </a:solidFill>
              </a:defRPr>
            </a:pPr>
            <a:r>
              <a:t>Tiết kiệm hàng tỷ đồng nhờ tận dụng hạ tầng Cloud và bản quyền Power BI mà TCT đã đầu tư sẵn</a:t>
            </a:r>
          </a:p>
          <a:p>
            <a:pPr>
              <a:defRPr sz="1050">
                <a:solidFill>
                  <a:srgbClr val="1C2330"/>
                </a:solidFill>
              </a:defRPr>
            </a:pPr>
            <a:r>
              <a:t>Cơ chế giải ngân: GĐ1 chuẩn bị nội bộ (0 đ)  →  GĐ2 kết nối xong (70%)  →  GĐ3 bàn giao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LỘ TRÌNH — PHÂN KỲ RÕ RÀNG, KIỂM SOÁT CHẶT CHẼ</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KẾ HOẠCH TRIỂN KHAI 3 GIAI ĐOẠN</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11</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3383280" cy="4754880"/>
          </a:xfrm>
          <a:prstGeom prst="roundRect">
            <a:avLst/>
          </a:prstGeom>
          <a:solidFill>
            <a:srgbClr val="E6F0FC"/>
          </a:solidFill>
          <a:ln w="1905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70001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508760"/>
            <a:ext cx="2926080" cy="274320"/>
          </a:xfrm>
          <a:prstGeom prst="rect">
            <a:avLst/>
          </a:prstGeom>
          <a:noFill/>
        </p:spPr>
        <p:txBody>
          <a:bodyPr wrap="square">
            <a:spAutoFit/>
          </a:bodyPr>
          <a:lstStyle/>
          <a:p>
            <a:pPr algn="l">
              <a:defRPr sz="1000" b="1">
                <a:solidFill>
                  <a:srgbClr val="1E64BE"/>
                </a:solidFill>
              </a:defRPr>
            </a:pPr>
            <a:r>
              <a:t>GIAI ĐOẠN 1</a:t>
            </a:r>
          </a:p>
        </p:txBody>
      </p:sp>
      <p:sp>
        <p:nvSpPr>
          <p:cNvPr id="12" name="TextBox 11"/>
          <p:cNvSpPr txBox="1"/>
          <p:nvPr/>
        </p:nvSpPr>
        <p:spPr>
          <a:xfrm>
            <a:off x="960120" y="1755648"/>
            <a:ext cx="2926080" cy="274320"/>
          </a:xfrm>
          <a:prstGeom prst="rect">
            <a:avLst/>
          </a:prstGeom>
          <a:noFill/>
        </p:spPr>
        <p:txBody>
          <a:bodyPr wrap="square">
            <a:spAutoFit/>
          </a:bodyPr>
          <a:lstStyle/>
          <a:p>
            <a:pPr algn="l">
              <a:defRPr sz="1300" b="1">
                <a:solidFill>
                  <a:srgbClr val="0C2344"/>
                </a:solidFill>
              </a:defRPr>
            </a:pPr>
            <a:r>
              <a:t>Tháng 3 – 4 / 2026</a:t>
            </a:r>
          </a:p>
        </p:txBody>
      </p:sp>
      <p:sp>
        <p:nvSpPr>
          <p:cNvPr id="13" name="TextBox 12"/>
          <p:cNvSpPr txBox="1"/>
          <p:nvPr/>
        </p:nvSpPr>
        <p:spPr>
          <a:xfrm>
            <a:off x="960120" y="2103120"/>
            <a:ext cx="2926080" cy="320040"/>
          </a:xfrm>
          <a:prstGeom prst="rect">
            <a:avLst/>
          </a:prstGeom>
          <a:noFill/>
        </p:spPr>
        <p:txBody>
          <a:bodyPr wrap="square">
            <a:spAutoFit/>
          </a:bodyPr>
          <a:lstStyle/>
          <a:p>
            <a:pPr algn="l">
              <a:defRPr sz="1400" b="1">
                <a:solidFill>
                  <a:srgbClr val="1E64BE"/>
                </a:solidFill>
              </a:defRPr>
            </a:pPr>
            <a:r>
              <a:t>KHẢO SÁT NỘI BỘ</a:t>
            </a:r>
          </a:p>
        </p:txBody>
      </p:sp>
      <p:sp>
        <p:nvSpPr>
          <p:cNvPr id="14" name="Rounded Rectangle 13"/>
          <p:cNvSpPr/>
          <p:nvPr/>
        </p:nvSpPr>
        <p:spPr>
          <a:xfrm>
            <a:off x="960120" y="2514600"/>
            <a:ext cx="2834640" cy="320040"/>
          </a:xfrm>
          <a:prstGeom prst="round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514600"/>
            <a:ext cx="2834640" cy="320040"/>
          </a:xfrm>
          <a:prstGeom prst="rect">
            <a:avLst/>
          </a:prstGeom>
          <a:noFill/>
        </p:spPr>
        <p:txBody>
          <a:bodyPr wrap="square">
            <a:spAutoFit/>
          </a:bodyPr>
          <a:lstStyle/>
          <a:p>
            <a:pPr algn="ctr">
              <a:defRPr sz="900" b="1">
                <a:solidFill>
                  <a:srgbClr val="FFFFFF"/>
                </a:solidFill>
              </a:defRPr>
            </a:pPr>
            <a:r>
              <a:t>Nội bộ tự chủ trì  •  Chi phí 0 đ</a:t>
            </a:r>
          </a:p>
        </p:txBody>
      </p:sp>
      <p:sp>
        <p:nvSpPr>
          <p:cNvPr id="16" name="TextBox 15"/>
          <p:cNvSpPr txBox="1"/>
          <p:nvPr/>
        </p:nvSpPr>
        <p:spPr>
          <a:xfrm>
            <a:off x="1097280" y="3063240"/>
            <a:ext cx="2743200" cy="411480"/>
          </a:xfrm>
          <a:prstGeom prst="rect">
            <a:avLst/>
          </a:prstGeom>
          <a:noFill/>
        </p:spPr>
        <p:txBody>
          <a:bodyPr wrap="square">
            <a:spAutoFit/>
          </a:bodyPr>
          <a:lstStyle/>
          <a:p>
            <a:pPr algn="l">
              <a:defRPr sz="1150" b="0">
                <a:solidFill>
                  <a:srgbClr val="1C2330"/>
                </a:solidFill>
              </a:defRPr>
            </a:pPr>
            <a:r>
              <a:t>—  Thành lập Tổ công tác</a:t>
            </a:r>
          </a:p>
        </p:txBody>
      </p:sp>
      <p:sp>
        <p:nvSpPr>
          <p:cNvPr id="17" name="TextBox 16"/>
          <p:cNvSpPr txBox="1"/>
          <p:nvPr/>
        </p:nvSpPr>
        <p:spPr>
          <a:xfrm>
            <a:off x="1097280" y="3566160"/>
            <a:ext cx="2743200" cy="411480"/>
          </a:xfrm>
          <a:prstGeom prst="rect">
            <a:avLst/>
          </a:prstGeom>
          <a:noFill/>
        </p:spPr>
        <p:txBody>
          <a:bodyPr wrap="square">
            <a:spAutoFit/>
          </a:bodyPr>
          <a:lstStyle/>
          <a:p>
            <a:pPr algn="l">
              <a:defRPr sz="1150" b="0">
                <a:solidFill>
                  <a:srgbClr val="1C2330"/>
                </a:solidFill>
              </a:defRPr>
            </a:pPr>
            <a:r>
              <a:t>—  Khảo sát CSDL 4 phần mềm</a:t>
            </a:r>
          </a:p>
        </p:txBody>
      </p:sp>
      <p:sp>
        <p:nvSpPr>
          <p:cNvPr id="18" name="TextBox 17"/>
          <p:cNvSpPr txBox="1"/>
          <p:nvPr/>
        </p:nvSpPr>
        <p:spPr>
          <a:xfrm>
            <a:off x="1097280" y="4069080"/>
            <a:ext cx="2743200" cy="411480"/>
          </a:xfrm>
          <a:prstGeom prst="rect">
            <a:avLst/>
          </a:prstGeom>
          <a:noFill/>
        </p:spPr>
        <p:txBody>
          <a:bodyPr wrap="square">
            <a:spAutoFit/>
          </a:bodyPr>
          <a:lstStyle/>
          <a:p>
            <a:pPr algn="l">
              <a:defRPr sz="1150" b="0">
                <a:solidFill>
                  <a:srgbClr val="1C2330"/>
                </a:solidFill>
              </a:defRPr>
            </a:pPr>
            <a:r>
              <a:t>—  Ánh xạ 29 Master Data</a:t>
            </a:r>
          </a:p>
        </p:txBody>
      </p:sp>
      <p:sp>
        <p:nvSpPr>
          <p:cNvPr id="19" name="TextBox 18"/>
          <p:cNvSpPr txBox="1"/>
          <p:nvPr/>
        </p:nvSpPr>
        <p:spPr>
          <a:xfrm>
            <a:off x="1097280" y="4572000"/>
            <a:ext cx="2743200" cy="411480"/>
          </a:xfrm>
          <a:prstGeom prst="rect">
            <a:avLst/>
          </a:prstGeom>
          <a:noFill/>
        </p:spPr>
        <p:txBody>
          <a:bodyPr wrap="square">
            <a:spAutoFit/>
          </a:bodyPr>
          <a:lstStyle/>
          <a:p>
            <a:pPr algn="l">
              <a:defRPr sz="1150" b="0">
                <a:solidFill>
                  <a:srgbClr val="1C2330"/>
                </a:solidFill>
              </a:defRPr>
            </a:pPr>
            <a:r>
              <a:t>—  Lập đề bài kỹ thuật cho NCC</a:t>
            </a:r>
          </a:p>
        </p:txBody>
      </p:sp>
      <p:sp>
        <p:nvSpPr>
          <p:cNvPr id="20" name="Right Arrow 19"/>
          <p:cNvSpPr/>
          <p:nvPr/>
        </p:nvSpPr>
        <p:spPr>
          <a:xfrm>
            <a:off x="4160520" y="347472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80559" y="1371600"/>
            <a:ext cx="3383280" cy="4754880"/>
          </a:xfrm>
          <a:prstGeom prst="roundRect">
            <a:avLst/>
          </a:prstGeom>
          <a:solidFill>
            <a:srgbClr val="FFF5E1"/>
          </a:solidFill>
          <a:ln w="1905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17135" y="1389888"/>
            <a:ext cx="73152" cy="470001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59" y="1508760"/>
            <a:ext cx="2926080" cy="274320"/>
          </a:xfrm>
          <a:prstGeom prst="rect">
            <a:avLst/>
          </a:prstGeom>
          <a:noFill/>
        </p:spPr>
        <p:txBody>
          <a:bodyPr wrap="square">
            <a:spAutoFit/>
          </a:bodyPr>
          <a:lstStyle/>
          <a:p>
            <a:pPr algn="l">
              <a:defRPr sz="1000" b="1">
                <a:solidFill>
                  <a:srgbClr val="B47300"/>
                </a:solidFill>
              </a:defRPr>
            </a:pPr>
            <a:r>
              <a:t>GIAI ĐOẠN 2</a:t>
            </a:r>
          </a:p>
        </p:txBody>
      </p:sp>
      <p:sp>
        <p:nvSpPr>
          <p:cNvPr id="24" name="TextBox 23"/>
          <p:cNvSpPr txBox="1"/>
          <p:nvPr/>
        </p:nvSpPr>
        <p:spPr>
          <a:xfrm>
            <a:off x="4709159" y="1755648"/>
            <a:ext cx="2926080" cy="274320"/>
          </a:xfrm>
          <a:prstGeom prst="rect">
            <a:avLst/>
          </a:prstGeom>
          <a:noFill/>
        </p:spPr>
        <p:txBody>
          <a:bodyPr wrap="square">
            <a:spAutoFit/>
          </a:bodyPr>
          <a:lstStyle/>
          <a:p>
            <a:pPr algn="l">
              <a:defRPr sz="1300" b="1">
                <a:solidFill>
                  <a:srgbClr val="0C2344"/>
                </a:solidFill>
              </a:defRPr>
            </a:pPr>
            <a:r>
              <a:t>Tháng 5 – 7 / 2026</a:t>
            </a:r>
          </a:p>
        </p:txBody>
      </p:sp>
      <p:sp>
        <p:nvSpPr>
          <p:cNvPr id="25" name="TextBox 24"/>
          <p:cNvSpPr txBox="1"/>
          <p:nvPr/>
        </p:nvSpPr>
        <p:spPr>
          <a:xfrm>
            <a:off x="4709159" y="2103120"/>
            <a:ext cx="2926080" cy="320040"/>
          </a:xfrm>
          <a:prstGeom prst="rect">
            <a:avLst/>
          </a:prstGeom>
          <a:noFill/>
        </p:spPr>
        <p:txBody>
          <a:bodyPr wrap="square">
            <a:spAutoFit/>
          </a:bodyPr>
          <a:lstStyle/>
          <a:p>
            <a:pPr algn="l">
              <a:defRPr sz="1400" b="1">
                <a:solidFill>
                  <a:srgbClr val="B47300"/>
                </a:solidFill>
              </a:defRPr>
            </a:pPr>
            <a:r>
              <a:t>THUÊ NCC TRIỂN KHAI</a:t>
            </a:r>
          </a:p>
        </p:txBody>
      </p:sp>
      <p:sp>
        <p:nvSpPr>
          <p:cNvPr id="26" name="Rounded Rectangle 25"/>
          <p:cNvSpPr/>
          <p:nvPr/>
        </p:nvSpPr>
        <p:spPr>
          <a:xfrm>
            <a:off x="4709159" y="2514600"/>
            <a:ext cx="2834640" cy="320040"/>
          </a:xfrm>
          <a:prstGeom prst="round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59" y="2514600"/>
            <a:ext cx="2834640" cy="320040"/>
          </a:xfrm>
          <a:prstGeom prst="rect">
            <a:avLst/>
          </a:prstGeom>
          <a:noFill/>
        </p:spPr>
        <p:txBody>
          <a:bodyPr wrap="square">
            <a:spAutoFit/>
          </a:bodyPr>
          <a:lstStyle/>
          <a:p>
            <a:pPr algn="ctr">
              <a:defRPr sz="900" b="1">
                <a:solidFill>
                  <a:srgbClr val="FFFFFF"/>
                </a:solidFill>
              </a:defRPr>
            </a:pPr>
            <a:r>
              <a:t>Giai đoạn chính  •  Thuê NCC</a:t>
            </a:r>
          </a:p>
        </p:txBody>
      </p:sp>
      <p:sp>
        <p:nvSpPr>
          <p:cNvPr id="28" name="TextBox 27"/>
          <p:cNvSpPr txBox="1"/>
          <p:nvPr/>
        </p:nvSpPr>
        <p:spPr>
          <a:xfrm>
            <a:off x="4846319" y="3063240"/>
            <a:ext cx="2743200" cy="411480"/>
          </a:xfrm>
          <a:prstGeom prst="rect">
            <a:avLst/>
          </a:prstGeom>
          <a:noFill/>
        </p:spPr>
        <p:txBody>
          <a:bodyPr wrap="square">
            <a:spAutoFit/>
          </a:bodyPr>
          <a:lstStyle/>
          <a:p>
            <a:pPr algn="l">
              <a:defRPr sz="1150" b="0">
                <a:solidFill>
                  <a:srgbClr val="1C2330"/>
                </a:solidFill>
              </a:defRPr>
            </a:pPr>
            <a:r>
              <a:t>—  Lựa chọn NCC tối ưu</a:t>
            </a:r>
          </a:p>
        </p:txBody>
      </p:sp>
      <p:sp>
        <p:nvSpPr>
          <p:cNvPr id="29" name="TextBox 28"/>
          <p:cNvSpPr txBox="1"/>
          <p:nvPr/>
        </p:nvSpPr>
        <p:spPr>
          <a:xfrm>
            <a:off x="4846319" y="3566160"/>
            <a:ext cx="2743200" cy="411480"/>
          </a:xfrm>
          <a:prstGeom prst="rect">
            <a:avLst/>
          </a:prstGeom>
          <a:noFill/>
        </p:spPr>
        <p:txBody>
          <a:bodyPr wrap="square">
            <a:spAutoFit/>
          </a:bodyPr>
          <a:lstStyle/>
          <a:p>
            <a:pPr algn="l">
              <a:defRPr sz="1150" b="0">
                <a:solidFill>
                  <a:srgbClr val="1C2330"/>
                </a:solidFill>
              </a:defRPr>
            </a:pPr>
            <a:r>
              <a:t>—  Dựng Trạm trung chuyển</a:t>
            </a:r>
          </a:p>
        </p:txBody>
      </p:sp>
      <p:sp>
        <p:nvSpPr>
          <p:cNvPr id="30" name="TextBox 29"/>
          <p:cNvSpPr txBox="1"/>
          <p:nvPr/>
        </p:nvSpPr>
        <p:spPr>
          <a:xfrm>
            <a:off x="4846319" y="4069080"/>
            <a:ext cx="2743200" cy="411480"/>
          </a:xfrm>
          <a:prstGeom prst="rect">
            <a:avLst/>
          </a:prstGeom>
          <a:noFill/>
        </p:spPr>
        <p:txBody>
          <a:bodyPr wrap="square">
            <a:spAutoFit/>
          </a:bodyPr>
          <a:lstStyle/>
          <a:p>
            <a:pPr algn="l">
              <a:defRPr sz="1150" b="0">
                <a:solidFill>
                  <a:srgbClr val="1C2330"/>
                </a:solidFill>
              </a:defRPr>
            </a:pPr>
            <a:r>
              <a:t>—  Lập trình đường ống ETL</a:t>
            </a:r>
          </a:p>
        </p:txBody>
      </p:sp>
      <p:sp>
        <p:nvSpPr>
          <p:cNvPr id="31" name="TextBox 30"/>
          <p:cNvSpPr txBox="1"/>
          <p:nvPr/>
        </p:nvSpPr>
        <p:spPr>
          <a:xfrm>
            <a:off x="4846319" y="4572000"/>
            <a:ext cx="2743200" cy="411480"/>
          </a:xfrm>
          <a:prstGeom prst="rect">
            <a:avLst/>
          </a:prstGeom>
          <a:noFill/>
        </p:spPr>
        <p:txBody>
          <a:bodyPr wrap="square">
            <a:spAutoFit/>
          </a:bodyPr>
          <a:lstStyle/>
          <a:p>
            <a:pPr algn="l">
              <a:defRPr sz="1150" b="0">
                <a:solidFill>
                  <a:srgbClr val="1C2330"/>
                </a:solidFill>
              </a:defRPr>
            </a:pPr>
            <a:r>
              <a:t>—  Kiểm thử kết nối TCT</a:t>
            </a:r>
          </a:p>
        </p:txBody>
      </p:sp>
      <p:sp>
        <p:nvSpPr>
          <p:cNvPr id="32" name="Right Arrow 31"/>
          <p:cNvSpPr/>
          <p:nvPr/>
        </p:nvSpPr>
        <p:spPr>
          <a:xfrm>
            <a:off x="7909559" y="3474720"/>
            <a:ext cx="457200" cy="274320"/>
          </a:xfrm>
          <a:prstGeom prst="rightArrow">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229600" y="1371600"/>
            <a:ext cx="3383280" cy="475488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66176" y="1389888"/>
            <a:ext cx="73152" cy="4700016"/>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58200" y="1508760"/>
            <a:ext cx="2926080" cy="274320"/>
          </a:xfrm>
          <a:prstGeom prst="rect">
            <a:avLst/>
          </a:prstGeom>
          <a:noFill/>
        </p:spPr>
        <p:txBody>
          <a:bodyPr wrap="square">
            <a:spAutoFit/>
          </a:bodyPr>
          <a:lstStyle/>
          <a:p>
            <a:pPr algn="l">
              <a:defRPr sz="1000" b="1">
                <a:solidFill>
                  <a:srgbClr val="158050"/>
                </a:solidFill>
              </a:defRPr>
            </a:pPr>
            <a:r>
              <a:t>GIAI ĐOẠN 3</a:t>
            </a:r>
          </a:p>
        </p:txBody>
      </p:sp>
      <p:sp>
        <p:nvSpPr>
          <p:cNvPr id="36" name="TextBox 35"/>
          <p:cNvSpPr txBox="1"/>
          <p:nvPr/>
        </p:nvSpPr>
        <p:spPr>
          <a:xfrm>
            <a:off x="8458200" y="1755648"/>
            <a:ext cx="2926080" cy="274320"/>
          </a:xfrm>
          <a:prstGeom prst="rect">
            <a:avLst/>
          </a:prstGeom>
          <a:noFill/>
        </p:spPr>
        <p:txBody>
          <a:bodyPr wrap="square">
            <a:spAutoFit/>
          </a:bodyPr>
          <a:lstStyle/>
          <a:p>
            <a:pPr algn="l">
              <a:defRPr sz="1300" b="1">
                <a:solidFill>
                  <a:srgbClr val="0C2344"/>
                </a:solidFill>
              </a:defRPr>
            </a:pPr>
            <a:r>
              <a:t>Tháng 8 / 2026 →</a:t>
            </a:r>
          </a:p>
        </p:txBody>
      </p:sp>
      <p:sp>
        <p:nvSpPr>
          <p:cNvPr id="37" name="TextBox 36"/>
          <p:cNvSpPr txBox="1"/>
          <p:nvPr/>
        </p:nvSpPr>
        <p:spPr>
          <a:xfrm>
            <a:off x="8458200" y="2103120"/>
            <a:ext cx="2926080" cy="320040"/>
          </a:xfrm>
          <a:prstGeom prst="rect">
            <a:avLst/>
          </a:prstGeom>
          <a:noFill/>
        </p:spPr>
        <p:txBody>
          <a:bodyPr wrap="square">
            <a:spAutoFit/>
          </a:bodyPr>
          <a:lstStyle/>
          <a:p>
            <a:pPr algn="l">
              <a:defRPr sz="1400" b="1">
                <a:solidFill>
                  <a:srgbClr val="158050"/>
                </a:solidFill>
              </a:defRPr>
            </a:pPr>
            <a:r>
              <a:t>BÀN GIAO &amp; KHAI THÁC</a:t>
            </a:r>
          </a:p>
        </p:txBody>
      </p:sp>
      <p:sp>
        <p:nvSpPr>
          <p:cNvPr id="38" name="Rounded Rectangle 37"/>
          <p:cNvSpPr/>
          <p:nvPr/>
        </p:nvSpPr>
        <p:spPr>
          <a:xfrm>
            <a:off x="8458200" y="2514600"/>
            <a:ext cx="2834640" cy="320040"/>
          </a:xfrm>
          <a:prstGeom prst="round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58200" y="2514600"/>
            <a:ext cx="2834640" cy="320040"/>
          </a:xfrm>
          <a:prstGeom prst="rect">
            <a:avLst/>
          </a:prstGeom>
          <a:noFill/>
        </p:spPr>
        <p:txBody>
          <a:bodyPr wrap="square">
            <a:spAutoFit/>
          </a:bodyPr>
          <a:lstStyle/>
          <a:p>
            <a:pPr algn="ctr">
              <a:defRPr sz="900" b="1">
                <a:solidFill>
                  <a:srgbClr val="FFFFFF"/>
                </a:solidFill>
              </a:defRPr>
            </a:pPr>
            <a:r>
              <a:t>IT làm chủ 100%</a:t>
            </a:r>
          </a:p>
        </p:txBody>
      </p:sp>
      <p:sp>
        <p:nvSpPr>
          <p:cNvPr id="40" name="TextBox 39"/>
          <p:cNvSpPr txBox="1"/>
          <p:nvPr/>
        </p:nvSpPr>
        <p:spPr>
          <a:xfrm>
            <a:off x="8595360" y="3063240"/>
            <a:ext cx="2743200" cy="411480"/>
          </a:xfrm>
          <a:prstGeom prst="rect">
            <a:avLst/>
          </a:prstGeom>
          <a:noFill/>
        </p:spPr>
        <p:txBody>
          <a:bodyPr wrap="square">
            <a:spAutoFit/>
          </a:bodyPr>
          <a:lstStyle/>
          <a:p>
            <a:pPr algn="l">
              <a:defRPr sz="1150" b="0">
                <a:solidFill>
                  <a:srgbClr val="1C2330"/>
                </a:solidFill>
              </a:defRPr>
            </a:pPr>
            <a:r>
              <a:t>—  Nghiệm thu hệ thống</a:t>
            </a:r>
          </a:p>
        </p:txBody>
      </p:sp>
      <p:sp>
        <p:nvSpPr>
          <p:cNvPr id="41" name="TextBox 40"/>
          <p:cNvSpPr txBox="1"/>
          <p:nvPr/>
        </p:nvSpPr>
        <p:spPr>
          <a:xfrm>
            <a:off x="8595360" y="3566160"/>
            <a:ext cx="2743200" cy="411480"/>
          </a:xfrm>
          <a:prstGeom prst="rect">
            <a:avLst/>
          </a:prstGeom>
          <a:noFill/>
        </p:spPr>
        <p:txBody>
          <a:bodyPr wrap="square">
            <a:spAutoFit/>
          </a:bodyPr>
          <a:lstStyle/>
          <a:p>
            <a:pPr algn="l">
              <a:defRPr sz="1150" b="0">
                <a:solidFill>
                  <a:srgbClr val="1C2330"/>
                </a:solidFill>
              </a:defRPr>
            </a:pPr>
            <a:r>
              <a:t>—  NCC bàn giao mã nguồn</a:t>
            </a:r>
          </a:p>
        </p:txBody>
      </p:sp>
      <p:sp>
        <p:nvSpPr>
          <p:cNvPr id="42" name="TextBox 41"/>
          <p:cNvSpPr txBox="1"/>
          <p:nvPr/>
        </p:nvSpPr>
        <p:spPr>
          <a:xfrm>
            <a:off x="8595360" y="4069080"/>
            <a:ext cx="2743200" cy="411480"/>
          </a:xfrm>
          <a:prstGeom prst="rect">
            <a:avLst/>
          </a:prstGeom>
          <a:noFill/>
        </p:spPr>
        <p:txBody>
          <a:bodyPr wrap="square">
            <a:spAutoFit/>
          </a:bodyPr>
          <a:lstStyle/>
          <a:p>
            <a:pPr algn="l">
              <a:defRPr sz="1150" b="0">
                <a:solidFill>
                  <a:srgbClr val="1C2330"/>
                </a:solidFill>
              </a:defRPr>
            </a:pPr>
            <a:r>
              <a:t>—  Đào tạo IT vận hành</a:t>
            </a:r>
          </a:p>
        </p:txBody>
      </p:sp>
      <p:sp>
        <p:nvSpPr>
          <p:cNvPr id="43" name="TextBox 42"/>
          <p:cNvSpPr txBox="1"/>
          <p:nvPr/>
        </p:nvSpPr>
        <p:spPr>
          <a:xfrm>
            <a:off x="8595360" y="4572000"/>
            <a:ext cx="2743200" cy="411480"/>
          </a:xfrm>
          <a:prstGeom prst="rect">
            <a:avLst/>
          </a:prstGeom>
          <a:noFill/>
        </p:spPr>
        <p:txBody>
          <a:bodyPr wrap="square">
            <a:spAutoFit/>
          </a:bodyPr>
          <a:lstStyle/>
          <a:p>
            <a:pPr algn="l">
              <a:defRPr sz="1150" b="0">
                <a:solidFill>
                  <a:srgbClr val="1C2330"/>
                </a:solidFill>
              </a:defRPr>
            </a:pPr>
            <a:r>
              <a:t>—  Xây Dashboard cho BGĐ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
            <a:ext cx="9144000" cy="228600"/>
          </a:xfrm>
          <a:prstGeom prst="rect">
            <a:avLst/>
          </a:prstGeom>
          <a:noFill/>
        </p:spPr>
        <p:txBody>
          <a:bodyPr wrap="square">
            <a:spAutoFit/>
          </a:bodyPr>
          <a:lstStyle/>
          <a:p>
            <a:pPr algn="l">
              <a:defRPr sz="900" b="1">
                <a:solidFill>
                  <a:srgbClr val="9BB9DC"/>
                </a:solidFill>
              </a:defRPr>
            </a:pPr>
            <a:r>
              <a:t>ĐỀ XUẤT — 3 NỘI DUNG XIN CHỦ TRƯƠNG</a:t>
            </a:r>
          </a:p>
        </p:txBody>
      </p:sp>
      <p:sp>
        <p:nvSpPr>
          <p:cNvPr id="5" name="TextBox 4"/>
          <p:cNvSpPr txBox="1"/>
          <p:nvPr/>
        </p:nvSpPr>
        <p:spPr>
          <a:xfrm>
            <a:off x="731520" y="347472"/>
            <a:ext cx="10058400" cy="502920"/>
          </a:xfrm>
          <a:prstGeom prst="rect">
            <a:avLst/>
          </a:prstGeom>
          <a:noFill/>
        </p:spPr>
        <p:txBody>
          <a:bodyPr wrap="square">
            <a:spAutoFit/>
          </a:bodyPr>
          <a:lstStyle/>
          <a:p>
            <a:pPr algn="l">
              <a:defRPr sz="1900" b="1">
                <a:solidFill>
                  <a:srgbClr val="FFFFFF"/>
                </a:solidFill>
              </a:defRPr>
            </a:pPr>
            <a:r>
              <a:t>KIẾN NGHỊ BAN GIÁM ĐỐC PHÊ DUYỆT</a:t>
            </a:r>
          </a:p>
        </p:txBody>
      </p:sp>
      <p:sp>
        <p:nvSpPr>
          <p:cNvPr id="6" name="TextBox 5"/>
          <p:cNvSpPr txBox="1"/>
          <p:nvPr/>
        </p:nvSpPr>
        <p:spPr>
          <a:xfrm>
            <a:off x="10972800" y="347472"/>
            <a:ext cx="731520" cy="457200"/>
          </a:xfrm>
          <a:prstGeom prst="rect">
            <a:avLst/>
          </a:prstGeom>
          <a:noFill/>
        </p:spPr>
        <p:txBody>
          <a:bodyPr wrap="square">
            <a:spAutoFit/>
          </a:bodyPr>
          <a:lstStyle/>
          <a:p>
            <a:pPr algn="r">
              <a:defRPr sz="1200" b="1">
                <a:solidFill>
                  <a:srgbClr val="9BB9DC"/>
                </a:solidFill>
              </a:defRPr>
            </a:pPr>
            <a:r>
              <a:t>12</a:t>
            </a:r>
          </a:p>
        </p:txBody>
      </p:sp>
      <p:sp>
        <p:nvSpPr>
          <p:cNvPr id="7" name="Rectangle 6"/>
          <p:cNvSpPr/>
          <p:nvPr/>
        </p:nvSpPr>
        <p:spPr>
          <a:xfrm>
            <a:off x="0" y="6583680"/>
            <a:ext cx="12191695" cy="7315"/>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601968"/>
            <a:ext cx="10698480" cy="228600"/>
          </a:xfrm>
          <a:prstGeom prst="rect">
            <a:avLst/>
          </a:prstGeom>
          <a:noFill/>
        </p:spPr>
        <p:txBody>
          <a:bodyPr wrap="square">
            <a:spAutoFit/>
          </a:bodyPr>
          <a:lstStyle/>
          <a:p>
            <a:pPr algn="l">
              <a:defRPr sz="800" b="0">
                <a:solidFill>
                  <a:srgbClr val="6C7684"/>
                </a:solidFill>
              </a:defRPr>
            </a:pPr>
            <a:r>
              <a:t>PTSC Quảng Ngãi  |  Báo cáo Data Platform  |  Thực hiện Chỉ đạo số 9 Ban Giám đốc</a:t>
            </a:r>
          </a:p>
        </p:txBody>
      </p:sp>
      <p:sp>
        <p:nvSpPr>
          <p:cNvPr id="9" name="Rounded Rectangle 8"/>
          <p:cNvSpPr/>
          <p:nvPr/>
        </p:nvSpPr>
        <p:spPr>
          <a:xfrm>
            <a:off x="731520" y="1371600"/>
            <a:ext cx="3383280" cy="4114800"/>
          </a:xfrm>
          <a:prstGeom prst="roundRect">
            <a:avLst/>
          </a:prstGeom>
          <a:solidFill>
            <a:srgbClr val="E6F0FC"/>
          </a:solidFill>
          <a:ln w="25400">
            <a:solidFill>
              <a:srgbClr val="1E6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89888"/>
            <a:ext cx="73152" cy="4059936"/>
          </a:xfrm>
          <a:prstGeom prst="rect">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5840" y="1554480"/>
            <a:ext cx="365760" cy="365760"/>
          </a:xfrm>
          <a:prstGeom prst="ellipse">
            <a:avLst/>
          </a:prstGeom>
          <a:solidFill>
            <a:srgbClr val="1E64B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1</a:t>
            </a:r>
          </a:p>
        </p:txBody>
      </p:sp>
      <p:sp>
        <p:nvSpPr>
          <p:cNvPr id="12" name="TextBox 11"/>
          <p:cNvSpPr txBox="1"/>
          <p:nvPr/>
        </p:nvSpPr>
        <p:spPr>
          <a:xfrm>
            <a:off x="1508760" y="1554480"/>
            <a:ext cx="2377440" cy="640080"/>
          </a:xfrm>
          <a:prstGeom prst="rect">
            <a:avLst/>
          </a:prstGeom>
          <a:noFill/>
        </p:spPr>
        <p:txBody>
          <a:bodyPr wrap="square">
            <a:spAutoFit/>
          </a:bodyPr>
          <a:lstStyle/>
          <a:p>
            <a:pPr algn="l">
              <a:defRPr sz="1400" b="1">
                <a:solidFill>
                  <a:srgbClr val="1E64BE"/>
                </a:solidFill>
              </a:defRPr>
            </a:pPr>
            <a:r>
              <a:t>CHẤP THUẬN</a:t>
            </a:r>
            <a:br/>
            <a:r>
              <a:t>PHƯƠNG ÁN 2</a:t>
            </a:r>
          </a:p>
        </p:txBody>
      </p:sp>
      <p:sp>
        <p:nvSpPr>
          <p:cNvPr id="13" name="Rectangle 12"/>
          <p:cNvSpPr/>
          <p:nvPr/>
        </p:nvSpPr>
        <p:spPr>
          <a:xfrm>
            <a:off x="1005840" y="2331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514600"/>
            <a:ext cx="2834640" cy="2560320"/>
          </a:xfrm>
          <a:prstGeom prst="rect">
            <a:avLst/>
          </a:prstGeom>
          <a:noFill/>
        </p:spPr>
        <p:txBody>
          <a:bodyPr wrap="square">
            <a:spAutoFit/>
          </a:bodyPr>
          <a:lstStyle/>
          <a:p>
            <a:pPr algn="l">
              <a:defRPr sz="1250" b="0">
                <a:solidFill>
                  <a:srgbClr val="1C2330"/>
                </a:solidFill>
              </a:defRPr>
            </a:pPr>
            <a:r>
              <a:t>Phát triển riêng Trục tích hợp</a:t>
            </a:r>
            <a:br/>
            <a:r>
              <a:t>đồng bộ với TCT, có thuê</a:t>
            </a:r>
            <a:br/>
            <a:r>
              <a:t>Nhà cung cấp chuyên nghiệp</a:t>
            </a:r>
            <a:br/>
            <a:r>
              <a:t>tư vấn và triển khai.</a:t>
            </a:r>
          </a:p>
        </p:txBody>
      </p:sp>
      <p:sp>
        <p:nvSpPr>
          <p:cNvPr id="15" name="Rounded Rectangle 14"/>
          <p:cNvSpPr/>
          <p:nvPr/>
        </p:nvSpPr>
        <p:spPr>
          <a:xfrm>
            <a:off x="4480559" y="1371600"/>
            <a:ext cx="3383280" cy="4114800"/>
          </a:xfrm>
          <a:prstGeom prst="roundRect">
            <a:avLst/>
          </a:prstGeom>
          <a:solidFill>
            <a:srgbClr val="FFF5E1"/>
          </a:solidFill>
          <a:ln w="25400">
            <a:solidFill>
              <a:srgbClr val="B47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17135" y="1389888"/>
            <a:ext cx="73152" cy="4059936"/>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754879" y="1554480"/>
            <a:ext cx="365760" cy="365760"/>
          </a:xfrm>
          <a:prstGeom prst="ellipse">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2</a:t>
            </a:r>
          </a:p>
        </p:txBody>
      </p:sp>
      <p:sp>
        <p:nvSpPr>
          <p:cNvPr id="18" name="TextBox 17"/>
          <p:cNvSpPr txBox="1"/>
          <p:nvPr/>
        </p:nvSpPr>
        <p:spPr>
          <a:xfrm>
            <a:off x="5257799" y="1554480"/>
            <a:ext cx="2377440" cy="640080"/>
          </a:xfrm>
          <a:prstGeom prst="rect">
            <a:avLst/>
          </a:prstGeom>
          <a:noFill/>
        </p:spPr>
        <p:txBody>
          <a:bodyPr wrap="square">
            <a:spAutoFit/>
          </a:bodyPr>
          <a:lstStyle/>
          <a:p>
            <a:pPr algn="l">
              <a:defRPr sz="1400" b="1">
                <a:solidFill>
                  <a:srgbClr val="B47300"/>
                </a:solidFill>
              </a:defRPr>
            </a:pPr>
            <a:r>
              <a:t>THÀNH LẬP</a:t>
            </a:r>
            <a:br/>
            <a:r>
              <a:t>TỔ CÔNG TÁC</a:t>
            </a:r>
          </a:p>
        </p:txBody>
      </p:sp>
      <p:sp>
        <p:nvSpPr>
          <p:cNvPr id="19" name="Rectangle 18"/>
          <p:cNvSpPr/>
          <p:nvPr/>
        </p:nvSpPr>
        <p:spPr>
          <a:xfrm>
            <a:off x="4754879" y="2331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79" y="2514600"/>
            <a:ext cx="2834640" cy="2560320"/>
          </a:xfrm>
          <a:prstGeom prst="rect">
            <a:avLst/>
          </a:prstGeom>
          <a:noFill/>
        </p:spPr>
        <p:txBody>
          <a:bodyPr wrap="square">
            <a:spAutoFit/>
          </a:bodyPr>
          <a:lstStyle/>
          <a:p>
            <a:pPr algn="l">
              <a:defRPr sz="1250" b="0">
                <a:solidFill>
                  <a:srgbClr val="1C2330"/>
                </a:solidFill>
              </a:defRPr>
            </a:pPr>
            <a:r>
              <a:t>IT chủ trì kỹ thuật +</a:t>
            </a:r>
            <a:br/>
            <a:r>
              <a:t>Key Users từ Kế toán,</a:t>
            </a:r>
            <a:br/>
            <a:r>
              <a:t>Vật tư, Nhân sự</a:t>
            </a:r>
            <a:br/>
            <a:r>
              <a:t>bắt đầu Giai đoạn 1 ngay.</a:t>
            </a:r>
          </a:p>
        </p:txBody>
      </p:sp>
      <p:sp>
        <p:nvSpPr>
          <p:cNvPr id="21" name="Rounded Rectangle 20"/>
          <p:cNvSpPr/>
          <p:nvPr/>
        </p:nvSpPr>
        <p:spPr>
          <a:xfrm>
            <a:off x="8229600" y="1371600"/>
            <a:ext cx="3383280" cy="4114800"/>
          </a:xfrm>
          <a:prstGeom prst="roundRect">
            <a:avLst/>
          </a:prstGeom>
          <a:solidFill>
            <a:srgbClr val="E8F8EF"/>
          </a:solidFill>
          <a:ln w="2540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66176" y="1389888"/>
            <a:ext cx="73152" cy="4059936"/>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503920" y="1554480"/>
            <a:ext cx="365760" cy="365760"/>
          </a:xfrm>
          <a:prstGeom prst="ellipse">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defRPr>
            </a:pPr>
            <a:r>
              <a:t>3</a:t>
            </a:r>
          </a:p>
        </p:txBody>
      </p:sp>
      <p:sp>
        <p:nvSpPr>
          <p:cNvPr id="24" name="TextBox 23"/>
          <p:cNvSpPr txBox="1"/>
          <p:nvPr/>
        </p:nvSpPr>
        <p:spPr>
          <a:xfrm>
            <a:off x="9006840" y="1554480"/>
            <a:ext cx="2377440" cy="640080"/>
          </a:xfrm>
          <a:prstGeom prst="rect">
            <a:avLst/>
          </a:prstGeom>
          <a:noFill/>
        </p:spPr>
        <p:txBody>
          <a:bodyPr wrap="square">
            <a:spAutoFit/>
          </a:bodyPr>
          <a:lstStyle/>
          <a:p>
            <a:pPr algn="l">
              <a:defRPr sz="1400" b="1">
                <a:solidFill>
                  <a:srgbClr val="158050"/>
                </a:solidFill>
              </a:defRPr>
            </a:pPr>
            <a:r>
              <a:t>CHO PHÉP</a:t>
            </a:r>
            <a:br/>
            <a:r>
              <a:t>LIÊN HỆ NCC</a:t>
            </a:r>
          </a:p>
        </p:txBody>
      </p:sp>
      <p:sp>
        <p:nvSpPr>
          <p:cNvPr id="25" name="Rectangle 24"/>
          <p:cNvSpPr/>
          <p:nvPr/>
        </p:nvSpPr>
        <p:spPr>
          <a:xfrm>
            <a:off x="8503920" y="2331720"/>
            <a:ext cx="2834640" cy="9144"/>
          </a:xfrm>
          <a:prstGeom prst="rect">
            <a:avLst/>
          </a:prstGeom>
          <a:solidFill>
            <a:srgbClr val="C8D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2514600"/>
            <a:ext cx="2834640" cy="2560320"/>
          </a:xfrm>
          <a:prstGeom prst="rect">
            <a:avLst/>
          </a:prstGeom>
          <a:noFill/>
        </p:spPr>
        <p:txBody>
          <a:bodyPr wrap="square">
            <a:spAutoFit/>
          </a:bodyPr>
          <a:lstStyle/>
          <a:p>
            <a:pPr algn="l">
              <a:defRPr sz="1250" b="0">
                <a:solidFill>
                  <a:srgbClr val="1C2330"/>
                </a:solidFill>
              </a:defRPr>
            </a:pPr>
            <a:r>
              <a:t>Khảo sát thị trường,</a:t>
            </a:r>
            <a:br/>
            <a:r>
              <a:t>lấy báo giá cạnh tranh</a:t>
            </a:r>
            <a:br/>
            <a:r>
              <a:t>theo khung kiến trúc</a:t>
            </a:r>
            <a:br/>
            <a:r>
              <a:t>đã xây dựng sẵn.</a:t>
            </a:r>
          </a:p>
        </p:txBody>
      </p:sp>
      <p:sp>
        <p:nvSpPr>
          <p:cNvPr id="27" name="Rounded Rectangle 26"/>
          <p:cNvSpPr/>
          <p:nvPr/>
        </p:nvSpPr>
        <p:spPr>
          <a:xfrm>
            <a:off x="731520" y="5760720"/>
            <a:ext cx="10698480" cy="594360"/>
          </a:xfrm>
          <a:prstGeom prst="roundRect">
            <a:avLst/>
          </a:prstGeom>
          <a:solidFill>
            <a:srgbClr val="E8F8EF"/>
          </a:solidFill>
          <a:ln w="19050">
            <a:solidFill>
              <a:srgbClr val="158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8096" y="5779008"/>
            <a:ext cx="64008" cy="530352"/>
          </a:xfrm>
          <a:prstGeom prst="rect">
            <a:avLst/>
          </a:prstGeom>
          <a:solidFill>
            <a:srgbClr val="158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760720"/>
            <a:ext cx="10241280" cy="594360"/>
          </a:xfrm>
          <a:prstGeom prst="rect">
            <a:avLst/>
          </a:prstGeom>
          <a:noFill/>
        </p:spPr>
        <p:txBody>
          <a:bodyPr wrap="square">
            <a:spAutoFit/>
          </a:bodyPr>
          <a:lstStyle/>
          <a:p>
            <a:pPr algn="ctr">
              <a:defRPr sz="1200" b="1">
                <a:solidFill>
                  <a:srgbClr val="166434"/>
                </a:solidFill>
              </a:defRPr>
            </a:pPr>
            <a:r>
              <a:t>Kính trình Ban Giám đốc xem xét, thông qua chủ trương để đơn vị kịp tiến độ kết nối năm 2026 của TCT.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23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011680"/>
            <a:ext cx="12191695" cy="32004"/>
          </a:xfrm>
          <a:prstGeom prst="rect">
            <a:avLst/>
          </a:prstGeom>
          <a:solidFill>
            <a:srgbClr val="B47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0"/>
            <a:ext cx="12191695" cy="13716"/>
          </a:xfrm>
          <a:prstGeom prst="rect">
            <a:avLst/>
          </a:prstGeom>
          <a:solidFill>
            <a:srgbClr val="3C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377440"/>
            <a:ext cx="10332720" cy="914400"/>
          </a:xfrm>
          <a:prstGeom prst="rect">
            <a:avLst/>
          </a:prstGeom>
          <a:noFill/>
        </p:spPr>
        <p:txBody>
          <a:bodyPr wrap="square">
            <a:spAutoFit/>
          </a:bodyPr>
          <a:lstStyle/>
          <a:p>
            <a:pPr algn="l">
              <a:defRPr sz="2800" b="1">
                <a:solidFill>
                  <a:srgbClr val="FFFFFF"/>
                </a:solidFill>
              </a:defRPr>
            </a:pPr>
            <a:r>
              <a:t>XIN TRÂN TRỌNG CẢM ƠN</a:t>
            </a:r>
            <a:br/>
            <a:r>
              <a:t>BAN GIÁM ĐỐC</a:t>
            </a:r>
          </a:p>
        </p:txBody>
      </p:sp>
      <p:sp>
        <p:nvSpPr>
          <p:cNvPr id="6" name="TextBox 5"/>
          <p:cNvSpPr txBox="1"/>
          <p:nvPr/>
        </p:nvSpPr>
        <p:spPr>
          <a:xfrm>
            <a:off x="914400" y="3657600"/>
            <a:ext cx="10332720" cy="457200"/>
          </a:xfrm>
          <a:prstGeom prst="rect">
            <a:avLst/>
          </a:prstGeom>
          <a:noFill/>
        </p:spPr>
        <p:txBody>
          <a:bodyPr wrap="square">
            <a:spAutoFit/>
          </a:bodyPr>
          <a:lstStyle/>
          <a:p>
            <a:pPr algn="l">
              <a:defRPr sz="1500" b="0">
                <a:solidFill>
                  <a:srgbClr val="C8D7EB"/>
                </a:solidFill>
              </a:defRPr>
            </a:pPr>
            <a:r>
              <a:t>Kính mời Ban Giám đốc cho ý kiến chỉ đạo.</a:t>
            </a:r>
          </a:p>
        </p:txBody>
      </p:sp>
      <p:sp>
        <p:nvSpPr>
          <p:cNvPr id="7" name="TextBox 6"/>
          <p:cNvSpPr txBox="1"/>
          <p:nvPr/>
        </p:nvSpPr>
        <p:spPr>
          <a:xfrm>
            <a:off x="914400" y="4846320"/>
            <a:ext cx="10332720" cy="365760"/>
          </a:xfrm>
          <a:prstGeom prst="rect">
            <a:avLst/>
          </a:prstGeom>
          <a:noFill/>
        </p:spPr>
        <p:txBody>
          <a:bodyPr wrap="square">
            <a:spAutoFit/>
          </a:bodyPr>
          <a:lstStyle/>
          <a:p>
            <a:pPr algn="l">
              <a:defRPr sz="1100" b="0">
                <a:solidFill>
                  <a:srgbClr val="9BB9DC"/>
                </a:solidFill>
              </a:defRPr>
            </a:pPr>
            <a:r>
              <a:t>Tài liệu đính kèm:  Kế hoạch chi tiết Giai đoạn 1, 2, 3</a:t>
            </a:r>
          </a:p>
        </p:txBody>
      </p:sp>
      <p:sp>
        <p:nvSpPr>
          <p:cNvPr id="8" name="TextBox 7"/>
          <p:cNvSpPr txBox="1"/>
          <p:nvPr/>
        </p:nvSpPr>
        <p:spPr>
          <a:xfrm>
            <a:off x="914400" y="5212080"/>
            <a:ext cx="10332720" cy="365760"/>
          </a:xfrm>
          <a:prstGeom prst="rect">
            <a:avLst/>
          </a:prstGeom>
          <a:noFill/>
        </p:spPr>
        <p:txBody>
          <a:bodyPr wrap="square">
            <a:spAutoFit/>
          </a:bodyPr>
          <a:lstStyle/>
          <a:p>
            <a:pPr algn="l">
              <a:defRPr sz="1100" b="0">
                <a:solidFill>
                  <a:srgbClr val="9BB9DC"/>
                </a:solidFill>
              </a:defRPr>
            </a:pPr>
            <a:r>
              <a:t>Đơn vị thực hiện:  Tổ Công tác CĐS – Bộ phận CNTT PTSC Quảng Ngãi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