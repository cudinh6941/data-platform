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phương án triển khai Nền tảng Dữ liệu theo chỉ đạo của Ban Giám đốc và văn bản khuyến nghị mới nhất từ Ban Dự án Chuyển đổi số TCT.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12191695" cy="1371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645920"/>
            <a:ext cx="109728" cy="292608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645920"/>
            <a:ext cx="10058400" cy="365760"/>
          </a:xfrm>
          <a:prstGeom prst="rect">
            <a:avLst/>
          </a:prstGeom>
          <a:noFill/>
        </p:spPr>
        <p:txBody>
          <a:bodyPr wrap="square" lIns="36576" tIns="36576" rIns="36576" bIns="36576">
            <a:spAutoFit/>
          </a:bodyPr>
          <a:lstStyle/>
          <a:p>
            <a:pPr algn="l">
              <a:defRPr sz="1050" b="1">
                <a:solidFill>
                  <a:srgbClr val="B4D2F5"/>
                </a:solidFill>
              </a:defRPr>
            </a:pPr>
            <a:r>
              <a:t>TỔNG CÔNG TY CỔ PHẦN DỊCH VỤ DẦU KHÍ VIỆT NAM — CÔNG TY CỔ PHẦN DỊCH VỤ DẦU KHÍ QUẢNG NGÃI</a:t>
            </a:r>
          </a:p>
        </p:txBody>
      </p:sp>
      <p:sp>
        <p:nvSpPr>
          <p:cNvPr id="7" name="TextBox 6"/>
          <p:cNvSpPr txBox="1"/>
          <p:nvPr/>
        </p:nvSpPr>
        <p:spPr>
          <a:xfrm>
            <a:off x="1188720" y="2057400"/>
            <a:ext cx="10058400" cy="1188720"/>
          </a:xfrm>
          <a:prstGeom prst="rect">
            <a:avLst/>
          </a:prstGeom>
          <a:noFill/>
        </p:spPr>
        <p:txBody>
          <a:bodyPr wrap="square" lIns="36576" tIns="36576" rIns="36576" bIns="36576">
            <a:spAutoFit/>
          </a:bodyPr>
          <a:lstStyle/>
          <a:p>
            <a:pPr algn="l">
              <a:defRPr sz="2200" b="1">
                <a:solidFill>
                  <a:srgbClr val="FFFFFF"/>
                </a:solidFill>
              </a:defRPr>
            </a:pPr>
            <a:r>
              <a:t>BÁO CÁO THỰC HIỆN CHỈ ĐẠO BAN GIÁM ĐỐC:</a:t>
            </a:r>
            <a:br/>
            <a:r>
              <a:t>PHƯƠNG ÁN TRIỂN KHAI NỀN TẢNG DỮ LIỆU &amp; TRỤC TÍCH HỢP</a:t>
            </a:r>
          </a:p>
        </p:txBody>
      </p:sp>
      <p:sp>
        <p:nvSpPr>
          <p:cNvPr id="8" name="TextBox 7"/>
          <p:cNvSpPr txBox="1"/>
          <p:nvPr/>
        </p:nvSpPr>
        <p:spPr>
          <a:xfrm>
            <a:off x="1188720" y="3291840"/>
            <a:ext cx="10058400" cy="457200"/>
          </a:xfrm>
          <a:prstGeom prst="rect">
            <a:avLst/>
          </a:prstGeom>
          <a:noFill/>
        </p:spPr>
        <p:txBody>
          <a:bodyPr wrap="square" lIns="36576" tIns="36576" rIns="36576" bIns="36576">
            <a:spAutoFit/>
          </a:bodyPr>
          <a:lstStyle/>
          <a:p>
            <a:pPr algn="l">
              <a:defRPr sz="1300" b="0">
                <a:solidFill>
                  <a:srgbClr val="D2E1F5"/>
                </a:solidFill>
              </a:defRPr>
            </a:pPr>
            <a:r>
              <a:t>Bản đặc tả Kiến trúc kỹ thuật Hybrid Data Platform Hub-Spoke (Level 3) &amp; Kế hoạch hành động</a:t>
            </a:r>
          </a:p>
        </p:txBody>
      </p:sp>
      <p:sp>
        <p:nvSpPr>
          <p:cNvPr id="9" name="Rectangle 8"/>
          <p:cNvSpPr/>
          <p:nvPr/>
        </p:nvSpPr>
        <p:spPr>
          <a:xfrm>
            <a:off x="1188720" y="3931920"/>
            <a:ext cx="9601200" cy="18288"/>
          </a:xfrm>
          <a:prstGeom prst="rect">
            <a:avLst/>
          </a:prstGeom>
          <a:solidFill>
            <a:srgbClr val="3C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88720" y="4114800"/>
            <a:ext cx="256032" cy="256032"/>
          </a:xfrm>
          <a:prstGeom prst="ellipse">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4133088"/>
            <a:ext cx="256032" cy="256032"/>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2" name="TextBox 11"/>
          <p:cNvSpPr txBox="1"/>
          <p:nvPr/>
        </p:nvSpPr>
        <p:spPr>
          <a:xfrm>
            <a:off x="1554480" y="4114800"/>
            <a:ext cx="9144000" cy="320040"/>
          </a:xfrm>
          <a:prstGeom prst="rect">
            <a:avLst/>
          </a:prstGeom>
          <a:noFill/>
        </p:spPr>
        <p:txBody>
          <a:bodyPr wrap="square" lIns="36576" tIns="36576" rIns="36576" bIns="36576">
            <a:spAutoFit/>
          </a:bodyPr>
          <a:lstStyle/>
          <a:p>
            <a:pPr algn="l">
              <a:defRPr sz="1050" b="0">
                <a:solidFill>
                  <a:srgbClr val="DCEBFF"/>
                </a:solidFill>
              </a:defRPr>
            </a:pPr>
            <a:r>
              <a:t>Phần A — Tổng quan Nền tảng Dữ liệu TCT: Kiến trúc Hybrid, kết quả GĐ1, Nghị quyết HĐQT</a:t>
            </a:r>
          </a:p>
        </p:txBody>
      </p:sp>
      <p:sp>
        <p:nvSpPr>
          <p:cNvPr id="13" name="Oval 12"/>
          <p:cNvSpPr/>
          <p:nvPr/>
        </p:nvSpPr>
        <p:spPr>
          <a:xfrm>
            <a:off x="1188720" y="4535424"/>
            <a:ext cx="256032" cy="256032"/>
          </a:xfrm>
          <a:prstGeom prst="ellipse">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553712"/>
            <a:ext cx="256032" cy="256032"/>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15" name="TextBox 14"/>
          <p:cNvSpPr txBox="1"/>
          <p:nvPr/>
        </p:nvSpPr>
        <p:spPr>
          <a:xfrm>
            <a:off x="1554480" y="4535424"/>
            <a:ext cx="9144000" cy="320040"/>
          </a:xfrm>
          <a:prstGeom prst="rect">
            <a:avLst/>
          </a:prstGeom>
          <a:noFill/>
        </p:spPr>
        <p:txBody>
          <a:bodyPr wrap="square" lIns="36576" tIns="36576" rIns="36576" bIns="36576">
            <a:spAutoFit/>
          </a:bodyPr>
          <a:lstStyle/>
          <a:p>
            <a:pPr algn="l">
              <a:defRPr sz="1050" b="0">
                <a:solidFill>
                  <a:srgbClr val="DCEBFF"/>
                </a:solidFill>
              </a:defRPr>
            </a:pPr>
            <a:r>
              <a:t>Phần B — Hiện trạng PTSC Quảng Ngãi: 4 hệ thống, văn bản TCT khuyến nghị rà soát Mua sắm</a:t>
            </a:r>
          </a:p>
        </p:txBody>
      </p:sp>
      <p:sp>
        <p:nvSpPr>
          <p:cNvPr id="16" name="Oval 15"/>
          <p:cNvSpPr/>
          <p:nvPr/>
        </p:nvSpPr>
        <p:spPr>
          <a:xfrm>
            <a:off x="1188720" y="4956048"/>
            <a:ext cx="256032" cy="256032"/>
          </a:xfrm>
          <a:prstGeom prst="ellipse">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4974336"/>
            <a:ext cx="256032" cy="256032"/>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18" name="TextBox 17"/>
          <p:cNvSpPr txBox="1"/>
          <p:nvPr/>
        </p:nvSpPr>
        <p:spPr>
          <a:xfrm>
            <a:off x="1554480" y="4956048"/>
            <a:ext cx="9144000" cy="320040"/>
          </a:xfrm>
          <a:prstGeom prst="rect">
            <a:avLst/>
          </a:prstGeom>
          <a:noFill/>
        </p:spPr>
        <p:txBody>
          <a:bodyPr wrap="square" lIns="36576" tIns="36576" rIns="36576" bIns="36576">
            <a:spAutoFit/>
          </a:bodyPr>
          <a:lstStyle/>
          <a:p>
            <a:pPr algn="l">
              <a:defRPr sz="1050" b="0">
                <a:solidFill>
                  <a:srgbClr val="DCEBFF"/>
                </a:solidFill>
              </a:defRPr>
            </a:pPr>
            <a:r>
              <a:t>Phần C — Đặc tả Kiến trúc Kỹ thuật 4 Tầng: Spoke, Landing Zone, Cổng duyệt dữ liệu, Tenant L3</a:t>
            </a:r>
          </a:p>
        </p:txBody>
      </p:sp>
      <p:sp>
        <p:nvSpPr>
          <p:cNvPr id="19" name="Oval 18"/>
          <p:cNvSpPr/>
          <p:nvPr/>
        </p:nvSpPr>
        <p:spPr>
          <a:xfrm>
            <a:off x="1188720" y="5376672"/>
            <a:ext cx="256032" cy="256032"/>
          </a:xfrm>
          <a:prstGeom prst="ellipse">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720" y="5394960"/>
            <a:ext cx="256032" cy="256032"/>
          </a:xfrm>
          <a:prstGeom prst="rect">
            <a:avLst/>
          </a:prstGeom>
          <a:noFill/>
        </p:spPr>
        <p:txBody>
          <a:bodyPr wrap="square" lIns="36576" tIns="36576" rIns="36576" bIns="36576">
            <a:spAutoFit/>
          </a:bodyPr>
          <a:lstStyle/>
          <a:p>
            <a:pPr algn="ctr">
              <a:defRPr sz="1100" b="1">
                <a:solidFill>
                  <a:srgbClr val="FFFFFF"/>
                </a:solidFill>
              </a:defRPr>
            </a:pPr>
            <a:r>
              <a:t>4</a:t>
            </a:r>
          </a:p>
        </p:txBody>
      </p:sp>
      <p:sp>
        <p:nvSpPr>
          <p:cNvPr id="21" name="TextBox 20"/>
          <p:cNvSpPr txBox="1"/>
          <p:nvPr/>
        </p:nvSpPr>
        <p:spPr>
          <a:xfrm>
            <a:off x="1554480" y="5376672"/>
            <a:ext cx="9144000" cy="320040"/>
          </a:xfrm>
          <a:prstGeom prst="rect">
            <a:avLst/>
          </a:prstGeom>
          <a:noFill/>
        </p:spPr>
        <p:txBody>
          <a:bodyPr wrap="square" lIns="36576" tIns="36576" rIns="36576" bIns="36576">
            <a:spAutoFit/>
          </a:bodyPr>
          <a:lstStyle/>
          <a:p>
            <a:pPr algn="l">
              <a:defRPr sz="1050" b="0">
                <a:solidFill>
                  <a:srgbClr val="DCEBFF"/>
                </a:solidFill>
              </a:defRPr>
            </a:pPr>
            <a:r>
              <a:t>Phần D — Kế hoạch Hành động &amp; Kiến nghị: 3 Chặng triển khai, bảo vệ ngân sách công ty</a:t>
            </a:r>
          </a:p>
        </p:txBody>
      </p:sp>
      <p:sp>
        <p:nvSpPr>
          <p:cNvPr id="22" name="Rounded Rectangle 21"/>
          <p:cNvSpPr/>
          <p:nvPr/>
        </p:nvSpPr>
        <p:spPr>
          <a:xfrm>
            <a:off x="731520" y="5852160"/>
            <a:ext cx="10698480" cy="640080"/>
          </a:xfrm>
          <a:prstGeom prst="roundRect">
            <a:avLst/>
          </a:prstGeom>
          <a:noFill/>
          <a:ln w="12700">
            <a:solidFill>
              <a:srgbClr val="284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943600"/>
            <a:ext cx="5486400" cy="274320"/>
          </a:xfrm>
          <a:prstGeom prst="rect">
            <a:avLst/>
          </a:prstGeom>
          <a:noFill/>
        </p:spPr>
        <p:txBody>
          <a:bodyPr wrap="square" lIns="36576" tIns="36576" rIns="36576" bIns="36576">
            <a:spAutoFit/>
          </a:bodyPr>
          <a:lstStyle/>
          <a:p>
            <a:pPr algn="l">
              <a:defRPr sz="1050" b="0">
                <a:solidFill>
                  <a:srgbClr val="FFFFFF"/>
                </a:solidFill>
              </a:defRPr>
            </a:pPr>
            <a:r>
              <a:t>Đơn vị thực hiện:  Tổ Công tác Chuyển đổi số &amp; CNTT  –  PTSC Quảng Ngãi</a:t>
            </a:r>
          </a:p>
        </p:txBody>
      </p:sp>
      <p:sp>
        <p:nvSpPr>
          <p:cNvPr id="24" name="TextBox 23"/>
          <p:cNvSpPr txBox="1"/>
          <p:nvPr/>
        </p:nvSpPr>
        <p:spPr>
          <a:xfrm>
            <a:off x="6858000" y="5943600"/>
            <a:ext cx="4389120" cy="274320"/>
          </a:xfrm>
          <a:prstGeom prst="rect">
            <a:avLst/>
          </a:prstGeom>
          <a:noFill/>
        </p:spPr>
        <p:txBody>
          <a:bodyPr wrap="square" lIns="36576" tIns="36576" rIns="36576" bIns="36576">
            <a:spAutoFit/>
          </a:bodyPr>
          <a:lstStyle/>
          <a:p>
            <a:pPr algn="l">
              <a:defRPr sz="1050" b="1">
                <a:solidFill>
                  <a:srgbClr val="FDE047"/>
                </a:solidFill>
              </a:defRPr>
            </a:pPr>
            <a:r>
              <a:t>Kính trình:  Ban Giám đốc Công ty PTSC Quảng Ngãi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TỔNG QUAN CHƯƠNG TRÌNH</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NỘI DUNG BÁO CÁO</a:t>
            </a:r>
          </a:p>
        </p:txBody>
      </p:sp>
      <p:sp>
        <p:nvSpPr>
          <p:cNvPr id="7" name="Rounded Rectangle 6"/>
          <p:cNvSpPr/>
          <p:nvPr/>
        </p:nvSpPr>
        <p:spPr>
          <a:xfrm>
            <a:off x="731520" y="1371600"/>
            <a:ext cx="10698480" cy="1097280"/>
          </a:xfrm>
          <a:prstGeom prst="roundRect">
            <a:avLst/>
          </a:prstGeom>
          <a:solidFill>
            <a:srgbClr val="E6F0FA"/>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371600" cy="10972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91640"/>
            <a:ext cx="1371600" cy="457200"/>
          </a:xfrm>
          <a:prstGeom prst="rect">
            <a:avLst/>
          </a:prstGeom>
          <a:noFill/>
        </p:spPr>
        <p:txBody>
          <a:bodyPr wrap="square" lIns="36576" tIns="36576" rIns="36576" bIns="36576">
            <a:spAutoFit/>
          </a:bodyPr>
          <a:lstStyle/>
          <a:p>
            <a:pPr algn="ctr">
              <a:defRPr sz="1400" b="1">
                <a:solidFill>
                  <a:srgbClr val="FFFFFF"/>
                </a:solidFill>
              </a:defRPr>
            </a:pPr>
            <a:r>
              <a:t>PHẦN A</a:t>
            </a:r>
          </a:p>
        </p:txBody>
      </p:sp>
      <p:sp>
        <p:nvSpPr>
          <p:cNvPr id="10" name="TextBox 9"/>
          <p:cNvSpPr txBox="1"/>
          <p:nvPr/>
        </p:nvSpPr>
        <p:spPr>
          <a:xfrm>
            <a:off x="2286000" y="1508760"/>
            <a:ext cx="6858000" cy="320040"/>
          </a:xfrm>
          <a:prstGeom prst="rect">
            <a:avLst/>
          </a:prstGeom>
          <a:noFill/>
        </p:spPr>
        <p:txBody>
          <a:bodyPr wrap="square" lIns="36576" tIns="36576" rIns="36576" bIns="36576">
            <a:spAutoFit/>
          </a:bodyPr>
          <a:lstStyle/>
          <a:p>
            <a:pPr algn="l">
              <a:defRPr sz="1300" b="1">
                <a:solidFill>
                  <a:srgbClr val="00509D"/>
                </a:solidFill>
              </a:defRPr>
            </a:pPr>
            <a:r>
              <a:t>TỔNG QUAN NỀN TẢNG DỮ LIỆU TCT</a:t>
            </a:r>
          </a:p>
        </p:txBody>
      </p:sp>
      <p:sp>
        <p:nvSpPr>
          <p:cNvPr id="11" name="TextBox 10"/>
          <p:cNvSpPr txBox="1"/>
          <p:nvPr/>
        </p:nvSpPr>
        <p:spPr>
          <a:xfrm>
            <a:off x="2286000" y="1874520"/>
            <a:ext cx="6858000" cy="502920"/>
          </a:xfrm>
          <a:prstGeom prst="rect">
            <a:avLst/>
          </a:prstGeom>
          <a:noFill/>
        </p:spPr>
        <p:txBody>
          <a:bodyPr wrap="square" lIns="36576" tIns="36576" rIns="36576" bIns="36576">
            <a:spAutoFit/>
          </a:bodyPr>
          <a:lstStyle/>
          <a:p>
            <a:pPr algn="l">
              <a:defRPr sz="1050" b="0">
                <a:solidFill>
                  <a:srgbClr val="1E1E1E"/>
                </a:solidFill>
              </a:defRPr>
            </a:pPr>
            <a:r>
              <a:t>Kiến trúc Hybrid Data Platform, kết quả Giai đoạn 1 tại TCT và Nghị quyết số 10/NQ-HĐQT.</a:t>
            </a:r>
          </a:p>
        </p:txBody>
      </p:sp>
      <p:sp>
        <p:nvSpPr>
          <p:cNvPr id="12" name="Rounded Rectangle 11"/>
          <p:cNvSpPr/>
          <p:nvPr/>
        </p:nvSpPr>
        <p:spPr>
          <a:xfrm>
            <a:off x="9326880" y="1691640"/>
            <a:ext cx="1828800" cy="457200"/>
          </a:xfrm>
          <a:prstGeom prst="round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0" y="1755648"/>
            <a:ext cx="1828800" cy="320040"/>
          </a:xfrm>
          <a:prstGeom prst="rect">
            <a:avLst/>
          </a:prstGeom>
          <a:noFill/>
        </p:spPr>
        <p:txBody>
          <a:bodyPr wrap="square" lIns="36576" tIns="36576" rIns="36576" bIns="36576">
            <a:spAutoFit/>
          </a:bodyPr>
          <a:lstStyle/>
          <a:p>
            <a:pPr algn="ctr">
              <a:defRPr sz="1100" b="1">
                <a:solidFill>
                  <a:srgbClr val="FFFFFF"/>
                </a:solidFill>
              </a:defRPr>
            </a:pPr>
            <a:r>
              <a:t>Slide 03–04</a:t>
            </a:r>
          </a:p>
        </p:txBody>
      </p:sp>
      <p:sp>
        <p:nvSpPr>
          <p:cNvPr id="14" name="Rounded Rectangle 13"/>
          <p:cNvSpPr/>
          <p:nvPr/>
        </p:nvSpPr>
        <p:spPr>
          <a:xfrm>
            <a:off x="731520" y="2606040"/>
            <a:ext cx="10698480" cy="1097280"/>
          </a:xfrm>
          <a:prstGeom prst="roundRect">
            <a:avLst/>
          </a:prstGeom>
          <a:solidFill>
            <a:srgbClr val="E6F8F6"/>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2606040"/>
            <a:ext cx="1371600" cy="10972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26080"/>
            <a:ext cx="1371600" cy="457200"/>
          </a:xfrm>
          <a:prstGeom prst="rect">
            <a:avLst/>
          </a:prstGeom>
          <a:noFill/>
        </p:spPr>
        <p:txBody>
          <a:bodyPr wrap="square" lIns="36576" tIns="36576" rIns="36576" bIns="36576">
            <a:spAutoFit/>
          </a:bodyPr>
          <a:lstStyle/>
          <a:p>
            <a:pPr algn="ctr">
              <a:defRPr sz="1400" b="1">
                <a:solidFill>
                  <a:srgbClr val="FFFFFF"/>
                </a:solidFill>
              </a:defRPr>
            </a:pPr>
            <a:r>
              <a:t>PHẦN B</a:t>
            </a:r>
          </a:p>
        </p:txBody>
      </p:sp>
      <p:sp>
        <p:nvSpPr>
          <p:cNvPr id="17" name="TextBox 16"/>
          <p:cNvSpPr txBox="1"/>
          <p:nvPr/>
        </p:nvSpPr>
        <p:spPr>
          <a:xfrm>
            <a:off x="2286000" y="2743200"/>
            <a:ext cx="6858000" cy="320040"/>
          </a:xfrm>
          <a:prstGeom prst="rect">
            <a:avLst/>
          </a:prstGeom>
          <a:noFill/>
        </p:spPr>
        <p:txBody>
          <a:bodyPr wrap="square" lIns="36576" tIns="36576" rIns="36576" bIns="36576">
            <a:spAutoFit/>
          </a:bodyPr>
          <a:lstStyle/>
          <a:p>
            <a:pPr algn="l">
              <a:defRPr sz="1300" b="1">
                <a:solidFill>
                  <a:srgbClr val="008080"/>
                </a:solidFill>
              </a:defRPr>
            </a:pPr>
            <a:r>
              <a:t>HIỆN TRẠNG TẠI PTSC QUẢNG NGÃI</a:t>
            </a:r>
          </a:p>
        </p:txBody>
      </p:sp>
      <p:sp>
        <p:nvSpPr>
          <p:cNvPr id="18" name="TextBox 17"/>
          <p:cNvSpPr txBox="1"/>
          <p:nvPr/>
        </p:nvSpPr>
        <p:spPr>
          <a:xfrm>
            <a:off x="2286000" y="3108960"/>
            <a:ext cx="6858000" cy="502920"/>
          </a:xfrm>
          <a:prstGeom prst="rect">
            <a:avLst/>
          </a:prstGeom>
          <a:noFill/>
        </p:spPr>
        <p:txBody>
          <a:bodyPr wrap="square" lIns="36576" tIns="36576" rIns="36576" bIns="36576">
            <a:spAutoFit/>
          </a:bodyPr>
          <a:lstStyle/>
          <a:p>
            <a:pPr algn="l">
              <a:defRPr sz="1050" b="0">
                <a:solidFill>
                  <a:srgbClr val="1E1E1E"/>
                </a:solidFill>
              </a:defRPr>
            </a:pPr>
            <a:r>
              <a:t>Vị thế Level 3, 4 hệ thống phần mềm, văn bản TCT khuyến nghị giãn tiến độ phần mềm Mua sắm.</a:t>
            </a:r>
          </a:p>
        </p:txBody>
      </p:sp>
      <p:sp>
        <p:nvSpPr>
          <p:cNvPr id="19" name="Rounded Rectangle 18"/>
          <p:cNvSpPr/>
          <p:nvPr/>
        </p:nvSpPr>
        <p:spPr>
          <a:xfrm>
            <a:off x="9326880" y="2926080"/>
            <a:ext cx="1828800" cy="457200"/>
          </a:xfrm>
          <a:prstGeom prst="round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2990088"/>
            <a:ext cx="1828800" cy="320040"/>
          </a:xfrm>
          <a:prstGeom prst="rect">
            <a:avLst/>
          </a:prstGeom>
          <a:noFill/>
        </p:spPr>
        <p:txBody>
          <a:bodyPr wrap="square" lIns="36576" tIns="36576" rIns="36576" bIns="36576">
            <a:spAutoFit/>
          </a:bodyPr>
          <a:lstStyle/>
          <a:p>
            <a:pPr algn="ctr">
              <a:defRPr sz="1100" b="1">
                <a:solidFill>
                  <a:srgbClr val="FFFFFF"/>
                </a:solidFill>
              </a:defRPr>
            </a:pPr>
            <a:r>
              <a:t>Slide 05–07</a:t>
            </a:r>
          </a:p>
        </p:txBody>
      </p:sp>
      <p:sp>
        <p:nvSpPr>
          <p:cNvPr id="21" name="Rounded Rectangle 20"/>
          <p:cNvSpPr/>
          <p:nvPr/>
        </p:nvSpPr>
        <p:spPr>
          <a:xfrm>
            <a:off x="731520" y="3840480"/>
            <a:ext cx="10698480" cy="1097280"/>
          </a:xfrm>
          <a:prstGeom prst="roundRect">
            <a:avLst/>
          </a:prstGeom>
          <a:solidFill>
            <a:srgbClr val="FEF6E6"/>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840480"/>
            <a:ext cx="1371600" cy="109728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160520"/>
            <a:ext cx="1371600" cy="457200"/>
          </a:xfrm>
          <a:prstGeom prst="rect">
            <a:avLst/>
          </a:prstGeom>
          <a:noFill/>
        </p:spPr>
        <p:txBody>
          <a:bodyPr wrap="square" lIns="36576" tIns="36576" rIns="36576" bIns="36576">
            <a:spAutoFit/>
          </a:bodyPr>
          <a:lstStyle/>
          <a:p>
            <a:pPr algn="ctr">
              <a:defRPr sz="1400" b="1">
                <a:solidFill>
                  <a:srgbClr val="FFFFFF"/>
                </a:solidFill>
              </a:defRPr>
            </a:pPr>
            <a:r>
              <a:t>PHẦN C</a:t>
            </a:r>
          </a:p>
        </p:txBody>
      </p:sp>
      <p:sp>
        <p:nvSpPr>
          <p:cNvPr id="24" name="TextBox 23"/>
          <p:cNvSpPr txBox="1"/>
          <p:nvPr/>
        </p:nvSpPr>
        <p:spPr>
          <a:xfrm>
            <a:off x="2286000" y="3977640"/>
            <a:ext cx="6858000" cy="320040"/>
          </a:xfrm>
          <a:prstGeom prst="rect">
            <a:avLst/>
          </a:prstGeom>
          <a:noFill/>
        </p:spPr>
        <p:txBody>
          <a:bodyPr wrap="square" lIns="36576" tIns="36576" rIns="36576" bIns="36576">
            <a:spAutoFit/>
          </a:bodyPr>
          <a:lstStyle/>
          <a:p>
            <a:pPr algn="l">
              <a:defRPr sz="1300" b="1">
                <a:solidFill>
                  <a:srgbClr val="B46E00"/>
                </a:solidFill>
              </a:defRPr>
            </a:pPr>
            <a:r>
              <a:t>ĐẶC TẢ KIẾN TRÚC KỸ THUẬT 4 TẦNG</a:t>
            </a:r>
          </a:p>
        </p:txBody>
      </p:sp>
      <p:sp>
        <p:nvSpPr>
          <p:cNvPr id="25" name="TextBox 24"/>
          <p:cNvSpPr txBox="1"/>
          <p:nvPr/>
        </p:nvSpPr>
        <p:spPr>
          <a:xfrm>
            <a:off x="2286000" y="4343400"/>
            <a:ext cx="6858000" cy="502920"/>
          </a:xfrm>
          <a:prstGeom prst="rect">
            <a:avLst/>
          </a:prstGeom>
          <a:noFill/>
        </p:spPr>
        <p:txBody>
          <a:bodyPr wrap="square" lIns="36576" tIns="36576" rIns="36576" bIns="36576">
            <a:spAutoFit/>
          </a:bodyPr>
          <a:lstStyle/>
          <a:p>
            <a:pPr algn="l">
              <a:defRPr sz="1050" b="0">
                <a:solidFill>
                  <a:srgbClr val="1E1E1E"/>
                </a:solidFill>
              </a:defRPr>
            </a:pPr>
            <a:r>
              <a:t>Sơ đồ kiến trúc tổng thể, Cổng quyết định dữ liệu 3 mức, Vùng đệm Landing Zone và Ma trận RBAC.</a:t>
            </a:r>
          </a:p>
        </p:txBody>
      </p:sp>
      <p:sp>
        <p:nvSpPr>
          <p:cNvPr id="26" name="Rounded Rectangle 25"/>
          <p:cNvSpPr/>
          <p:nvPr/>
        </p:nvSpPr>
        <p:spPr>
          <a:xfrm>
            <a:off x="9326880" y="4160520"/>
            <a:ext cx="1828800" cy="457200"/>
          </a:xfrm>
          <a:prstGeom prst="round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4224528"/>
            <a:ext cx="1828800" cy="320040"/>
          </a:xfrm>
          <a:prstGeom prst="rect">
            <a:avLst/>
          </a:prstGeom>
          <a:noFill/>
        </p:spPr>
        <p:txBody>
          <a:bodyPr wrap="square" lIns="36576" tIns="36576" rIns="36576" bIns="36576">
            <a:spAutoFit/>
          </a:bodyPr>
          <a:lstStyle/>
          <a:p>
            <a:pPr algn="ctr">
              <a:defRPr sz="1100" b="1">
                <a:solidFill>
                  <a:srgbClr val="FFFFFF"/>
                </a:solidFill>
              </a:defRPr>
            </a:pPr>
            <a:r>
              <a:t>Slide 08–12</a:t>
            </a:r>
          </a:p>
        </p:txBody>
      </p:sp>
      <p:sp>
        <p:nvSpPr>
          <p:cNvPr id="28" name="Rounded Rectangle 27"/>
          <p:cNvSpPr/>
          <p:nvPr/>
        </p:nvSpPr>
        <p:spPr>
          <a:xfrm>
            <a:off x="731520" y="5074920"/>
            <a:ext cx="10698480" cy="1097280"/>
          </a:xfrm>
          <a:prstGeom prst="roundRect">
            <a:avLst/>
          </a:prstGeom>
          <a:solidFill>
            <a:srgbClr val="E6F5EB"/>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1520" y="5074920"/>
            <a:ext cx="1371600" cy="10972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394960"/>
            <a:ext cx="1371600" cy="457200"/>
          </a:xfrm>
          <a:prstGeom prst="rect">
            <a:avLst/>
          </a:prstGeom>
          <a:noFill/>
        </p:spPr>
        <p:txBody>
          <a:bodyPr wrap="square" lIns="36576" tIns="36576" rIns="36576" bIns="36576">
            <a:spAutoFit/>
          </a:bodyPr>
          <a:lstStyle/>
          <a:p>
            <a:pPr algn="ctr">
              <a:defRPr sz="1400" b="1">
                <a:solidFill>
                  <a:srgbClr val="FFFFFF"/>
                </a:solidFill>
              </a:defRPr>
            </a:pPr>
            <a:r>
              <a:t>PHẦN D</a:t>
            </a:r>
          </a:p>
        </p:txBody>
      </p:sp>
      <p:sp>
        <p:nvSpPr>
          <p:cNvPr id="31" name="TextBox 30"/>
          <p:cNvSpPr txBox="1"/>
          <p:nvPr/>
        </p:nvSpPr>
        <p:spPr>
          <a:xfrm>
            <a:off x="2286000" y="5212080"/>
            <a:ext cx="6858000" cy="320040"/>
          </a:xfrm>
          <a:prstGeom prst="rect">
            <a:avLst/>
          </a:prstGeom>
          <a:noFill/>
        </p:spPr>
        <p:txBody>
          <a:bodyPr wrap="square" lIns="36576" tIns="36576" rIns="36576" bIns="36576">
            <a:spAutoFit/>
          </a:bodyPr>
          <a:lstStyle/>
          <a:p>
            <a:pPr algn="l">
              <a:defRPr sz="1300" b="1">
                <a:solidFill>
                  <a:srgbClr val="14783C"/>
                </a:solidFill>
              </a:defRPr>
            </a:pPr>
            <a:r>
              <a:t>KẾ HOẠCH HÀNH ĐỘNG &amp; KIẾN NGHỊ</a:t>
            </a:r>
          </a:p>
        </p:txBody>
      </p:sp>
      <p:sp>
        <p:nvSpPr>
          <p:cNvPr id="32" name="TextBox 31"/>
          <p:cNvSpPr txBox="1"/>
          <p:nvPr/>
        </p:nvSpPr>
        <p:spPr>
          <a:xfrm>
            <a:off x="2286000" y="5577840"/>
            <a:ext cx="6858000" cy="502920"/>
          </a:xfrm>
          <a:prstGeom prst="rect">
            <a:avLst/>
          </a:prstGeom>
          <a:noFill/>
        </p:spPr>
        <p:txBody>
          <a:bodyPr wrap="square" lIns="36576" tIns="36576" rIns="36576" bIns="36576">
            <a:spAutoFit/>
          </a:bodyPr>
          <a:lstStyle/>
          <a:p>
            <a:pPr algn="l">
              <a:defRPr sz="1050" b="0">
                <a:solidFill>
                  <a:srgbClr val="1E1E1E"/>
                </a:solidFill>
              </a:defRPr>
            </a:pPr>
            <a:r>
              <a:t>Lộ trình 3 chặng, giải pháp xử lý gói Mua sắm &amp; HSEQ, phân bổ ngân sách và kiến nghị phê duyệt.</a:t>
            </a:r>
          </a:p>
        </p:txBody>
      </p:sp>
      <p:sp>
        <p:nvSpPr>
          <p:cNvPr id="33" name="Rounded Rectangle 32"/>
          <p:cNvSpPr/>
          <p:nvPr/>
        </p:nvSpPr>
        <p:spPr>
          <a:xfrm>
            <a:off x="9326880" y="5394960"/>
            <a:ext cx="1828800" cy="457200"/>
          </a:xfrm>
          <a:prstGeom prst="round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0" y="5458968"/>
            <a:ext cx="1828800" cy="320040"/>
          </a:xfrm>
          <a:prstGeom prst="rect">
            <a:avLst/>
          </a:prstGeom>
          <a:noFill/>
        </p:spPr>
        <p:txBody>
          <a:bodyPr wrap="square" lIns="36576" tIns="36576" rIns="36576" bIns="36576">
            <a:spAutoFit/>
          </a:bodyPr>
          <a:lstStyle/>
          <a:p>
            <a:pPr algn="ctr">
              <a:defRPr sz="1100" b="1">
                <a:solidFill>
                  <a:srgbClr val="FFFFFF"/>
                </a:solidFill>
              </a:defRPr>
            </a:pPr>
            <a:r>
              <a:t>Slide 13–18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A: TỔNG QUAN NỀN TẢNG DỮ LIỆU TCT</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BỐI CẢNH CHIẾN LƯỢC: TỔNG CÔNG TY HOÀN THÀNH GIAI ĐOẠN 1</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01</a:t>
            </a:r>
          </a:p>
        </p:txBody>
      </p:sp>
      <p:sp>
        <p:nvSpPr>
          <p:cNvPr id="9" name="Rounded Rectangle 8"/>
          <p:cNvSpPr/>
          <p:nvPr/>
        </p:nvSpPr>
        <p:spPr>
          <a:xfrm>
            <a:off x="731520" y="1371600"/>
            <a:ext cx="10698480" cy="1051560"/>
          </a:xfrm>
          <a:prstGeom prst="roundRect">
            <a:avLst/>
          </a:prstGeom>
          <a:solidFill>
            <a:srgbClr val="FFFFFF"/>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91440" cy="10515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691640"/>
            <a:ext cx="320040" cy="320040"/>
          </a:xfrm>
          <a:prstGeom prst="ellipse">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709928"/>
            <a:ext cx="320040" cy="320040"/>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3" name="TextBox 12"/>
          <p:cNvSpPr txBox="1"/>
          <p:nvPr/>
        </p:nvSpPr>
        <p:spPr>
          <a:xfrm>
            <a:off x="1463040" y="1508760"/>
            <a:ext cx="9601200" cy="274320"/>
          </a:xfrm>
          <a:prstGeom prst="rect">
            <a:avLst/>
          </a:prstGeom>
          <a:noFill/>
        </p:spPr>
        <p:txBody>
          <a:bodyPr wrap="square" lIns="36576" tIns="36576" rIns="36576" bIns="36576">
            <a:spAutoFit/>
          </a:bodyPr>
          <a:lstStyle/>
          <a:p>
            <a:pPr algn="l">
              <a:defRPr sz="1200" b="1">
                <a:solidFill>
                  <a:srgbClr val="002855"/>
                </a:solidFill>
              </a:defRPr>
            </a:pPr>
            <a:r>
              <a:t>Giai đoạn 1 đã hoàn thành (8/2026)</a:t>
            </a:r>
          </a:p>
        </p:txBody>
      </p:sp>
      <p:sp>
        <p:nvSpPr>
          <p:cNvPr id="14" name="TextBox 13"/>
          <p:cNvSpPr txBox="1"/>
          <p:nvPr/>
        </p:nvSpPr>
        <p:spPr>
          <a:xfrm>
            <a:off x="1463040" y="1810512"/>
            <a:ext cx="9601200" cy="502920"/>
          </a:xfrm>
          <a:prstGeom prst="rect">
            <a:avLst/>
          </a:prstGeom>
          <a:noFill/>
        </p:spPr>
        <p:txBody>
          <a:bodyPr wrap="square" lIns="36576" tIns="36576" rIns="36576" bIns="36576">
            <a:spAutoFit/>
          </a:bodyPr>
          <a:lstStyle/>
          <a:p>
            <a:pPr algn="l">
              <a:defRPr sz="1050" b="0">
                <a:solidFill>
                  <a:srgbClr val="1E1E1E"/>
                </a:solidFill>
              </a:defRPr>
            </a:pPr>
            <a:r>
              <a:t>TCT đã nghiệm thu Nền tảng Hybrid: MinIO On-prem, Microsoft Fabric OneLake 20TB, 50 API và 35 quy trình.</a:t>
            </a:r>
          </a:p>
        </p:txBody>
      </p:sp>
      <p:sp>
        <p:nvSpPr>
          <p:cNvPr id="15" name="Rounded Rectangle 14"/>
          <p:cNvSpPr/>
          <p:nvPr/>
        </p:nvSpPr>
        <p:spPr>
          <a:xfrm>
            <a:off x="731520" y="2606040"/>
            <a:ext cx="10698480" cy="1051560"/>
          </a:xfrm>
          <a:prstGeom prst="roundRect">
            <a:avLst/>
          </a:prstGeom>
          <a:solidFill>
            <a:srgbClr val="FFFFFF"/>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606040"/>
            <a:ext cx="91440" cy="10515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2926080"/>
            <a:ext cx="320040" cy="320040"/>
          </a:xfrm>
          <a:prstGeom prst="ellipse">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944368"/>
            <a:ext cx="320040" cy="320040"/>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19" name="TextBox 18"/>
          <p:cNvSpPr txBox="1"/>
          <p:nvPr/>
        </p:nvSpPr>
        <p:spPr>
          <a:xfrm>
            <a:off x="1463040" y="2743200"/>
            <a:ext cx="9601200" cy="274320"/>
          </a:xfrm>
          <a:prstGeom prst="rect">
            <a:avLst/>
          </a:prstGeom>
          <a:noFill/>
        </p:spPr>
        <p:txBody>
          <a:bodyPr wrap="square" lIns="36576" tIns="36576" rIns="36576" bIns="36576">
            <a:spAutoFit/>
          </a:bodyPr>
          <a:lstStyle/>
          <a:p>
            <a:pPr algn="l">
              <a:defRPr sz="1200" b="1">
                <a:solidFill>
                  <a:srgbClr val="002855"/>
                </a:solidFill>
              </a:defRPr>
            </a:pPr>
            <a:r>
              <a:t>Nghị quyết 10/NQ-HĐQT bắt buộc</a:t>
            </a:r>
          </a:p>
        </p:txBody>
      </p:sp>
      <p:sp>
        <p:nvSpPr>
          <p:cNvPr id="20" name="TextBox 19"/>
          <p:cNvSpPr txBox="1"/>
          <p:nvPr/>
        </p:nvSpPr>
        <p:spPr>
          <a:xfrm>
            <a:off x="1463040" y="3044952"/>
            <a:ext cx="9601200" cy="502920"/>
          </a:xfrm>
          <a:prstGeom prst="rect">
            <a:avLst/>
          </a:prstGeom>
          <a:noFill/>
        </p:spPr>
        <p:txBody>
          <a:bodyPr wrap="square" lIns="36576" tIns="36576" rIns="36576" bIns="36576">
            <a:spAutoFit/>
          </a:bodyPr>
          <a:lstStyle/>
          <a:p>
            <a:pPr algn="l">
              <a:defRPr sz="1050" b="0">
                <a:solidFill>
                  <a:srgbClr val="1E1E1E"/>
                </a:solidFill>
              </a:defRPr>
            </a:pPr>
            <a:r>
              <a:t>Mốc 2026–2027: Các đơn vị thành viên (như Quảng Ngãi) phải hoàn thành kết nối — đây là KPI Chuyển đổi số bắt buộc.</a:t>
            </a:r>
          </a:p>
        </p:txBody>
      </p:sp>
      <p:sp>
        <p:nvSpPr>
          <p:cNvPr id="21" name="Rounded Rectangle 20"/>
          <p:cNvSpPr/>
          <p:nvPr/>
        </p:nvSpPr>
        <p:spPr>
          <a:xfrm>
            <a:off x="731520" y="3840480"/>
            <a:ext cx="10698480" cy="1051560"/>
          </a:xfrm>
          <a:prstGeom prst="roundRect">
            <a:avLst/>
          </a:prstGeom>
          <a:solidFill>
            <a:srgbClr val="FFFFFF"/>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840480"/>
            <a:ext cx="91440" cy="10515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160520"/>
            <a:ext cx="320040" cy="320040"/>
          </a:xfrm>
          <a:prstGeom prst="ellipse">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178808"/>
            <a:ext cx="320040" cy="320040"/>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25" name="TextBox 24"/>
          <p:cNvSpPr txBox="1"/>
          <p:nvPr/>
        </p:nvSpPr>
        <p:spPr>
          <a:xfrm>
            <a:off x="1463040" y="3977640"/>
            <a:ext cx="9601200" cy="274320"/>
          </a:xfrm>
          <a:prstGeom prst="rect">
            <a:avLst/>
          </a:prstGeom>
          <a:noFill/>
        </p:spPr>
        <p:txBody>
          <a:bodyPr wrap="square" lIns="36576" tIns="36576" rIns="36576" bIns="36576">
            <a:spAutoFit/>
          </a:bodyPr>
          <a:lstStyle/>
          <a:p>
            <a:pPr algn="l">
              <a:defRPr sz="1200" b="1">
                <a:solidFill>
                  <a:srgbClr val="002855"/>
                </a:solidFill>
              </a:defRPr>
            </a:pPr>
            <a:r>
              <a:t>Dữ liệu cốt lõi nằm tại Đơn vị</a:t>
            </a:r>
          </a:p>
        </p:txBody>
      </p:sp>
      <p:sp>
        <p:nvSpPr>
          <p:cNvPr id="26" name="TextBox 25"/>
          <p:cNvSpPr txBox="1"/>
          <p:nvPr/>
        </p:nvSpPr>
        <p:spPr>
          <a:xfrm>
            <a:off x="1463040" y="4279392"/>
            <a:ext cx="9601200" cy="502920"/>
          </a:xfrm>
          <a:prstGeom prst="rect">
            <a:avLst/>
          </a:prstGeom>
          <a:noFill/>
        </p:spPr>
        <p:txBody>
          <a:bodyPr wrap="square" lIns="36576" tIns="36576" rIns="36576" bIns="36576">
            <a:spAutoFit/>
          </a:bodyPr>
          <a:lstStyle/>
          <a:p>
            <a:pPr algn="l">
              <a:defRPr sz="1050" b="0">
                <a:solidFill>
                  <a:srgbClr val="1E1E1E"/>
                </a:solidFill>
              </a:defRPr>
            </a:pPr>
            <a:r>
              <a:t>Hơn 80% dữ liệu SXKD phát sinh tại đơn vị. Không kết nối đơn vị thì nền tảng TCT không phát huy được giá trị.</a:t>
            </a:r>
          </a:p>
        </p:txBody>
      </p:sp>
      <p:sp>
        <p:nvSpPr>
          <p:cNvPr id="27" name="Rounded Rectangle 26"/>
          <p:cNvSpPr/>
          <p:nvPr/>
        </p:nvSpPr>
        <p:spPr>
          <a:xfrm>
            <a:off x="731520" y="5074920"/>
            <a:ext cx="10698480" cy="1051560"/>
          </a:xfrm>
          <a:prstGeom prst="roundRect">
            <a:avLst/>
          </a:prstGeom>
          <a:solidFill>
            <a:srgbClr val="FFFFFF"/>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5074920"/>
            <a:ext cx="91440" cy="10515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5840" y="5394960"/>
            <a:ext cx="320040" cy="320040"/>
          </a:xfrm>
          <a:prstGeom prst="ellipse">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413248"/>
            <a:ext cx="320040" cy="320040"/>
          </a:xfrm>
          <a:prstGeom prst="rect">
            <a:avLst/>
          </a:prstGeom>
          <a:noFill/>
        </p:spPr>
        <p:txBody>
          <a:bodyPr wrap="square" lIns="36576" tIns="36576" rIns="36576" bIns="36576">
            <a:spAutoFit/>
          </a:bodyPr>
          <a:lstStyle/>
          <a:p>
            <a:pPr algn="ctr">
              <a:defRPr sz="1100" b="1">
                <a:solidFill>
                  <a:srgbClr val="FFFFFF"/>
                </a:solidFill>
              </a:defRPr>
            </a:pPr>
            <a:r>
              <a:t>4</a:t>
            </a:r>
          </a:p>
        </p:txBody>
      </p:sp>
      <p:sp>
        <p:nvSpPr>
          <p:cNvPr id="31" name="TextBox 30"/>
          <p:cNvSpPr txBox="1"/>
          <p:nvPr/>
        </p:nvSpPr>
        <p:spPr>
          <a:xfrm>
            <a:off x="1463040" y="5212080"/>
            <a:ext cx="9601200" cy="274320"/>
          </a:xfrm>
          <a:prstGeom prst="rect">
            <a:avLst/>
          </a:prstGeom>
          <a:noFill/>
        </p:spPr>
        <p:txBody>
          <a:bodyPr wrap="square" lIns="36576" tIns="36576" rIns="36576" bIns="36576">
            <a:spAutoFit/>
          </a:bodyPr>
          <a:lstStyle/>
          <a:p>
            <a:pPr algn="l">
              <a:defRPr sz="1200" b="1">
                <a:solidFill>
                  <a:srgbClr val="002855"/>
                </a:solidFill>
              </a:defRPr>
            </a:pPr>
            <a:r>
              <a:t>Khung pháp lý an toàn thông tin mới</a:t>
            </a:r>
          </a:p>
        </p:txBody>
      </p:sp>
      <p:sp>
        <p:nvSpPr>
          <p:cNvPr id="32" name="TextBox 31"/>
          <p:cNvSpPr txBox="1"/>
          <p:nvPr/>
        </p:nvSpPr>
        <p:spPr>
          <a:xfrm>
            <a:off x="1463040" y="5513832"/>
            <a:ext cx="9601200" cy="502920"/>
          </a:xfrm>
          <a:prstGeom prst="rect">
            <a:avLst/>
          </a:prstGeom>
          <a:noFill/>
        </p:spPr>
        <p:txBody>
          <a:bodyPr wrap="square" lIns="36576" tIns="36576" rIns="36576" bIns="36576">
            <a:spAutoFit/>
          </a:bodyPr>
          <a:lstStyle/>
          <a:p>
            <a:pPr algn="l">
              <a:defRPr sz="1050" b="0">
                <a:solidFill>
                  <a:srgbClr val="1E1E1E"/>
                </a:solidFill>
              </a:defRPr>
            </a:pPr>
            <a:r>
              <a:t>Luật Bảo vệ dữ liệu cá nhân 91/2025/QH15, Luật An ninh mạng bắt buộc quản trị và truy vết dữ liệu tập trung.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A: TỔNG QUAN NỀN TẢNG DỮ LIỆU TCT</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GIẢI PHÁP HYBRID DATA PLATFORM: ĐẦU TƯ TẬP TRUNG TẠI TỔNG CÔNG TY</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02</a:t>
            </a:r>
          </a:p>
        </p:txBody>
      </p:sp>
      <p:sp>
        <p:nvSpPr>
          <p:cNvPr id="9" name="Rounded Rectangle 8"/>
          <p:cNvSpPr/>
          <p:nvPr/>
        </p:nvSpPr>
        <p:spPr>
          <a:xfrm>
            <a:off x="731520" y="1371600"/>
            <a:ext cx="5120640" cy="4114800"/>
          </a:xfrm>
          <a:prstGeom prst="roundRect">
            <a:avLst/>
          </a:prstGeom>
          <a:solidFill>
            <a:srgbClr val="FFFFFF"/>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5120640" cy="54864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5120640" cy="365760"/>
          </a:xfrm>
          <a:prstGeom prst="rect">
            <a:avLst/>
          </a:prstGeom>
          <a:noFill/>
        </p:spPr>
        <p:txBody>
          <a:bodyPr wrap="square" lIns="36576" tIns="36576" rIns="36576" bIns="36576">
            <a:spAutoFit/>
          </a:bodyPr>
          <a:lstStyle/>
          <a:p>
            <a:pPr algn="ctr">
              <a:defRPr sz="1200" b="1">
                <a:solidFill>
                  <a:srgbClr val="FFFFFF"/>
                </a:solidFill>
              </a:defRPr>
            </a:pPr>
            <a:r>
              <a:t>ON-PREMISE (DATA CENTER TỔNG CÔNG TY)</a:t>
            </a:r>
          </a:p>
        </p:txBody>
      </p:sp>
      <p:sp>
        <p:nvSpPr>
          <p:cNvPr id="12" name="TextBox 11"/>
          <p:cNvSpPr txBox="1"/>
          <p:nvPr/>
        </p:nvSpPr>
        <p:spPr>
          <a:xfrm>
            <a:off x="1097280" y="2103120"/>
            <a:ext cx="4572000" cy="457200"/>
          </a:xfrm>
          <a:prstGeom prst="rect">
            <a:avLst/>
          </a:prstGeom>
          <a:noFill/>
        </p:spPr>
        <p:txBody>
          <a:bodyPr wrap="square" lIns="36576" tIns="36576" rIns="36576" bIns="36576">
            <a:spAutoFit/>
          </a:bodyPr>
          <a:lstStyle/>
          <a:p>
            <a:pPr algn="l">
              <a:defRPr sz="1050" b="0">
                <a:solidFill>
                  <a:srgbClr val="1E1E1E"/>
                </a:solidFill>
              </a:defRPr>
            </a:pPr>
            <a:r>
              <a:t>• Hạ tầng máy chủ dHCI công nghệ cao đã đầu tư</a:t>
            </a:r>
          </a:p>
        </p:txBody>
      </p:sp>
      <p:sp>
        <p:nvSpPr>
          <p:cNvPr id="13" name="TextBox 12"/>
          <p:cNvSpPr txBox="1"/>
          <p:nvPr/>
        </p:nvSpPr>
        <p:spPr>
          <a:xfrm>
            <a:off x="1097280" y="2697479"/>
            <a:ext cx="4572000" cy="457200"/>
          </a:xfrm>
          <a:prstGeom prst="rect">
            <a:avLst/>
          </a:prstGeom>
          <a:noFill/>
        </p:spPr>
        <p:txBody>
          <a:bodyPr wrap="square" lIns="36576" tIns="36576" rIns="36576" bIns="36576">
            <a:spAutoFit/>
          </a:bodyPr>
          <a:lstStyle/>
          <a:p>
            <a:pPr algn="l">
              <a:defRPr sz="1050" b="0">
                <a:solidFill>
                  <a:srgbClr val="1E1E1E"/>
                </a:solidFill>
              </a:defRPr>
            </a:pPr>
            <a:r>
              <a:t>• MinIO S3 Object Storage — Lưu trữ dữ liệu thô &amp; chi tiết</a:t>
            </a:r>
          </a:p>
        </p:txBody>
      </p:sp>
      <p:sp>
        <p:nvSpPr>
          <p:cNvPr id="14" name="TextBox 13"/>
          <p:cNvSpPr txBox="1"/>
          <p:nvPr/>
        </p:nvSpPr>
        <p:spPr>
          <a:xfrm>
            <a:off x="1097280" y="3291839"/>
            <a:ext cx="4572000" cy="457200"/>
          </a:xfrm>
          <a:prstGeom prst="rect">
            <a:avLst/>
          </a:prstGeom>
          <a:noFill/>
        </p:spPr>
        <p:txBody>
          <a:bodyPr wrap="square" lIns="36576" tIns="36576" rIns="36576" bIns="36576">
            <a:spAutoFit/>
          </a:bodyPr>
          <a:lstStyle/>
          <a:p>
            <a:pPr algn="l">
              <a:defRPr sz="1050" b="0">
                <a:solidFill>
                  <a:srgbClr val="1E1E1E"/>
                </a:solidFill>
              </a:defRPr>
            </a:pPr>
            <a:r>
              <a:t>• Trục tích hợp ESB (WSO2) — Kết nối API tập trung</a:t>
            </a:r>
          </a:p>
        </p:txBody>
      </p:sp>
      <p:sp>
        <p:nvSpPr>
          <p:cNvPr id="15" name="TextBox 14"/>
          <p:cNvSpPr txBox="1"/>
          <p:nvPr/>
        </p:nvSpPr>
        <p:spPr>
          <a:xfrm>
            <a:off x="1097280" y="3886200"/>
            <a:ext cx="4572000" cy="457200"/>
          </a:xfrm>
          <a:prstGeom prst="rect">
            <a:avLst/>
          </a:prstGeom>
          <a:noFill/>
        </p:spPr>
        <p:txBody>
          <a:bodyPr wrap="square" lIns="36576" tIns="36576" rIns="36576" bIns="36576">
            <a:spAutoFit/>
          </a:bodyPr>
          <a:lstStyle/>
          <a:p>
            <a:pPr algn="l">
              <a:defRPr sz="1050" b="0">
                <a:solidFill>
                  <a:srgbClr val="1E1E1E"/>
                </a:solidFill>
              </a:defRPr>
            </a:pPr>
            <a:r>
              <a:t>• Hệ thống MDM — 29 Danh mục Dữ liệu chủ toàn TCT</a:t>
            </a:r>
          </a:p>
        </p:txBody>
      </p:sp>
      <p:sp>
        <p:nvSpPr>
          <p:cNvPr id="16" name="TextBox 15"/>
          <p:cNvSpPr txBox="1"/>
          <p:nvPr/>
        </p:nvSpPr>
        <p:spPr>
          <a:xfrm>
            <a:off x="1097280" y="4480560"/>
            <a:ext cx="4572000" cy="457200"/>
          </a:xfrm>
          <a:prstGeom prst="rect">
            <a:avLst/>
          </a:prstGeom>
          <a:noFill/>
        </p:spPr>
        <p:txBody>
          <a:bodyPr wrap="square" lIns="36576" tIns="36576" rIns="36576" bIns="36576">
            <a:spAutoFit/>
          </a:bodyPr>
          <a:lstStyle/>
          <a:p>
            <a:pPr algn="l">
              <a:defRPr sz="1050" b="0">
                <a:solidFill>
                  <a:srgbClr val="1E1E1E"/>
                </a:solidFill>
              </a:defRPr>
            </a:pPr>
            <a:r>
              <a:t>• Hệ thống SIEM / SOC — Giám sát an ninh mạng 24/7</a:t>
            </a:r>
          </a:p>
        </p:txBody>
      </p:sp>
      <p:sp>
        <p:nvSpPr>
          <p:cNvPr id="17" name="Rounded Rectangle 16"/>
          <p:cNvSpPr/>
          <p:nvPr/>
        </p:nvSpPr>
        <p:spPr>
          <a:xfrm>
            <a:off x="6309360" y="1371600"/>
            <a:ext cx="5120640" cy="411480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371600"/>
            <a:ext cx="5120640" cy="54864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1463040"/>
            <a:ext cx="5120640" cy="365760"/>
          </a:xfrm>
          <a:prstGeom prst="rect">
            <a:avLst/>
          </a:prstGeom>
          <a:noFill/>
        </p:spPr>
        <p:txBody>
          <a:bodyPr wrap="square" lIns="36576" tIns="36576" rIns="36576" bIns="36576">
            <a:spAutoFit/>
          </a:bodyPr>
          <a:lstStyle/>
          <a:p>
            <a:pPr algn="ctr">
              <a:defRPr sz="1200" b="1">
                <a:solidFill>
                  <a:srgbClr val="FFFFFF"/>
                </a:solidFill>
              </a:defRPr>
            </a:pPr>
            <a:r>
              <a:t>CLOUD (MICROSOFT FABRIC / ONELAKE)</a:t>
            </a:r>
          </a:p>
        </p:txBody>
      </p:sp>
      <p:sp>
        <p:nvSpPr>
          <p:cNvPr id="20" name="TextBox 19"/>
          <p:cNvSpPr txBox="1"/>
          <p:nvPr/>
        </p:nvSpPr>
        <p:spPr>
          <a:xfrm>
            <a:off x="6675120" y="2103120"/>
            <a:ext cx="4572000" cy="457200"/>
          </a:xfrm>
          <a:prstGeom prst="rect">
            <a:avLst/>
          </a:prstGeom>
          <a:noFill/>
        </p:spPr>
        <p:txBody>
          <a:bodyPr wrap="square" lIns="36576" tIns="36576" rIns="36576" bIns="36576">
            <a:spAutoFit/>
          </a:bodyPr>
          <a:lstStyle/>
          <a:p>
            <a:pPr algn="l">
              <a:defRPr sz="1050" b="0">
                <a:solidFill>
                  <a:srgbClr val="1E1E1E"/>
                </a:solidFill>
              </a:defRPr>
            </a:pPr>
            <a:r>
              <a:t>• Microsoft Fabric Capacity F16 tính toán hiệu năng cao</a:t>
            </a:r>
          </a:p>
        </p:txBody>
      </p:sp>
      <p:sp>
        <p:nvSpPr>
          <p:cNvPr id="21" name="TextBox 20"/>
          <p:cNvSpPr txBox="1"/>
          <p:nvPr/>
        </p:nvSpPr>
        <p:spPr>
          <a:xfrm>
            <a:off x="6675120" y="2697479"/>
            <a:ext cx="4572000" cy="457200"/>
          </a:xfrm>
          <a:prstGeom prst="rect">
            <a:avLst/>
          </a:prstGeom>
          <a:noFill/>
        </p:spPr>
        <p:txBody>
          <a:bodyPr wrap="square" lIns="36576" tIns="36576" rIns="36576" bIns="36576">
            <a:spAutoFit/>
          </a:bodyPr>
          <a:lstStyle/>
          <a:p>
            <a:pPr algn="l">
              <a:defRPr sz="1050" b="0">
                <a:solidFill>
                  <a:srgbClr val="1E1E1E"/>
                </a:solidFill>
              </a:defRPr>
            </a:pPr>
            <a:r>
              <a:t>• OneLake Storage 20TB — Hồ dữ liệu phân tích tập trung</a:t>
            </a:r>
          </a:p>
        </p:txBody>
      </p:sp>
      <p:sp>
        <p:nvSpPr>
          <p:cNvPr id="22" name="TextBox 21"/>
          <p:cNvSpPr txBox="1"/>
          <p:nvPr/>
        </p:nvSpPr>
        <p:spPr>
          <a:xfrm>
            <a:off x="6675120" y="3291839"/>
            <a:ext cx="4572000" cy="457200"/>
          </a:xfrm>
          <a:prstGeom prst="rect">
            <a:avLst/>
          </a:prstGeom>
          <a:noFill/>
        </p:spPr>
        <p:txBody>
          <a:bodyPr wrap="square" lIns="36576" tIns="36576" rIns="36576" bIns="36576">
            <a:spAutoFit/>
          </a:bodyPr>
          <a:lstStyle/>
          <a:p>
            <a:pPr algn="l">
              <a:defRPr sz="1050" b="0">
                <a:solidFill>
                  <a:srgbClr val="1E1E1E"/>
                </a:solidFill>
              </a:defRPr>
            </a:pPr>
            <a:r>
              <a:t>• Microsoft Purview — Quản trị danh mục siêu dữ liệu</a:t>
            </a:r>
          </a:p>
        </p:txBody>
      </p:sp>
      <p:sp>
        <p:nvSpPr>
          <p:cNvPr id="23" name="TextBox 22"/>
          <p:cNvSpPr txBox="1"/>
          <p:nvPr/>
        </p:nvSpPr>
        <p:spPr>
          <a:xfrm>
            <a:off x="6675120" y="3886200"/>
            <a:ext cx="4572000" cy="457200"/>
          </a:xfrm>
          <a:prstGeom prst="rect">
            <a:avLst/>
          </a:prstGeom>
          <a:noFill/>
        </p:spPr>
        <p:txBody>
          <a:bodyPr wrap="square" lIns="36576" tIns="36576" rIns="36576" bIns="36576">
            <a:spAutoFit/>
          </a:bodyPr>
          <a:lstStyle/>
          <a:p>
            <a:pPr algn="l">
              <a:defRPr sz="1050" b="0">
                <a:solidFill>
                  <a:srgbClr val="1E1E1E"/>
                </a:solidFill>
              </a:defRPr>
            </a:pPr>
            <a:r>
              <a:t>• Power BI Service — Phục vụ Dashboard Web &amp; Mobile</a:t>
            </a:r>
          </a:p>
        </p:txBody>
      </p:sp>
      <p:sp>
        <p:nvSpPr>
          <p:cNvPr id="24" name="TextBox 23"/>
          <p:cNvSpPr txBox="1"/>
          <p:nvPr/>
        </p:nvSpPr>
        <p:spPr>
          <a:xfrm>
            <a:off x="6675120" y="4480560"/>
            <a:ext cx="4572000" cy="457200"/>
          </a:xfrm>
          <a:prstGeom prst="rect">
            <a:avLst/>
          </a:prstGeom>
          <a:noFill/>
        </p:spPr>
        <p:txBody>
          <a:bodyPr wrap="square" lIns="36576" tIns="36576" rIns="36576" bIns="36576">
            <a:spAutoFit/>
          </a:bodyPr>
          <a:lstStyle/>
          <a:p>
            <a:pPr algn="l">
              <a:defRPr sz="1050" b="0">
                <a:solidFill>
                  <a:srgbClr val="1E1E1E"/>
                </a:solidFill>
              </a:defRPr>
            </a:pPr>
            <a:r>
              <a:t>• Cấp riêng Workspace L3 độc lập cho PTSC Quảng Ngãi</a:t>
            </a:r>
          </a:p>
        </p:txBody>
      </p:sp>
      <p:sp>
        <p:nvSpPr>
          <p:cNvPr id="25" name="Rounded Rectangle 24"/>
          <p:cNvSpPr/>
          <p:nvPr/>
        </p:nvSpPr>
        <p:spPr>
          <a:xfrm>
            <a:off x="731520" y="5669280"/>
            <a:ext cx="10698480" cy="731520"/>
          </a:xfrm>
          <a:prstGeom prst="roundRect">
            <a:avLst/>
          </a:prstGeom>
          <a:solidFill>
            <a:srgbClr val="FEF6E6"/>
          </a:solidFill>
          <a:ln w="1270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715000"/>
            <a:ext cx="10332720" cy="640080"/>
          </a:xfrm>
          <a:prstGeom prst="rect">
            <a:avLst/>
          </a:prstGeom>
          <a:noFill/>
        </p:spPr>
        <p:txBody>
          <a:bodyPr wrap="square" lIns="36576" tIns="36576" rIns="36576" bIns="36576">
            <a:spAutoFit/>
          </a:bodyPr>
          <a:lstStyle/>
          <a:p>
            <a:pPr algn="ctr">
              <a:defRPr sz="1050" b="1">
                <a:solidFill>
                  <a:srgbClr val="002855"/>
                </a:solidFill>
              </a:defRPr>
            </a:pPr>
            <a:r>
              <a:t>KẾT LUẬN CHO QUẢNG NGÃI: TCT đã đầu tư hàng chục tỷ cho toàn bộ hạ tầng phần cứng và bản quyền phần mềm.</a:t>
            </a:r>
            <a:br/>
            <a:r>
              <a:t>PTSC Quảng Ngãi KHÔNG PHẢI MUA SẮM MÁY CHỦ — chỉ cần xây dựng Trạm Spoke để kết nối vào hệ sinh thái dùng chung.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B: HIỆN TRẠNG TẠI QUẢNG NGÃI — PHÂN LOẠI ĐƠN VỊ</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VỊ THẾ PTSC QUẢNG NGÃI: LEVEL 3 TRONG MÔ HÌNH HUB-SPOKE CỦA TCT</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03</a:t>
            </a:r>
          </a:p>
        </p:txBody>
      </p:sp>
      <p:sp>
        <p:nvSpPr>
          <p:cNvPr id="9" name="Rounded Rectangle 8"/>
          <p:cNvSpPr/>
          <p:nvPr/>
        </p:nvSpPr>
        <p:spPr>
          <a:xfrm>
            <a:off x="731520" y="1371600"/>
            <a:ext cx="2514600" cy="4114800"/>
          </a:xfrm>
          <a:prstGeom prst="roundRect">
            <a:avLst/>
          </a:prstGeom>
          <a:solidFill>
            <a:srgbClr val="F5F7FA"/>
          </a:solidFill>
          <a:ln w="12700">
            <a:solidFill>
              <a:srgbClr val="2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514600" cy="594360"/>
          </a:xfrm>
          <a:prstGeom prst="rect">
            <a:avLst/>
          </a:prstGeom>
          <a:solidFill>
            <a:srgbClr val="2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17320"/>
            <a:ext cx="2514600" cy="502920"/>
          </a:xfrm>
          <a:prstGeom prst="rect">
            <a:avLst/>
          </a:prstGeom>
          <a:noFill/>
        </p:spPr>
        <p:txBody>
          <a:bodyPr wrap="square" lIns="36576" tIns="36576" rIns="36576" bIns="36576">
            <a:spAutoFit/>
          </a:bodyPr>
          <a:lstStyle/>
          <a:p>
            <a:pPr algn="ctr">
              <a:defRPr sz="1050" b="1">
                <a:solidFill>
                  <a:srgbClr val="FFFFFF"/>
                </a:solidFill>
              </a:defRPr>
            </a:pPr>
            <a:r>
              <a:t>L1 — CHI NHÁNH NHỎ</a:t>
            </a:r>
          </a:p>
        </p:txBody>
      </p:sp>
      <p:sp>
        <p:nvSpPr>
          <p:cNvPr id="12" name="TextBox 11"/>
          <p:cNvSpPr txBox="1"/>
          <p:nvPr/>
        </p:nvSpPr>
        <p:spPr>
          <a:xfrm>
            <a:off x="841248" y="2103120"/>
            <a:ext cx="2286000" cy="3200400"/>
          </a:xfrm>
          <a:prstGeom prst="rect">
            <a:avLst/>
          </a:prstGeom>
          <a:noFill/>
        </p:spPr>
        <p:txBody>
          <a:bodyPr wrap="square" lIns="36576" tIns="36576" rIns="36576" bIns="36576">
            <a:spAutoFit/>
          </a:bodyPr>
          <a:lstStyle/>
          <a:p>
            <a:pPr algn="l">
              <a:defRPr sz="1000" b="0">
                <a:solidFill>
                  <a:srgbClr val="1E1E1E"/>
                </a:solidFill>
              </a:defRPr>
            </a:pPr>
            <a:r>
              <a:t>Văn phòng Hà Nội, Miền Trung, Petro Hotel... Dùng chung 100% như một Ban của TCT. Không có Tenant riêng.</a:t>
            </a:r>
          </a:p>
        </p:txBody>
      </p:sp>
      <p:sp>
        <p:nvSpPr>
          <p:cNvPr id="13" name="Rounded Rectangle 12"/>
          <p:cNvSpPr/>
          <p:nvPr/>
        </p:nvSpPr>
        <p:spPr>
          <a:xfrm>
            <a:off x="3429000" y="1371600"/>
            <a:ext cx="2514600" cy="4114800"/>
          </a:xfrm>
          <a:prstGeom prst="roundRect">
            <a:avLst/>
          </a:prstGeom>
          <a:solidFill>
            <a:srgbClr val="F5F7FA"/>
          </a:solidFill>
          <a:ln w="12700">
            <a:solidFill>
              <a:srgbClr val="2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9000" y="1371600"/>
            <a:ext cx="2514600" cy="594360"/>
          </a:xfrm>
          <a:prstGeom prst="rect">
            <a:avLst/>
          </a:prstGeom>
          <a:solidFill>
            <a:srgbClr val="2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417320"/>
            <a:ext cx="2514600" cy="502920"/>
          </a:xfrm>
          <a:prstGeom prst="rect">
            <a:avLst/>
          </a:prstGeom>
          <a:noFill/>
        </p:spPr>
        <p:txBody>
          <a:bodyPr wrap="square" lIns="36576" tIns="36576" rIns="36576" bIns="36576">
            <a:spAutoFit/>
          </a:bodyPr>
          <a:lstStyle/>
          <a:p>
            <a:pPr algn="ctr">
              <a:defRPr sz="1050" b="1">
                <a:solidFill>
                  <a:srgbClr val="FFFFFF"/>
                </a:solidFill>
              </a:defRPr>
            </a:pPr>
            <a:r>
              <a:t>L2 — DÙNG CHUNG CÓ PHẦN MỀM RIÊNG</a:t>
            </a:r>
          </a:p>
        </p:txBody>
      </p:sp>
      <p:sp>
        <p:nvSpPr>
          <p:cNvPr id="16" name="TextBox 15"/>
          <p:cNvSpPr txBox="1"/>
          <p:nvPr/>
        </p:nvSpPr>
        <p:spPr>
          <a:xfrm>
            <a:off x="3538728" y="2103120"/>
            <a:ext cx="2286000" cy="3200400"/>
          </a:xfrm>
          <a:prstGeom prst="rect">
            <a:avLst/>
          </a:prstGeom>
          <a:noFill/>
        </p:spPr>
        <p:txBody>
          <a:bodyPr wrap="square" lIns="36576" tIns="36576" rIns="36576" bIns="36576">
            <a:spAutoFit/>
          </a:bodyPr>
          <a:lstStyle/>
          <a:p>
            <a:pPr algn="l">
              <a:defRPr sz="1000" b="0">
                <a:solidFill>
                  <a:srgbClr val="1E1E1E"/>
                </a:solidFill>
              </a:defRPr>
            </a:pPr>
            <a:r>
              <a:t>Chi nhánh Supply Base, Marine... Dùng chung ERP/HRM TCT và tích hợp thêm dữ liệu thăm dò, tàu bè.</a:t>
            </a:r>
          </a:p>
        </p:txBody>
      </p:sp>
      <p:sp>
        <p:nvSpPr>
          <p:cNvPr id="17" name="Rounded Rectangle 16"/>
          <p:cNvSpPr/>
          <p:nvPr/>
        </p:nvSpPr>
        <p:spPr>
          <a:xfrm>
            <a:off x="6126480" y="1371600"/>
            <a:ext cx="2514600" cy="4114800"/>
          </a:xfrm>
          <a:prstGeom prst="roundRect">
            <a:avLst/>
          </a:prstGeom>
          <a:solidFill>
            <a:srgbClr val="E6F0FA"/>
          </a:solidFill>
          <a:ln w="317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371600"/>
            <a:ext cx="2514600" cy="5943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1417320"/>
            <a:ext cx="2514600" cy="502920"/>
          </a:xfrm>
          <a:prstGeom prst="rect">
            <a:avLst/>
          </a:prstGeom>
          <a:noFill/>
        </p:spPr>
        <p:txBody>
          <a:bodyPr wrap="square" lIns="36576" tIns="36576" rIns="36576" bIns="36576">
            <a:spAutoFit/>
          </a:bodyPr>
          <a:lstStyle/>
          <a:p>
            <a:pPr algn="ctr">
              <a:defRPr sz="1050" b="1">
                <a:solidFill>
                  <a:srgbClr val="FFFFFF"/>
                </a:solidFill>
              </a:defRPr>
            </a:pPr>
            <a:r>
              <a:t>L3 — ĐƠN VỊ LỚN (PTSC QUẢNG NGÃI)</a:t>
            </a:r>
          </a:p>
        </p:txBody>
      </p:sp>
      <p:sp>
        <p:nvSpPr>
          <p:cNvPr id="20" name="TextBox 19"/>
          <p:cNvSpPr txBox="1"/>
          <p:nvPr/>
        </p:nvSpPr>
        <p:spPr>
          <a:xfrm>
            <a:off x="6236208" y="2103120"/>
            <a:ext cx="2286000" cy="3200400"/>
          </a:xfrm>
          <a:prstGeom prst="rect">
            <a:avLst/>
          </a:prstGeom>
          <a:noFill/>
        </p:spPr>
        <p:txBody>
          <a:bodyPr wrap="square" lIns="36576" tIns="36576" rIns="36576" bIns="36576">
            <a:spAutoFit/>
          </a:bodyPr>
          <a:lstStyle/>
          <a:p>
            <a:pPr algn="l">
              <a:defRPr sz="1000" b="0">
                <a:solidFill>
                  <a:srgbClr val="1E1E1E"/>
                </a:solidFill>
              </a:defRPr>
            </a:pPr>
            <a:r>
              <a:t>PTSC Quảng Ngãi, PPS, POS, Thanh Hóa...</a:t>
            </a:r>
            <a:br/>
            <a:r>
              <a:t>Được cấp Workspace L3 riêng biệt trên Hub TCT.</a:t>
            </a:r>
            <a:br/>
            <a:r>
              <a:t>Không cần đầu tư máy chủ dHCI tiền tỷ.</a:t>
            </a:r>
            <a:br/>
            <a:r>
              <a:t>Tối ưu chi phí, làm chủ Dashboard quản trị riêng.</a:t>
            </a:r>
          </a:p>
        </p:txBody>
      </p:sp>
      <p:sp>
        <p:nvSpPr>
          <p:cNvPr id="21" name="Rounded Rectangle 20"/>
          <p:cNvSpPr/>
          <p:nvPr/>
        </p:nvSpPr>
        <p:spPr>
          <a:xfrm>
            <a:off x="8823960" y="1371600"/>
            <a:ext cx="2514600" cy="4114800"/>
          </a:xfrm>
          <a:prstGeom prst="roundRect">
            <a:avLst/>
          </a:prstGeom>
          <a:solidFill>
            <a:srgbClr val="F5F7FA"/>
          </a:solidFill>
          <a:ln w="12700">
            <a:solidFill>
              <a:srgbClr val="2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23960" y="1371600"/>
            <a:ext cx="2514600" cy="594360"/>
          </a:xfrm>
          <a:prstGeom prst="rect">
            <a:avLst/>
          </a:prstGeom>
          <a:solidFill>
            <a:srgbClr val="2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960" y="1417320"/>
            <a:ext cx="2514600" cy="502920"/>
          </a:xfrm>
          <a:prstGeom prst="rect">
            <a:avLst/>
          </a:prstGeom>
          <a:noFill/>
        </p:spPr>
        <p:txBody>
          <a:bodyPr wrap="square" lIns="36576" tIns="36576" rIns="36576" bIns="36576">
            <a:spAutoFit/>
          </a:bodyPr>
          <a:lstStyle/>
          <a:p>
            <a:pPr algn="ctr">
              <a:defRPr sz="1050" b="1">
                <a:solidFill>
                  <a:srgbClr val="FFFFFF"/>
                </a:solidFill>
              </a:defRPr>
            </a:pPr>
            <a:r>
              <a:t>L4 — ĐƠN VỊ ĐẶC THÙ (PTSC M&amp;C)</a:t>
            </a:r>
          </a:p>
        </p:txBody>
      </p:sp>
      <p:sp>
        <p:nvSpPr>
          <p:cNvPr id="24" name="TextBox 23"/>
          <p:cNvSpPr txBox="1"/>
          <p:nvPr/>
        </p:nvSpPr>
        <p:spPr>
          <a:xfrm>
            <a:off x="8933688" y="2103120"/>
            <a:ext cx="2286000" cy="3200400"/>
          </a:xfrm>
          <a:prstGeom prst="rect">
            <a:avLst/>
          </a:prstGeom>
          <a:noFill/>
        </p:spPr>
        <p:txBody>
          <a:bodyPr wrap="square" lIns="36576" tIns="36576" rIns="36576" bIns="36576">
            <a:spAutoFit/>
          </a:bodyPr>
          <a:lstStyle/>
          <a:p>
            <a:pPr algn="l">
              <a:defRPr sz="1000" b="0">
                <a:solidFill>
                  <a:srgbClr val="1E1E1E"/>
                </a:solidFill>
              </a:defRPr>
            </a:pPr>
            <a:r>
              <a:t>PTSC M&amp;C tự đầu tư hạ tầng Hybrid Data Platform riêng tại chỗ do khối lượng dữ liệu công trình biển và OT quá lớn.</a:t>
            </a:r>
          </a:p>
        </p:txBody>
      </p:sp>
      <p:sp>
        <p:nvSpPr>
          <p:cNvPr id="25" name="Rounded Rectangle 24"/>
          <p:cNvSpPr/>
          <p:nvPr/>
        </p:nvSpPr>
        <p:spPr>
          <a:xfrm>
            <a:off x="731520" y="5669280"/>
            <a:ext cx="10698480" cy="731520"/>
          </a:xfrm>
          <a:prstGeom prst="roundRect">
            <a:avLst/>
          </a:prstGeom>
          <a:solidFill>
            <a:srgbClr val="E6F0FA"/>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715000"/>
            <a:ext cx="10332720" cy="640080"/>
          </a:xfrm>
          <a:prstGeom prst="rect">
            <a:avLst/>
          </a:prstGeom>
          <a:noFill/>
        </p:spPr>
        <p:txBody>
          <a:bodyPr wrap="square" lIns="36576" tIns="36576" rIns="36576" bIns="36576">
            <a:spAutoFit/>
          </a:bodyPr>
          <a:lstStyle/>
          <a:p>
            <a:pPr algn="ctr">
              <a:defRPr sz="1050" b="1">
                <a:solidFill>
                  <a:srgbClr val="002855"/>
                </a:solidFill>
              </a:defRPr>
            </a:pPr>
            <a:r>
              <a:t>QUYẾT ĐỊNH CỦA TCT TẠI HỘI THẢO (TRANG 56): PTSC Quảng Ngãi thuộc Nhóm 4 (Đơn vị lớn L3-L4).</a:t>
            </a:r>
            <a:br/>
            <a:r>
              <a:t>Quảng Ngãi vừa có không gian lưu trữ độc lập (Tenant L3), vừa không phát sinh chi phí đầu tư phần cứng ban đầu.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B: HIỆN TRẠNG TẠI QUẢNG NGÃI — VẤN ĐỀ CẦN GIẢI QUYẾT</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HIỆN TRẠNG HỆ THỐNG VÀ VĂN BẢN CHỈ ĐẠO MỚI NHẤT TỪ TỔNG CÔNG TY</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04</a:t>
            </a:r>
          </a:p>
        </p:txBody>
      </p:sp>
      <p:sp>
        <p:nvSpPr>
          <p:cNvPr id="9" name="Rounded Rectangle 8"/>
          <p:cNvSpPr/>
          <p:nvPr/>
        </p:nvSpPr>
        <p:spPr>
          <a:xfrm>
            <a:off x="731520" y="1280160"/>
            <a:ext cx="5120640" cy="4206240"/>
          </a:xfrm>
          <a:prstGeom prst="roundRect">
            <a:avLst/>
          </a:prstGeom>
          <a:solidFill>
            <a:srgbClr val="FFFFFF"/>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114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25880"/>
            <a:ext cx="5120640" cy="320040"/>
          </a:xfrm>
          <a:prstGeom prst="rect">
            <a:avLst/>
          </a:prstGeom>
          <a:noFill/>
        </p:spPr>
        <p:txBody>
          <a:bodyPr wrap="square" lIns="36576" tIns="36576" rIns="36576" bIns="36576">
            <a:spAutoFit/>
          </a:bodyPr>
          <a:lstStyle/>
          <a:p>
            <a:pPr algn="ctr">
              <a:defRPr sz="1100" b="1">
                <a:solidFill>
                  <a:srgbClr val="FFFFFF"/>
                </a:solidFill>
              </a:defRPr>
            </a:pPr>
            <a:r>
              <a:t>4 HỆ THỐNG PHẦN MỀM THỰC TẾ TẠI QUẢNG NGÃI</a:t>
            </a:r>
          </a:p>
        </p:txBody>
      </p:sp>
      <p:sp>
        <p:nvSpPr>
          <p:cNvPr id="12" name="Rounded Rectangle 11"/>
          <p:cNvSpPr/>
          <p:nvPr/>
        </p:nvSpPr>
        <p:spPr>
          <a:xfrm>
            <a:off x="914400" y="1828800"/>
            <a:ext cx="4754880" cy="777240"/>
          </a:xfrm>
          <a:prstGeom prst="round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01952"/>
            <a:ext cx="4480560" cy="228600"/>
          </a:xfrm>
          <a:prstGeom prst="rect">
            <a:avLst/>
          </a:prstGeom>
          <a:noFill/>
        </p:spPr>
        <p:txBody>
          <a:bodyPr wrap="square" lIns="36576" tIns="36576" rIns="36576" bIns="36576">
            <a:spAutoFit/>
          </a:bodyPr>
          <a:lstStyle/>
          <a:p>
            <a:pPr algn="l">
              <a:defRPr sz="1050" b="1">
                <a:solidFill>
                  <a:srgbClr val="002855"/>
                </a:solidFill>
              </a:defRPr>
            </a:pPr>
            <a:r>
              <a:t>• FAST Accounting</a:t>
            </a:r>
          </a:p>
        </p:txBody>
      </p:sp>
      <p:sp>
        <p:nvSpPr>
          <p:cNvPr id="14" name="TextBox 13"/>
          <p:cNvSpPr txBox="1"/>
          <p:nvPr/>
        </p:nvSpPr>
        <p:spPr>
          <a:xfrm>
            <a:off x="1051560" y="2148840"/>
            <a:ext cx="4480560" cy="411480"/>
          </a:xfrm>
          <a:prstGeom prst="rect">
            <a:avLst/>
          </a:prstGeom>
          <a:noFill/>
        </p:spPr>
        <p:txBody>
          <a:bodyPr wrap="square" lIns="36576" tIns="36576" rIns="36576" bIns="36576">
            <a:spAutoFit/>
          </a:bodyPr>
          <a:lstStyle/>
          <a:p>
            <a:pPr algn="l">
              <a:defRPr sz="950" b="0">
                <a:solidFill>
                  <a:srgbClr val="1E1E1E"/>
                </a:solidFill>
              </a:defRPr>
            </a:pPr>
            <a:r>
              <a:t>Kế toán, tài chính, hóa đơn, công nợ — Đang chạy ổn định</a:t>
            </a:r>
          </a:p>
        </p:txBody>
      </p:sp>
      <p:sp>
        <p:nvSpPr>
          <p:cNvPr id="15" name="Rounded Rectangle 14"/>
          <p:cNvSpPr/>
          <p:nvPr/>
        </p:nvSpPr>
        <p:spPr>
          <a:xfrm>
            <a:off x="914400" y="2697480"/>
            <a:ext cx="4754880" cy="777240"/>
          </a:xfrm>
          <a:prstGeom prst="round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770632"/>
            <a:ext cx="4480560" cy="228600"/>
          </a:xfrm>
          <a:prstGeom prst="rect">
            <a:avLst/>
          </a:prstGeom>
          <a:noFill/>
        </p:spPr>
        <p:txBody>
          <a:bodyPr wrap="square" lIns="36576" tIns="36576" rIns="36576" bIns="36576">
            <a:spAutoFit/>
          </a:bodyPr>
          <a:lstStyle/>
          <a:p>
            <a:pPr algn="l">
              <a:defRPr sz="1050" b="1">
                <a:solidFill>
                  <a:srgbClr val="002855"/>
                </a:solidFill>
              </a:defRPr>
            </a:pPr>
            <a:r>
              <a:t>• MESx – PMSx – FBO</a:t>
            </a:r>
          </a:p>
        </p:txBody>
      </p:sp>
      <p:sp>
        <p:nvSpPr>
          <p:cNvPr id="17" name="TextBox 16"/>
          <p:cNvSpPr txBox="1"/>
          <p:nvPr/>
        </p:nvSpPr>
        <p:spPr>
          <a:xfrm>
            <a:off x="1051560" y="3017520"/>
            <a:ext cx="4480560" cy="411480"/>
          </a:xfrm>
          <a:prstGeom prst="rect">
            <a:avLst/>
          </a:prstGeom>
          <a:noFill/>
        </p:spPr>
        <p:txBody>
          <a:bodyPr wrap="square" lIns="36576" tIns="36576" rIns="36576" bIns="36576">
            <a:spAutoFit/>
          </a:bodyPr>
          <a:lstStyle/>
          <a:p>
            <a:pPr algn="l">
              <a:defRPr sz="950" b="0">
                <a:solidFill>
                  <a:srgbClr val="1E1E1E"/>
                </a:solidFill>
              </a:defRPr>
            </a:pPr>
            <a:r>
              <a:t>Quản lý sản xuất, tiến độ xưởng cơ khí Dung Quất, vật tư</a:t>
            </a:r>
          </a:p>
        </p:txBody>
      </p:sp>
      <p:sp>
        <p:nvSpPr>
          <p:cNvPr id="18" name="Rounded Rectangle 17"/>
          <p:cNvSpPr/>
          <p:nvPr/>
        </p:nvSpPr>
        <p:spPr>
          <a:xfrm>
            <a:off x="914400" y="3566160"/>
            <a:ext cx="4754880" cy="777240"/>
          </a:xfrm>
          <a:prstGeom prst="round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639312"/>
            <a:ext cx="4480560" cy="228600"/>
          </a:xfrm>
          <a:prstGeom prst="rect">
            <a:avLst/>
          </a:prstGeom>
          <a:noFill/>
        </p:spPr>
        <p:txBody>
          <a:bodyPr wrap="square" lIns="36576" tIns="36576" rIns="36576" bIns="36576">
            <a:spAutoFit/>
          </a:bodyPr>
          <a:lstStyle/>
          <a:p>
            <a:pPr algn="l">
              <a:defRPr sz="1050" b="1">
                <a:solidFill>
                  <a:srgbClr val="002855"/>
                </a:solidFill>
              </a:defRPr>
            </a:pPr>
            <a:r>
              <a:t>• VTI – IRTECH</a:t>
            </a:r>
          </a:p>
        </p:txBody>
      </p:sp>
      <p:sp>
        <p:nvSpPr>
          <p:cNvPr id="20" name="TextBox 19"/>
          <p:cNvSpPr txBox="1"/>
          <p:nvPr/>
        </p:nvSpPr>
        <p:spPr>
          <a:xfrm>
            <a:off x="1051560" y="3886200"/>
            <a:ext cx="4480560" cy="411480"/>
          </a:xfrm>
          <a:prstGeom prst="rect">
            <a:avLst/>
          </a:prstGeom>
          <a:noFill/>
        </p:spPr>
        <p:txBody>
          <a:bodyPr wrap="square" lIns="36576" tIns="36576" rIns="36576" bIns="36576">
            <a:spAutoFit/>
          </a:bodyPr>
          <a:lstStyle/>
          <a:p>
            <a:pPr algn="l">
              <a:defRPr sz="950" b="0">
                <a:solidFill>
                  <a:srgbClr val="1E1E1E"/>
                </a:solidFill>
              </a:defRPr>
            </a:pPr>
            <a:r>
              <a:t>Quản lý khai thác Cảng PTSC Quảng Ngãi, cầu bãi, thiết bị</a:t>
            </a:r>
          </a:p>
        </p:txBody>
      </p:sp>
      <p:sp>
        <p:nvSpPr>
          <p:cNvPr id="21" name="Rounded Rectangle 20"/>
          <p:cNvSpPr/>
          <p:nvPr/>
        </p:nvSpPr>
        <p:spPr>
          <a:xfrm>
            <a:off x="914400" y="4434840"/>
            <a:ext cx="4754880" cy="777240"/>
          </a:xfrm>
          <a:prstGeom prst="round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507992"/>
            <a:ext cx="4480560" cy="228600"/>
          </a:xfrm>
          <a:prstGeom prst="rect">
            <a:avLst/>
          </a:prstGeom>
          <a:noFill/>
        </p:spPr>
        <p:txBody>
          <a:bodyPr wrap="square" lIns="36576" tIns="36576" rIns="36576" bIns="36576">
            <a:spAutoFit/>
          </a:bodyPr>
          <a:lstStyle/>
          <a:p>
            <a:pPr algn="l">
              <a:defRPr sz="1050" b="1">
                <a:solidFill>
                  <a:srgbClr val="002855"/>
                </a:solidFill>
              </a:defRPr>
            </a:pPr>
            <a:r>
              <a:t>• HSEQ &amp; Mua sắm hàng hóa</a:t>
            </a:r>
          </a:p>
        </p:txBody>
      </p:sp>
      <p:sp>
        <p:nvSpPr>
          <p:cNvPr id="23" name="TextBox 22"/>
          <p:cNvSpPr txBox="1"/>
          <p:nvPr/>
        </p:nvSpPr>
        <p:spPr>
          <a:xfrm>
            <a:off x="1051560" y="4754880"/>
            <a:ext cx="4480560" cy="411480"/>
          </a:xfrm>
          <a:prstGeom prst="rect">
            <a:avLst/>
          </a:prstGeom>
          <a:noFill/>
        </p:spPr>
        <p:txBody>
          <a:bodyPr wrap="square" lIns="36576" tIns="36576" rIns="36576" bIns="36576">
            <a:spAutoFit/>
          </a:bodyPr>
          <a:lstStyle/>
          <a:p>
            <a:pPr algn="l">
              <a:defRPr sz="950" b="0">
                <a:solidFill>
                  <a:srgbClr val="1E1E1E"/>
                </a:solidFill>
              </a:defRPr>
            </a:pPr>
            <a:r>
              <a:t>Đang lập phương án mua sắm và xây dựng quy trình</a:t>
            </a:r>
          </a:p>
        </p:txBody>
      </p:sp>
      <p:sp>
        <p:nvSpPr>
          <p:cNvPr id="24" name="Rounded Rectangle 23"/>
          <p:cNvSpPr/>
          <p:nvPr/>
        </p:nvSpPr>
        <p:spPr>
          <a:xfrm>
            <a:off x="6309360" y="1280160"/>
            <a:ext cx="5120640" cy="4206240"/>
          </a:xfrm>
          <a:prstGeom prst="roundRect">
            <a:avLst/>
          </a:prstGeom>
          <a:solidFill>
            <a:srgbClr val="FDEEEE"/>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1280160"/>
            <a:ext cx="5120640" cy="41148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325880"/>
            <a:ext cx="5120640" cy="320040"/>
          </a:xfrm>
          <a:prstGeom prst="rect">
            <a:avLst/>
          </a:prstGeom>
          <a:noFill/>
        </p:spPr>
        <p:txBody>
          <a:bodyPr wrap="square" lIns="36576" tIns="36576" rIns="36576" bIns="36576">
            <a:spAutoFit/>
          </a:bodyPr>
          <a:lstStyle/>
          <a:p>
            <a:pPr algn="ctr">
              <a:defRPr sz="1100" b="1">
                <a:solidFill>
                  <a:srgbClr val="FFFFFF"/>
                </a:solidFill>
              </a:defRPr>
            </a:pPr>
            <a:r>
              <a:t>CẢNH BÁO TỪ BDA CĐS TỔNG CÔNG TY (EMAIL 07/09/2026)</a:t>
            </a:r>
          </a:p>
        </p:txBody>
      </p:sp>
      <p:sp>
        <p:nvSpPr>
          <p:cNvPr id="27" name="TextBox 26"/>
          <p:cNvSpPr txBox="1"/>
          <p:nvPr/>
        </p:nvSpPr>
        <p:spPr>
          <a:xfrm>
            <a:off x="6492240" y="1783080"/>
            <a:ext cx="4754880" cy="3566160"/>
          </a:xfrm>
          <a:prstGeom prst="rect">
            <a:avLst/>
          </a:prstGeom>
          <a:noFill/>
        </p:spPr>
        <p:txBody>
          <a:bodyPr wrap="square" lIns="36576" tIns="36576" rIns="36576" bIns="36576">
            <a:spAutoFit/>
          </a:bodyPr>
          <a:lstStyle/>
          <a:p>
            <a:pPr algn="l">
              <a:defRPr sz="1000" b="0">
                <a:solidFill>
                  <a:srgbClr val="1E1E1E"/>
                </a:solidFill>
              </a:defRPr>
            </a:pPr>
            <a:r>
              <a:t>Ý KIẾN PHÓ GIÁM ĐỐC BDA TCT (CHỊ PHAN THỊ NGỌC VÂN):</a:t>
            </a:r>
            <a:br/>
            <a:br/>
            <a:r>
              <a:t>1. Nguy cơ kết nối trực tiếp (Point-to-Point):</a:t>
            </a:r>
            <a:br/>
            <a:r>
              <a:t>   Phương án tích hợp nội bộ giữa MESx – PMSx – FBO nối sang FAST, VTI, IRTECH... sẽ làm bùng nổ số lượng API, chi phí tích hợp và rủi ro mất ATTT.</a:t>
            </a:r>
            <a:br/>
            <a:br/>
            <a:r>
              <a:t>2. Yêu cầu chuyển sang Kiến trúc Trục tích hợp (ESB / Data Platform):</a:t>
            </a:r>
            <a:br/>
            <a:r>
              <a:t>   TCT yêu cầu Quảng Ngãi tích hợp tập trung qua ESB/MDM của Data Platform.</a:t>
            </a:r>
            <a:br/>
            <a:br/>
            <a:r>
              <a:t>3. Đề nghị tạm thời giãn tiến độ Phần mềm Mua sắm:</a:t>
            </a:r>
            <a:br/>
            <a:r>
              <a:t>   Tạm dừng để rà soát kiến trúc tổng thể, tránh đầu tư chồng chéo.</a:t>
            </a:r>
          </a:p>
        </p:txBody>
      </p:sp>
      <p:sp>
        <p:nvSpPr>
          <p:cNvPr id="28" name="Rounded Rectangle 27"/>
          <p:cNvSpPr/>
          <p:nvPr/>
        </p:nvSpPr>
        <p:spPr>
          <a:xfrm>
            <a:off x="731520" y="5623560"/>
            <a:ext cx="10698480" cy="777240"/>
          </a:xfrm>
          <a:prstGeom prst="roundRect">
            <a:avLst/>
          </a:prstGeom>
          <a:solidFill>
            <a:srgbClr val="FEF6E6"/>
          </a:solidFill>
          <a:ln w="1270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69280"/>
            <a:ext cx="10332720" cy="685800"/>
          </a:xfrm>
          <a:prstGeom prst="rect">
            <a:avLst/>
          </a:prstGeom>
          <a:noFill/>
        </p:spPr>
        <p:txBody>
          <a:bodyPr wrap="square" lIns="36576" tIns="36576" rIns="36576" bIns="36576">
            <a:spAutoFit/>
          </a:bodyPr>
          <a:lstStyle/>
          <a:p>
            <a:pPr algn="ctr">
              <a:defRPr sz="1000" b="1">
                <a:solidFill>
                  <a:srgbClr val="002855"/>
                </a:solidFill>
              </a:defRPr>
            </a:pPr>
            <a:r>
              <a:t>Ý NGHĨA QUAN TRỌNG: TCT khuyến nghị hoàn toàn đúng về mặt kỹ thuật. Đây là cơ hội để Quảng Ngãi dừng kết nối 'mạng nhện',</a:t>
            </a:r>
            <a:br/>
            <a:r>
              <a:t>chuyển sang Trục tích hợp chuẩn TCT để tiết kiệm hàng trăm triệu chi phí viết API và tránh bị TCT từ chối sau này.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B: HIỆN TRẠNG TẠI QUẢNG NGÃI — CHỦ QUYỀN DỮ LIỆU</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QUY CHẾ QUẢN TRỊ DỮ LIỆU PTSC: MÔ HÌNH 5 CẤP VÀ QUYỀN CỦA ĐƠN VỊ</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05</a:t>
            </a:r>
          </a:p>
        </p:txBody>
      </p:sp>
      <p:sp>
        <p:nvSpPr>
          <p:cNvPr id="9" name="Rounded Rectangle 8"/>
          <p:cNvSpPr/>
          <p:nvPr/>
        </p:nvSpPr>
        <p:spPr>
          <a:xfrm>
            <a:off x="731520" y="1280160"/>
            <a:ext cx="10698480" cy="914400"/>
          </a:xfrm>
          <a:prstGeom prst="roundRect">
            <a:avLst/>
          </a:prstGeom>
          <a:solidFill>
            <a:srgbClr val="F5F7FA"/>
          </a:solidFill>
          <a:ln w="12700">
            <a:solidFill>
              <a:srgbClr val="2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1316736"/>
            <a:ext cx="91440" cy="841248"/>
          </a:xfrm>
          <a:prstGeom prst="rect">
            <a:avLst/>
          </a:prstGeom>
          <a:solidFill>
            <a:srgbClr val="2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353312"/>
            <a:ext cx="10058400" cy="320040"/>
          </a:xfrm>
          <a:prstGeom prst="rect">
            <a:avLst/>
          </a:prstGeom>
          <a:noFill/>
        </p:spPr>
        <p:txBody>
          <a:bodyPr wrap="square" lIns="36576" tIns="36576" rIns="36576" bIns="36576">
            <a:spAutoFit/>
          </a:bodyPr>
          <a:lstStyle/>
          <a:p>
            <a:pPr algn="l">
              <a:defRPr sz="1150" b="1">
                <a:solidFill>
                  <a:srgbClr val="28323C"/>
                </a:solidFill>
              </a:defRPr>
            </a:pPr>
            <a:r>
              <a:t>CẤP 1–2: HỘI ĐỒNG QUẢN TRỊ DỮ LIỆU &amp; HỘI ĐỒNG DỮ LIỆU KHỐI (TCT)</a:t>
            </a:r>
          </a:p>
        </p:txBody>
      </p:sp>
      <p:sp>
        <p:nvSpPr>
          <p:cNvPr id="12" name="TextBox 11"/>
          <p:cNvSpPr txBox="1"/>
          <p:nvPr/>
        </p:nvSpPr>
        <p:spPr>
          <a:xfrm>
            <a:off x="1097280" y="1627632"/>
            <a:ext cx="10058400" cy="502920"/>
          </a:xfrm>
          <a:prstGeom prst="rect">
            <a:avLst/>
          </a:prstGeom>
          <a:noFill/>
        </p:spPr>
        <p:txBody>
          <a:bodyPr wrap="square" lIns="36576" tIns="36576" rIns="36576" bIns="36576">
            <a:spAutoFit/>
          </a:bodyPr>
          <a:lstStyle/>
          <a:p>
            <a:pPr algn="l">
              <a:defRPr sz="1000" b="0">
                <a:solidFill>
                  <a:srgbClr val="1E1E1E"/>
                </a:solidFill>
              </a:defRPr>
            </a:pPr>
            <a:r>
              <a:t>Định hướng chiến lược dữ liệu toàn PTSC. Phê duyệt chính sách, tiêu chuẩn. Điều phối liên Ban, đồng bộ Master Data.</a:t>
            </a:r>
          </a:p>
        </p:txBody>
      </p:sp>
      <p:sp>
        <p:nvSpPr>
          <p:cNvPr id="13" name="Rounded Rectangle 12"/>
          <p:cNvSpPr/>
          <p:nvPr/>
        </p:nvSpPr>
        <p:spPr>
          <a:xfrm>
            <a:off x="731520" y="2304288"/>
            <a:ext cx="10698480" cy="1737360"/>
          </a:xfrm>
          <a:prstGeom prst="roundRect">
            <a:avLst/>
          </a:prstGeom>
          <a:solidFill>
            <a:srgbClr val="E6F5EB"/>
          </a:solidFill>
          <a:ln w="317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 y="2340864"/>
            <a:ext cx="91440" cy="1664208"/>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377440"/>
            <a:ext cx="10058400" cy="320040"/>
          </a:xfrm>
          <a:prstGeom prst="rect">
            <a:avLst/>
          </a:prstGeom>
          <a:noFill/>
        </p:spPr>
        <p:txBody>
          <a:bodyPr wrap="square" lIns="36576" tIns="36576" rIns="36576" bIns="36576">
            <a:spAutoFit/>
          </a:bodyPr>
          <a:lstStyle/>
          <a:p>
            <a:pPr algn="l">
              <a:defRPr sz="1150" b="1">
                <a:solidFill>
                  <a:srgbClr val="14783C"/>
                </a:solidFill>
              </a:defRPr>
            </a:pPr>
            <a:r>
              <a:t>CẤP 3: CHỦ QUẢN DỮ LIỆU — LÃNH ĐẠO ĐƠN VỊ (PTSC QUẢNG NGÃI)</a:t>
            </a:r>
          </a:p>
        </p:txBody>
      </p:sp>
      <p:sp>
        <p:nvSpPr>
          <p:cNvPr id="16" name="TextBox 15"/>
          <p:cNvSpPr txBox="1"/>
          <p:nvPr/>
        </p:nvSpPr>
        <p:spPr>
          <a:xfrm>
            <a:off x="1097280" y="2761488"/>
            <a:ext cx="10058400" cy="1188720"/>
          </a:xfrm>
          <a:prstGeom prst="rect">
            <a:avLst/>
          </a:prstGeom>
          <a:noFill/>
        </p:spPr>
        <p:txBody>
          <a:bodyPr wrap="square" lIns="36576" tIns="36576" rIns="36576" bIns="36576">
            <a:spAutoFit/>
          </a:bodyPr>
          <a:lstStyle/>
          <a:p>
            <a:pPr algn="l">
              <a:defRPr sz="1000" b="0">
                <a:solidFill>
                  <a:srgbClr val="1E1E1E"/>
                </a:solidFill>
              </a:defRPr>
            </a:pPr>
            <a:r>
              <a:t>• Quản lý nghiệp vụ dữ liệu của đơn vị; TRÁCH NHIỆM GIẢI TRÌNH ĐẶT Ở CẤP NÀY.</a:t>
            </a:r>
            <a:br/>
            <a:r>
              <a:t>• Toàn quyền quyết định dữ liệu nào được chia sẻ, dữ liệu nào giữ lại nội bộ.</a:t>
            </a:r>
            <a:br/>
            <a:r>
              <a:t>• Có quyền DỪNG CHIA SẺ KHẨN CẤP nếu phát hiện nguy cơ mất an toàn thông tin.</a:t>
            </a:r>
            <a:br/>
            <a:r>
              <a:t>• Phê duyệt bản ghi chuẩn khi dữ liệu giữa các phần mềm nội bộ có mâu thuẫn.</a:t>
            </a:r>
          </a:p>
        </p:txBody>
      </p:sp>
      <p:sp>
        <p:nvSpPr>
          <p:cNvPr id="17" name="Rounded Rectangle 16"/>
          <p:cNvSpPr/>
          <p:nvPr/>
        </p:nvSpPr>
        <p:spPr>
          <a:xfrm>
            <a:off x="731520" y="4151376"/>
            <a:ext cx="10698480" cy="914400"/>
          </a:xfrm>
          <a:prstGeom prst="roundRect">
            <a:avLst/>
          </a:prstGeom>
          <a:solidFill>
            <a:srgbClr val="F5F7FA"/>
          </a:solidFill>
          <a:ln w="12700">
            <a:solidFill>
              <a:srgbClr val="2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187952"/>
            <a:ext cx="91440" cy="841248"/>
          </a:xfrm>
          <a:prstGeom prst="rect">
            <a:avLst/>
          </a:prstGeom>
          <a:solidFill>
            <a:srgbClr val="283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224528"/>
            <a:ext cx="10058400" cy="320040"/>
          </a:xfrm>
          <a:prstGeom prst="rect">
            <a:avLst/>
          </a:prstGeom>
          <a:noFill/>
        </p:spPr>
        <p:txBody>
          <a:bodyPr wrap="square" lIns="36576" tIns="36576" rIns="36576" bIns="36576">
            <a:spAutoFit/>
          </a:bodyPr>
          <a:lstStyle/>
          <a:p>
            <a:pPr algn="l">
              <a:defRPr sz="1150" b="1">
                <a:solidFill>
                  <a:srgbClr val="28323C"/>
                </a:solidFill>
              </a:defRPr>
            </a:pPr>
            <a:r>
              <a:t>CẤP 4: QUẢN TRỊ MIỀN DỮ LIỆU (DATA STEWARDS — IT &amp; NGHIỆP VỤ QN)</a:t>
            </a:r>
          </a:p>
        </p:txBody>
      </p:sp>
      <p:sp>
        <p:nvSpPr>
          <p:cNvPr id="20" name="TextBox 19"/>
          <p:cNvSpPr txBox="1"/>
          <p:nvPr/>
        </p:nvSpPr>
        <p:spPr>
          <a:xfrm>
            <a:off x="1097280" y="4498848"/>
            <a:ext cx="10058400" cy="502920"/>
          </a:xfrm>
          <a:prstGeom prst="rect">
            <a:avLst/>
          </a:prstGeom>
          <a:noFill/>
        </p:spPr>
        <p:txBody>
          <a:bodyPr wrap="square" lIns="36576" tIns="36576" rIns="36576" bIns="36576">
            <a:spAutoFit/>
          </a:bodyPr>
          <a:lstStyle/>
          <a:p>
            <a:pPr algn="l">
              <a:defRPr sz="1000" b="0">
                <a:solidFill>
                  <a:srgbClr val="1E1E1E"/>
                </a:solidFill>
              </a:defRPr>
            </a:pPr>
            <a:r>
              <a:t>Phụ trách từ điển dữ liệu, ánh xạ danh mục, kiểm soát chất lượng dữ liệu và cấu hình phân quyền trên Tenant L3.</a:t>
            </a:r>
          </a:p>
        </p:txBody>
      </p:sp>
      <p:sp>
        <p:nvSpPr>
          <p:cNvPr id="21" name="Rounded Rectangle 20"/>
          <p:cNvSpPr/>
          <p:nvPr/>
        </p:nvSpPr>
        <p:spPr>
          <a:xfrm>
            <a:off x="731520" y="5175504"/>
            <a:ext cx="10698480" cy="914400"/>
          </a:xfrm>
          <a:prstGeom prst="roundRect">
            <a:avLst/>
          </a:prstGeom>
          <a:solidFill>
            <a:srgbClr val="FDEEEE"/>
          </a:solidFill>
          <a:ln w="1270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8096" y="5212080"/>
            <a:ext cx="91440" cy="841248"/>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248656"/>
            <a:ext cx="10058400" cy="320040"/>
          </a:xfrm>
          <a:prstGeom prst="rect">
            <a:avLst/>
          </a:prstGeom>
          <a:noFill/>
        </p:spPr>
        <p:txBody>
          <a:bodyPr wrap="square" lIns="36576" tIns="36576" rIns="36576" bIns="36576">
            <a:spAutoFit/>
          </a:bodyPr>
          <a:lstStyle/>
          <a:p>
            <a:pPr algn="l">
              <a:defRPr sz="1150" b="1">
                <a:solidFill>
                  <a:srgbClr val="B42828"/>
                </a:solidFill>
              </a:defRPr>
            </a:pPr>
            <a:r>
              <a:t>CẤP 5: ĐƠN VỊ VẬN HÀNH NỀN TẢNG (BAN NCPT&amp;CĐS TCT / HIPT-AITS)</a:t>
            </a:r>
          </a:p>
        </p:txBody>
      </p:sp>
      <p:sp>
        <p:nvSpPr>
          <p:cNvPr id="24" name="TextBox 23"/>
          <p:cNvSpPr txBox="1"/>
          <p:nvPr/>
        </p:nvSpPr>
        <p:spPr>
          <a:xfrm>
            <a:off x="1097280" y="5522976"/>
            <a:ext cx="10058400" cy="502920"/>
          </a:xfrm>
          <a:prstGeom prst="rect">
            <a:avLst/>
          </a:prstGeom>
          <a:noFill/>
        </p:spPr>
        <p:txBody>
          <a:bodyPr wrap="square" lIns="36576" tIns="36576" rIns="36576" bIns="36576">
            <a:spAutoFit/>
          </a:bodyPr>
          <a:lstStyle/>
          <a:p>
            <a:pPr algn="l">
              <a:defRPr sz="1000" b="0">
                <a:solidFill>
                  <a:srgbClr val="1E1E1E"/>
                </a:solidFill>
              </a:defRPr>
            </a:pPr>
            <a:r>
              <a:t>Chỉ vận hành hạ tầng máy chủ, đường truyền mạng, bảo mật. TUYỆT ĐỐI KHÔNG ĐƯỢC XEM DỮ LIỆU NGHIỆP VỤ CỦA ĐƠN VỊ.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C: ĐẶC TẢ KIẾN TRÚC KỸ THUẬT — BẢO VỆ CHỦ QUYỀN DỮ LIỆU</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CỔNG QUYẾT ĐỊNH DỮ LIỆU: CÁI GÌ ĐẨY LÊN, CÁI GÌ GIỮ LẠI NỘI BỘ?</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06</a:t>
            </a:r>
          </a:p>
        </p:txBody>
      </p:sp>
      <p:sp>
        <p:nvSpPr>
          <p:cNvPr id="9" name="Rounded Rectangle 8"/>
          <p:cNvSpPr/>
          <p:nvPr/>
        </p:nvSpPr>
        <p:spPr>
          <a:xfrm>
            <a:off x="731520" y="1280160"/>
            <a:ext cx="3383280" cy="5029200"/>
          </a:xfrm>
          <a:prstGeom prst="roundRect">
            <a:avLst/>
          </a:prstGeom>
          <a:solidFill>
            <a:srgbClr val="FDEEEE"/>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3383280" cy="64008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07592"/>
            <a:ext cx="3383280" cy="274320"/>
          </a:xfrm>
          <a:prstGeom prst="rect">
            <a:avLst/>
          </a:prstGeom>
          <a:noFill/>
        </p:spPr>
        <p:txBody>
          <a:bodyPr wrap="square" lIns="36576" tIns="36576" rIns="36576" bIns="36576">
            <a:spAutoFit/>
          </a:bodyPr>
          <a:lstStyle/>
          <a:p>
            <a:pPr algn="ctr">
              <a:defRPr sz="1000" b="1">
                <a:solidFill>
                  <a:srgbClr val="FFFFFF"/>
                </a:solidFill>
              </a:defRPr>
            </a:pPr>
            <a:r>
              <a:t>MỨC 1: BÍ MẬT &amp; NHẠY CẢM</a:t>
            </a:r>
          </a:p>
        </p:txBody>
      </p:sp>
      <p:sp>
        <p:nvSpPr>
          <p:cNvPr id="12" name="TextBox 11"/>
          <p:cNvSpPr txBox="1"/>
          <p:nvPr/>
        </p:nvSpPr>
        <p:spPr>
          <a:xfrm>
            <a:off x="731520" y="1600200"/>
            <a:ext cx="3383280" cy="274320"/>
          </a:xfrm>
          <a:prstGeom prst="rect">
            <a:avLst/>
          </a:prstGeom>
          <a:noFill/>
        </p:spPr>
        <p:txBody>
          <a:bodyPr wrap="square" lIns="36576" tIns="36576" rIns="36576" bIns="36576">
            <a:spAutoFit/>
          </a:bodyPr>
          <a:lstStyle/>
          <a:p>
            <a:pPr algn="ctr">
              <a:defRPr sz="1050" b="1">
                <a:solidFill>
                  <a:srgbClr val="FEF08A"/>
                </a:solidFill>
              </a:defRPr>
            </a:pPr>
            <a:r>
              <a:t>GIỮ LẠI 100% NỘI BỘ QUẢNG NGÃI</a:t>
            </a:r>
          </a:p>
        </p:txBody>
      </p:sp>
      <p:sp>
        <p:nvSpPr>
          <p:cNvPr id="13" name="TextBox 12"/>
          <p:cNvSpPr txBox="1"/>
          <p:nvPr/>
        </p:nvSpPr>
        <p:spPr>
          <a:xfrm>
            <a:off x="868680" y="2103120"/>
            <a:ext cx="3108960" cy="365760"/>
          </a:xfrm>
          <a:prstGeom prst="rect">
            <a:avLst/>
          </a:prstGeom>
          <a:noFill/>
        </p:spPr>
        <p:txBody>
          <a:bodyPr wrap="square" lIns="36576" tIns="36576" rIns="36576" bIns="36576">
            <a:spAutoFit/>
          </a:bodyPr>
          <a:lstStyle/>
          <a:p>
            <a:pPr algn="l">
              <a:defRPr sz="1000" b="1">
                <a:solidFill>
                  <a:srgbClr val="B42828"/>
                </a:solidFill>
              </a:defRPr>
            </a:pPr>
            <a:r>
              <a:t>• Chi tiết mức lương từng cán bộ, nhân viên</a:t>
            </a:r>
          </a:p>
        </p:txBody>
      </p:sp>
      <p:sp>
        <p:nvSpPr>
          <p:cNvPr id="14" name="TextBox 13"/>
          <p:cNvSpPr txBox="1"/>
          <p:nvPr/>
        </p:nvSpPr>
        <p:spPr>
          <a:xfrm>
            <a:off x="868680" y="2514600"/>
            <a:ext cx="3108960" cy="365760"/>
          </a:xfrm>
          <a:prstGeom prst="rect">
            <a:avLst/>
          </a:prstGeom>
          <a:noFill/>
        </p:spPr>
        <p:txBody>
          <a:bodyPr wrap="square" lIns="36576" tIns="36576" rIns="36576" bIns="36576">
            <a:spAutoFit/>
          </a:bodyPr>
          <a:lstStyle/>
          <a:p>
            <a:pPr algn="l">
              <a:defRPr sz="1000" b="0">
                <a:solidFill>
                  <a:srgbClr val="1E1E1E"/>
                </a:solidFill>
              </a:defRPr>
            </a:pPr>
            <a:r>
              <a:t>• Số CCCD, số tài khoản ngân hàng cá nhân</a:t>
            </a:r>
          </a:p>
        </p:txBody>
      </p:sp>
      <p:sp>
        <p:nvSpPr>
          <p:cNvPr id="15" name="TextBox 14"/>
          <p:cNvSpPr txBox="1"/>
          <p:nvPr/>
        </p:nvSpPr>
        <p:spPr>
          <a:xfrm>
            <a:off x="868680" y="2926079"/>
            <a:ext cx="3108960" cy="365760"/>
          </a:xfrm>
          <a:prstGeom prst="rect">
            <a:avLst/>
          </a:prstGeom>
          <a:noFill/>
        </p:spPr>
        <p:txBody>
          <a:bodyPr wrap="square" lIns="36576" tIns="36576" rIns="36576" bIns="36576">
            <a:spAutoFit/>
          </a:bodyPr>
          <a:lstStyle/>
          <a:p>
            <a:pPr algn="l">
              <a:defRPr sz="1000" b="0">
                <a:solidFill>
                  <a:srgbClr val="1E1E1E"/>
                </a:solidFill>
              </a:defRPr>
            </a:pPr>
            <a:r>
              <a:t>• Định mức đơn giá, dự toán thầu mật</a:t>
            </a:r>
          </a:p>
        </p:txBody>
      </p:sp>
      <p:sp>
        <p:nvSpPr>
          <p:cNvPr id="16" name="TextBox 15"/>
          <p:cNvSpPr txBox="1"/>
          <p:nvPr/>
        </p:nvSpPr>
        <p:spPr>
          <a:xfrm>
            <a:off x="868680" y="3337560"/>
            <a:ext cx="3108960" cy="365760"/>
          </a:xfrm>
          <a:prstGeom prst="rect">
            <a:avLst/>
          </a:prstGeom>
          <a:noFill/>
        </p:spPr>
        <p:txBody>
          <a:bodyPr wrap="square" lIns="36576" tIns="36576" rIns="36576" bIns="36576">
            <a:spAutoFit/>
          </a:bodyPr>
          <a:lstStyle/>
          <a:p>
            <a:pPr algn="l">
              <a:defRPr sz="1000" b="0">
                <a:solidFill>
                  <a:srgbClr val="1E1E1E"/>
                </a:solidFill>
              </a:defRPr>
            </a:pPr>
            <a:r>
              <a:t>• Hồ sơ khiếu nại, hợp đồng nhạy cảm</a:t>
            </a:r>
          </a:p>
        </p:txBody>
      </p:sp>
      <p:sp>
        <p:nvSpPr>
          <p:cNvPr id="17" name="TextBox 16"/>
          <p:cNvSpPr txBox="1"/>
          <p:nvPr/>
        </p:nvSpPr>
        <p:spPr>
          <a:xfrm>
            <a:off x="868680" y="3749039"/>
            <a:ext cx="310896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18" name="TextBox 17"/>
          <p:cNvSpPr txBox="1"/>
          <p:nvPr/>
        </p:nvSpPr>
        <p:spPr>
          <a:xfrm>
            <a:off x="868680" y="4160520"/>
            <a:ext cx="3108960" cy="365760"/>
          </a:xfrm>
          <a:prstGeom prst="rect">
            <a:avLst/>
          </a:prstGeom>
          <a:noFill/>
        </p:spPr>
        <p:txBody>
          <a:bodyPr wrap="square" lIns="36576" tIns="36576" rIns="36576" bIns="36576">
            <a:spAutoFit/>
          </a:bodyPr>
          <a:lstStyle/>
          <a:p>
            <a:pPr algn="l">
              <a:defRPr sz="1000" b="1">
                <a:solidFill>
                  <a:srgbClr val="B42828"/>
                </a:solidFill>
              </a:defRPr>
            </a:pPr>
            <a:r>
              <a:t>LƯU TRỮ TẠI CHỖ:</a:t>
            </a:r>
          </a:p>
        </p:txBody>
      </p:sp>
      <p:sp>
        <p:nvSpPr>
          <p:cNvPr id="19" name="TextBox 18"/>
          <p:cNvSpPr txBox="1"/>
          <p:nvPr/>
        </p:nvSpPr>
        <p:spPr>
          <a:xfrm>
            <a:off x="868680" y="4572000"/>
            <a:ext cx="3108960" cy="365760"/>
          </a:xfrm>
          <a:prstGeom prst="rect">
            <a:avLst/>
          </a:prstGeom>
          <a:noFill/>
        </p:spPr>
        <p:txBody>
          <a:bodyPr wrap="square" lIns="36576" tIns="36576" rIns="36576" bIns="36576">
            <a:spAutoFit/>
          </a:bodyPr>
          <a:lstStyle/>
          <a:p>
            <a:pPr algn="l">
              <a:defRPr sz="1000" b="0">
                <a:solidFill>
                  <a:srgbClr val="1E1E1E"/>
                </a:solidFill>
              </a:defRPr>
            </a:pPr>
            <a:r>
              <a:t>CSDL On-prem QN, cấm truyền ra ngoài.</a:t>
            </a:r>
          </a:p>
        </p:txBody>
      </p:sp>
      <p:sp>
        <p:nvSpPr>
          <p:cNvPr id="20" name="Rounded Rectangle 19"/>
          <p:cNvSpPr/>
          <p:nvPr/>
        </p:nvSpPr>
        <p:spPr>
          <a:xfrm>
            <a:off x="4434840" y="1280160"/>
            <a:ext cx="3383280" cy="5029200"/>
          </a:xfrm>
          <a:prstGeom prst="roundRect">
            <a:avLst/>
          </a:prstGeom>
          <a:solidFill>
            <a:srgbClr val="E6F0FA"/>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34840" y="1280160"/>
            <a:ext cx="3383280" cy="6400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1307592"/>
            <a:ext cx="3383280" cy="274320"/>
          </a:xfrm>
          <a:prstGeom prst="rect">
            <a:avLst/>
          </a:prstGeom>
          <a:noFill/>
        </p:spPr>
        <p:txBody>
          <a:bodyPr wrap="square" lIns="36576" tIns="36576" rIns="36576" bIns="36576">
            <a:spAutoFit/>
          </a:bodyPr>
          <a:lstStyle/>
          <a:p>
            <a:pPr algn="ctr">
              <a:defRPr sz="1000" b="1">
                <a:solidFill>
                  <a:srgbClr val="FFFFFF"/>
                </a:solidFill>
              </a:defRPr>
            </a:pPr>
            <a:r>
              <a:t>MỨC 2: CHUYÊN NGÀNH NỘI BỘ</a:t>
            </a:r>
          </a:p>
        </p:txBody>
      </p:sp>
      <p:sp>
        <p:nvSpPr>
          <p:cNvPr id="23" name="TextBox 22"/>
          <p:cNvSpPr txBox="1"/>
          <p:nvPr/>
        </p:nvSpPr>
        <p:spPr>
          <a:xfrm>
            <a:off x="4434840" y="1600200"/>
            <a:ext cx="3383280" cy="274320"/>
          </a:xfrm>
          <a:prstGeom prst="rect">
            <a:avLst/>
          </a:prstGeom>
          <a:noFill/>
        </p:spPr>
        <p:txBody>
          <a:bodyPr wrap="square" lIns="36576" tIns="36576" rIns="36576" bIns="36576">
            <a:spAutoFit/>
          </a:bodyPr>
          <a:lstStyle/>
          <a:p>
            <a:pPr algn="ctr">
              <a:defRPr sz="1050" b="1">
                <a:solidFill>
                  <a:srgbClr val="FEF08A"/>
                </a:solidFill>
              </a:defRPr>
            </a:pPr>
            <a:r>
              <a:t>LƯU VÀO TENANT L3 TRÊN CLOUD</a:t>
            </a:r>
          </a:p>
        </p:txBody>
      </p:sp>
      <p:sp>
        <p:nvSpPr>
          <p:cNvPr id="24" name="TextBox 23"/>
          <p:cNvSpPr txBox="1"/>
          <p:nvPr/>
        </p:nvSpPr>
        <p:spPr>
          <a:xfrm>
            <a:off x="4572000" y="2103120"/>
            <a:ext cx="3108960" cy="365760"/>
          </a:xfrm>
          <a:prstGeom prst="rect">
            <a:avLst/>
          </a:prstGeom>
          <a:noFill/>
        </p:spPr>
        <p:txBody>
          <a:bodyPr wrap="square" lIns="36576" tIns="36576" rIns="36576" bIns="36576">
            <a:spAutoFit/>
          </a:bodyPr>
          <a:lstStyle/>
          <a:p>
            <a:pPr algn="l">
              <a:defRPr sz="1000" b="1">
                <a:solidFill>
                  <a:srgbClr val="00509D"/>
                </a:solidFill>
              </a:defRPr>
            </a:pPr>
            <a:r>
              <a:t>• Nhật trình xe cẩu, tàu lai dắt tại Cảng QN</a:t>
            </a:r>
          </a:p>
        </p:txBody>
      </p:sp>
      <p:sp>
        <p:nvSpPr>
          <p:cNvPr id="25" name="TextBox 24"/>
          <p:cNvSpPr txBox="1"/>
          <p:nvPr/>
        </p:nvSpPr>
        <p:spPr>
          <a:xfrm>
            <a:off x="4572000" y="2514600"/>
            <a:ext cx="3108960" cy="365760"/>
          </a:xfrm>
          <a:prstGeom prst="rect">
            <a:avLst/>
          </a:prstGeom>
          <a:noFill/>
        </p:spPr>
        <p:txBody>
          <a:bodyPr wrap="square" lIns="36576" tIns="36576" rIns="36576" bIns="36576">
            <a:spAutoFit/>
          </a:bodyPr>
          <a:lstStyle/>
          <a:p>
            <a:pPr algn="l">
              <a:defRPr sz="1000" b="0">
                <a:solidFill>
                  <a:srgbClr val="1E1E1E"/>
                </a:solidFill>
              </a:defRPr>
            </a:pPr>
            <a:r>
              <a:t>• Sản lượng chi tiết xưởng cơ khí Dung Quất</a:t>
            </a:r>
          </a:p>
        </p:txBody>
      </p:sp>
      <p:sp>
        <p:nvSpPr>
          <p:cNvPr id="26" name="TextBox 25"/>
          <p:cNvSpPr txBox="1"/>
          <p:nvPr/>
        </p:nvSpPr>
        <p:spPr>
          <a:xfrm>
            <a:off x="4572000" y="2926079"/>
            <a:ext cx="3108960" cy="365760"/>
          </a:xfrm>
          <a:prstGeom prst="rect">
            <a:avLst/>
          </a:prstGeom>
          <a:noFill/>
        </p:spPr>
        <p:txBody>
          <a:bodyPr wrap="square" lIns="36576" tIns="36576" rIns="36576" bIns="36576">
            <a:spAutoFit/>
          </a:bodyPr>
          <a:lstStyle/>
          <a:p>
            <a:pPr algn="l">
              <a:defRPr sz="1000" b="0">
                <a:solidFill>
                  <a:srgbClr val="1E1E1E"/>
                </a:solidFill>
              </a:defRPr>
            </a:pPr>
            <a:r>
              <a:t>• Nhật ký công trường, chấm công ca kíp</a:t>
            </a:r>
          </a:p>
        </p:txBody>
      </p:sp>
      <p:sp>
        <p:nvSpPr>
          <p:cNvPr id="27" name="TextBox 26"/>
          <p:cNvSpPr txBox="1"/>
          <p:nvPr/>
        </p:nvSpPr>
        <p:spPr>
          <a:xfrm>
            <a:off x="4572000" y="3337560"/>
            <a:ext cx="3108960" cy="365760"/>
          </a:xfrm>
          <a:prstGeom prst="rect">
            <a:avLst/>
          </a:prstGeom>
          <a:noFill/>
        </p:spPr>
        <p:txBody>
          <a:bodyPr wrap="square" lIns="36576" tIns="36576" rIns="36576" bIns="36576">
            <a:spAutoFit/>
          </a:bodyPr>
          <a:lstStyle/>
          <a:p>
            <a:pPr algn="l">
              <a:defRPr sz="1000" b="0">
                <a:solidFill>
                  <a:srgbClr val="1E1E1E"/>
                </a:solidFill>
              </a:defRPr>
            </a:pPr>
            <a:r>
              <a:t>• Báo cáo điều hành phục vụ riêng Ban Giám đốc</a:t>
            </a:r>
          </a:p>
        </p:txBody>
      </p:sp>
      <p:sp>
        <p:nvSpPr>
          <p:cNvPr id="28" name="TextBox 27"/>
          <p:cNvSpPr txBox="1"/>
          <p:nvPr/>
        </p:nvSpPr>
        <p:spPr>
          <a:xfrm>
            <a:off x="4572000" y="3749039"/>
            <a:ext cx="310896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29" name="TextBox 28"/>
          <p:cNvSpPr txBox="1"/>
          <p:nvPr/>
        </p:nvSpPr>
        <p:spPr>
          <a:xfrm>
            <a:off x="4572000" y="4160520"/>
            <a:ext cx="3108960" cy="365760"/>
          </a:xfrm>
          <a:prstGeom prst="rect">
            <a:avLst/>
          </a:prstGeom>
          <a:noFill/>
        </p:spPr>
        <p:txBody>
          <a:bodyPr wrap="square" lIns="36576" tIns="36576" rIns="36576" bIns="36576">
            <a:spAutoFit/>
          </a:bodyPr>
          <a:lstStyle/>
          <a:p>
            <a:pPr algn="l">
              <a:defRPr sz="1000" b="1">
                <a:solidFill>
                  <a:srgbClr val="00509D"/>
                </a:solidFill>
              </a:defRPr>
            </a:pPr>
            <a:r>
              <a:t>PHÂN VÙNG CÁCH LY:</a:t>
            </a:r>
          </a:p>
        </p:txBody>
      </p:sp>
      <p:sp>
        <p:nvSpPr>
          <p:cNvPr id="30" name="TextBox 29"/>
          <p:cNvSpPr txBox="1"/>
          <p:nvPr/>
        </p:nvSpPr>
        <p:spPr>
          <a:xfrm>
            <a:off x="4572000" y="4572000"/>
            <a:ext cx="3108960" cy="365760"/>
          </a:xfrm>
          <a:prstGeom prst="rect">
            <a:avLst/>
          </a:prstGeom>
          <a:noFill/>
        </p:spPr>
        <p:txBody>
          <a:bodyPr wrap="square" lIns="36576" tIns="36576" rIns="36576" bIns="36576">
            <a:spAutoFit/>
          </a:bodyPr>
          <a:lstStyle/>
          <a:p>
            <a:pPr algn="l">
              <a:defRPr sz="1000" b="0">
                <a:solidFill>
                  <a:srgbClr val="1E1E1E"/>
                </a:solidFill>
              </a:defRPr>
            </a:pPr>
            <a:r>
              <a:t>Chỉ User QN xem được, TCT không thấy.</a:t>
            </a:r>
          </a:p>
        </p:txBody>
      </p:sp>
      <p:sp>
        <p:nvSpPr>
          <p:cNvPr id="31" name="Rounded Rectangle 30"/>
          <p:cNvSpPr/>
          <p:nvPr/>
        </p:nvSpPr>
        <p:spPr>
          <a:xfrm>
            <a:off x="8138160" y="1280160"/>
            <a:ext cx="3383280" cy="5029200"/>
          </a:xfrm>
          <a:prstGeom prst="roundRect">
            <a:avLst/>
          </a:prstGeom>
          <a:solidFill>
            <a:srgbClr val="E6F5EB"/>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38160" y="1280160"/>
            <a:ext cx="3383280" cy="6400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1307592"/>
            <a:ext cx="3383280" cy="274320"/>
          </a:xfrm>
          <a:prstGeom prst="rect">
            <a:avLst/>
          </a:prstGeom>
          <a:noFill/>
        </p:spPr>
        <p:txBody>
          <a:bodyPr wrap="square" lIns="36576" tIns="36576" rIns="36576" bIns="36576">
            <a:spAutoFit/>
          </a:bodyPr>
          <a:lstStyle/>
          <a:p>
            <a:pPr algn="ctr">
              <a:defRPr sz="1000" b="1">
                <a:solidFill>
                  <a:srgbClr val="FFFFFF"/>
                </a:solidFill>
              </a:defRPr>
            </a:pPr>
            <a:r>
              <a:t>MỨC 3: DÙNG CHUNG &amp; HỢP NHẤT</a:t>
            </a:r>
          </a:p>
        </p:txBody>
      </p:sp>
      <p:sp>
        <p:nvSpPr>
          <p:cNvPr id="34" name="TextBox 33"/>
          <p:cNvSpPr txBox="1"/>
          <p:nvPr/>
        </p:nvSpPr>
        <p:spPr>
          <a:xfrm>
            <a:off x="8138160" y="1600200"/>
            <a:ext cx="3383280" cy="274320"/>
          </a:xfrm>
          <a:prstGeom prst="rect">
            <a:avLst/>
          </a:prstGeom>
          <a:noFill/>
        </p:spPr>
        <p:txBody>
          <a:bodyPr wrap="square" lIns="36576" tIns="36576" rIns="36576" bIns="36576">
            <a:spAutoFit/>
          </a:bodyPr>
          <a:lstStyle/>
          <a:p>
            <a:pPr algn="ctr">
              <a:defRPr sz="1050" b="1">
                <a:solidFill>
                  <a:srgbClr val="FEF08A"/>
                </a:solidFill>
              </a:defRPr>
            </a:pPr>
            <a:r>
              <a:t>ĐỒNG BỘ VỀ HUB TỔNG CÔNG TY</a:t>
            </a:r>
          </a:p>
        </p:txBody>
      </p:sp>
      <p:sp>
        <p:nvSpPr>
          <p:cNvPr id="35" name="TextBox 34"/>
          <p:cNvSpPr txBox="1"/>
          <p:nvPr/>
        </p:nvSpPr>
        <p:spPr>
          <a:xfrm>
            <a:off x="8275320" y="2103120"/>
            <a:ext cx="3108960" cy="365760"/>
          </a:xfrm>
          <a:prstGeom prst="rect">
            <a:avLst/>
          </a:prstGeom>
          <a:noFill/>
        </p:spPr>
        <p:txBody>
          <a:bodyPr wrap="square" lIns="36576" tIns="36576" rIns="36576" bIns="36576">
            <a:spAutoFit/>
          </a:bodyPr>
          <a:lstStyle/>
          <a:p>
            <a:pPr algn="l">
              <a:defRPr sz="1000" b="1">
                <a:solidFill>
                  <a:srgbClr val="14783C"/>
                </a:solidFill>
              </a:defRPr>
            </a:pPr>
            <a:r>
              <a:t>• Báo cáo tổng hợp Doanh thu - Lợi nhuận</a:t>
            </a:r>
          </a:p>
        </p:txBody>
      </p:sp>
      <p:sp>
        <p:nvSpPr>
          <p:cNvPr id="36" name="TextBox 35"/>
          <p:cNvSpPr txBox="1"/>
          <p:nvPr/>
        </p:nvSpPr>
        <p:spPr>
          <a:xfrm>
            <a:off x="8275320" y="2514600"/>
            <a:ext cx="3108960" cy="365760"/>
          </a:xfrm>
          <a:prstGeom prst="rect">
            <a:avLst/>
          </a:prstGeom>
          <a:noFill/>
        </p:spPr>
        <p:txBody>
          <a:bodyPr wrap="square" lIns="36576" tIns="36576" rIns="36576" bIns="36576">
            <a:spAutoFit/>
          </a:bodyPr>
          <a:lstStyle/>
          <a:p>
            <a:pPr algn="l">
              <a:defRPr sz="1000" b="0">
                <a:solidFill>
                  <a:srgbClr val="1E1E1E"/>
                </a:solidFill>
              </a:defRPr>
            </a:pPr>
            <a:r>
              <a:t>• Tổng số lao động &amp; Quỹ lương toàn công ty</a:t>
            </a:r>
          </a:p>
        </p:txBody>
      </p:sp>
      <p:sp>
        <p:nvSpPr>
          <p:cNvPr id="37" name="TextBox 36"/>
          <p:cNvSpPr txBox="1"/>
          <p:nvPr/>
        </p:nvSpPr>
        <p:spPr>
          <a:xfrm>
            <a:off x="8275320" y="2926079"/>
            <a:ext cx="3108960" cy="365760"/>
          </a:xfrm>
          <a:prstGeom prst="rect">
            <a:avLst/>
          </a:prstGeom>
          <a:noFill/>
        </p:spPr>
        <p:txBody>
          <a:bodyPr wrap="square" lIns="36576" tIns="36576" rIns="36576" bIns="36576">
            <a:spAutoFit/>
          </a:bodyPr>
          <a:lstStyle/>
          <a:p>
            <a:pPr algn="l">
              <a:defRPr sz="1000" b="0">
                <a:solidFill>
                  <a:srgbClr val="1E1E1E"/>
                </a:solidFill>
              </a:defRPr>
            </a:pPr>
            <a:r>
              <a:t>• 29 Danh mục Master Data (Mã KH, NCC)</a:t>
            </a:r>
          </a:p>
        </p:txBody>
      </p:sp>
      <p:sp>
        <p:nvSpPr>
          <p:cNvPr id="38" name="TextBox 37"/>
          <p:cNvSpPr txBox="1"/>
          <p:nvPr/>
        </p:nvSpPr>
        <p:spPr>
          <a:xfrm>
            <a:off x="8275320" y="3337560"/>
            <a:ext cx="3108960" cy="365760"/>
          </a:xfrm>
          <a:prstGeom prst="rect">
            <a:avLst/>
          </a:prstGeom>
          <a:noFill/>
        </p:spPr>
        <p:txBody>
          <a:bodyPr wrap="square" lIns="36576" tIns="36576" rIns="36576" bIns="36576">
            <a:spAutoFit/>
          </a:bodyPr>
          <a:lstStyle/>
          <a:p>
            <a:pPr algn="l">
              <a:defRPr sz="1000" b="0">
                <a:solidFill>
                  <a:srgbClr val="1E1E1E"/>
                </a:solidFill>
              </a:defRPr>
            </a:pPr>
            <a:r>
              <a:t>• Báo cáo sự cố an toàn HSE định kỳ</a:t>
            </a:r>
          </a:p>
        </p:txBody>
      </p:sp>
      <p:sp>
        <p:nvSpPr>
          <p:cNvPr id="39" name="TextBox 38"/>
          <p:cNvSpPr txBox="1"/>
          <p:nvPr/>
        </p:nvSpPr>
        <p:spPr>
          <a:xfrm>
            <a:off x="8275320" y="3749039"/>
            <a:ext cx="310896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40" name="TextBox 39"/>
          <p:cNvSpPr txBox="1"/>
          <p:nvPr/>
        </p:nvSpPr>
        <p:spPr>
          <a:xfrm>
            <a:off x="8275320" y="4160520"/>
            <a:ext cx="3108960" cy="365760"/>
          </a:xfrm>
          <a:prstGeom prst="rect">
            <a:avLst/>
          </a:prstGeom>
          <a:noFill/>
        </p:spPr>
        <p:txBody>
          <a:bodyPr wrap="square" lIns="36576" tIns="36576" rIns="36576" bIns="36576">
            <a:spAutoFit/>
          </a:bodyPr>
          <a:lstStyle/>
          <a:p>
            <a:pPr algn="l">
              <a:defRPr sz="1000" b="1">
                <a:solidFill>
                  <a:srgbClr val="14783C"/>
                </a:solidFill>
              </a:defRPr>
            </a:pPr>
            <a:r>
              <a:t>ĐIỀU KIỆN TRUYỀN:</a:t>
            </a:r>
          </a:p>
        </p:txBody>
      </p:sp>
      <p:sp>
        <p:nvSpPr>
          <p:cNvPr id="41" name="TextBox 40"/>
          <p:cNvSpPr txBox="1"/>
          <p:nvPr/>
        </p:nvSpPr>
        <p:spPr>
          <a:xfrm>
            <a:off x="8275320" y="4572000"/>
            <a:ext cx="3108960" cy="365760"/>
          </a:xfrm>
          <a:prstGeom prst="rect">
            <a:avLst/>
          </a:prstGeom>
          <a:noFill/>
        </p:spPr>
        <p:txBody>
          <a:bodyPr wrap="square" lIns="36576" tIns="36576" rIns="36576" bIns="36576">
            <a:spAutoFit/>
          </a:bodyPr>
          <a:lstStyle/>
          <a:p>
            <a:pPr algn="l">
              <a:defRPr sz="1000" b="0">
                <a:solidFill>
                  <a:srgbClr val="1E1E1E"/>
                </a:solidFill>
              </a:defRPr>
            </a:pPr>
            <a:r>
              <a:t>Lãnh đạo QN bấm APPROVE mới truyền đi.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C: ĐẶC TẢ KIẾN TRÚC KỸ THUẬT — SƠ ĐỒ END-TO-END</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KIẾN TRÚC TỔNG THỂ 4 TẦNG: TỪ HỆ THỐNG NGUỒN ĐẾN DASHBOARD ĐIỀU HÀNH</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07</a:t>
            </a:r>
          </a:p>
        </p:txBody>
      </p:sp>
      <p:sp>
        <p:nvSpPr>
          <p:cNvPr id="9" name="Rounded Rectangle 8"/>
          <p:cNvSpPr/>
          <p:nvPr/>
        </p:nvSpPr>
        <p:spPr>
          <a:xfrm>
            <a:off x="548640" y="1371600"/>
            <a:ext cx="2514600" cy="4937760"/>
          </a:xfrm>
          <a:prstGeom prst="roundRect">
            <a:avLst/>
          </a:prstGeom>
          <a:solidFill>
            <a:srgbClr val="E6F0FA"/>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14600" cy="5943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399032"/>
            <a:ext cx="2514600" cy="320040"/>
          </a:xfrm>
          <a:prstGeom prst="rect">
            <a:avLst/>
          </a:prstGeom>
          <a:noFill/>
        </p:spPr>
        <p:txBody>
          <a:bodyPr wrap="square" lIns="36576" tIns="36576" rIns="36576" bIns="36576">
            <a:spAutoFit/>
          </a:bodyPr>
          <a:lstStyle/>
          <a:p>
            <a:pPr algn="ctr">
              <a:defRPr sz="1050" b="1">
                <a:solidFill>
                  <a:srgbClr val="FFFFFF"/>
                </a:solidFill>
              </a:defRPr>
            </a:pPr>
            <a:r>
              <a:t>TẦNG 1: NGUỒN DỮ LIỆU</a:t>
            </a:r>
          </a:p>
        </p:txBody>
      </p:sp>
      <p:sp>
        <p:nvSpPr>
          <p:cNvPr id="12" name="TextBox 11"/>
          <p:cNvSpPr txBox="1"/>
          <p:nvPr/>
        </p:nvSpPr>
        <p:spPr>
          <a:xfrm>
            <a:off x="548640" y="1719072"/>
            <a:ext cx="2514600" cy="228600"/>
          </a:xfrm>
          <a:prstGeom prst="rect">
            <a:avLst/>
          </a:prstGeom>
          <a:noFill/>
        </p:spPr>
        <p:txBody>
          <a:bodyPr wrap="square" lIns="36576" tIns="36576" rIns="36576" bIns="36576">
            <a:spAutoFit/>
          </a:bodyPr>
          <a:lstStyle/>
          <a:p>
            <a:pPr algn="ctr">
              <a:defRPr sz="850" b="1">
                <a:solidFill>
                  <a:srgbClr val="FEF08A"/>
                </a:solidFill>
              </a:defRPr>
            </a:pPr>
            <a:r>
              <a:t>NỘI BỘ QUẢNG NGÃI</a:t>
            </a:r>
          </a:p>
        </p:txBody>
      </p:sp>
      <p:sp>
        <p:nvSpPr>
          <p:cNvPr id="13" name="TextBox 12"/>
          <p:cNvSpPr txBox="1"/>
          <p:nvPr/>
        </p:nvSpPr>
        <p:spPr>
          <a:xfrm>
            <a:off x="658368" y="2148840"/>
            <a:ext cx="2286000" cy="365760"/>
          </a:xfrm>
          <a:prstGeom prst="rect">
            <a:avLst/>
          </a:prstGeom>
          <a:noFill/>
        </p:spPr>
        <p:txBody>
          <a:bodyPr wrap="square" lIns="36576" tIns="36576" rIns="36576" bIns="36576">
            <a:spAutoFit/>
          </a:bodyPr>
          <a:lstStyle/>
          <a:p>
            <a:pPr algn="l">
              <a:defRPr sz="1000" b="1">
                <a:solidFill>
                  <a:srgbClr val="00509D"/>
                </a:solidFill>
              </a:defRPr>
            </a:pPr>
            <a:r>
              <a:t>Hệ thống nghiệp vụ QN:</a:t>
            </a:r>
          </a:p>
        </p:txBody>
      </p:sp>
      <p:sp>
        <p:nvSpPr>
          <p:cNvPr id="14" name="TextBox 13"/>
          <p:cNvSpPr txBox="1"/>
          <p:nvPr/>
        </p:nvSpPr>
        <p:spPr>
          <a:xfrm>
            <a:off x="658368" y="2560320"/>
            <a:ext cx="2286000" cy="365760"/>
          </a:xfrm>
          <a:prstGeom prst="rect">
            <a:avLst/>
          </a:prstGeom>
          <a:noFill/>
        </p:spPr>
        <p:txBody>
          <a:bodyPr wrap="square" lIns="36576" tIns="36576" rIns="36576" bIns="36576">
            <a:spAutoFit/>
          </a:bodyPr>
          <a:lstStyle/>
          <a:p>
            <a:pPr algn="l">
              <a:defRPr sz="1000" b="0">
                <a:solidFill>
                  <a:srgbClr val="1E1E1E"/>
                </a:solidFill>
              </a:defRPr>
            </a:pPr>
            <a:r>
              <a:t>• FAST Kế toán &amp; Hóa đơn</a:t>
            </a:r>
          </a:p>
        </p:txBody>
      </p:sp>
      <p:sp>
        <p:nvSpPr>
          <p:cNvPr id="15" name="TextBox 14"/>
          <p:cNvSpPr txBox="1"/>
          <p:nvPr/>
        </p:nvSpPr>
        <p:spPr>
          <a:xfrm>
            <a:off x="658368" y="2971800"/>
            <a:ext cx="2286000" cy="365760"/>
          </a:xfrm>
          <a:prstGeom prst="rect">
            <a:avLst/>
          </a:prstGeom>
          <a:noFill/>
        </p:spPr>
        <p:txBody>
          <a:bodyPr wrap="square" lIns="36576" tIns="36576" rIns="36576" bIns="36576">
            <a:spAutoFit/>
          </a:bodyPr>
          <a:lstStyle/>
          <a:p>
            <a:pPr algn="l">
              <a:defRPr sz="1000" b="0">
                <a:solidFill>
                  <a:srgbClr val="1E1E1E"/>
                </a:solidFill>
              </a:defRPr>
            </a:pPr>
            <a:r>
              <a:t>• MESx-PMSx xưởng cơ khí</a:t>
            </a:r>
          </a:p>
        </p:txBody>
      </p:sp>
      <p:sp>
        <p:nvSpPr>
          <p:cNvPr id="16" name="TextBox 15"/>
          <p:cNvSpPr txBox="1"/>
          <p:nvPr/>
        </p:nvSpPr>
        <p:spPr>
          <a:xfrm>
            <a:off x="658368" y="3383280"/>
            <a:ext cx="2286000" cy="365760"/>
          </a:xfrm>
          <a:prstGeom prst="rect">
            <a:avLst/>
          </a:prstGeom>
          <a:noFill/>
        </p:spPr>
        <p:txBody>
          <a:bodyPr wrap="square" lIns="36576" tIns="36576" rIns="36576" bIns="36576">
            <a:spAutoFit/>
          </a:bodyPr>
          <a:lstStyle/>
          <a:p>
            <a:pPr algn="l">
              <a:defRPr sz="1000" b="0">
                <a:solidFill>
                  <a:srgbClr val="1E1E1E"/>
                </a:solidFill>
              </a:defRPr>
            </a:pPr>
            <a:r>
              <a:t>• VTI-IRTECH quản lý Cảng</a:t>
            </a:r>
          </a:p>
        </p:txBody>
      </p:sp>
      <p:sp>
        <p:nvSpPr>
          <p:cNvPr id="17" name="TextBox 16"/>
          <p:cNvSpPr txBox="1"/>
          <p:nvPr/>
        </p:nvSpPr>
        <p:spPr>
          <a:xfrm>
            <a:off x="658368" y="3794760"/>
            <a:ext cx="2286000" cy="365760"/>
          </a:xfrm>
          <a:prstGeom prst="rect">
            <a:avLst/>
          </a:prstGeom>
          <a:noFill/>
        </p:spPr>
        <p:txBody>
          <a:bodyPr wrap="square" lIns="36576" tIns="36576" rIns="36576" bIns="36576">
            <a:spAutoFit/>
          </a:bodyPr>
          <a:lstStyle/>
          <a:p>
            <a:pPr algn="l">
              <a:defRPr sz="1000" b="0">
                <a:solidFill>
                  <a:srgbClr val="1E1E1E"/>
                </a:solidFill>
              </a:defRPr>
            </a:pPr>
            <a:r>
              <a:t>• HSEQ &amp; Mua sắm</a:t>
            </a:r>
          </a:p>
        </p:txBody>
      </p:sp>
      <p:sp>
        <p:nvSpPr>
          <p:cNvPr id="18" name="TextBox 17"/>
          <p:cNvSpPr txBox="1"/>
          <p:nvPr/>
        </p:nvSpPr>
        <p:spPr>
          <a:xfrm>
            <a:off x="658368" y="4206240"/>
            <a:ext cx="2286000" cy="365760"/>
          </a:xfrm>
          <a:prstGeom prst="rect">
            <a:avLst/>
          </a:prstGeom>
          <a:noFill/>
        </p:spPr>
        <p:txBody>
          <a:bodyPr wrap="square" lIns="36576" tIns="36576" rIns="36576" bIns="36576">
            <a:spAutoFit/>
          </a:bodyPr>
          <a:lstStyle/>
          <a:p>
            <a:pPr algn="l">
              <a:defRPr sz="1000" b="0">
                <a:solidFill>
                  <a:srgbClr val="1E1E1E"/>
                </a:solidFill>
              </a:defRPr>
            </a:pPr>
            <a:r>
              <a:t>• Excel dự toán, chấm công</a:t>
            </a:r>
          </a:p>
        </p:txBody>
      </p:sp>
      <p:sp>
        <p:nvSpPr>
          <p:cNvPr id="19" name="TextBox 18"/>
          <p:cNvSpPr txBox="1"/>
          <p:nvPr/>
        </p:nvSpPr>
        <p:spPr>
          <a:xfrm>
            <a:off x="658368" y="4617720"/>
            <a:ext cx="228600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20" name="TextBox 19"/>
          <p:cNvSpPr txBox="1"/>
          <p:nvPr/>
        </p:nvSpPr>
        <p:spPr>
          <a:xfrm>
            <a:off x="658368" y="5029200"/>
            <a:ext cx="2286000" cy="365760"/>
          </a:xfrm>
          <a:prstGeom prst="rect">
            <a:avLst/>
          </a:prstGeom>
          <a:noFill/>
        </p:spPr>
        <p:txBody>
          <a:bodyPr wrap="square" lIns="36576" tIns="36576" rIns="36576" bIns="36576">
            <a:spAutoFit/>
          </a:bodyPr>
          <a:lstStyle/>
          <a:p>
            <a:pPr algn="l">
              <a:defRPr sz="1000" b="1">
                <a:solidFill>
                  <a:srgbClr val="00509D"/>
                </a:solidFill>
              </a:defRPr>
            </a:pPr>
            <a:r>
              <a:t>Hoạt động bình thường.</a:t>
            </a:r>
          </a:p>
        </p:txBody>
      </p:sp>
      <p:sp>
        <p:nvSpPr>
          <p:cNvPr id="21" name="Right Arrow 20"/>
          <p:cNvSpPr/>
          <p:nvPr/>
        </p:nvSpPr>
        <p:spPr>
          <a:xfrm>
            <a:off x="3127248" y="3657600"/>
            <a:ext cx="274320" cy="201168"/>
          </a:xfrm>
          <a:prstGeom prst="rightArrow">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383280" y="1371600"/>
            <a:ext cx="2514600" cy="4937760"/>
          </a:xfrm>
          <a:prstGeom prst="roundRect">
            <a:avLst/>
          </a:prstGeom>
          <a:solidFill>
            <a:srgbClr val="E6F8F6"/>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83280" y="1371600"/>
            <a:ext cx="2514600" cy="5943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83280" y="1399032"/>
            <a:ext cx="2514600" cy="320040"/>
          </a:xfrm>
          <a:prstGeom prst="rect">
            <a:avLst/>
          </a:prstGeom>
          <a:noFill/>
        </p:spPr>
        <p:txBody>
          <a:bodyPr wrap="square" lIns="36576" tIns="36576" rIns="36576" bIns="36576">
            <a:spAutoFit/>
          </a:bodyPr>
          <a:lstStyle/>
          <a:p>
            <a:pPr algn="ctr">
              <a:defRPr sz="1050" b="1">
                <a:solidFill>
                  <a:srgbClr val="FFFFFF"/>
                </a:solidFill>
              </a:defRPr>
            </a:pPr>
            <a:r>
              <a:t>TẦNG 2: SPOKE &amp; VÙNG ĐỆM</a:t>
            </a:r>
          </a:p>
        </p:txBody>
      </p:sp>
      <p:sp>
        <p:nvSpPr>
          <p:cNvPr id="25" name="TextBox 24"/>
          <p:cNvSpPr txBox="1"/>
          <p:nvPr/>
        </p:nvSpPr>
        <p:spPr>
          <a:xfrm>
            <a:off x="3383280" y="1719072"/>
            <a:ext cx="2514600" cy="228600"/>
          </a:xfrm>
          <a:prstGeom prst="rect">
            <a:avLst/>
          </a:prstGeom>
          <a:noFill/>
        </p:spPr>
        <p:txBody>
          <a:bodyPr wrap="square" lIns="36576" tIns="36576" rIns="36576" bIns="36576">
            <a:spAutoFit/>
          </a:bodyPr>
          <a:lstStyle/>
          <a:p>
            <a:pPr algn="ctr">
              <a:defRPr sz="850" b="1">
                <a:solidFill>
                  <a:srgbClr val="FEF08A"/>
                </a:solidFill>
              </a:defRPr>
            </a:pPr>
            <a:r>
              <a:t>LANDING ZONE &amp; CỔNG DUYỆT</a:t>
            </a:r>
          </a:p>
        </p:txBody>
      </p:sp>
      <p:sp>
        <p:nvSpPr>
          <p:cNvPr id="26" name="TextBox 25"/>
          <p:cNvSpPr txBox="1"/>
          <p:nvPr/>
        </p:nvSpPr>
        <p:spPr>
          <a:xfrm>
            <a:off x="3493008" y="2148840"/>
            <a:ext cx="2286000" cy="365760"/>
          </a:xfrm>
          <a:prstGeom prst="rect">
            <a:avLst/>
          </a:prstGeom>
          <a:noFill/>
        </p:spPr>
        <p:txBody>
          <a:bodyPr wrap="square" lIns="36576" tIns="36576" rIns="36576" bIns="36576">
            <a:spAutoFit/>
          </a:bodyPr>
          <a:lstStyle/>
          <a:p>
            <a:pPr algn="l">
              <a:defRPr sz="1000" b="1">
                <a:solidFill>
                  <a:srgbClr val="008080"/>
                </a:solidFill>
              </a:defRPr>
            </a:pPr>
            <a:r>
              <a:t>Xử lý an toàn tại chỗ:</a:t>
            </a:r>
          </a:p>
        </p:txBody>
      </p:sp>
      <p:sp>
        <p:nvSpPr>
          <p:cNvPr id="27" name="TextBox 26"/>
          <p:cNvSpPr txBox="1"/>
          <p:nvPr/>
        </p:nvSpPr>
        <p:spPr>
          <a:xfrm>
            <a:off x="3493008" y="2560320"/>
            <a:ext cx="2286000" cy="365760"/>
          </a:xfrm>
          <a:prstGeom prst="rect">
            <a:avLst/>
          </a:prstGeom>
          <a:noFill/>
        </p:spPr>
        <p:txBody>
          <a:bodyPr wrap="square" lIns="36576" tIns="36576" rIns="36576" bIns="36576">
            <a:spAutoFit/>
          </a:bodyPr>
          <a:lstStyle/>
          <a:p>
            <a:pPr algn="l">
              <a:defRPr sz="1000" b="0">
                <a:solidFill>
                  <a:srgbClr val="1E1E1E"/>
                </a:solidFill>
              </a:defRPr>
            </a:pPr>
            <a:r>
              <a:t>• Agent trích xuất tự động</a:t>
            </a:r>
          </a:p>
        </p:txBody>
      </p:sp>
      <p:sp>
        <p:nvSpPr>
          <p:cNvPr id="28" name="TextBox 27"/>
          <p:cNvSpPr txBox="1"/>
          <p:nvPr/>
        </p:nvSpPr>
        <p:spPr>
          <a:xfrm>
            <a:off x="3493008" y="2971800"/>
            <a:ext cx="2286000" cy="365760"/>
          </a:xfrm>
          <a:prstGeom prst="rect">
            <a:avLst/>
          </a:prstGeom>
          <a:noFill/>
        </p:spPr>
        <p:txBody>
          <a:bodyPr wrap="square" lIns="36576" tIns="36576" rIns="36576" bIns="36576">
            <a:spAutoFit/>
          </a:bodyPr>
          <a:lstStyle/>
          <a:p>
            <a:pPr algn="l">
              <a:defRPr sz="1000" b="0">
                <a:solidFill>
                  <a:srgbClr val="1E1E1E"/>
                </a:solidFill>
              </a:defRPr>
            </a:pPr>
            <a:r>
              <a:t>• Landing Zone kiểm duyệt</a:t>
            </a:r>
          </a:p>
        </p:txBody>
      </p:sp>
      <p:sp>
        <p:nvSpPr>
          <p:cNvPr id="29" name="TextBox 28"/>
          <p:cNvSpPr txBox="1"/>
          <p:nvPr/>
        </p:nvSpPr>
        <p:spPr>
          <a:xfrm>
            <a:off x="3493008" y="3383280"/>
            <a:ext cx="2286000" cy="365760"/>
          </a:xfrm>
          <a:prstGeom prst="rect">
            <a:avLst/>
          </a:prstGeom>
          <a:noFill/>
        </p:spPr>
        <p:txBody>
          <a:bodyPr wrap="square" lIns="36576" tIns="36576" rIns="36576" bIns="36576">
            <a:spAutoFit/>
          </a:bodyPr>
          <a:lstStyle/>
          <a:p>
            <a:pPr algn="l">
              <a:defRPr sz="1000" b="0">
                <a:solidFill>
                  <a:srgbClr val="1E1E1E"/>
                </a:solidFill>
              </a:defRPr>
            </a:pPr>
            <a:r>
              <a:t>• Masking ẩn dữ liệu cá nhân</a:t>
            </a:r>
          </a:p>
        </p:txBody>
      </p:sp>
      <p:sp>
        <p:nvSpPr>
          <p:cNvPr id="30" name="TextBox 29"/>
          <p:cNvSpPr txBox="1"/>
          <p:nvPr/>
        </p:nvSpPr>
        <p:spPr>
          <a:xfrm>
            <a:off x="3493008" y="3794760"/>
            <a:ext cx="2286000" cy="365760"/>
          </a:xfrm>
          <a:prstGeom prst="rect">
            <a:avLst/>
          </a:prstGeom>
          <a:noFill/>
        </p:spPr>
        <p:txBody>
          <a:bodyPr wrap="square" lIns="36576" tIns="36576" rIns="36576" bIns="36576">
            <a:spAutoFit/>
          </a:bodyPr>
          <a:lstStyle/>
          <a:p>
            <a:pPr algn="l">
              <a:defRPr sz="1000" b="0">
                <a:solidFill>
                  <a:srgbClr val="1E1E1E"/>
                </a:solidFill>
              </a:defRPr>
            </a:pPr>
            <a:r>
              <a:t>• Cổng duyệt Data Owner:</a:t>
            </a:r>
          </a:p>
        </p:txBody>
      </p:sp>
      <p:sp>
        <p:nvSpPr>
          <p:cNvPr id="31" name="TextBox 30"/>
          <p:cNvSpPr txBox="1"/>
          <p:nvPr/>
        </p:nvSpPr>
        <p:spPr>
          <a:xfrm>
            <a:off x="3493008" y="4206240"/>
            <a:ext cx="2286000" cy="365760"/>
          </a:xfrm>
          <a:prstGeom prst="rect">
            <a:avLst/>
          </a:prstGeom>
          <a:noFill/>
        </p:spPr>
        <p:txBody>
          <a:bodyPr wrap="square" lIns="36576" tIns="36576" rIns="36576" bIns="36576">
            <a:spAutoFit/>
          </a:bodyPr>
          <a:lstStyle/>
          <a:p>
            <a:pPr algn="l">
              <a:defRPr sz="1000" b="0">
                <a:solidFill>
                  <a:srgbClr val="1E1E1E"/>
                </a:solidFill>
              </a:defRPr>
            </a:pPr>
            <a:r>
              <a:t>  [APPROVE] hoặc [REJECT]</a:t>
            </a:r>
          </a:p>
        </p:txBody>
      </p:sp>
      <p:sp>
        <p:nvSpPr>
          <p:cNvPr id="32" name="TextBox 31"/>
          <p:cNvSpPr txBox="1"/>
          <p:nvPr/>
        </p:nvSpPr>
        <p:spPr>
          <a:xfrm>
            <a:off x="3493008" y="4617720"/>
            <a:ext cx="228600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33" name="TextBox 32"/>
          <p:cNvSpPr txBox="1"/>
          <p:nvPr/>
        </p:nvSpPr>
        <p:spPr>
          <a:xfrm>
            <a:off x="3493008" y="5029200"/>
            <a:ext cx="2286000" cy="365760"/>
          </a:xfrm>
          <a:prstGeom prst="rect">
            <a:avLst/>
          </a:prstGeom>
          <a:noFill/>
        </p:spPr>
        <p:txBody>
          <a:bodyPr wrap="square" lIns="36576" tIns="36576" rIns="36576" bIns="36576">
            <a:spAutoFit/>
          </a:bodyPr>
          <a:lstStyle/>
          <a:p>
            <a:pPr algn="l">
              <a:defRPr sz="1000" b="1">
                <a:solidFill>
                  <a:srgbClr val="008080"/>
                </a:solidFill>
              </a:defRPr>
            </a:pPr>
            <a:r>
              <a:t>Chỉ truyền dữ liệu đã duyệt.</a:t>
            </a:r>
          </a:p>
        </p:txBody>
      </p:sp>
      <p:sp>
        <p:nvSpPr>
          <p:cNvPr id="34" name="Right Arrow 33"/>
          <p:cNvSpPr/>
          <p:nvPr/>
        </p:nvSpPr>
        <p:spPr>
          <a:xfrm>
            <a:off x="5961888" y="3657600"/>
            <a:ext cx="274320" cy="201168"/>
          </a:xfrm>
          <a:prstGeom prst="rightArrow">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217920" y="1371600"/>
            <a:ext cx="2514600" cy="4937760"/>
          </a:xfrm>
          <a:prstGeom prst="roundRect">
            <a:avLst/>
          </a:prstGeom>
          <a:solidFill>
            <a:srgbClr val="FEF6E6"/>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7920" y="1371600"/>
            <a:ext cx="2514600" cy="59436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0" y="1399032"/>
            <a:ext cx="2514600" cy="320040"/>
          </a:xfrm>
          <a:prstGeom prst="rect">
            <a:avLst/>
          </a:prstGeom>
          <a:noFill/>
        </p:spPr>
        <p:txBody>
          <a:bodyPr wrap="square" lIns="36576" tIns="36576" rIns="36576" bIns="36576">
            <a:spAutoFit/>
          </a:bodyPr>
          <a:lstStyle/>
          <a:p>
            <a:pPr algn="ctr">
              <a:defRPr sz="1050" b="1">
                <a:solidFill>
                  <a:srgbClr val="FFFFFF"/>
                </a:solidFill>
              </a:defRPr>
            </a:pPr>
            <a:r>
              <a:t>TẦNG 3: ON-PREM HUB TCT</a:t>
            </a:r>
          </a:p>
        </p:txBody>
      </p:sp>
      <p:sp>
        <p:nvSpPr>
          <p:cNvPr id="38" name="TextBox 37"/>
          <p:cNvSpPr txBox="1"/>
          <p:nvPr/>
        </p:nvSpPr>
        <p:spPr>
          <a:xfrm>
            <a:off x="6217920" y="1719072"/>
            <a:ext cx="2514600" cy="228600"/>
          </a:xfrm>
          <a:prstGeom prst="rect">
            <a:avLst/>
          </a:prstGeom>
          <a:noFill/>
        </p:spPr>
        <p:txBody>
          <a:bodyPr wrap="square" lIns="36576" tIns="36576" rIns="36576" bIns="36576">
            <a:spAutoFit/>
          </a:bodyPr>
          <a:lstStyle/>
          <a:p>
            <a:pPr algn="ctr">
              <a:defRPr sz="850" b="1">
                <a:solidFill>
                  <a:srgbClr val="FEF08A"/>
                </a:solidFill>
              </a:defRPr>
            </a:pPr>
            <a:r>
              <a:t>DATA CENTER TỔNG CÔNG TY</a:t>
            </a:r>
          </a:p>
        </p:txBody>
      </p:sp>
      <p:sp>
        <p:nvSpPr>
          <p:cNvPr id="39" name="TextBox 38"/>
          <p:cNvSpPr txBox="1"/>
          <p:nvPr/>
        </p:nvSpPr>
        <p:spPr>
          <a:xfrm>
            <a:off x="6327648" y="2148840"/>
            <a:ext cx="2286000" cy="365760"/>
          </a:xfrm>
          <a:prstGeom prst="rect">
            <a:avLst/>
          </a:prstGeom>
          <a:noFill/>
        </p:spPr>
        <p:txBody>
          <a:bodyPr wrap="square" lIns="36576" tIns="36576" rIns="36576" bIns="36576">
            <a:spAutoFit/>
          </a:bodyPr>
          <a:lstStyle/>
          <a:p>
            <a:pPr algn="l">
              <a:defRPr sz="1000" b="1">
                <a:solidFill>
                  <a:srgbClr val="B46E00"/>
                </a:solidFill>
              </a:defRPr>
            </a:pPr>
            <a:r>
              <a:t>Hạ tầng lõi bảo mật:</a:t>
            </a:r>
          </a:p>
        </p:txBody>
      </p:sp>
      <p:sp>
        <p:nvSpPr>
          <p:cNvPr id="40" name="TextBox 39"/>
          <p:cNvSpPr txBox="1"/>
          <p:nvPr/>
        </p:nvSpPr>
        <p:spPr>
          <a:xfrm>
            <a:off x="6327648" y="2560320"/>
            <a:ext cx="2286000" cy="365760"/>
          </a:xfrm>
          <a:prstGeom prst="rect">
            <a:avLst/>
          </a:prstGeom>
          <a:noFill/>
        </p:spPr>
        <p:txBody>
          <a:bodyPr wrap="square" lIns="36576" tIns="36576" rIns="36576" bIns="36576">
            <a:spAutoFit/>
          </a:bodyPr>
          <a:lstStyle/>
          <a:p>
            <a:pPr algn="l">
              <a:defRPr sz="1000" b="0">
                <a:solidFill>
                  <a:srgbClr val="1E1E1E"/>
                </a:solidFill>
              </a:defRPr>
            </a:pPr>
            <a:r>
              <a:t>• Đường hầm VPN IPSec</a:t>
            </a:r>
          </a:p>
        </p:txBody>
      </p:sp>
      <p:sp>
        <p:nvSpPr>
          <p:cNvPr id="41" name="TextBox 40"/>
          <p:cNvSpPr txBox="1"/>
          <p:nvPr/>
        </p:nvSpPr>
        <p:spPr>
          <a:xfrm>
            <a:off x="6327648" y="2971800"/>
            <a:ext cx="2286000" cy="365760"/>
          </a:xfrm>
          <a:prstGeom prst="rect">
            <a:avLst/>
          </a:prstGeom>
          <a:noFill/>
        </p:spPr>
        <p:txBody>
          <a:bodyPr wrap="square" lIns="36576" tIns="36576" rIns="36576" bIns="36576">
            <a:spAutoFit/>
          </a:bodyPr>
          <a:lstStyle/>
          <a:p>
            <a:pPr algn="l">
              <a:defRPr sz="1000" b="0">
                <a:solidFill>
                  <a:srgbClr val="1E1E1E"/>
                </a:solidFill>
              </a:defRPr>
            </a:pPr>
            <a:r>
              <a:t>• Trục tích hợp ESB (WSO2)</a:t>
            </a:r>
          </a:p>
        </p:txBody>
      </p:sp>
      <p:sp>
        <p:nvSpPr>
          <p:cNvPr id="42" name="TextBox 41"/>
          <p:cNvSpPr txBox="1"/>
          <p:nvPr/>
        </p:nvSpPr>
        <p:spPr>
          <a:xfrm>
            <a:off x="6327648" y="3383280"/>
            <a:ext cx="2286000" cy="365760"/>
          </a:xfrm>
          <a:prstGeom prst="rect">
            <a:avLst/>
          </a:prstGeom>
          <a:noFill/>
        </p:spPr>
        <p:txBody>
          <a:bodyPr wrap="square" lIns="36576" tIns="36576" rIns="36576" bIns="36576">
            <a:spAutoFit/>
          </a:bodyPr>
          <a:lstStyle/>
          <a:p>
            <a:pPr algn="l">
              <a:defRPr sz="1000" b="0">
                <a:solidFill>
                  <a:srgbClr val="1E1E1E"/>
                </a:solidFill>
              </a:defRPr>
            </a:pPr>
            <a:r>
              <a:t>• MDM: 29 Danh mục chuẩn</a:t>
            </a:r>
          </a:p>
        </p:txBody>
      </p:sp>
      <p:sp>
        <p:nvSpPr>
          <p:cNvPr id="43" name="TextBox 42"/>
          <p:cNvSpPr txBox="1"/>
          <p:nvPr/>
        </p:nvSpPr>
        <p:spPr>
          <a:xfrm>
            <a:off x="6327648" y="3794760"/>
            <a:ext cx="2286000" cy="365760"/>
          </a:xfrm>
          <a:prstGeom prst="rect">
            <a:avLst/>
          </a:prstGeom>
          <a:noFill/>
        </p:spPr>
        <p:txBody>
          <a:bodyPr wrap="square" lIns="36576" tIns="36576" rIns="36576" bIns="36576">
            <a:spAutoFit/>
          </a:bodyPr>
          <a:lstStyle/>
          <a:p>
            <a:pPr algn="l">
              <a:defRPr sz="1000" b="0">
                <a:solidFill>
                  <a:srgbClr val="1E1E1E"/>
                </a:solidFill>
              </a:defRPr>
            </a:pPr>
            <a:r>
              <a:t>• MinIO Lakehouse (Bronze)</a:t>
            </a:r>
          </a:p>
        </p:txBody>
      </p:sp>
      <p:sp>
        <p:nvSpPr>
          <p:cNvPr id="44" name="TextBox 43"/>
          <p:cNvSpPr txBox="1"/>
          <p:nvPr/>
        </p:nvSpPr>
        <p:spPr>
          <a:xfrm>
            <a:off x="6327648" y="4206240"/>
            <a:ext cx="2286000" cy="365760"/>
          </a:xfrm>
          <a:prstGeom prst="rect">
            <a:avLst/>
          </a:prstGeom>
          <a:noFill/>
        </p:spPr>
        <p:txBody>
          <a:bodyPr wrap="square" lIns="36576" tIns="36576" rIns="36576" bIns="36576">
            <a:spAutoFit/>
          </a:bodyPr>
          <a:lstStyle/>
          <a:p>
            <a:pPr algn="l">
              <a:defRPr sz="1000" b="0">
                <a:solidFill>
                  <a:srgbClr val="1E1E1E"/>
                </a:solidFill>
              </a:defRPr>
            </a:pPr>
            <a:r>
              <a:t>• SIEM giám sát 24/7</a:t>
            </a:r>
          </a:p>
        </p:txBody>
      </p:sp>
      <p:sp>
        <p:nvSpPr>
          <p:cNvPr id="45" name="TextBox 44"/>
          <p:cNvSpPr txBox="1"/>
          <p:nvPr/>
        </p:nvSpPr>
        <p:spPr>
          <a:xfrm>
            <a:off x="6327648" y="4617720"/>
            <a:ext cx="228600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46" name="TextBox 45"/>
          <p:cNvSpPr txBox="1"/>
          <p:nvPr/>
        </p:nvSpPr>
        <p:spPr>
          <a:xfrm>
            <a:off x="6327648" y="5029200"/>
            <a:ext cx="2286000" cy="365760"/>
          </a:xfrm>
          <a:prstGeom prst="rect">
            <a:avLst/>
          </a:prstGeom>
          <a:noFill/>
        </p:spPr>
        <p:txBody>
          <a:bodyPr wrap="square" lIns="36576" tIns="36576" rIns="36576" bIns="36576">
            <a:spAutoFit/>
          </a:bodyPr>
          <a:lstStyle/>
          <a:p>
            <a:pPr algn="l">
              <a:defRPr sz="1000" b="1">
                <a:solidFill>
                  <a:srgbClr val="B46E00"/>
                </a:solidFill>
              </a:defRPr>
            </a:pPr>
            <a:r>
              <a:t>TCT vận hành hạ tầng.</a:t>
            </a:r>
          </a:p>
        </p:txBody>
      </p:sp>
      <p:sp>
        <p:nvSpPr>
          <p:cNvPr id="47" name="Right Arrow 46"/>
          <p:cNvSpPr/>
          <p:nvPr/>
        </p:nvSpPr>
        <p:spPr>
          <a:xfrm>
            <a:off x="8796528" y="3657600"/>
            <a:ext cx="274320" cy="201168"/>
          </a:xfrm>
          <a:prstGeom prst="rightArrow">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052560" y="1371600"/>
            <a:ext cx="2514600" cy="4937760"/>
          </a:xfrm>
          <a:prstGeom prst="roundRect">
            <a:avLst/>
          </a:prstGeom>
          <a:solidFill>
            <a:srgbClr val="FAF5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52560" y="1371600"/>
            <a:ext cx="2514600" cy="594360"/>
          </a:xfrm>
          <a:prstGeom prst="rect">
            <a:avLst/>
          </a:prstGeom>
          <a:solidFill>
            <a:srgbClr val="7E2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0" y="1399032"/>
            <a:ext cx="2514600" cy="320040"/>
          </a:xfrm>
          <a:prstGeom prst="rect">
            <a:avLst/>
          </a:prstGeom>
          <a:noFill/>
        </p:spPr>
        <p:txBody>
          <a:bodyPr wrap="square" lIns="36576" tIns="36576" rIns="36576" bIns="36576">
            <a:spAutoFit/>
          </a:bodyPr>
          <a:lstStyle/>
          <a:p>
            <a:pPr algn="ctr">
              <a:defRPr sz="1050" b="1">
                <a:solidFill>
                  <a:srgbClr val="FFFFFF"/>
                </a:solidFill>
              </a:defRPr>
            </a:pPr>
            <a:r>
              <a:t>TẦNG 4: CLOUD FABRIC</a:t>
            </a:r>
          </a:p>
        </p:txBody>
      </p:sp>
      <p:sp>
        <p:nvSpPr>
          <p:cNvPr id="51" name="TextBox 50"/>
          <p:cNvSpPr txBox="1"/>
          <p:nvPr/>
        </p:nvSpPr>
        <p:spPr>
          <a:xfrm>
            <a:off x="9052560" y="1719072"/>
            <a:ext cx="2514600" cy="228600"/>
          </a:xfrm>
          <a:prstGeom prst="rect">
            <a:avLst/>
          </a:prstGeom>
          <a:noFill/>
        </p:spPr>
        <p:txBody>
          <a:bodyPr wrap="square" lIns="36576" tIns="36576" rIns="36576" bIns="36576">
            <a:spAutoFit/>
          </a:bodyPr>
          <a:lstStyle/>
          <a:p>
            <a:pPr algn="ctr">
              <a:defRPr sz="850" b="1">
                <a:solidFill>
                  <a:srgbClr val="FEF08A"/>
                </a:solidFill>
              </a:defRPr>
            </a:pPr>
            <a:r>
              <a:t>TENANT L3 &amp; DASHBOARD</a:t>
            </a:r>
          </a:p>
        </p:txBody>
      </p:sp>
      <p:sp>
        <p:nvSpPr>
          <p:cNvPr id="52" name="TextBox 51"/>
          <p:cNvSpPr txBox="1"/>
          <p:nvPr/>
        </p:nvSpPr>
        <p:spPr>
          <a:xfrm>
            <a:off x="9162288" y="2148840"/>
            <a:ext cx="2286000" cy="365760"/>
          </a:xfrm>
          <a:prstGeom prst="rect">
            <a:avLst/>
          </a:prstGeom>
          <a:noFill/>
        </p:spPr>
        <p:txBody>
          <a:bodyPr wrap="square" lIns="36576" tIns="36576" rIns="36576" bIns="36576">
            <a:spAutoFit/>
          </a:bodyPr>
          <a:lstStyle/>
          <a:p>
            <a:pPr algn="l">
              <a:defRPr sz="1000" b="1">
                <a:solidFill>
                  <a:srgbClr val="7E22CE"/>
                </a:solidFill>
              </a:defRPr>
            </a:pPr>
            <a:r>
              <a:t>Khai thác thông minh:</a:t>
            </a:r>
          </a:p>
        </p:txBody>
      </p:sp>
      <p:sp>
        <p:nvSpPr>
          <p:cNvPr id="53" name="TextBox 52"/>
          <p:cNvSpPr txBox="1"/>
          <p:nvPr/>
        </p:nvSpPr>
        <p:spPr>
          <a:xfrm>
            <a:off x="9162288" y="2560320"/>
            <a:ext cx="2286000" cy="365760"/>
          </a:xfrm>
          <a:prstGeom prst="rect">
            <a:avLst/>
          </a:prstGeom>
          <a:noFill/>
        </p:spPr>
        <p:txBody>
          <a:bodyPr wrap="square" lIns="36576" tIns="36576" rIns="36576" bIns="36576">
            <a:spAutoFit/>
          </a:bodyPr>
          <a:lstStyle/>
          <a:p>
            <a:pPr algn="l">
              <a:defRPr sz="1000" b="0">
                <a:solidFill>
                  <a:srgbClr val="1E1E1E"/>
                </a:solidFill>
              </a:defRPr>
            </a:pPr>
            <a:r>
              <a:t>• OneLake Storage (Gold)</a:t>
            </a:r>
          </a:p>
        </p:txBody>
      </p:sp>
      <p:sp>
        <p:nvSpPr>
          <p:cNvPr id="54" name="TextBox 53"/>
          <p:cNvSpPr txBox="1"/>
          <p:nvPr/>
        </p:nvSpPr>
        <p:spPr>
          <a:xfrm>
            <a:off x="9162288" y="2971800"/>
            <a:ext cx="2286000" cy="365760"/>
          </a:xfrm>
          <a:prstGeom prst="rect">
            <a:avLst/>
          </a:prstGeom>
          <a:noFill/>
        </p:spPr>
        <p:txBody>
          <a:bodyPr wrap="square" lIns="36576" tIns="36576" rIns="36576" bIns="36576">
            <a:spAutoFit/>
          </a:bodyPr>
          <a:lstStyle/>
          <a:p>
            <a:pPr algn="l">
              <a:defRPr sz="1000" b="0">
                <a:solidFill>
                  <a:srgbClr val="1E1E1E"/>
                </a:solidFill>
              </a:defRPr>
            </a:pPr>
            <a:r>
              <a:t>• Workspace L3 riêng của QN</a:t>
            </a:r>
          </a:p>
        </p:txBody>
      </p:sp>
      <p:sp>
        <p:nvSpPr>
          <p:cNvPr id="55" name="TextBox 54"/>
          <p:cNvSpPr txBox="1"/>
          <p:nvPr/>
        </p:nvSpPr>
        <p:spPr>
          <a:xfrm>
            <a:off x="9162288" y="3383280"/>
            <a:ext cx="2286000" cy="365760"/>
          </a:xfrm>
          <a:prstGeom prst="rect">
            <a:avLst/>
          </a:prstGeom>
          <a:noFill/>
        </p:spPr>
        <p:txBody>
          <a:bodyPr wrap="square" lIns="36576" tIns="36576" rIns="36576" bIns="36576">
            <a:spAutoFit/>
          </a:bodyPr>
          <a:lstStyle/>
          <a:p>
            <a:pPr algn="l">
              <a:defRPr sz="1000" b="0">
                <a:solidFill>
                  <a:srgbClr val="1E1E1E"/>
                </a:solidFill>
              </a:defRPr>
            </a:pPr>
            <a:r>
              <a:t>• Pipeline tự tính toán KPI</a:t>
            </a:r>
          </a:p>
        </p:txBody>
      </p:sp>
      <p:sp>
        <p:nvSpPr>
          <p:cNvPr id="56" name="TextBox 55"/>
          <p:cNvSpPr txBox="1"/>
          <p:nvPr/>
        </p:nvSpPr>
        <p:spPr>
          <a:xfrm>
            <a:off x="9162288" y="3794760"/>
            <a:ext cx="2286000" cy="365760"/>
          </a:xfrm>
          <a:prstGeom prst="rect">
            <a:avLst/>
          </a:prstGeom>
          <a:noFill/>
        </p:spPr>
        <p:txBody>
          <a:bodyPr wrap="square" lIns="36576" tIns="36576" rIns="36576" bIns="36576">
            <a:spAutoFit/>
          </a:bodyPr>
          <a:lstStyle/>
          <a:p>
            <a:pPr algn="l">
              <a:defRPr sz="1000" b="0">
                <a:solidFill>
                  <a:srgbClr val="1E1E1E"/>
                </a:solidFill>
              </a:defRPr>
            </a:pPr>
            <a:r>
              <a:t>• Power BI Mobile / Web</a:t>
            </a:r>
          </a:p>
        </p:txBody>
      </p:sp>
      <p:sp>
        <p:nvSpPr>
          <p:cNvPr id="57" name="TextBox 56"/>
          <p:cNvSpPr txBox="1"/>
          <p:nvPr/>
        </p:nvSpPr>
        <p:spPr>
          <a:xfrm>
            <a:off x="9162288" y="4206240"/>
            <a:ext cx="2286000" cy="365760"/>
          </a:xfrm>
          <a:prstGeom prst="rect">
            <a:avLst/>
          </a:prstGeom>
          <a:noFill/>
        </p:spPr>
        <p:txBody>
          <a:bodyPr wrap="square" lIns="36576" tIns="36576" rIns="36576" bIns="36576">
            <a:spAutoFit/>
          </a:bodyPr>
          <a:lstStyle/>
          <a:p>
            <a:pPr algn="l">
              <a:defRPr sz="1000" b="0">
                <a:solidFill>
                  <a:srgbClr val="1E1E1E"/>
                </a:solidFill>
              </a:defRPr>
            </a:pPr>
            <a:r>
              <a:t>• Dashboard Ban Giám đốc</a:t>
            </a:r>
          </a:p>
        </p:txBody>
      </p:sp>
      <p:sp>
        <p:nvSpPr>
          <p:cNvPr id="58" name="TextBox 57"/>
          <p:cNvSpPr txBox="1"/>
          <p:nvPr/>
        </p:nvSpPr>
        <p:spPr>
          <a:xfrm>
            <a:off x="9162288" y="4617720"/>
            <a:ext cx="2286000" cy="365760"/>
          </a:xfrm>
          <a:prstGeom prst="rect">
            <a:avLst/>
          </a:prstGeom>
          <a:noFill/>
        </p:spPr>
        <p:txBody>
          <a:bodyPr wrap="square" lIns="36576" tIns="36576" rIns="36576" bIns="36576">
            <a:spAutoFit/>
          </a:bodyPr>
          <a:lstStyle/>
          <a:p>
            <a:pPr algn="l">
              <a:defRPr sz="1000" b="0">
                <a:solidFill>
                  <a:srgbClr val="1E1E1E"/>
                </a:solidFill>
              </a:defRPr>
            </a:pPr>
          </a:p>
        </p:txBody>
      </p:sp>
      <p:sp>
        <p:nvSpPr>
          <p:cNvPr id="59" name="TextBox 58"/>
          <p:cNvSpPr txBox="1"/>
          <p:nvPr/>
        </p:nvSpPr>
        <p:spPr>
          <a:xfrm>
            <a:off x="9162288" y="5029200"/>
            <a:ext cx="2286000" cy="365760"/>
          </a:xfrm>
          <a:prstGeom prst="rect">
            <a:avLst/>
          </a:prstGeom>
          <a:noFill/>
        </p:spPr>
        <p:txBody>
          <a:bodyPr wrap="square" lIns="36576" tIns="36576" rIns="36576" bIns="36576">
            <a:spAutoFit/>
          </a:bodyPr>
          <a:lstStyle/>
          <a:p>
            <a:pPr algn="l">
              <a:defRPr sz="1000" b="1">
                <a:solidFill>
                  <a:srgbClr val="7E22CE"/>
                </a:solidFill>
              </a:defRPr>
            </a:pPr>
            <a:r>
              <a:t>Xem tức thời trên điện thoại.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C: ĐẶC TẢ KIẾN TRÚC KỸ THUẬT — CƠ CHẾ LANDING ZONE</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QUY TRÌNH KIỂM SOÁT VÙNG ĐỆM (LANDING ZONE): DỮ LIỆU KHÔNG THỂ TỰ Ý ĐẨY ĐI</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08</a:t>
            </a:r>
          </a:p>
        </p:txBody>
      </p:sp>
      <p:sp>
        <p:nvSpPr>
          <p:cNvPr id="9" name="Rounded Rectangle 8"/>
          <p:cNvSpPr/>
          <p:nvPr/>
        </p:nvSpPr>
        <p:spPr>
          <a:xfrm>
            <a:off x="731520" y="1371600"/>
            <a:ext cx="10698480" cy="1097280"/>
          </a:xfrm>
          <a:prstGeom prst="roundRect">
            <a:avLst/>
          </a:prstGeom>
          <a:solidFill>
            <a:srgbClr val="FFFFFF"/>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926080" cy="10972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173736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55648"/>
            <a:ext cx="365760" cy="365760"/>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3" name="TextBox 12"/>
          <p:cNvSpPr txBox="1"/>
          <p:nvPr/>
        </p:nvSpPr>
        <p:spPr>
          <a:xfrm>
            <a:off x="1371600" y="1600200"/>
            <a:ext cx="2194560" cy="320040"/>
          </a:xfrm>
          <a:prstGeom prst="rect">
            <a:avLst/>
          </a:prstGeom>
          <a:noFill/>
        </p:spPr>
        <p:txBody>
          <a:bodyPr wrap="square" lIns="36576" tIns="36576" rIns="36576" bIns="36576">
            <a:spAutoFit/>
          </a:bodyPr>
          <a:lstStyle/>
          <a:p>
            <a:pPr algn="l">
              <a:defRPr sz="1050" b="1">
                <a:solidFill>
                  <a:srgbClr val="FFFFFF"/>
                </a:solidFill>
              </a:defRPr>
            </a:pPr>
            <a:r>
              <a:t>BƯỚC 1: TRÍCH XUẤT NỬA ĐÊM</a:t>
            </a:r>
          </a:p>
        </p:txBody>
      </p:sp>
      <p:sp>
        <p:nvSpPr>
          <p:cNvPr id="14" name="TextBox 13"/>
          <p:cNvSpPr txBox="1"/>
          <p:nvPr/>
        </p:nvSpPr>
        <p:spPr>
          <a:xfrm>
            <a:off x="1371600" y="1965960"/>
            <a:ext cx="2194560" cy="274320"/>
          </a:xfrm>
          <a:prstGeom prst="rect">
            <a:avLst/>
          </a:prstGeom>
          <a:noFill/>
        </p:spPr>
        <p:txBody>
          <a:bodyPr wrap="square" lIns="36576" tIns="36576" rIns="36576" bIns="36576">
            <a:spAutoFit/>
          </a:bodyPr>
          <a:lstStyle/>
          <a:p>
            <a:pPr algn="l">
              <a:defRPr sz="850" b="1">
                <a:solidFill>
                  <a:srgbClr val="FEF08A"/>
                </a:solidFill>
              </a:defRPr>
            </a:pPr>
            <a:r>
              <a:t>AGENT NỘI BỘ ĐỌC READ-ONLY</a:t>
            </a:r>
          </a:p>
        </p:txBody>
      </p:sp>
      <p:sp>
        <p:nvSpPr>
          <p:cNvPr id="15" name="TextBox 14"/>
          <p:cNvSpPr txBox="1"/>
          <p:nvPr/>
        </p:nvSpPr>
        <p:spPr>
          <a:xfrm>
            <a:off x="3840480" y="1508760"/>
            <a:ext cx="7406640" cy="822960"/>
          </a:xfrm>
          <a:prstGeom prst="rect">
            <a:avLst/>
          </a:prstGeom>
          <a:noFill/>
        </p:spPr>
        <p:txBody>
          <a:bodyPr wrap="square" lIns="36576" tIns="36576" rIns="36576" bIns="36576">
            <a:spAutoFit/>
          </a:bodyPr>
          <a:lstStyle/>
          <a:p>
            <a:pPr algn="l">
              <a:defRPr sz="1050" b="0">
                <a:solidFill>
                  <a:srgbClr val="1E1E1E"/>
                </a:solidFill>
              </a:defRPr>
            </a:pPr>
            <a:r>
              <a:t>Vào 23h00 hàng ngày, Agent tự động kết nối (quyền chỉ đọc) vào FAST, MESx, VTI để lấy bản sao dữ liệu phát sinh trong ngày đưa vào Vùng đệm Landing Zone nội bộ. Tuyệt đối không làm ảnh hưởng phần mềm đang chạy.</a:t>
            </a:r>
          </a:p>
        </p:txBody>
      </p:sp>
      <p:sp>
        <p:nvSpPr>
          <p:cNvPr id="16" name="Rounded Rectangle 15"/>
          <p:cNvSpPr/>
          <p:nvPr/>
        </p:nvSpPr>
        <p:spPr>
          <a:xfrm>
            <a:off x="731520" y="2606040"/>
            <a:ext cx="10698480" cy="109728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606040"/>
            <a:ext cx="2926080" cy="10972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297180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990088"/>
            <a:ext cx="365760" cy="365760"/>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20" name="TextBox 19"/>
          <p:cNvSpPr txBox="1"/>
          <p:nvPr/>
        </p:nvSpPr>
        <p:spPr>
          <a:xfrm>
            <a:off x="1371600" y="2834640"/>
            <a:ext cx="2194560" cy="320040"/>
          </a:xfrm>
          <a:prstGeom prst="rect">
            <a:avLst/>
          </a:prstGeom>
          <a:noFill/>
        </p:spPr>
        <p:txBody>
          <a:bodyPr wrap="square" lIns="36576" tIns="36576" rIns="36576" bIns="36576">
            <a:spAutoFit/>
          </a:bodyPr>
          <a:lstStyle/>
          <a:p>
            <a:pPr algn="l">
              <a:defRPr sz="1050" b="1">
                <a:solidFill>
                  <a:srgbClr val="FFFFFF"/>
                </a:solidFill>
              </a:defRPr>
            </a:pPr>
            <a:r>
              <a:t>BƯỚC 2: KIỂM TRA TỰ ĐỘNG</a:t>
            </a:r>
          </a:p>
        </p:txBody>
      </p:sp>
      <p:sp>
        <p:nvSpPr>
          <p:cNvPr id="21" name="TextBox 20"/>
          <p:cNvSpPr txBox="1"/>
          <p:nvPr/>
        </p:nvSpPr>
        <p:spPr>
          <a:xfrm>
            <a:off x="1371600" y="3200400"/>
            <a:ext cx="2194560" cy="274320"/>
          </a:xfrm>
          <a:prstGeom prst="rect">
            <a:avLst/>
          </a:prstGeom>
          <a:noFill/>
        </p:spPr>
        <p:txBody>
          <a:bodyPr wrap="square" lIns="36576" tIns="36576" rIns="36576" bIns="36576">
            <a:spAutoFit/>
          </a:bodyPr>
          <a:lstStyle/>
          <a:p>
            <a:pPr algn="l">
              <a:defRPr sz="850" b="1">
                <a:solidFill>
                  <a:srgbClr val="FEF08A"/>
                </a:solidFill>
              </a:defRPr>
            </a:pPr>
            <a:r>
              <a:t>VALIDATION &amp; MASKING RULE</a:t>
            </a:r>
          </a:p>
        </p:txBody>
      </p:sp>
      <p:sp>
        <p:nvSpPr>
          <p:cNvPr id="22" name="TextBox 21"/>
          <p:cNvSpPr txBox="1"/>
          <p:nvPr/>
        </p:nvSpPr>
        <p:spPr>
          <a:xfrm>
            <a:off x="3840480" y="2743200"/>
            <a:ext cx="7406640" cy="822960"/>
          </a:xfrm>
          <a:prstGeom prst="rect">
            <a:avLst/>
          </a:prstGeom>
          <a:noFill/>
        </p:spPr>
        <p:txBody>
          <a:bodyPr wrap="square" lIns="36576" tIns="36576" rIns="36576" bIns="36576">
            <a:spAutoFit/>
          </a:bodyPr>
          <a:lstStyle/>
          <a:p>
            <a:pPr algn="l">
              <a:defRPr sz="1050" b="0">
                <a:solidFill>
                  <a:srgbClr val="1E1E1E"/>
                </a:solidFill>
              </a:defRPr>
            </a:pPr>
            <a:r>
              <a:t>Hệ thống tự động chạy bộ lọc 3 lớp:</a:t>
            </a:r>
            <a:br/>
            <a:r>
              <a:t>1. Kiểm tra cấu trúc Schema (đúng định dạng số, ngày tháng).</a:t>
            </a:r>
            <a:br/>
            <a:r>
              <a:t>2. Đối soát mã Nhà cung cấp, vật tư với MDM TCT.</a:t>
            </a:r>
            <a:br/>
            <a:r>
              <a:t>3. Che mờ dữ liệu cá nhân (ẩn số CCCD, tài khoản ngân hàng).</a:t>
            </a:r>
          </a:p>
        </p:txBody>
      </p:sp>
      <p:sp>
        <p:nvSpPr>
          <p:cNvPr id="23" name="Rounded Rectangle 22"/>
          <p:cNvSpPr/>
          <p:nvPr/>
        </p:nvSpPr>
        <p:spPr>
          <a:xfrm>
            <a:off x="731520" y="3840480"/>
            <a:ext cx="10698480" cy="1097280"/>
          </a:xfrm>
          <a:prstGeom prst="roundRect">
            <a:avLst/>
          </a:prstGeom>
          <a:solidFill>
            <a:srgbClr val="FFFFFF"/>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840480"/>
            <a:ext cx="2926080" cy="109728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20624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224528"/>
            <a:ext cx="365760" cy="365760"/>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27" name="TextBox 26"/>
          <p:cNvSpPr txBox="1"/>
          <p:nvPr/>
        </p:nvSpPr>
        <p:spPr>
          <a:xfrm>
            <a:off x="1371600" y="4069080"/>
            <a:ext cx="2194560" cy="320040"/>
          </a:xfrm>
          <a:prstGeom prst="rect">
            <a:avLst/>
          </a:prstGeom>
          <a:noFill/>
        </p:spPr>
        <p:txBody>
          <a:bodyPr wrap="square" lIns="36576" tIns="36576" rIns="36576" bIns="36576">
            <a:spAutoFit/>
          </a:bodyPr>
          <a:lstStyle/>
          <a:p>
            <a:pPr algn="l">
              <a:defRPr sz="1050" b="1">
                <a:solidFill>
                  <a:srgbClr val="FFFFFF"/>
                </a:solidFill>
              </a:defRPr>
            </a:pPr>
            <a:r>
              <a:t>BƯỚC 3: PHÊ DUYỆT ĐIỆN TỬ</a:t>
            </a:r>
          </a:p>
        </p:txBody>
      </p:sp>
      <p:sp>
        <p:nvSpPr>
          <p:cNvPr id="28" name="TextBox 27"/>
          <p:cNvSpPr txBox="1"/>
          <p:nvPr/>
        </p:nvSpPr>
        <p:spPr>
          <a:xfrm>
            <a:off x="1371600" y="4434840"/>
            <a:ext cx="2194560" cy="274320"/>
          </a:xfrm>
          <a:prstGeom prst="rect">
            <a:avLst/>
          </a:prstGeom>
          <a:noFill/>
        </p:spPr>
        <p:txBody>
          <a:bodyPr wrap="square" lIns="36576" tIns="36576" rIns="36576" bIns="36576">
            <a:spAutoFit/>
          </a:bodyPr>
          <a:lstStyle/>
          <a:p>
            <a:pPr algn="l">
              <a:defRPr sz="850" b="1">
                <a:solidFill>
                  <a:srgbClr val="FEF08A"/>
                </a:solidFill>
              </a:defRPr>
            </a:pPr>
            <a:r>
              <a:t>DATA STEWARD &amp; DATA OWNER</a:t>
            </a:r>
          </a:p>
        </p:txBody>
      </p:sp>
      <p:sp>
        <p:nvSpPr>
          <p:cNvPr id="29" name="TextBox 28"/>
          <p:cNvSpPr txBox="1"/>
          <p:nvPr/>
        </p:nvSpPr>
        <p:spPr>
          <a:xfrm>
            <a:off x="3840480" y="3977640"/>
            <a:ext cx="7406640" cy="822960"/>
          </a:xfrm>
          <a:prstGeom prst="rect">
            <a:avLst/>
          </a:prstGeom>
          <a:noFill/>
        </p:spPr>
        <p:txBody>
          <a:bodyPr wrap="square" lIns="36576" tIns="36576" rIns="36576" bIns="36576">
            <a:spAutoFit/>
          </a:bodyPr>
          <a:lstStyle/>
          <a:p>
            <a:pPr algn="l">
              <a:defRPr sz="1050" b="0">
                <a:solidFill>
                  <a:srgbClr val="1E1E1E"/>
                </a:solidFill>
              </a:defRPr>
            </a:pPr>
            <a:r>
              <a:t>Hiển thị bảng tổng hợp trên giao diện nội bộ:</a:t>
            </a:r>
            <a:br/>
            <a:r>
              <a:t>• IT Quảng Ngãi (Data Steward) soát lỗi kỹ thuật.</a:t>
            </a:r>
            <a:br/>
            <a:r>
              <a:t>• Lãnh đạo Đơn vị (Data Owner) xem và bấm: [APPROVE] (Cho phép truyền) hoặc [REJECT] (Hủy luồng, giữ lại chỉnh sửa).</a:t>
            </a:r>
          </a:p>
        </p:txBody>
      </p:sp>
      <p:sp>
        <p:nvSpPr>
          <p:cNvPr id="30" name="Rounded Rectangle 29"/>
          <p:cNvSpPr/>
          <p:nvPr/>
        </p:nvSpPr>
        <p:spPr>
          <a:xfrm>
            <a:off x="731520" y="5074920"/>
            <a:ext cx="10698480" cy="1097280"/>
          </a:xfrm>
          <a:prstGeom prst="roundRect">
            <a:avLst/>
          </a:prstGeom>
          <a:solidFill>
            <a:srgbClr val="FFFFFF"/>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074920"/>
            <a:ext cx="2926080" cy="10972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44068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58968"/>
            <a:ext cx="365760" cy="365760"/>
          </a:xfrm>
          <a:prstGeom prst="rect">
            <a:avLst/>
          </a:prstGeom>
          <a:noFill/>
        </p:spPr>
        <p:txBody>
          <a:bodyPr wrap="square" lIns="36576" tIns="36576" rIns="36576" bIns="36576">
            <a:spAutoFit/>
          </a:bodyPr>
          <a:lstStyle/>
          <a:p>
            <a:pPr algn="ctr">
              <a:defRPr sz="1100" b="1">
                <a:solidFill>
                  <a:srgbClr val="FFFFFF"/>
                </a:solidFill>
              </a:defRPr>
            </a:pPr>
            <a:r>
              <a:t>4</a:t>
            </a:r>
          </a:p>
        </p:txBody>
      </p:sp>
      <p:sp>
        <p:nvSpPr>
          <p:cNvPr id="34" name="TextBox 33"/>
          <p:cNvSpPr txBox="1"/>
          <p:nvPr/>
        </p:nvSpPr>
        <p:spPr>
          <a:xfrm>
            <a:off x="1371600" y="5303520"/>
            <a:ext cx="2194560" cy="320040"/>
          </a:xfrm>
          <a:prstGeom prst="rect">
            <a:avLst/>
          </a:prstGeom>
          <a:noFill/>
        </p:spPr>
        <p:txBody>
          <a:bodyPr wrap="square" lIns="36576" tIns="36576" rIns="36576" bIns="36576">
            <a:spAutoFit/>
          </a:bodyPr>
          <a:lstStyle/>
          <a:p>
            <a:pPr algn="l">
              <a:defRPr sz="1050" b="1">
                <a:solidFill>
                  <a:srgbClr val="FFFFFF"/>
                </a:solidFill>
              </a:defRPr>
            </a:pPr>
            <a:r>
              <a:t>BƯỚC 4: MÃ HÓA &amp; TRUYỀN TẢI</a:t>
            </a:r>
          </a:p>
        </p:txBody>
      </p:sp>
      <p:sp>
        <p:nvSpPr>
          <p:cNvPr id="35" name="TextBox 34"/>
          <p:cNvSpPr txBox="1"/>
          <p:nvPr/>
        </p:nvSpPr>
        <p:spPr>
          <a:xfrm>
            <a:off x="1371600" y="5669280"/>
            <a:ext cx="2194560" cy="274320"/>
          </a:xfrm>
          <a:prstGeom prst="rect">
            <a:avLst/>
          </a:prstGeom>
          <a:noFill/>
        </p:spPr>
        <p:txBody>
          <a:bodyPr wrap="square" lIns="36576" tIns="36576" rIns="36576" bIns="36576">
            <a:spAutoFit/>
          </a:bodyPr>
          <a:lstStyle/>
          <a:p>
            <a:pPr algn="l">
              <a:defRPr sz="850" b="1">
                <a:solidFill>
                  <a:srgbClr val="FEF08A"/>
                </a:solidFill>
              </a:defRPr>
            </a:pPr>
            <a:r>
              <a:t>VPN IPSEC SANG HUB TCT</a:t>
            </a:r>
          </a:p>
        </p:txBody>
      </p:sp>
      <p:sp>
        <p:nvSpPr>
          <p:cNvPr id="36" name="TextBox 35"/>
          <p:cNvSpPr txBox="1"/>
          <p:nvPr/>
        </p:nvSpPr>
        <p:spPr>
          <a:xfrm>
            <a:off x="3840480" y="5212080"/>
            <a:ext cx="7406640" cy="822960"/>
          </a:xfrm>
          <a:prstGeom prst="rect">
            <a:avLst/>
          </a:prstGeom>
          <a:noFill/>
        </p:spPr>
        <p:txBody>
          <a:bodyPr wrap="square" lIns="36576" tIns="36576" rIns="36576" bIns="36576">
            <a:spAutoFit/>
          </a:bodyPr>
          <a:lstStyle/>
          <a:p>
            <a:pPr algn="l">
              <a:defRPr sz="1050" b="0">
                <a:solidFill>
                  <a:srgbClr val="1E1E1E"/>
                </a:solidFill>
              </a:defRPr>
            </a:pPr>
            <a:r>
              <a:t>Chỉ các gói dữ liệu có chữ ký điện tử APPROVE mới được kích hoạt mã hóa AES-256 và truyền qua đường hầm VPN IPSec sang Hub TCT. Hệ thống SIEM ghi nhận Audit Log đầy đủ.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C: ĐẶC TẢ KIẾN TRÚC KỸ THUẬT — AN TOÀN TRUY CẬP</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MA TRẬN PHÂN QUYỀN RBAC: CÔ LẬP DỮ LIỆU TUYỆT ĐỐI THEO TỪNG VAI TRÒ</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09</a:t>
            </a:r>
          </a:p>
        </p:txBody>
      </p:sp>
      <p:sp>
        <p:nvSpPr>
          <p:cNvPr id="9" name="Rectangle 8"/>
          <p:cNvSpPr/>
          <p:nvPr/>
        </p:nvSpPr>
        <p:spPr>
          <a:xfrm>
            <a:off x="731520" y="1280160"/>
            <a:ext cx="10698480" cy="41148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53312"/>
            <a:ext cx="2743200" cy="274320"/>
          </a:xfrm>
          <a:prstGeom prst="rect">
            <a:avLst/>
          </a:prstGeom>
          <a:noFill/>
        </p:spPr>
        <p:txBody>
          <a:bodyPr wrap="square" lIns="36576" tIns="36576" rIns="36576" bIns="36576">
            <a:spAutoFit/>
          </a:bodyPr>
          <a:lstStyle/>
          <a:p>
            <a:pPr algn="l">
              <a:defRPr sz="1050" b="1">
                <a:solidFill>
                  <a:srgbClr val="FFFFFF"/>
                </a:solidFill>
              </a:defRPr>
            </a:pPr>
            <a:r>
              <a:t>ĐỐI TƯỢNG NGƯỜI DÙNG</a:t>
            </a:r>
          </a:p>
        </p:txBody>
      </p:sp>
      <p:sp>
        <p:nvSpPr>
          <p:cNvPr id="11" name="TextBox 10"/>
          <p:cNvSpPr txBox="1"/>
          <p:nvPr/>
        </p:nvSpPr>
        <p:spPr>
          <a:xfrm>
            <a:off x="3657600" y="1353312"/>
            <a:ext cx="2377440" cy="274320"/>
          </a:xfrm>
          <a:prstGeom prst="rect">
            <a:avLst/>
          </a:prstGeom>
          <a:noFill/>
        </p:spPr>
        <p:txBody>
          <a:bodyPr wrap="square" lIns="36576" tIns="36576" rIns="36576" bIns="36576">
            <a:spAutoFit/>
          </a:bodyPr>
          <a:lstStyle/>
          <a:p>
            <a:pPr algn="ctr">
              <a:defRPr sz="1050" b="1">
                <a:solidFill>
                  <a:srgbClr val="FFFFFF"/>
                </a:solidFill>
              </a:defRPr>
            </a:pPr>
            <a:r>
              <a:t>DỮ LIỆU QUẢNG NGÃI</a:t>
            </a:r>
          </a:p>
        </p:txBody>
      </p:sp>
      <p:sp>
        <p:nvSpPr>
          <p:cNvPr id="12" name="TextBox 11"/>
          <p:cNvSpPr txBox="1"/>
          <p:nvPr/>
        </p:nvSpPr>
        <p:spPr>
          <a:xfrm>
            <a:off x="6126480" y="1353312"/>
            <a:ext cx="2377440" cy="274320"/>
          </a:xfrm>
          <a:prstGeom prst="rect">
            <a:avLst/>
          </a:prstGeom>
          <a:noFill/>
        </p:spPr>
        <p:txBody>
          <a:bodyPr wrap="square" lIns="36576" tIns="36576" rIns="36576" bIns="36576">
            <a:spAutoFit/>
          </a:bodyPr>
          <a:lstStyle/>
          <a:p>
            <a:pPr algn="ctr">
              <a:defRPr sz="1050" b="1">
                <a:solidFill>
                  <a:srgbClr val="FFFFFF"/>
                </a:solidFill>
              </a:defRPr>
            </a:pPr>
            <a:r>
              <a:t>DỮ LIỆU ĐVTV KHÁC</a:t>
            </a:r>
          </a:p>
        </p:txBody>
      </p:sp>
      <p:sp>
        <p:nvSpPr>
          <p:cNvPr id="13" name="TextBox 12"/>
          <p:cNvSpPr txBox="1"/>
          <p:nvPr/>
        </p:nvSpPr>
        <p:spPr>
          <a:xfrm>
            <a:off x="8595360" y="1353312"/>
            <a:ext cx="2743200" cy="274320"/>
          </a:xfrm>
          <a:prstGeom prst="rect">
            <a:avLst/>
          </a:prstGeom>
          <a:noFill/>
        </p:spPr>
        <p:txBody>
          <a:bodyPr wrap="square" lIns="36576" tIns="36576" rIns="36576" bIns="36576">
            <a:spAutoFit/>
          </a:bodyPr>
          <a:lstStyle/>
          <a:p>
            <a:pPr algn="ctr">
              <a:defRPr sz="1050" b="1">
                <a:solidFill>
                  <a:srgbClr val="FFFFFF"/>
                </a:solidFill>
              </a:defRPr>
            </a:pPr>
            <a:r>
              <a:t>QUYỀN TRÊN TENANT L3</a:t>
            </a:r>
          </a:p>
        </p:txBody>
      </p:sp>
      <p:sp>
        <p:nvSpPr>
          <p:cNvPr id="14" name="Rectangle 13"/>
          <p:cNvSpPr/>
          <p:nvPr/>
        </p:nvSpPr>
        <p:spPr>
          <a:xfrm>
            <a:off x="731520" y="1783080"/>
            <a:ext cx="10698480" cy="694944"/>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965960"/>
            <a:ext cx="2743200" cy="365760"/>
          </a:xfrm>
          <a:prstGeom prst="rect">
            <a:avLst/>
          </a:prstGeom>
          <a:noFill/>
        </p:spPr>
        <p:txBody>
          <a:bodyPr wrap="square" lIns="36576" tIns="36576" rIns="36576" bIns="36576">
            <a:spAutoFit/>
          </a:bodyPr>
          <a:lstStyle/>
          <a:p>
            <a:pPr algn="l">
              <a:defRPr sz="1050" b="1">
                <a:solidFill>
                  <a:srgbClr val="1E1E1E"/>
                </a:solidFill>
              </a:defRPr>
            </a:pPr>
            <a:r>
              <a:t>Ban Giám đốc PTSC Quảng Ngãi</a:t>
            </a:r>
          </a:p>
        </p:txBody>
      </p:sp>
      <p:sp>
        <p:nvSpPr>
          <p:cNvPr id="16" name="TextBox 15"/>
          <p:cNvSpPr txBox="1"/>
          <p:nvPr/>
        </p:nvSpPr>
        <p:spPr>
          <a:xfrm>
            <a:off x="3657600" y="1965960"/>
            <a:ext cx="2377440" cy="365760"/>
          </a:xfrm>
          <a:prstGeom prst="rect">
            <a:avLst/>
          </a:prstGeom>
          <a:noFill/>
        </p:spPr>
        <p:txBody>
          <a:bodyPr wrap="square" lIns="36576" tIns="36576" rIns="36576" bIns="36576">
            <a:spAutoFit/>
          </a:bodyPr>
          <a:lstStyle/>
          <a:p>
            <a:pPr algn="ctr">
              <a:defRPr sz="1000" b="1">
                <a:solidFill>
                  <a:srgbClr val="14783C"/>
                </a:solidFill>
              </a:defRPr>
            </a:pPr>
            <a:r>
              <a:t>TOÀN QUYỀN 100% NỘI BỘ</a:t>
            </a:r>
          </a:p>
        </p:txBody>
      </p:sp>
      <p:sp>
        <p:nvSpPr>
          <p:cNvPr id="17" name="TextBox 16"/>
          <p:cNvSpPr txBox="1"/>
          <p:nvPr/>
        </p:nvSpPr>
        <p:spPr>
          <a:xfrm>
            <a:off x="6126480" y="1965960"/>
            <a:ext cx="2377440" cy="365760"/>
          </a:xfrm>
          <a:prstGeom prst="rect">
            <a:avLst/>
          </a:prstGeom>
          <a:noFill/>
        </p:spPr>
        <p:txBody>
          <a:bodyPr wrap="square" lIns="36576" tIns="36576" rIns="36576" bIns="36576">
            <a:spAutoFit/>
          </a:bodyPr>
          <a:lstStyle/>
          <a:p>
            <a:pPr algn="ctr">
              <a:defRPr sz="1000" b="1">
                <a:solidFill>
                  <a:srgbClr val="B42828"/>
                </a:solidFill>
              </a:defRPr>
            </a:pPr>
            <a:r>
              <a:t>KHÔNG THỂ XEM</a:t>
            </a:r>
          </a:p>
        </p:txBody>
      </p:sp>
      <p:sp>
        <p:nvSpPr>
          <p:cNvPr id="18" name="TextBox 17"/>
          <p:cNvSpPr txBox="1"/>
          <p:nvPr/>
        </p:nvSpPr>
        <p:spPr>
          <a:xfrm>
            <a:off x="8595360" y="1892808"/>
            <a:ext cx="2743200" cy="502920"/>
          </a:xfrm>
          <a:prstGeom prst="rect">
            <a:avLst/>
          </a:prstGeom>
          <a:noFill/>
        </p:spPr>
        <p:txBody>
          <a:bodyPr wrap="square" lIns="36576" tIns="36576" rIns="36576" bIns="36576">
            <a:spAutoFit/>
          </a:bodyPr>
          <a:lstStyle/>
          <a:p>
            <a:pPr algn="ctr">
              <a:defRPr sz="950" b="0">
                <a:solidFill>
                  <a:srgbClr val="1E1E1E"/>
                </a:solidFill>
              </a:defRPr>
            </a:pPr>
            <a:r>
              <a:t>Data Owner Cấp 3: Xem toàn bộ Dashboard, duyệt dữ liệu đi</a:t>
            </a:r>
          </a:p>
        </p:txBody>
      </p:sp>
      <p:sp>
        <p:nvSpPr>
          <p:cNvPr id="19" name="Rectangle 18"/>
          <p:cNvSpPr/>
          <p:nvPr/>
        </p:nvSpPr>
        <p:spPr>
          <a:xfrm>
            <a:off x="731520" y="2532888"/>
            <a:ext cx="10698480" cy="694944"/>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2715768"/>
            <a:ext cx="2743200" cy="365760"/>
          </a:xfrm>
          <a:prstGeom prst="rect">
            <a:avLst/>
          </a:prstGeom>
          <a:noFill/>
        </p:spPr>
        <p:txBody>
          <a:bodyPr wrap="square" lIns="36576" tIns="36576" rIns="36576" bIns="36576">
            <a:spAutoFit/>
          </a:bodyPr>
          <a:lstStyle/>
          <a:p>
            <a:pPr algn="l">
              <a:defRPr sz="1050" b="1">
                <a:solidFill>
                  <a:srgbClr val="1E1E1E"/>
                </a:solidFill>
              </a:defRPr>
            </a:pPr>
            <a:r>
              <a:t>Trưởng phòng / Key User QN</a:t>
            </a:r>
          </a:p>
        </p:txBody>
      </p:sp>
      <p:sp>
        <p:nvSpPr>
          <p:cNvPr id="21" name="TextBox 20"/>
          <p:cNvSpPr txBox="1"/>
          <p:nvPr/>
        </p:nvSpPr>
        <p:spPr>
          <a:xfrm>
            <a:off x="3657600" y="2715768"/>
            <a:ext cx="2377440" cy="365760"/>
          </a:xfrm>
          <a:prstGeom prst="rect">
            <a:avLst/>
          </a:prstGeom>
          <a:noFill/>
        </p:spPr>
        <p:txBody>
          <a:bodyPr wrap="square" lIns="36576" tIns="36576" rIns="36576" bIns="36576">
            <a:spAutoFit/>
          </a:bodyPr>
          <a:lstStyle/>
          <a:p>
            <a:pPr algn="ctr">
              <a:defRPr sz="1000" b="1">
                <a:solidFill>
                  <a:srgbClr val="00509D"/>
                </a:solidFill>
              </a:defRPr>
            </a:pPr>
            <a:r>
              <a:t>THEO PHÒNG BAN PHỤ TRÁCH</a:t>
            </a:r>
          </a:p>
        </p:txBody>
      </p:sp>
      <p:sp>
        <p:nvSpPr>
          <p:cNvPr id="22" name="TextBox 21"/>
          <p:cNvSpPr txBox="1"/>
          <p:nvPr/>
        </p:nvSpPr>
        <p:spPr>
          <a:xfrm>
            <a:off x="6126480" y="2715768"/>
            <a:ext cx="2377440" cy="365760"/>
          </a:xfrm>
          <a:prstGeom prst="rect">
            <a:avLst/>
          </a:prstGeom>
          <a:noFill/>
        </p:spPr>
        <p:txBody>
          <a:bodyPr wrap="square" lIns="36576" tIns="36576" rIns="36576" bIns="36576">
            <a:spAutoFit/>
          </a:bodyPr>
          <a:lstStyle/>
          <a:p>
            <a:pPr algn="ctr">
              <a:defRPr sz="1000" b="1">
                <a:solidFill>
                  <a:srgbClr val="B42828"/>
                </a:solidFill>
              </a:defRPr>
            </a:pPr>
            <a:r>
              <a:t>KHÔNG THỂ XEM</a:t>
            </a:r>
          </a:p>
        </p:txBody>
      </p:sp>
      <p:sp>
        <p:nvSpPr>
          <p:cNvPr id="23" name="TextBox 22"/>
          <p:cNvSpPr txBox="1"/>
          <p:nvPr/>
        </p:nvSpPr>
        <p:spPr>
          <a:xfrm>
            <a:off x="8595360" y="2642616"/>
            <a:ext cx="2743200" cy="502920"/>
          </a:xfrm>
          <a:prstGeom prst="rect">
            <a:avLst/>
          </a:prstGeom>
          <a:noFill/>
        </p:spPr>
        <p:txBody>
          <a:bodyPr wrap="square" lIns="36576" tIns="36576" rIns="36576" bIns="36576">
            <a:spAutoFit/>
          </a:bodyPr>
          <a:lstStyle/>
          <a:p>
            <a:pPr algn="ctr">
              <a:defRPr sz="950" b="0">
                <a:solidFill>
                  <a:srgbClr val="1E1E1E"/>
                </a:solidFill>
              </a:defRPr>
            </a:pPr>
            <a:r>
              <a:t>Data Contributor: Xem Dashboard chuyên ngành của phòng</a:t>
            </a:r>
          </a:p>
        </p:txBody>
      </p:sp>
      <p:sp>
        <p:nvSpPr>
          <p:cNvPr id="24" name="Rectangle 23"/>
          <p:cNvSpPr/>
          <p:nvPr/>
        </p:nvSpPr>
        <p:spPr>
          <a:xfrm>
            <a:off x="731520" y="3282696"/>
            <a:ext cx="10698480" cy="694944"/>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465576"/>
            <a:ext cx="2743200" cy="365760"/>
          </a:xfrm>
          <a:prstGeom prst="rect">
            <a:avLst/>
          </a:prstGeom>
          <a:noFill/>
        </p:spPr>
        <p:txBody>
          <a:bodyPr wrap="square" lIns="36576" tIns="36576" rIns="36576" bIns="36576">
            <a:spAutoFit/>
          </a:bodyPr>
          <a:lstStyle/>
          <a:p>
            <a:pPr algn="l">
              <a:defRPr sz="1050" b="1">
                <a:solidFill>
                  <a:srgbClr val="1E1E1E"/>
                </a:solidFill>
              </a:defRPr>
            </a:pPr>
            <a:r>
              <a:t>Bộ phận IT PTSC Quảng Ngãi</a:t>
            </a:r>
          </a:p>
        </p:txBody>
      </p:sp>
      <p:sp>
        <p:nvSpPr>
          <p:cNvPr id="26" name="TextBox 25"/>
          <p:cNvSpPr txBox="1"/>
          <p:nvPr/>
        </p:nvSpPr>
        <p:spPr>
          <a:xfrm>
            <a:off x="3657600" y="3465576"/>
            <a:ext cx="2377440" cy="365760"/>
          </a:xfrm>
          <a:prstGeom prst="rect">
            <a:avLst/>
          </a:prstGeom>
          <a:noFill/>
        </p:spPr>
        <p:txBody>
          <a:bodyPr wrap="square" lIns="36576" tIns="36576" rIns="36576" bIns="36576">
            <a:spAutoFit/>
          </a:bodyPr>
          <a:lstStyle/>
          <a:p>
            <a:pPr algn="ctr">
              <a:defRPr sz="1000" b="1">
                <a:solidFill>
                  <a:srgbClr val="00509D"/>
                </a:solidFill>
              </a:defRPr>
            </a:pPr>
            <a:r>
              <a:t>QUẢN TRỊ LUỒNG KỸ THUẬT</a:t>
            </a:r>
          </a:p>
        </p:txBody>
      </p:sp>
      <p:sp>
        <p:nvSpPr>
          <p:cNvPr id="27" name="TextBox 26"/>
          <p:cNvSpPr txBox="1"/>
          <p:nvPr/>
        </p:nvSpPr>
        <p:spPr>
          <a:xfrm>
            <a:off x="6126480" y="3465576"/>
            <a:ext cx="2377440" cy="365760"/>
          </a:xfrm>
          <a:prstGeom prst="rect">
            <a:avLst/>
          </a:prstGeom>
          <a:noFill/>
        </p:spPr>
        <p:txBody>
          <a:bodyPr wrap="square" lIns="36576" tIns="36576" rIns="36576" bIns="36576">
            <a:spAutoFit/>
          </a:bodyPr>
          <a:lstStyle/>
          <a:p>
            <a:pPr algn="ctr">
              <a:defRPr sz="1000" b="1">
                <a:solidFill>
                  <a:srgbClr val="B42828"/>
                </a:solidFill>
              </a:defRPr>
            </a:pPr>
            <a:r>
              <a:t>KHÔNG THỂ XEM</a:t>
            </a:r>
          </a:p>
        </p:txBody>
      </p:sp>
      <p:sp>
        <p:nvSpPr>
          <p:cNvPr id="28" name="TextBox 27"/>
          <p:cNvSpPr txBox="1"/>
          <p:nvPr/>
        </p:nvSpPr>
        <p:spPr>
          <a:xfrm>
            <a:off x="8595360" y="3392424"/>
            <a:ext cx="2743200" cy="502920"/>
          </a:xfrm>
          <a:prstGeom prst="rect">
            <a:avLst/>
          </a:prstGeom>
          <a:noFill/>
        </p:spPr>
        <p:txBody>
          <a:bodyPr wrap="square" lIns="36576" tIns="36576" rIns="36576" bIns="36576">
            <a:spAutoFit/>
          </a:bodyPr>
          <a:lstStyle/>
          <a:p>
            <a:pPr algn="ctr">
              <a:defRPr sz="950" b="0">
                <a:solidFill>
                  <a:srgbClr val="1E1E1E"/>
                </a:solidFill>
              </a:defRPr>
            </a:pPr>
            <a:r>
              <a:t>Data Steward Cấp 4: Quản trị luồng ETL, phân quyền User QN</a:t>
            </a:r>
          </a:p>
        </p:txBody>
      </p:sp>
      <p:sp>
        <p:nvSpPr>
          <p:cNvPr id="29" name="Rectangle 28"/>
          <p:cNvSpPr/>
          <p:nvPr/>
        </p:nvSpPr>
        <p:spPr>
          <a:xfrm>
            <a:off x="731520" y="4032504"/>
            <a:ext cx="10698480" cy="694944"/>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215384"/>
            <a:ext cx="2743200" cy="365760"/>
          </a:xfrm>
          <a:prstGeom prst="rect">
            <a:avLst/>
          </a:prstGeom>
          <a:noFill/>
        </p:spPr>
        <p:txBody>
          <a:bodyPr wrap="square" lIns="36576" tIns="36576" rIns="36576" bIns="36576">
            <a:spAutoFit/>
          </a:bodyPr>
          <a:lstStyle/>
          <a:p>
            <a:pPr algn="l">
              <a:defRPr sz="1050" b="1">
                <a:solidFill>
                  <a:srgbClr val="1E1E1E"/>
                </a:solidFill>
              </a:defRPr>
            </a:pPr>
            <a:r>
              <a:t>Ban Lãnh đạo Tổng công ty</a:t>
            </a:r>
          </a:p>
        </p:txBody>
      </p:sp>
      <p:sp>
        <p:nvSpPr>
          <p:cNvPr id="31" name="TextBox 30"/>
          <p:cNvSpPr txBox="1"/>
          <p:nvPr/>
        </p:nvSpPr>
        <p:spPr>
          <a:xfrm>
            <a:off x="3657600" y="4215384"/>
            <a:ext cx="2377440" cy="365760"/>
          </a:xfrm>
          <a:prstGeom prst="rect">
            <a:avLst/>
          </a:prstGeom>
          <a:noFill/>
        </p:spPr>
        <p:txBody>
          <a:bodyPr wrap="square" lIns="36576" tIns="36576" rIns="36576" bIns="36576">
            <a:spAutoFit/>
          </a:bodyPr>
          <a:lstStyle/>
          <a:p>
            <a:pPr algn="ctr">
              <a:defRPr sz="1000" b="1">
                <a:solidFill>
                  <a:srgbClr val="B46E00"/>
                </a:solidFill>
              </a:defRPr>
            </a:pPr>
            <a:r>
              <a:t>CHỈ XEM SỐ TỔNG HỢP HỢP NHẤT</a:t>
            </a:r>
          </a:p>
        </p:txBody>
      </p:sp>
      <p:sp>
        <p:nvSpPr>
          <p:cNvPr id="32" name="TextBox 31"/>
          <p:cNvSpPr txBox="1"/>
          <p:nvPr/>
        </p:nvSpPr>
        <p:spPr>
          <a:xfrm>
            <a:off x="6126480" y="4215384"/>
            <a:ext cx="2377440" cy="365760"/>
          </a:xfrm>
          <a:prstGeom prst="rect">
            <a:avLst/>
          </a:prstGeom>
          <a:noFill/>
        </p:spPr>
        <p:txBody>
          <a:bodyPr wrap="square" lIns="36576" tIns="36576" rIns="36576" bIns="36576">
            <a:spAutoFit/>
          </a:bodyPr>
          <a:lstStyle/>
          <a:p>
            <a:pPr algn="ctr">
              <a:defRPr sz="1000" b="1">
                <a:solidFill>
                  <a:srgbClr val="1E1E1E"/>
                </a:solidFill>
              </a:defRPr>
            </a:pPr>
            <a:r>
              <a:t>XEM TỔNG HỢP TOÀN TCT</a:t>
            </a:r>
          </a:p>
        </p:txBody>
      </p:sp>
      <p:sp>
        <p:nvSpPr>
          <p:cNvPr id="33" name="TextBox 32"/>
          <p:cNvSpPr txBox="1"/>
          <p:nvPr/>
        </p:nvSpPr>
        <p:spPr>
          <a:xfrm>
            <a:off x="8595360" y="4142232"/>
            <a:ext cx="2743200" cy="502920"/>
          </a:xfrm>
          <a:prstGeom prst="rect">
            <a:avLst/>
          </a:prstGeom>
          <a:noFill/>
        </p:spPr>
        <p:txBody>
          <a:bodyPr wrap="square" lIns="36576" tIns="36576" rIns="36576" bIns="36576">
            <a:spAutoFit/>
          </a:bodyPr>
          <a:lstStyle/>
          <a:p>
            <a:pPr algn="ctr">
              <a:defRPr sz="950" b="0">
                <a:solidFill>
                  <a:srgbClr val="1E1E1E"/>
                </a:solidFill>
              </a:defRPr>
            </a:pPr>
            <a:r>
              <a:t>Không có quyền truy cập vào bảng chi tiết trong Tenant QN</a:t>
            </a:r>
          </a:p>
        </p:txBody>
      </p:sp>
      <p:sp>
        <p:nvSpPr>
          <p:cNvPr id="34" name="Rectangle 33"/>
          <p:cNvSpPr/>
          <p:nvPr/>
        </p:nvSpPr>
        <p:spPr>
          <a:xfrm>
            <a:off x="731520" y="4782312"/>
            <a:ext cx="10698480" cy="694944"/>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8680" y="4965192"/>
            <a:ext cx="2743200" cy="365760"/>
          </a:xfrm>
          <a:prstGeom prst="rect">
            <a:avLst/>
          </a:prstGeom>
          <a:noFill/>
        </p:spPr>
        <p:txBody>
          <a:bodyPr wrap="square" lIns="36576" tIns="36576" rIns="36576" bIns="36576">
            <a:spAutoFit/>
          </a:bodyPr>
          <a:lstStyle/>
          <a:p>
            <a:pPr algn="l">
              <a:defRPr sz="1050" b="1">
                <a:solidFill>
                  <a:srgbClr val="1E1E1E"/>
                </a:solidFill>
              </a:defRPr>
            </a:pPr>
            <a:r>
              <a:t>Đội IT TCT (Admin Level 5)</a:t>
            </a:r>
          </a:p>
        </p:txBody>
      </p:sp>
      <p:sp>
        <p:nvSpPr>
          <p:cNvPr id="36" name="TextBox 35"/>
          <p:cNvSpPr txBox="1"/>
          <p:nvPr/>
        </p:nvSpPr>
        <p:spPr>
          <a:xfrm>
            <a:off x="3657600" y="4965192"/>
            <a:ext cx="2377440" cy="365760"/>
          </a:xfrm>
          <a:prstGeom prst="rect">
            <a:avLst/>
          </a:prstGeom>
          <a:noFill/>
        </p:spPr>
        <p:txBody>
          <a:bodyPr wrap="square" lIns="36576" tIns="36576" rIns="36576" bIns="36576">
            <a:spAutoFit/>
          </a:bodyPr>
          <a:lstStyle/>
          <a:p>
            <a:pPr algn="ctr">
              <a:defRPr sz="1000" b="1">
                <a:solidFill>
                  <a:srgbClr val="B42828"/>
                </a:solidFill>
              </a:defRPr>
            </a:pPr>
            <a:r>
              <a:t>BỊ CẤM XEM DỮ LIỆU NGHIỆP VỤ</a:t>
            </a:r>
          </a:p>
        </p:txBody>
      </p:sp>
      <p:sp>
        <p:nvSpPr>
          <p:cNvPr id="37" name="TextBox 36"/>
          <p:cNvSpPr txBox="1"/>
          <p:nvPr/>
        </p:nvSpPr>
        <p:spPr>
          <a:xfrm>
            <a:off x="6126480" y="4965192"/>
            <a:ext cx="2377440" cy="365760"/>
          </a:xfrm>
          <a:prstGeom prst="rect">
            <a:avLst/>
          </a:prstGeom>
          <a:noFill/>
        </p:spPr>
        <p:txBody>
          <a:bodyPr wrap="square" lIns="36576" tIns="36576" rIns="36576" bIns="36576">
            <a:spAutoFit/>
          </a:bodyPr>
          <a:lstStyle/>
          <a:p>
            <a:pPr algn="ctr">
              <a:defRPr sz="1000" b="1">
                <a:solidFill>
                  <a:srgbClr val="B42828"/>
                </a:solidFill>
              </a:defRPr>
            </a:pPr>
            <a:r>
              <a:t>BỊ CẤM XEM DỮ LIỆU</a:t>
            </a:r>
          </a:p>
        </p:txBody>
      </p:sp>
      <p:sp>
        <p:nvSpPr>
          <p:cNvPr id="38" name="TextBox 37"/>
          <p:cNvSpPr txBox="1"/>
          <p:nvPr/>
        </p:nvSpPr>
        <p:spPr>
          <a:xfrm>
            <a:off x="8595360" y="4892040"/>
            <a:ext cx="2743200" cy="502920"/>
          </a:xfrm>
          <a:prstGeom prst="rect">
            <a:avLst/>
          </a:prstGeom>
          <a:noFill/>
        </p:spPr>
        <p:txBody>
          <a:bodyPr wrap="square" lIns="36576" tIns="36576" rIns="36576" bIns="36576">
            <a:spAutoFit/>
          </a:bodyPr>
          <a:lstStyle/>
          <a:p>
            <a:pPr algn="ctr">
              <a:defRPr sz="950" b="0">
                <a:solidFill>
                  <a:srgbClr val="1E1E1E"/>
                </a:solidFill>
              </a:defRPr>
            </a:pPr>
            <a:r>
              <a:t>Chỉ vận hành máy chủ, mở xem sẽ bị SIEM báo động đỏ</a:t>
            </a:r>
          </a:p>
        </p:txBody>
      </p:sp>
      <p:sp>
        <p:nvSpPr>
          <p:cNvPr id="39" name="Rectangle 38"/>
          <p:cNvSpPr/>
          <p:nvPr/>
        </p:nvSpPr>
        <p:spPr>
          <a:xfrm>
            <a:off x="731520" y="5532120"/>
            <a:ext cx="10698480" cy="694944"/>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8680" y="5715000"/>
            <a:ext cx="2743200" cy="365760"/>
          </a:xfrm>
          <a:prstGeom prst="rect">
            <a:avLst/>
          </a:prstGeom>
          <a:noFill/>
        </p:spPr>
        <p:txBody>
          <a:bodyPr wrap="square" lIns="36576" tIns="36576" rIns="36576" bIns="36576">
            <a:spAutoFit/>
          </a:bodyPr>
          <a:lstStyle/>
          <a:p>
            <a:pPr algn="l">
              <a:defRPr sz="1050" b="1">
                <a:solidFill>
                  <a:srgbClr val="1E1E1E"/>
                </a:solidFill>
              </a:defRPr>
            </a:pPr>
            <a:r>
              <a:t>Đơn vị bạn (PTSC M&amp;C, POS...)</a:t>
            </a:r>
          </a:p>
        </p:txBody>
      </p:sp>
      <p:sp>
        <p:nvSpPr>
          <p:cNvPr id="41" name="TextBox 40"/>
          <p:cNvSpPr txBox="1"/>
          <p:nvPr/>
        </p:nvSpPr>
        <p:spPr>
          <a:xfrm>
            <a:off x="3657600" y="5715000"/>
            <a:ext cx="2377440" cy="365760"/>
          </a:xfrm>
          <a:prstGeom prst="rect">
            <a:avLst/>
          </a:prstGeom>
          <a:noFill/>
        </p:spPr>
        <p:txBody>
          <a:bodyPr wrap="square" lIns="36576" tIns="36576" rIns="36576" bIns="36576">
            <a:spAutoFit/>
          </a:bodyPr>
          <a:lstStyle/>
          <a:p>
            <a:pPr algn="ctr">
              <a:defRPr sz="1000" b="1">
                <a:solidFill>
                  <a:srgbClr val="B42828"/>
                </a:solidFill>
              </a:defRPr>
            </a:pPr>
            <a:r>
              <a:t>TUYỆT ĐỐI BỊ CÔ LẬP 100%</a:t>
            </a:r>
          </a:p>
        </p:txBody>
      </p:sp>
      <p:sp>
        <p:nvSpPr>
          <p:cNvPr id="42" name="TextBox 41"/>
          <p:cNvSpPr txBox="1"/>
          <p:nvPr/>
        </p:nvSpPr>
        <p:spPr>
          <a:xfrm>
            <a:off x="6126480" y="5715000"/>
            <a:ext cx="2377440" cy="365760"/>
          </a:xfrm>
          <a:prstGeom prst="rect">
            <a:avLst/>
          </a:prstGeom>
          <a:noFill/>
        </p:spPr>
        <p:txBody>
          <a:bodyPr wrap="square" lIns="36576" tIns="36576" rIns="36576" bIns="36576">
            <a:spAutoFit/>
          </a:bodyPr>
          <a:lstStyle/>
          <a:p>
            <a:pPr algn="ctr">
              <a:defRPr sz="1000" b="1">
                <a:solidFill>
                  <a:srgbClr val="1E1E1E"/>
                </a:solidFill>
              </a:defRPr>
            </a:pPr>
            <a:r>
              <a:t>CHỈ XEM ĐƠN VỊ HỌ</a:t>
            </a:r>
          </a:p>
        </p:txBody>
      </p:sp>
      <p:sp>
        <p:nvSpPr>
          <p:cNvPr id="43" name="TextBox 42"/>
          <p:cNvSpPr txBox="1"/>
          <p:nvPr/>
        </p:nvSpPr>
        <p:spPr>
          <a:xfrm>
            <a:off x="8595360" y="5641848"/>
            <a:ext cx="2743200" cy="502920"/>
          </a:xfrm>
          <a:prstGeom prst="rect">
            <a:avLst/>
          </a:prstGeom>
          <a:noFill/>
        </p:spPr>
        <p:txBody>
          <a:bodyPr wrap="square" lIns="36576" tIns="36576" rIns="36576" bIns="36576">
            <a:spAutoFit/>
          </a:bodyPr>
          <a:lstStyle/>
          <a:p>
            <a:pPr algn="ctr">
              <a:defRPr sz="950" b="0">
                <a:solidFill>
                  <a:srgbClr val="1E1E1E"/>
                </a:solidFill>
              </a:defRPr>
            </a:pPr>
            <a:r>
              <a:t>Bị chặn hoàn toàn bởi kiến trúc Multi-tenancy độc lập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C: ĐẶC TẢ KIẾN TRÚC KỸ THUẬT — LỰA CHỌN TỐI ƯU</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SO SÁNH 2 PHƯƠNG ÁN TRIỂN KHAI THEO CHỈ ĐẠO BAN GIÁM ĐỐC</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10</a:t>
            </a:r>
          </a:p>
        </p:txBody>
      </p:sp>
      <p:sp>
        <p:nvSpPr>
          <p:cNvPr id="9" name="Rounded Rectangle 8"/>
          <p:cNvSpPr/>
          <p:nvPr/>
        </p:nvSpPr>
        <p:spPr>
          <a:xfrm>
            <a:off x="731520" y="1280160"/>
            <a:ext cx="5120640" cy="4937760"/>
          </a:xfrm>
          <a:prstGeom prst="roundRect">
            <a:avLst/>
          </a:prstGeom>
          <a:solidFill>
            <a:srgbClr val="FDEEEE"/>
          </a:solidFill>
          <a:ln w="19050">
            <a:solidFill>
              <a:srgbClr val="B4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280160"/>
            <a:ext cx="5120640" cy="457200"/>
          </a:xfrm>
          <a:prstGeom prst="rect">
            <a:avLst/>
          </a:prstGeom>
          <a:solidFill>
            <a:srgbClr val="B4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298448"/>
            <a:ext cx="5120640" cy="365760"/>
          </a:xfrm>
          <a:prstGeom prst="rect">
            <a:avLst/>
          </a:prstGeom>
          <a:noFill/>
        </p:spPr>
        <p:txBody>
          <a:bodyPr wrap="square" lIns="36576" tIns="36576" rIns="36576" bIns="36576">
            <a:spAutoFit/>
          </a:bodyPr>
          <a:lstStyle/>
          <a:p>
            <a:pPr algn="ctr">
              <a:defRPr sz="1200" b="1">
                <a:solidFill>
                  <a:srgbClr val="FFFFFF"/>
                </a:solidFill>
              </a:defRPr>
            </a:pPr>
            <a:r>
              <a:t>PHƯƠNG ÁN 1: CHỜ TỔNG CÔNG TY TRIỂN KHAI</a:t>
            </a:r>
          </a:p>
        </p:txBody>
      </p:sp>
      <p:sp>
        <p:nvSpPr>
          <p:cNvPr id="12" name="Rounded Rectangle 11"/>
          <p:cNvSpPr/>
          <p:nvPr/>
        </p:nvSpPr>
        <p:spPr>
          <a:xfrm>
            <a:off x="914400" y="192024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65960"/>
            <a:ext cx="2286000" cy="228600"/>
          </a:xfrm>
          <a:prstGeom prst="rect">
            <a:avLst/>
          </a:prstGeom>
          <a:noFill/>
        </p:spPr>
        <p:txBody>
          <a:bodyPr wrap="square" lIns="36576" tIns="36576" rIns="36576" bIns="36576">
            <a:spAutoFit/>
          </a:bodyPr>
          <a:lstStyle/>
          <a:p>
            <a:pPr algn="l">
              <a:defRPr sz="1000" b="1">
                <a:solidFill>
                  <a:srgbClr val="1E1E1E"/>
                </a:solidFill>
              </a:defRPr>
            </a:pPr>
            <a:r>
              <a:t>Khả thi nhân lực</a:t>
            </a:r>
          </a:p>
        </p:txBody>
      </p:sp>
      <p:sp>
        <p:nvSpPr>
          <p:cNvPr id="14" name="TextBox 13"/>
          <p:cNvSpPr txBox="1"/>
          <p:nvPr/>
        </p:nvSpPr>
        <p:spPr>
          <a:xfrm>
            <a:off x="3200400" y="1965960"/>
            <a:ext cx="2286000" cy="228600"/>
          </a:xfrm>
          <a:prstGeom prst="rect">
            <a:avLst/>
          </a:prstGeom>
          <a:noFill/>
        </p:spPr>
        <p:txBody>
          <a:bodyPr wrap="square" lIns="36576" tIns="36576" rIns="36576" bIns="36576">
            <a:spAutoFit/>
          </a:bodyPr>
          <a:lstStyle/>
          <a:p>
            <a:pPr algn="r">
              <a:defRPr sz="1000" b="1">
                <a:solidFill>
                  <a:srgbClr val="B42828"/>
                </a:solidFill>
              </a:defRPr>
            </a:pPr>
            <a:r>
              <a:t>KHÔNG ĐẢM BẢO</a:t>
            </a:r>
          </a:p>
        </p:txBody>
      </p:sp>
      <p:sp>
        <p:nvSpPr>
          <p:cNvPr id="15" name="TextBox 14"/>
          <p:cNvSpPr txBox="1"/>
          <p:nvPr/>
        </p:nvSpPr>
        <p:spPr>
          <a:xfrm>
            <a:off x="1051560" y="2212848"/>
            <a:ext cx="4480560" cy="502920"/>
          </a:xfrm>
          <a:prstGeom prst="rect">
            <a:avLst/>
          </a:prstGeom>
          <a:noFill/>
        </p:spPr>
        <p:txBody>
          <a:bodyPr wrap="square" lIns="36576" tIns="36576" rIns="36576" bIns="36576">
            <a:spAutoFit/>
          </a:bodyPr>
          <a:lstStyle/>
          <a:p>
            <a:pPr algn="l">
              <a:defRPr sz="950" b="0">
                <a:solidFill>
                  <a:srgbClr val="1E1E1E"/>
                </a:solidFill>
              </a:defRPr>
            </a:pPr>
            <a:r>
              <a:t>Ban NCPT&amp;CĐS TCT chỉ vận hành Hub chung, không đủ kỹ sư cắm chốt tại Quảng Ngãi để bóc tách CSDL 4 phần mềm.</a:t>
            </a:r>
          </a:p>
        </p:txBody>
      </p:sp>
      <p:sp>
        <p:nvSpPr>
          <p:cNvPr id="16" name="Rounded Rectangle 15"/>
          <p:cNvSpPr/>
          <p:nvPr/>
        </p:nvSpPr>
        <p:spPr>
          <a:xfrm>
            <a:off x="914400" y="292608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971800"/>
            <a:ext cx="2286000" cy="228600"/>
          </a:xfrm>
          <a:prstGeom prst="rect">
            <a:avLst/>
          </a:prstGeom>
          <a:noFill/>
        </p:spPr>
        <p:txBody>
          <a:bodyPr wrap="square" lIns="36576" tIns="36576" rIns="36576" bIns="36576">
            <a:spAutoFit/>
          </a:bodyPr>
          <a:lstStyle/>
          <a:p>
            <a:pPr algn="l">
              <a:defRPr sz="1000" b="1">
                <a:solidFill>
                  <a:srgbClr val="1E1E1E"/>
                </a:solidFill>
              </a:defRPr>
            </a:pPr>
            <a:r>
              <a:t>Tiến độ thực hiện</a:t>
            </a:r>
          </a:p>
        </p:txBody>
      </p:sp>
      <p:sp>
        <p:nvSpPr>
          <p:cNvPr id="18" name="TextBox 17"/>
          <p:cNvSpPr txBox="1"/>
          <p:nvPr/>
        </p:nvSpPr>
        <p:spPr>
          <a:xfrm>
            <a:off x="3200400" y="2971800"/>
            <a:ext cx="2286000" cy="228600"/>
          </a:xfrm>
          <a:prstGeom prst="rect">
            <a:avLst/>
          </a:prstGeom>
          <a:noFill/>
        </p:spPr>
        <p:txBody>
          <a:bodyPr wrap="square" lIns="36576" tIns="36576" rIns="36576" bIns="36576">
            <a:spAutoFit/>
          </a:bodyPr>
          <a:lstStyle/>
          <a:p>
            <a:pPr algn="r">
              <a:defRPr sz="1000" b="1">
                <a:solidFill>
                  <a:srgbClr val="B42828"/>
                </a:solidFill>
              </a:defRPr>
            </a:pPr>
            <a:r>
              <a:t>RỦI RO TRỄ HẠN CAO</a:t>
            </a:r>
          </a:p>
        </p:txBody>
      </p:sp>
      <p:sp>
        <p:nvSpPr>
          <p:cNvPr id="19" name="TextBox 18"/>
          <p:cNvSpPr txBox="1"/>
          <p:nvPr/>
        </p:nvSpPr>
        <p:spPr>
          <a:xfrm>
            <a:off x="1051560" y="3218688"/>
            <a:ext cx="4480560" cy="502920"/>
          </a:xfrm>
          <a:prstGeom prst="rect">
            <a:avLst/>
          </a:prstGeom>
          <a:noFill/>
        </p:spPr>
        <p:txBody>
          <a:bodyPr wrap="square" lIns="36576" tIns="36576" rIns="36576" bIns="36576">
            <a:spAutoFit/>
          </a:bodyPr>
          <a:lstStyle/>
          <a:p>
            <a:pPr algn="l">
              <a:defRPr sz="950" b="0">
                <a:solidFill>
                  <a:srgbClr val="1E1E1E"/>
                </a:solidFill>
              </a:defRPr>
            </a:pPr>
            <a:r>
              <a:t>Hơn 10 đơn vị đang xếp hàng. Email ngày 07/09 của TCT cho thấy TCT đang quá tải và đề nghị giãn tiến độ.</a:t>
            </a:r>
          </a:p>
        </p:txBody>
      </p:sp>
      <p:sp>
        <p:nvSpPr>
          <p:cNvPr id="20" name="Rounded Rectangle 19"/>
          <p:cNvSpPr/>
          <p:nvPr/>
        </p:nvSpPr>
        <p:spPr>
          <a:xfrm>
            <a:off x="914400" y="393192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977640"/>
            <a:ext cx="2286000" cy="228600"/>
          </a:xfrm>
          <a:prstGeom prst="rect">
            <a:avLst/>
          </a:prstGeom>
          <a:noFill/>
        </p:spPr>
        <p:txBody>
          <a:bodyPr wrap="square" lIns="36576" tIns="36576" rIns="36576" bIns="36576">
            <a:spAutoFit/>
          </a:bodyPr>
          <a:lstStyle/>
          <a:p>
            <a:pPr algn="l">
              <a:defRPr sz="1000" b="1">
                <a:solidFill>
                  <a:srgbClr val="1E1E1E"/>
                </a:solidFill>
              </a:defRPr>
            </a:pPr>
            <a:r>
              <a:t>Nghiệp vụ nội bộ</a:t>
            </a:r>
          </a:p>
        </p:txBody>
      </p:sp>
      <p:sp>
        <p:nvSpPr>
          <p:cNvPr id="22" name="TextBox 21"/>
          <p:cNvSpPr txBox="1"/>
          <p:nvPr/>
        </p:nvSpPr>
        <p:spPr>
          <a:xfrm>
            <a:off x="3200400" y="3977640"/>
            <a:ext cx="2286000" cy="228600"/>
          </a:xfrm>
          <a:prstGeom prst="rect">
            <a:avLst/>
          </a:prstGeom>
          <a:noFill/>
        </p:spPr>
        <p:txBody>
          <a:bodyPr wrap="square" lIns="36576" tIns="36576" rIns="36576" bIns="36576">
            <a:spAutoFit/>
          </a:bodyPr>
          <a:lstStyle/>
          <a:p>
            <a:pPr algn="r">
              <a:defRPr sz="1000" b="1">
                <a:solidFill>
                  <a:srgbClr val="B42828"/>
                </a:solidFill>
              </a:defRPr>
            </a:pPr>
            <a:r>
              <a:t>CHỈ LÀM BÁO CÁO TCT</a:t>
            </a:r>
          </a:p>
        </p:txBody>
      </p:sp>
      <p:sp>
        <p:nvSpPr>
          <p:cNvPr id="23" name="TextBox 22"/>
          <p:cNvSpPr txBox="1"/>
          <p:nvPr/>
        </p:nvSpPr>
        <p:spPr>
          <a:xfrm>
            <a:off x="1051560" y="4224528"/>
            <a:ext cx="4480560" cy="502920"/>
          </a:xfrm>
          <a:prstGeom prst="rect">
            <a:avLst/>
          </a:prstGeom>
          <a:noFill/>
        </p:spPr>
        <p:txBody>
          <a:bodyPr wrap="square" lIns="36576" tIns="36576" rIns="36576" bIns="36576">
            <a:spAutoFit/>
          </a:bodyPr>
          <a:lstStyle/>
          <a:p>
            <a:pPr algn="l">
              <a:defRPr sz="950" b="0">
                <a:solidFill>
                  <a:srgbClr val="1E1E1E"/>
                </a:solidFill>
              </a:defRPr>
            </a:pPr>
            <a:r>
              <a:t>TCT chỉ tập trung lấy số hợp nhất cho TCT. Không xây dựng Dashboard điều hành riêng cho Giám đốc Quảng Ngãi.</a:t>
            </a:r>
          </a:p>
        </p:txBody>
      </p:sp>
      <p:sp>
        <p:nvSpPr>
          <p:cNvPr id="24" name="Rounded Rectangle 23"/>
          <p:cNvSpPr/>
          <p:nvPr/>
        </p:nvSpPr>
        <p:spPr>
          <a:xfrm>
            <a:off x="914400" y="493776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983480"/>
            <a:ext cx="2286000" cy="228600"/>
          </a:xfrm>
          <a:prstGeom prst="rect">
            <a:avLst/>
          </a:prstGeom>
          <a:noFill/>
        </p:spPr>
        <p:txBody>
          <a:bodyPr wrap="square" lIns="36576" tIns="36576" rIns="36576" bIns="36576">
            <a:spAutoFit/>
          </a:bodyPr>
          <a:lstStyle/>
          <a:p>
            <a:pPr algn="l">
              <a:defRPr sz="1000" b="1">
                <a:solidFill>
                  <a:srgbClr val="1E1E1E"/>
                </a:solidFill>
              </a:defRPr>
            </a:pPr>
            <a:r>
              <a:t>Mức độ tự chủ</a:t>
            </a:r>
          </a:p>
        </p:txBody>
      </p:sp>
      <p:sp>
        <p:nvSpPr>
          <p:cNvPr id="26" name="TextBox 25"/>
          <p:cNvSpPr txBox="1"/>
          <p:nvPr/>
        </p:nvSpPr>
        <p:spPr>
          <a:xfrm>
            <a:off x="3200400" y="4983480"/>
            <a:ext cx="2286000" cy="228600"/>
          </a:xfrm>
          <a:prstGeom prst="rect">
            <a:avLst/>
          </a:prstGeom>
          <a:noFill/>
        </p:spPr>
        <p:txBody>
          <a:bodyPr wrap="square" lIns="36576" tIns="36576" rIns="36576" bIns="36576">
            <a:spAutoFit/>
          </a:bodyPr>
          <a:lstStyle/>
          <a:p>
            <a:pPr algn="r">
              <a:defRPr sz="1000" b="1">
                <a:solidFill>
                  <a:srgbClr val="B42828"/>
                </a:solidFill>
              </a:defRPr>
            </a:pPr>
            <a:r>
              <a:t>PHỤ THUỘC HOÀN TOÀN</a:t>
            </a:r>
          </a:p>
        </p:txBody>
      </p:sp>
      <p:sp>
        <p:nvSpPr>
          <p:cNvPr id="27" name="TextBox 26"/>
          <p:cNvSpPr txBox="1"/>
          <p:nvPr/>
        </p:nvSpPr>
        <p:spPr>
          <a:xfrm>
            <a:off x="1051560" y="5230368"/>
            <a:ext cx="4480560" cy="502920"/>
          </a:xfrm>
          <a:prstGeom prst="rect">
            <a:avLst/>
          </a:prstGeom>
          <a:noFill/>
        </p:spPr>
        <p:txBody>
          <a:bodyPr wrap="square" lIns="36576" tIns="36576" rIns="36576" bIns="36576">
            <a:spAutoFit/>
          </a:bodyPr>
          <a:lstStyle/>
          <a:p>
            <a:pPr algn="l">
              <a:defRPr sz="950" b="0">
                <a:solidFill>
                  <a:srgbClr val="1E1E1E"/>
                </a:solidFill>
              </a:defRPr>
            </a:pPr>
            <a:r>
              <a:t>Mọi sửa đổi luồng dữ liệu đều phải làm công văn xin TCT, rất chậm trễ và quan liêu.</a:t>
            </a:r>
          </a:p>
        </p:txBody>
      </p:sp>
      <p:sp>
        <p:nvSpPr>
          <p:cNvPr id="28" name="Rounded Rectangle 27"/>
          <p:cNvSpPr/>
          <p:nvPr/>
        </p:nvSpPr>
        <p:spPr>
          <a:xfrm>
            <a:off x="6309360" y="1280160"/>
            <a:ext cx="5120640" cy="4937760"/>
          </a:xfrm>
          <a:prstGeom prst="roundRect">
            <a:avLst/>
          </a:prstGeom>
          <a:solidFill>
            <a:srgbClr val="E6F5EB"/>
          </a:solidFill>
          <a:ln w="2540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1280160"/>
            <a:ext cx="5120640" cy="45720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1298448"/>
            <a:ext cx="5120640" cy="365760"/>
          </a:xfrm>
          <a:prstGeom prst="rect">
            <a:avLst/>
          </a:prstGeom>
          <a:noFill/>
        </p:spPr>
        <p:txBody>
          <a:bodyPr wrap="square" lIns="36576" tIns="36576" rIns="36576" bIns="36576">
            <a:spAutoFit/>
          </a:bodyPr>
          <a:lstStyle/>
          <a:p>
            <a:pPr algn="ctr">
              <a:defRPr sz="1100" b="1">
                <a:solidFill>
                  <a:srgbClr val="FFFFFF"/>
                </a:solidFill>
              </a:defRPr>
            </a:pPr>
            <a:r>
              <a:t>PHƯƠNG ÁN 2 (ĐỀ XUẤT): CHỦ ĐỘNG + LÀM VIỆC 3 BÊN VỚI TCT</a:t>
            </a:r>
          </a:p>
        </p:txBody>
      </p:sp>
      <p:sp>
        <p:nvSpPr>
          <p:cNvPr id="31" name="Rounded Rectangle 30"/>
          <p:cNvSpPr/>
          <p:nvPr/>
        </p:nvSpPr>
        <p:spPr>
          <a:xfrm>
            <a:off x="6492240" y="192024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1965960"/>
            <a:ext cx="2194560" cy="228600"/>
          </a:xfrm>
          <a:prstGeom prst="rect">
            <a:avLst/>
          </a:prstGeom>
          <a:noFill/>
        </p:spPr>
        <p:txBody>
          <a:bodyPr wrap="square" lIns="36576" tIns="36576" rIns="36576" bIns="36576">
            <a:spAutoFit/>
          </a:bodyPr>
          <a:lstStyle/>
          <a:p>
            <a:pPr algn="l">
              <a:defRPr sz="1000" b="1">
                <a:solidFill>
                  <a:srgbClr val="1E1E1E"/>
                </a:solidFill>
              </a:defRPr>
            </a:pPr>
            <a:r>
              <a:t>Khả thi nhân lực</a:t>
            </a:r>
          </a:p>
        </p:txBody>
      </p:sp>
      <p:sp>
        <p:nvSpPr>
          <p:cNvPr id="33" name="TextBox 32"/>
          <p:cNvSpPr txBox="1"/>
          <p:nvPr/>
        </p:nvSpPr>
        <p:spPr>
          <a:xfrm>
            <a:off x="8686800" y="1965960"/>
            <a:ext cx="2468880" cy="228600"/>
          </a:xfrm>
          <a:prstGeom prst="rect">
            <a:avLst/>
          </a:prstGeom>
          <a:noFill/>
        </p:spPr>
        <p:txBody>
          <a:bodyPr wrap="square" lIns="36576" tIns="36576" rIns="36576" bIns="36576">
            <a:spAutoFit/>
          </a:bodyPr>
          <a:lstStyle/>
          <a:p>
            <a:pPr algn="r">
              <a:defRPr sz="1000" b="1">
                <a:solidFill>
                  <a:srgbClr val="14783C"/>
                </a:solidFill>
              </a:defRPr>
            </a:pPr>
            <a:r>
              <a:t>LÀM VIỆC VỚI HIPT-AITS</a:t>
            </a:r>
          </a:p>
        </p:txBody>
      </p:sp>
      <p:sp>
        <p:nvSpPr>
          <p:cNvPr id="34" name="TextBox 33"/>
          <p:cNvSpPr txBox="1"/>
          <p:nvPr/>
        </p:nvSpPr>
        <p:spPr>
          <a:xfrm>
            <a:off x="6629400" y="2212848"/>
            <a:ext cx="4480560" cy="502920"/>
          </a:xfrm>
          <a:prstGeom prst="rect">
            <a:avLst/>
          </a:prstGeom>
          <a:noFill/>
        </p:spPr>
        <p:txBody>
          <a:bodyPr wrap="square" lIns="36576" tIns="36576" rIns="36576" bIns="36576">
            <a:spAutoFit/>
          </a:bodyPr>
          <a:lstStyle/>
          <a:p>
            <a:pPr algn="l">
              <a:defRPr sz="950" b="0">
                <a:solidFill>
                  <a:srgbClr val="1E1E1E"/>
                </a:solidFill>
              </a:defRPr>
            </a:pPr>
            <a:r>
              <a:t>Làm việc trực tiếp với Liên danh tư vấn của TCT để chuẩn hóa kiến trúc ESB theo đúng khuyến nghị của chị Vân Phan.</a:t>
            </a:r>
          </a:p>
        </p:txBody>
      </p:sp>
      <p:sp>
        <p:nvSpPr>
          <p:cNvPr id="35" name="Rounded Rectangle 34"/>
          <p:cNvSpPr/>
          <p:nvPr/>
        </p:nvSpPr>
        <p:spPr>
          <a:xfrm>
            <a:off x="6492240" y="292608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29400" y="2971800"/>
            <a:ext cx="2194560" cy="228600"/>
          </a:xfrm>
          <a:prstGeom prst="rect">
            <a:avLst/>
          </a:prstGeom>
          <a:noFill/>
        </p:spPr>
        <p:txBody>
          <a:bodyPr wrap="square" lIns="36576" tIns="36576" rIns="36576" bIns="36576">
            <a:spAutoFit/>
          </a:bodyPr>
          <a:lstStyle/>
          <a:p>
            <a:pPr algn="l">
              <a:defRPr sz="1000" b="1">
                <a:solidFill>
                  <a:srgbClr val="1E1E1E"/>
                </a:solidFill>
              </a:defRPr>
            </a:pPr>
            <a:r>
              <a:t>Tiến độ thực hiện</a:t>
            </a:r>
          </a:p>
        </p:txBody>
      </p:sp>
      <p:sp>
        <p:nvSpPr>
          <p:cNvPr id="37" name="TextBox 36"/>
          <p:cNvSpPr txBox="1"/>
          <p:nvPr/>
        </p:nvSpPr>
        <p:spPr>
          <a:xfrm>
            <a:off x="8686800" y="2971800"/>
            <a:ext cx="2468880" cy="228600"/>
          </a:xfrm>
          <a:prstGeom prst="rect">
            <a:avLst/>
          </a:prstGeom>
          <a:noFill/>
        </p:spPr>
        <p:txBody>
          <a:bodyPr wrap="square" lIns="36576" tIns="36576" rIns="36576" bIns="36576">
            <a:spAutoFit/>
          </a:bodyPr>
          <a:lstStyle/>
          <a:p>
            <a:pPr algn="r">
              <a:defRPr sz="1000" b="1">
                <a:solidFill>
                  <a:srgbClr val="14783C"/>
                </a:solidFill>
              </a:defRPr>
            </a:pPr>
            <a:r>
              <a:t>CHỦ ĐỘNG, 3–4 THÁNG</a:t>
            </a:r>
          </a:p>
        </p:txBody>
      </p:sp>
      <p:sp>
        <p:nvSpPr>
          <p:cNvPr id="38" name="TextBox 37"/>
          <p:cNvSpPr txBox="1"/>
          <p:nvPr/>
        </p:nvSpPr>
        <p:spPr>
          <a:xfrm>
            <a:off x="6629400" y="3218688"/>
            <a:ext cx="4480560" cy="502920"/>
          </a:xfrm>
          <a:prstGeom prst="rect">
            <a:avLst/>
          </a:prstGeom>
          <a:noFill/>
        </p:spPr>
        <p:txBody>
          <a:bodyPr wrap="square" lIns="36576" tIns="36576" rIns="36576" bIns="36576">
            <a:spAutoFit/>
          </a:bodyPr>
          <a:lstStyle/>
          <a:p>
            <a:pPr algn="l">
              <a:defRPr sz="950" b="0">
                <a:solidFill>
                  <a:srgbClr val="1E1E1E"/>
                </a:solidFill>
              </a:defRPr>
            </a:pPr>
            <a:r>
              <a:t>Chủ động gửi email chốt mốc giãn tiến độ gói Mua sắm (đến hết tháng 10/2026) để kịp tiến độ SXKD của công ty.</a:t>
            </a:r>
          </a:p>
        </p:txBody>
      </p:sp>
      <p:sp>
        <p:nvSpPr>
          <p:cNvPr id="39" name="Rounded Rectangle 38"/>
          <p:cNvSpPr/>
          <p:nvPr/>
        </p:nvSpPr>
        <p:spPr>
          <a:xfrm>
            <a:off x="6492240" y="393192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629400" y="3977640"/>
            <a:ext cx="2194560" cy="228600"/>
          </a:xfrm>
          <a:prstGeom prst="rect">
            <a:avLst/>
          </a:prstGeom>
          <a:noFill/>
        </p:spPr>
        <p:txBody>
          <a:bodyPr wrap="square" lIns="36576" tIns="36576" rIns="36576" bIns="36576">
            <a:spAutoFit/>
          </a:bodyPr>
          <a:lstStyle/>
          <a:p>
            <a:pPr algn="l">
              <a:defRPr sz="1000" b="1">
                <a:solidFill>
                  <a:srgbClr val="1E1E1E"/>
                </a:solidFill>
              </a:defRPr>
            </a:pPr>
            <a:r>
              <a:t>Nghiệp vụ nội bộ</a:t>
            </a:r>
          </a:p>
        </p:txBody>
      </p:sp>
      <p:sp>
        <p:nvSpPr>
          <p:cNvPr id="41" name="TextBox 40"/>
          <p:cNvSpPr txBox="1"/>
          <p:nvPr/>
        </p:nvSpPr>
        <p:spPr>
          <a:xfrm>
            <a:off x="8686800" y="3977640"/>
            <a:ext cx="2468880" cy="228600"/>
          </a:xfrm>
          <a:prstGeom prst="rect">
            <a:avLst/>
          </a:prstGeom>
          <a:noFill/>
        </p:spPr>
        <p:txBody>
          <a:bodyPr wrap="square" lIns="36576" tIns="36576" rIns="36576" bIns="36576">
            <a:spAutoFit/>
          </a:bodyPr>
          <a:lstStyle/>
          <a:p>
            <a:pPr algn="r">
              <a:defRPr sz="1000" b="1">
                <a:solidFill>
                  <a:srgbClr val="14783C"/>
                </a:solidFill>
              </a:defRPr>
            </a:pPr>
            <a:r>
              <a:t>THIẾT KẾ RIÊNG CHO QN</a:t>
            </a:r>
          </a:p>
        </p:txBody>
      </p:sp>
      <p:sp>
        <p:nvSpPr>
          <p:cNvPr id="42" name="TextBox 41"/>
          <p:cNvSpPr txBox="1"/>
          <p:nvPr/>
        </p:nvSpPr>
        <p:spPr>
          <a:xfrm>
            <a:off x="6629400" y="4224528"/>
            <a:ext cx="4480560" cy="502920"/>
          </a:xfrm>
          <a:prstGeom prst="rect">
            <a:avLst/>
          </a:prstGeom>
          <a:noFill/>
        </p:spPr>
        <p:txBody>
          <a:bodyPr wrap="square" lIns="36576" tIns="36576" rIns="36576" bIns="36576">
            <a:spAutoFit/>
          </a:bodyPr>
          <a:lstStyle/>
          <a:p>
            <a:pPr algn="l">
              <a:defRPr sz="950" b="0">
                <a:solidFill>
                  <a:srgbClr val="1E1E1E"/>
                </a:solidFill>
              </a:defRPr>
            </a:pPr>
            <a:r>
              <a:t>Vừa đồng bộ dữ liệu chuẩn lên TCT, vừa xây dựng trọn bộ Dashboard quản trị trực tiếp cho Ban Giám đốc QN.</a:t>
            </a:r>
          </a:p>
        </p:txBody>
      </p:sp>
      <p:sp>
        <p:nvSpPr>
          <p:cNvPr id="43" name="Rounded Rectangle 42"/>
          <p:cNvSpPr/>
          <p:nvPr/>
        </p:nvSpPr>
        <p:spPr>
          <a:xfrm>
            <a:off x="6492240" y="4937760"/>
            <a:ext cx="4754880" cy="86868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400" y="4983480"/>
            <a:ext cx="2194560" cy="228600"/>
          </a:xfrm>
          <a:prstGeom prst="rect">
            <a:avLst/>
          </a:prstGeom>
          <a:noFill/>
        </p:spPr>
        <p:txBody>
          <a:bodyPr wrap="square" lIns="36576" tIns="36576" rIns="36576" bIns="36576">
            <a:spAutoFit/>
          </a:bodyPr>
          <a:lstStyle/>
          <a:p>
            <a:pPr algn="l">
              <a:defRPr sz="1000" b="1">
                <a:solidFill>
                  <a:srgbClr val="1E1E1E"/>
                </a:solidFill>
              </a:defRPr>
            </a:pPr>
            <a:r>
              <a:t>Mức độ tự chủ</a:t>
            </a:r>
          </a:p>
        </p:txBody>
      </p:sp>
      <p:sp>
        <p:nvSpPr>
          <p:cNvPr id="45" name="TextBox 44"/>
          <p:cNvSpPr txBox="1"/>
          <p:nvPr/>
        </p:nvSpPr>
        <p:spPr>
          <a:xfrm>
            <a:off x="8686800" y="4983480"/>
            <a:ext cx="2468880" cy="228600"/>
          </a:xfrm>
          <a:prstGeom prst="rect">
            <a:avLst/>
          </a:prstGeom>
          <a:noFill/>
        </p:spPr>
        <p:txBody>
          <a:bodyPr wrap="square" lIns="36576" tIns="36576" rIns="36576" bIns="36576">
            <a:spAutoFit/>
          </a:bodyPr>
          <a:lstStyle/>
          <a:p>
            <a:pPr algn="r">
              <a:defRPr sz="1000" b="1">
                <a:solidFill>
                  <a:srgbClr val="14783C"/>
                </a:solidFill>
              </a:defRPr>
            </a:pPr>
            <a:r>
              <a:t>LÀM CHỦ MÃ NGUỒN 100%</a:t>
            </a:r>
          </a:p>
        </p:txBody>
      </p:sp>
      <p:sp>
        <p:nvSpPr>
          <p:cNvPr id="46" name="TextBox 45"/>
          <p:cNvSpPr txBox="1"/>
          <p:nvPr/>
        </p:nvSpPr>
        <p:spPr>
          <a:xfrm>
            <a:off x="6629400" y="5230368"/>
            <a:ext cx="4480560" cy="502920"/>
          </a:xfrm>
          <a:prstGeom prst="rect">
            <a:avLst/>
          </a:prstGeom>
          <a:noFill/>
        </p:spPr>
        <p:txBody>
          <a:bodyPr wrap="square" lIns="36576" tIns="36576" rIns="36576" bIns="36576">
            <a:spAutoFit/>
          </a:bodyPr>
          <a:lstStyle/>
          <a:p>
            <a:pPr algn="l">
              <a:defRPr sz="950" b="0">
                <a:solidFill>
                  <a:srgbClr val="1E1E1E"/>
                </a:solidFill>
              </a:defRPr>
            </a:pPr>
            <a:r>
              <a:t>Tự chủ vận hành sau bàn giao, tận dụng miễn phí 100% hạ tầng máy chủ và bản quyền Fabric do TCT đầu tư.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TỐI ƯU NGÂN SÁCH</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CƠ CẤU ĐẦU TƯ VÀ DỰ TOÁN NGÂN SÁCH (THEO KHUNG CHI PHÍ CỦA TCT)</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11</a:t>
            </a:r>
          </a:p>
        </p:txBody>
      </p:sp>
      <p:sp>
        <p:nvSpPr>
          <p:cNvPr id="9" name="Rectangle 8"/>
          <p:cNvSpPr/>
          <p:nvPr/>
        </p:nvSpPr>
        <p:spPr>
          <a:xfrm>
            <a:off x="731520" y="1280160"/>
            <a:ext cx="1069848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25880"/>
            <a:ext cx="548640" cy="274320"/>
          </a:xfrm>
          <a:prstGeom prst="rect">
            <a:avLst/>
          </a:prstGeom>
          <a:noFill/>
        </p:spPr>
        <p:txBody>
          <a:bodyPr wrap="square" lIns="36576" tIns="36576" rIns="36576" bIns="36576">
            <a:spAutoFit/>
          </a:bodyPr>
          <a:lstStyle/>
          <a:p>
            <a:pPr algn="ctr">
              <a:defRPr sz="1000" b="1">
                <a:solidFill>
                  <a:srgbClr val="FFFFFF"/>
                </a:solidFill>
              </a:defRPr>
            </a:pPr>
            <a:r>
              <a:t>STT</a:t>
            </a:r>
          </a:p>
        </p:txBody>
      </p:sp>
      <p:sp>
        <p:nvSpPr>
          <p:cNvPr id="11" name="TextBox 10"/>
          <p:cNvSpPr txBox="1"/>
          <p:nvPr/>
        </p:nvSpPr>
        <p:spPr>
          <a:xfrm>
            <a:off x="1463040" y="1325880"/>
            <a:ext cx="2926080" cy="274320"/>
          </a:xfrm>
          <a:prstGeom prst="rect">
            <a:avLst/>
          </a:prstGeom>
          <a:noFill/>
        </p:spPr>
        <p:txBody>
          <a:bodyPr wrap="square" lIns="36576" tIns="36576" rIns="36576" bIns="36576">
            <a:spAutoFit/>
          </a:bodyPr>
          <a:lstStyle/>
          <a:p>
            <a:pPr algn="l">
              <a:defRPr sz="1000" b="1">
                <a:solidFill>
                  <a:srgbClr val="FFFFFF"/>
                </a:solidFill>
              </a:defRPr>
            </a:pPr>
            <a:r>
              <a:t>CẤU PHẦN CHI PHÍ</a:t>
            </a:r>
          </a:p>
        </p:txBody>
      </p:sp>
      <p:sp>
        <p:nvSpPr>
          <p:cNvPr id="12" name="TextBox 11"/>
          <p:cNvSpPr txBox="1"/>
          <p:nvPr/>
        </p:nvSpPr>
        <p:spPr>
          <a:xfrm>
            <a:off x="4480560" y="1325880"/>
            <a:ext cx="4114800" cy="274320"/>
          </a:xfrm>
          <a:prstGeom prst="rect">
            <a:avLst/>
          </a:prstGeom>
          <a:noFill/>
        </p:spPr>
        <p:txBody>
          <a:bodyPr wrap="square" lIns="36576" tIns="36576" rIns="36576" bIns="36576">
            <a:spAutoFit/>
          </a:bodyPr>
          <a:lstStyle/>
          <a:p>
            <a:pPr algn="l">
              <a:defRPr sz="1000" b="1">
                <a:solidFill>
                  <a:srgbClr val="FFFFFF"/>
                </a:solidFill>
              </a:defRPr>
            </a:pPr>
            <a:r>
              <a:t>NỘI DUNG THỰC HIỆN</a:t>
            </a:r>
          </a:p>
        </p:txBody>
      </p:sp>
      <p:sp>
        <p:nvSpPr>
          <p:cNvPr id="13" name="TextBox 12"/>
          <p:cNvSpPr txBox="1"/>
          <p:nvPr/>
        </p:nvSpPr>
        <p:spPr>
          <a:xfrm>
            <a:off x="8686800" y="1325880"/>
            <a:ext cx="2651760" cy="274320"/>
          </a:xfrm>
          <a:prstGeom prst="rect">
            <a:avLst/>
          </a:prstGeom>
          <a:noFill/>
        </p:spPr>
        <p:txBody>
          <a:bodyPr wrap="square" lIns="36576" tIns="36576" rIns="36576" bIns="36576">
            <a:spAutoFit/>
          </a:bodyPr>
          <a:lstStyle/>
          <a:p>
            <a:pPr algn="ctr">
              <a:defRPr sz="1000" b="1">
                <a:solidFill>
                  <a:srgbClr val="FFFFFF"/>
                </a:solidFill>
              </a:defRPr>
            </a:pPr>
            <a:r>
              <a:t>DỰ TOÁN</a:t>
            </a:r>
          </a:p>
        </p:txBody>
      </p:sp>
      <p:sp>
        <p:nvSpPr>
          <p:cNvPr id="14" name="Rectangle 13"/>
          <p:cNvSpPr/>
          <p:nvPr/>
        </p:nvSpPr>
        <p:spPr>
          <a:xfrm>
            <a:off x="731520" y="1691640"/>
            <a:ext cx="10698480" cy="484632"/>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783080"/>
            <a:ext cx="548640" cy="274320"/>
          </a:xfrm>
          <a:prstGeom prst="rect">
            <a:avLst/>
          </a:prstGeom>
          <a:noFill/>
        </p:spPr>
        <p:txBody>
          <a:bodyPr wrap="square" lIns="36576" tIns="36576" rIns="36576" bIns="36576">
            <a:spAutoFit/>
          </a:bodyPr>
          <a:lstStyle/>
          <a:p>
            <a:pPr algn="ctr">
              <a:defRPr sz="1000" b="1">
                <a:solidFill>
                  <a:srgbClr val="1E1E1E"/>
                </a:solidFill>
              </a:defRPr>
            </a:pPr>
            <a:r>
              <a:t>1</a:t>
            </a:r>
          </a:p>
        </p:txBody>
      </p:sp>
      <p:sp>
        <p:nvSpPr>
          <p:cNvPr id="16" name="TextBox 15"/>
          <p:cNvSpPr txBox="1"/>
          <p:nvPr/>
        </p:nvSpPr>
        <p:spPr>
          <a:xfrm>
            <a:off x="1463040" y="1783080"/>
            <a:ext cx="2926080" cy="274320"/>
          </a:xfrm>
          <a:prstGeom prst="rect">
            <a:avLst/>
          </a:prstGeom>
          <a:noFill/>
        </p:spPr>
        <p:txBody>
          <a:bodyPr wrap="square" lIns="36576" tIns="36576" rIns="36576" bIns="36576">
            <a:spAutoFit/>
          </a:bodyPr>
          <a:lstStyle/>
          <a:p>
            <a:pPr algn="l">
              <a:defRPr sz="1000" b="1">
                <a:solidFill>
                  <a:srgbClr val="1E1E1E"/>
                </a:solidFill>
              </a:defRPr>
            </a:pPr>
            <a:r>
              <a:t>Hạ tầng máy chủ tại đơn vị</a:t>
            </a:r>
          </a:p>
        </p:txBody>
      </p:sp>
      <p:sp>
        <p:nvSpPr>
          <p:cNvPr id="17" name="TextBox 16"/>
          <p:cNvSpPr txBox="1"/>
          <p:nvPr/>
        </p:nvSpPr>
        <p:spPr>
          <a:xfrm>
            <a:off x="4480560" y="1783080"/>
            <a:ext cx="4114800" cy="274320"/>
          </a:xfrm>
          <a:prstGeom prst="rect">
            <a:avLst/>
          </a:prstGeom>
          <a:noFill/>
        </p:spPr>
        <p:txBody>
          <a:bodyPr wrap="square" lIns="36576" tIns="36576" rIns="36576" bIns="36576">
            <a:spAutoFit/>
          </a:bodyPr>
          <a:lstStyle/>
          <a:p>
            <a:pPr algn="l">
              <a:defRPr sz="950" b="0">
                <a:solidFill>
                  <a:srgbClr val="1E1E1E"/>
                </a:solidFill>
              </a:defRPr>
            </a:pPr>
            <a:r>
              <a:t>Tận dụng máy chủ ảo (VM) sẵn có tại Datacenter QN</a:t>
            </a:r>
          </a:p>
        </p:txBody>
      </p:sp>
      <p:sp>
        <p:nvSpPr>
          <p:cNvPr id="18" name="TextBox 17"/>
          <p:cNvSpPr txBox="1"/>
          <p:nvPr/>
        </p:nvSpPr>
        <p:spPr>
          <a:xfrm>
            <a:off x="8686800" y="1783080"/>
            <a:ext cx="2651760" cy="274320"/>
          </a:xfrm>
          <a:prstGeom prst="rect">
            <a:avLst/>
          </a:prstGeom>
          <a:noFill/>
        </p:spPr>
        <p:txBody>
          <a:bodyPr wrap="square" lIns="36576" tIns="36576" rIns="36576" bIns="36576">
            <a:spAutoFit/>
          </a:bodyPr>
          <a:lstStyle/>
          <a:p>
            <a:pPr algn="ctr">
              <a:defRPr sz="1000" b="1">
                <a:solidFill>
                  <a:srgbClr val="14783C"/>
                </a:solidFill>
              </a:defRPr>
            </a:pPr>
            <a:r>
              <a:t>0 VNĐ (Tự có)</a:t>
            </a:r>
          </a:p>
        </p:txBody>
      </p:sp>
      <p:sp>
        <p:nvSpPr>
          <p:cNvPr id="19" name="Rectangle 18"/>
          <p:cNvSpPr/>
          <p:nvPr/>
        </p:nvSpPr>
        <p:spPr>
          <a:xfrm>
            <a:off x="731520" y="2221992"/>
            <a:ext cx="10698480" cy="484632"/>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313432"/>
            <a:ext cx="548640" cy="274320"/>
          </a:xfrm>
          <a:prstGeom prst="rect">
            <a:avLst/>
          </a:prstGeom>
          <a:noFill/>
        </p:spPr>
        <p:txBody>
          <a:bodyPr wrap="square" lIns="36576" tIns="36576" rIns="36576" bIns="36576">
            <a:spAutoFit/>
          </a:bodyPr>
          <a:lstStyle/>
          <a:p>
            <a:pPr algn="ctr">
              <a:defRPr sz="1000" b="1">
                <a:solidFill>
                  <a:srgbClr val="1E1E1E"/>
                </a:solidFill>
              </a:defRPr>
            </a:pPr>
            <a:r>
              <a:t>2</a:t>
            </a:r>
          </a:p>
        </p:txBody>
      </p:sp>
      <p:sp>
        <p:nvSpPr>
          <p:cNvPr id="21" name="TextBox 20"/>
          <p:cNvSpPr txBox="1"/>
          <p:nvPr/>
        </p:nvSpPr>
        <p:spPr>
          <a:xfrm>
            <a:off x="1463040" y="2313432"/>
            <a:ext cx="2926080" cy="274320"/>
          </a:xfrm>
          <a:prstGeom prst="rect">
            <a:avLst/>
          </a:prstGeom>
          <a:noFill/>
        </p:spPr>
        <p:txBody>
          <a:bodyPr wrap="square" lIns="36576" tIns="36576" rIns="36576" bIns="36576">
            <a:spAutoFit/>
          </a:bodyPr>
          <a:lstStyle/>
          <a:p>
            <a:pPr algn="l">
              <a:defRPr sz="1000" b="1">
                <a:solidFill>
                  <a:srgbClr val="1E1E1E"/>
                </a:solidFill>
              </a:defRPr>
            </a:pPr>
            <a:r>
              <a:t>Hạ tầng Cloud Hub &amp; Bản quyền khung</a:t>
            </a:r>
          </a:p>
        </p:txBody>
      </p:sp>
      <p:sp>
        <p:nvSpPr>
          <p:cNvPr id="22" name="TextBox 21"/>
          <p:cNvSpPr txBox="1"/>
          <p:nvPr/>
        </p:nvSpPr>
        <p:spPr>
          <a:xfrm>
            <a:off x="4480560" y="2313432"/>
            <a:ext cx="4114800" cy="274320"/>
          </a:xfrm>
          <a:prstGeom prst="rect">
            <a:avLst/>
          </a:prstGeom>
          <a:noFill/>
        </p:spPr>
        <p:txBody>
          <a:bodyPr wrap="square" lIns="36576" tIns="36576" rIns="36576" bIns="36576">
            <a:spAutoFit/>
          </a:bodyPr>
          <a:lstStyle/>
          <a:p>
            <a:pPr algn="l">
              <a:defRPr sz="950" b="0">
                <a:solidFill>
                  <a:srgbClr val="1E1E1E"/>
                </a:solidFill>
              </a:defRPr>
            </a:pPr>
            <a:r>
              <a:t>Microsoft Fabric 20TB, MinIO, Power BI Enterprise, Purview</a:t>
            </a:r>
          </a:p>
        </p:txBody>
      </p:sp>
      <p:sp>
        <p:nvSpPr>
          <p:cNvPr id="23" name="TextBox 22"/>
          <p:cNvSpPr txBox="1"/>
          <p:nvPr/>
        </p:nvSpPr>
        <p:spPr>
          <a:xfrm>
            <a:off x="8686800" y="2313432"/>
            <a:ext cx="2651760" cy="274320"/>
          </a:xfrm>
          <a:prstGeom prst="rect">
            <a:avLst/>
          </a:prstGeom>
          <a:noFill/>
        </p:spPr>
        <p:txBody>
          <a:bodyPr wrap="square" lIns="36576" tIns="36576" rIns="36576" bIns="36576">
            <a:spAutoFit/>
          </a:bodyPr>
          <a:lstStyle/>
          <a:p>
            <a:pPr algn="ctr">
              <a:defRPr sz="1000" b="1">
                <a:solidFill>
                  <a:srgbClr val="00509D"/>
                </a:solidFill>
              </a:defRPr>
            </a:pPr>
            <a:r>
              <a:t>TCT đã đầu tư</a:t>
            </a:r>
          </a:p>
        </p:txBody>
      </p:sp>
      <p:sp>
        <p:nvSpPr>
          <p:cNvPr id="24" name="Rectangle 23"/>
          <p:cNvSpPr/>
          <p:nvPr/>
        </p:nvSpPr>
        <p:spPr>
          <a:xfrm>
            <a:off x="731520" y="2752344"/>
            <a:ext cx="10698480" cy="484632"/>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2843784"/>
            <a:ext cx="548640" cy="274320"/>
          </a:xfrm>
          <a:prstGeom prst="rect">
            <a:avLst/>
          </a:prstGeom>
          <a:noFill/>
        </p:spPr>
        <p:txBody>
          <a:bodyPr wrap="square" lIns="36576" tIns="36576" rIns="36576" bIns="36576">
            <a:spAutoFit/>
          </a:bodyPr>
          <a:lstStyle/>
          <a:p>
            <a:pPr algn="ctr">
              <a:defRPr sz="1000" b="1">
                <a:solidFill>
                  <a:srgbClr val="1E1E1E"/>
                </a:solidFill>
              </a:defRPr>
            </a:pPr>
            <a:r>
              <a:t>3</a:t>
            </a:r>
          </a:p>
        </p:txBody>
      </p:sp>
      <p:sp>
        <p:nvSpPr>
          <p:cNvPr id="26" name="TextBox 25"/>
          <p:cNvSpPr txBox="1"/>
          <p:nvPr/>
        </p:nvSpPr>
        <p:spPr>
          <a:xfrm>
            <a:off x="1463040" y="2843784"/>
            <a:ext cx="2926080" cy="274320"/>
          </a:xfrm>
          <a:prstGeom prst="rect">
            <a:avLst/>
          </a:prstGeom>
          <a:noFill/>
        </p:spPr>
        <p:txBody>
          <a:bodyPr wrap="square" lIns="36576" tIns="36576" rIns="36576" bIns="36576">
            <a:spAutoFit/>
          </a:bodyPr>
          <a:lstStyle/>
          <a:p>
            <a:pPr algn="l">
              <a:defRPr sz="1000" b="1">
                <a:solidFill>
                  <a:srgbClr val="1E1E1E"/>
                </a:solidFill>
              </a:defRPr>
            </a:pPr>
            <a:r>
              <a:t>Dịch vụ: Khảo sát &amp; Thiết kế kiến trúc</a:t>
            </a:r>
          </a:p>
        </p:txBody>
      </p:sp>
      <p:sp>
        <p:nvSpPr>
          <p:cNvPr id="27" name="TextBox 26"/>
          <p:cNvSpPr txBox="1"/>
          <p:nvPr/>
        </p:nvSpPr>
        <p:spPr>
          <a:xfrm>
            <a:off x="4480560" y="2843784"/>
            <a:ext cx="4114800" cy="274320"/>
          </a:xfrm>
          <a:prstGeom prst="rect">
            <a:avLst/>
          </a:prstGeom>
          <a:noFill/>
        </p:spPr>
        <p:txBody>
          <a:bodyPr wrap="square" lIns="36576" tIns="36576" rIns="36576" bIns="36576">
            <a:spAutoFit/>
          </a:bodyPr>
          <a:lstStyle/>
          <a:p>
            <a:pPr algn="l">
              <a:defRPr sz="950" b="0">
                <a:solidFill>
                  <a:srgbClr val="1E1E1E"/>
                </a:solidFill>
              </a:defRPr>
            </a:pPr>
            <a:r>
              <a:t>Khảo sát CSDL 4 phần mềm, lập bảng ánh xạ 29 Master Data</a:t>
            </a:r>
          </a:p>
        </p:txBody>
      </p:sp>
      <p:sp>
        <p:nvSpPr>
          <p:cNvPr id="28" name="TextBox 27"/>
          <p:cNvSpPr txBox="1"/>
          <p:nvPr/>
        </p:nvSpPr>
        <p:spPr>
          <a:xfrm>
            <a:off x="8686800" y="2843784"/>
            <a:ext cx="2651760" cy="274320"/>
          </a:xfrm>
          <a:prstGeom prst="rect">
            <a:avLst/>
          </a:prstGeom>
          <a:noFill/>
        </p:spPr>
        <p:txBody>
          <a:bodyPr wrap="square" lIns="36576" tIns="36576" rIns="36576" bIns="36576">
            <a:spAutoFit/>
          </a:bodyPr>
          <a:lstStyle/>
          <a:p>
            <a:pPr algn="ctr">
              <a:defRPr sz="1000" b="1">
                <a:solidFill>
                  <a:srgbClr val="B46E00"/>
                </a:solidFill>
              </a:defRPr>
            </a:pPr>
            <a:r>
              <a:t>[Chờ NCC báo giá]</a:t>
            </a:r>
          </a:p>
        </p:txBody>
      </p:sp>
      <p:sp>
        <p:nvSpPr>
          <p:cNvPr id="29" name="Rectangle 28"/>
          <p:cNvSpPr/>
          <p:nvPr/>
        </p:nvSpPr>
        <p:spPr>
          <a:xfrm>
            <a:off x="731520" y="3282696"/>
            <a:ext cx="10698480" cy="484632"/>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374136"/>
            <a:ext cx="548640" cy="274320"/>
          </a:xfrm>
          <a:prstGeom prst="rect">
            <a:avLst/>
          </a:prstGeom>
          <a:noFill/>
        </p:spPr>
        <p:txBody>
          <a:bodyPr wrap="square" lIns="36576" tIns="36576" rIns="36576" bIns="36576">
            <a:spAutoFit/>
          </a:bodyPr>
          <a:lstStyle/>
          <a:p>
            <a:pPr algn="ctr">
              <a:defRPr sz="1000" b="1">
                <a:solidFill>
                  <a:srgbClr val="1E1E1E"/>
                </a:solidFill>
              </a:defRPr>
            </a:pPr>
            <a:r>
              <a:t>4</a:t>
            </a:r>
          </a:p>
        </p:txBody>
      </p:sp>
      <p:sp>
        <p:nvSpPr>
          <p:cNvPr id="31" name="TextBox 30"/>
          <p:cNvSpPr txBox="1"/>
          <p:nvPr/>
        </p:nvSpPr>
        <p:spPr>
          <a:xfrm>
            <a:off x="1463040" y="3374136"/>
            <a:ext cx="2926080" cy="274320"/>
          </a:xfrm>
          <a:prstGeom prst="rect">
            <a:avLst/>
          </a:prstGeom>
          <a:noFill/>
        </p:spPr>
        <p:txBody>
          <a:bodyPr wrap="square" lIns="36576" tIns="36576" rIns="36576" bIns="36576">
            <a:spAutoFit/>
          </a:bodyPr>
          <a:lstStyle/>
          <a:p>
            <a:pPr algn="l">
              <a:defRPr sz="1000" b="1">
                <a:solidFill>
                  <a:srgbClr val="1E1E1E"/>
                </a:solidFill>
              </a:defRPr>
            </a:pPr>
            <a:r>
              <a:t>Dịch vụ: Xây dựng Trục tích hợp (ETL)</a:t>
            </a:r>
          </a:p>
        </p:txBody>
      </p:sp>
      <p:sp>
        <p:nvSpPr>
          <p:cNvPr id="32" name="TextBox 31"/>
          <p:cNvSpPr txBox="1"/>
          <p:nvPr/>
        </p:nvSpPr>
        <p:spPr>
          <a:xfrm>
            <a:off x="4480560" y="3374136"/>
            <a:ext cx="4114800" cy="274320"/>
          </a:xfrm>
          <a:prstGeom prst="rect">
            <a:avLst/>
          </a:prstGeom>
          <a:noFill/>
        </p:spPr>
        <p:txBody>
          <a:bodyPr wrap="square" lIns="36576" tIns="36576" rIns="36576" bIns="36576">
            <a:spAutoFit/>
          </a:bodyPr>
          <a:lstStyle/>
          <a:p>
            <a:pPr algn="l">
              <a:defRPr sz="950" b="0">
                <a:solidFill>
                  <a:srgbClr val="1E1E1E"/>
                </a:solidFill>
              </a:defRPr>
            </a:pPr>
            <a:r>
              <a:t>Lập trình luồng trích xuất, chuẩn hóa, mã hóa và truyền VPN</a:t>
            </a:r>
          </a:p>
        </p:txBody>
      </p:sp>
      <p:sp>
        <p:nvSpPr>
          <p:cNvPr id="33" name="TextBox 32"/>
          <p:cNvSpPr txBox="1"/>
          <p:nvPr/>
        </p:nvSpPr>
        <p:spPr>
          <a:xfrm>
            <a:off x="8686800" y="3374136"/>
            <a:ext cx="2651760" cy="274320"/>
          </a:xfrm>
          <a:prstGeom prst="rect">
            <a:avLst/>
          </a:prstGeom>
          <a:noFill/>
        </p:spPr>
        <p:txBody>
          <a:bodyPr wrap="square" lIns="36576" tIns="36576" rIns="36576" bIns="36576">
            <a:spAutoFit/>
          </a:bodyPr>
          <a:lstStyle/>
          <a:p>
            <a:pPr algn="ctr">
              <a:defRPr sz="1000" b="1">
                <a:solidFill>
                  <a:srgbClr val="B46E00"/>
                </a:solidFill>
              </a:defRPr>
            </a:pPr>
            <a:r>
              <a:t>[Chờ NCC báo giá]</a:t>
            </a:r>
          </a:p>
        </p:txBody>
      </p:sp>
      <p:sp>
        <p:nvSpPr>
          <p:cNvPr id="34" name="Rectangle 33"/>
          <p:cNvSpPr/>
          <p:nvPr/>
        </p:nvSpPr>
        <p:spPr>
          <a:xfrm>
            <a:off x="731520" y="3813048"/>
            <a:ext cx="10698480" cy="484632"/>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904488"/>
            <a:ext cx="548640" cy="274320"/>
          </a:xfrm>
          <a:prstGeom prst="rect">
            <a:avLst/>
          </a:prstGeom>
          <a:noFill/>
        </p:spPr>
        <p:txBody>
          <a:bodyPr wrap="square" lIns="36576" tIns="36576" rIns="36576" bIns="36576">
            <a:spAutoFit/>
          </a:bodyPr>
          <a:lstStyle/>
          <a:p>
            <a:pPr algn="ctr">
              <a:defRPr sz="1000" b="1">
                <a:solidFill>
                  <a:srgbClr val="1E1E1E"/>
                </a:solidFill>
              </a:defRPr>
            </a:pPr>
            <a:r>
              <a:t>5</a:t>
            </a:r>
          </a:p>
        </p:txBody>
      </p:sp>
      <p:sp>
        <p:nvSpPr>
          <p:cNvPr id="36" name="TextBox 35"/>
          <p:cNvSpPr txBox="1"/>
          <p:nvPr/>
        </p:nvSpPr>
        <p:spPr>
          <a:xfrm>
            <a:off x="1463040" y="3904488"/>
            <a:ext cx="2926080" cy="274320"/>
          </a:xfrm>
          <a:prstGeom prst="rect">
            <a:avLst/>
          </a:prstGeom>
          <a:noFill/>
        </p:spPr>
        <p:txBody>
          <a:bodyPr wrap="square" lIns="36576" tIns="36576" rIns="36576" bIns="36576">
            <a:spAutoFit/>
          </a:bodyPr>
          <a:lstStyle/>
          <a:p>
            <a:pPr algn="l">
              <a:defRPr sz="1000" b="1">
                <a:solidFill>
                  <a:srgbClr val="1E1E1E"/>
                </a:solidFill>
              </a:defRPr>
            </a:pPr>
            <a:r>
              <a:t>Dịch vụ: Xây dựng Dashboard Power BI</a:t>
            </a:r>
          </a:p>
        </p:txBody>
      </p:sp>
      <p:sp>
        <p:nvSpPr>
          <p:cNvPr id="37" name="TextBox 36"/>
          <p:cNvSpPr txBox="1"/>
          <p:nvPr/>
        </p:nvSpPr>
        <p:spPr>
          <a:xfrm>
            <a:off x="4480560" y="3904488"/>
            <a:ext cx="4114800" cy="274320"/>
          </a:xfrm>
          <a:prstGeom prst="rect">
            <a:avLst/>
          </a:prstGeom>
          <a:noFill/>
        </p:spPr>
        <p:txBody>
          <a:bodyPr wrap="square" lIns="36576" tIns="36576" rIns="36576" bIns="36576">
            <a:spAutoFit/>
          </a:bodyPr>
          <a:lstStyle/>
          <a:p>
            <a:pPr algn="l">
              <a:defRPr sz="950" b="0">
                <a:solidFill>
                  <a:srgbClr val="1E1E1E"/>
                </a:solidFill>
              </a:defRPr>
            </a:pPr>
            <a:r>
              <a:t>Thiết kế mô hình dữ liệu và các bảng báo cáo quản trị</a:t>
            </a:r>
          </a:p>
        </p:txBody>
      </p:sp>
      <p:sp>
        <p:nvSpPr>
          <p:cNvPr id="38" name="TextBox 37"/>
          <p:cNvSpPr txBox="1"/>
          <p:nvPr/>
        </p:nvSpPr>
        <p:spPr>
          <a:xfrm>
            <a:off x="8686800" y="3904488"/>
            <a:ext cx="2651760" cy="274320"/>
          </a:xfrm>
          <a:prstGeom prst="rect">
            <a:avLst/>
          </a:prstGeom>
          <a:noFill/>
        </p:spPr>
        <p:txBody>
          <a:bodyPr wrap="square" lIns="36576" tIns="36576" rIns="36576" bIns="36576">
            <a:spAutoFit/>
          </a:bodyPr>
          <a:lstStyle/>
          <a:p>
            <a:pPr algn="ctr">
              <a:defRPr sz="1000" b="1">
                <a:solidFill>
                  <a:srgbClr val="B46E00"/>
                </a:solidFill>
              </a:defRPr>
            </a:pPr>
            <a:r>
              <a:t>[Chờ NCC báo giá]</a:t>
            </a:r>
          </a:p>
        </p:txBody>
      </p:sp>
      <p:sp>
        <p:nvSpPr>
          <p:cNvPr id="39" name="Rectangle 38"/>
          <p:cNvSpPr/>
          <p:nvPr/>
        </p:nvSpPr>
        <p:spPr>
          <a:xfrm>
            <a:off x="731520" y="4343400"/>
            <a:ext cx="10698480" cy="484632"/>
          </a:xfrm>
          <a:prstGeom prst="rect">
            <a:avLst/>
          </a:prstGeom>
          <a:solidFill>
            <a:srgbClr val="F5F7FA"/>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4434840"/>
            <a:ext cx="548640" cy="274320"/>
          </a:xfrm>
          <a:prstGeom prst="rect">
            <a:avLst/>
          </a:prstGeom>
          <a:noFill/>
        </p:spPr>
        <p:txBody>
          <a:bodyPr wrap="square" lIns="36576" tIns="36576" rIns="36576" bIns="36576">
            <a:spAutoFit/>
          </a:bodyPr>
          <a:lstStyle/>
          <a:p>
            <a:pPr algn="ctr">
              <a:defRPr sz="1000" b="1">
                <a:solidFill>
                  <a:srgbClr val="1E1E1E"/>
                </a:solidFill>
              </a:defRPr>
            </a:pPr>
            <a:r>
              <a:t>6</a:t>
            </a:r>
          </a:p>
        </p:txBody>
      </p:sp>
      <p:sp>
        <p:nvSpPr>
          <p:cNvPr id="41" name="TextBox 40"/>
          <p:cNvSpPr txBox="1"/>
          <p:nvPr/>
        </p:nvSpPr>
        <p:spPr>
          <a:xfrm>
            <a:off x="1463040" y="4434840"/>
            <a:ext cx="2926080" cy="274320"/>
          </a:xfrm>
          <a:prstGeom prst="rect">
            <a:avLst/>
          </a:prstGeom>
          <a:noFill/>
        </p:spPr>
        <p:txBody>
          <a:bodyPr wrap="square" lIns="36576" tIns="36576" rIns="36576" bIns="36576">
            <a:spAutoFit/>
          </a:bodyPr>
          <a:lstStyle/>
          <a:p>
            <a:pPr algn="l">
              <a:defRPr sz="1000" b="1">
                <a:solidFill>
                  <a:srgbClr val="1E1E1E"/>
                </a:solidFill>
              </a:defRPr>
            </a:pPr>
            <a:r>
              <a:t>Đào tạo chuyển giao &amp; Bảo hành</a:t>
            </a:r>
          </a:p>
        </p:txBody>
      </p:sp>
      <p:sp>
        <p:nvSpPr>
          <p:cNvPr id="42" name="TextBox 41"/>
          <p:cNvSpPr txBox="1"/>
          <p:nvPr/>
        </p:nvSpPr>
        <p:spPr>
          <a:xfrm>
            <a:off x="4480560" y="4434840"/>
            <a:ext cx="4114800" cy="274320"/>
          </a:xfrm>
          <a:prstGeom prst="rect">
            <a:avLst/>
          </a:prstGeom>
          <a:noFill/>
        </p:spPr>
        <p:txBody>
          <a:bodyPr wrap="square" lIns="36576" tIns="36576" rIns="36576" bIns="36576">
            <a:spAutoFit/>
          </a:bodyPr>
          <a:lstStyle/>
          <a:p>
            <a:pPr algn="l">
              <a:defRPr sz="950" b="0">
                <a:solidFill>
                  <a:srgbClr val="1E1E1E"/>
                </a:solidFill>
              </a:defRPr>
            </a:pPr>
            <a:r>
              <a:t>Bàn giao mã nguồn, đào tạo IT QN vận hành độc lập</a:t>
            </a:r>
          </a:p>
        </p:txBody>
      </p:sp>
      <p:sp>
        <p:nvSpPr>
          <p:cNvPr id="43" name="TextBox 42"/>
          <p:cNvSpPr txBox="1"/>
          <p:nvPr/>
        </p:nvSpPr>
        <p:spPr>
          <a:xfrm>
            <a:off x="8686800" y="4434840"/>
            <a:ext cx="2651760" cy="274320"/>
          </a:xfrm>
          <a:prstGeom prst="rect">
            <a:avLst/>
          </a:prstGeom>
          <a:noFill/>
        </p:spPr>
        <p:txBody>
          <a:bodyPr wrap="square" lIns="36576" tIns="36576" rIns="36576" bIns="36576">
            <a:spAutoFit/>
          </a:bodyPr>
          <a:lstStyle/>
          <a:p>
            <a:pPr algn="ctr">
              <a:defRPr sz="1000" b="1">
                <a:solidFill>
                  <a:srgbClr val="B46E00"/>
                </a:solidFill>
              </a:defRPr>
            </a:pPr>
            <a:r>
              <a:t>[Chờ NCC báo giá]</a:t>
            </a:r>
          </a:p>
        </p:txBody>
      </p:sp>
      <p:sp>
        <p:nvSpPr>
          <p:cNvPr id="44" name="Rectangle 43"/>
          <p:cNvSpPr/>
          <p:nvPr/>
        </p:nvSpPr>
        <p:spPr>
          <a:xfrm>
            <a:off x="731520" y="4873752"/>
            <a:ext cx="10698480" cy="484632"/>
          </a:xfrm>
          <a:prstGeom prst="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4965192"/>
            <a:ext cx="548640" cy="274320"/>
          </a:xfrm>
          <a:prstGeom prst="rect">
            <a:avLst/>
          </a:prstGeom>
          <a:noFill/>
        </p:spPr>
        <p:txBody>
          <a:bodyPr wrap="square" lIns="36576" tIns="36576" rIns="36576" bIns="36576">
            <a:spAutoFit/>
          </a:bodyPr>
          <a:lstStyle/>
          <a:p>
            <a:pPr algn="ctr">
              <a:defRPr sz="1000" b="1">
                <a:solidFill>
                  <a:srgbClr val="1E1E1E"/>
                </a:solidFill>
              </a:defRPr>
            </a:pPr>
            <a:r>
              <a:t>7</a:t>
            </a:r>
          </a:p>
        </p:txBody>
      </p:sp>
      <p:sp>
        <p:nvSpPr>
          <p:cNvPr id="46" name="TextBox 45"/>
          <p:cNvSpPr txBox="1"/>
          <p:nvPr/>
        </p:nvSpPr>
        <p:spPr>
          <a:xfrm>
            <a:off x="1463040" y="4965192"/>
            <a:ext cx="2926080" cy="274320"/>
          </a:xfrm>
          <a:prstGeom prst="rect">
            <a:avLst/>
          </a:prstGeom>
          <a:noFill/>
        </p:spPr>
        <p:txBody>
          <a:bodyPr wrap="square" lIns="36576" tIns="36576" rIns="36576" bIns="36576">
            <a:spAutoFit/>
          </a:bodyPr>
          <a:lstStyle/>
          <a:p>
            <a:pPr algn="l">
              <a:defRPr sz="1000" b="1">
                <a:solidFill>
                  <a:srgbClr val="1E1E1E"/>
                </a:solidFill>
              </a:defRPr>
            </a:pPr>
            <a:r>
              <a:t>Chi phí vận hành nền tảng hàng năm</a:t>
            </a:r>
          </a:p>
        </p:txBody>
      </p:sp>
      <p:sp>
        <p:nvSpPr>
          <p:cNvPr id="47" name="TextBox 46"/>
          <p:cNvSpPr txBox="1"/>
          <p:nvPr/>
        </p:nvSpPr>
        <p:spPr>
          <a:xfrm>
            <a:off x="4480560" y="4965192"/>
            <a:ext cx="4114800" cy="274320"/>
          </a:xfrm>
          <a:prstGeom prst="rect">
            <a:avLst/>
          </a:prstGeom>
          <a:noFill/>
        </p:spPr>
        <p:txBody>
          <a:bodyPr wrap="square" lIns="36576" tIns="36576" rIns="36576" bIns="36576">
            <a:spAutoFit/>
          </a:bodyPr>
          <a:lstStyle/>
          <a:p>
            <a:pPr algn="l">
              <a:defRPr sz="950" b="0">
                <a:solidFill>
                  <a:srgbClr val="1E1E1E"/>
                </a:solidFill>
              </a:defRPr>
            </a:pPr>
            <a:r>
              <a:t>TCT phân bổ theo mức sử dụng thực tế (Usage-based)</a:t>
            </a:r>
          </a:p>
        </p:txBody>
      </p:sp>
      <p:sp>
        <p:nvSpPr>
          <p:cNvPr id="48" name="TextBox 47"/>
          <p:cNvSpPr txBox="1"/>
          <p:nvPr/>
        </p:nvSpPr>
        <p:spPr>
          <a:xfrm>
            <a:off x="8686800" y="4965192"/>
            <a:ext cx="2651760" cy="274320"/>
          </a:xfrm>
          <a:prstGeom prst="rect">
            <a:avLst/>
          </a:prstGeom>
          <a:noFill/>
        </p:spPr>
        <p:txBody>
          <a:bodyPr wrap="square" lIns="36576" tIns="36576" rIns="36576" bIns="36576">
            <a:spAutoFit/>
          </a:bodyPr>
          <a:lstStyle/>
          <a:p>
            <a:pPr algn="ctr">
              <a:defRPr sz="1000" b="1">
                <a:solidFill>
                  <a:srgbClr val="28323C"/>
                </a:solidFill>
              </a:defRPr>
            </a:pPr>
            <a:r>
              <a:t>Theo cơ chế TCT</a:t>
            </a:r>
          </a:p>
        </p:txBody>
      </p:sp>
      <p:sp>
        <p:nvSpPr>
          <p:cNvPr id="49" name="Rounded Rectangle 48"/>
          <p:cNvSpPr/>
          <p:nvPr/>
        </p:nvSpPr>
        <p:spPr>
          <a:xfrm>
            <a:off x="731520" y="5486400"/>
            <a:ext cx="10698480" cy="822960"/>
          </a:xfrm>
          <a:prstGeom prst="roundRect">
            <a:avLst/>
          </a:prstGeom>
          <a:solidFill>
            <a:srgbClr val="FEF6E6"/>
          </a:solidFill>
          <a:ln w="1270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5532120"/>
            <a:ext cx="10149840" cy="731520"/>
          </a:xfrm>
          <a:prstGeom prst="rect">
            <a:avLst/>
          </a:prstGeom>
          <a:noFill/>
        </p:spPr>
        <p:txBody>
          <a:bodyPr wrap="square" lIns="36576" tIns="36576" rIns="36576" bIns="36576">
            <a:spAutoFit/>
          </a:bodyPr>
          <a:lstStyle/>
          <a:p>
            <a:pPr algn="ctr">
              <a:defRPr sz="1050" b="1">
                <a:solidFill>
                  <a:srgbClr val="002855"/>
                </a:solidFill>
              </a:defRPr>
            </a:pPr>
            <a:r>
              <a:t>NGUYÊN TẮC TÀI CHÍNH: Tiết kiệm tối đa chi phí hạ tầng phần cứng nhờ tận dụng đầu tư sẵn có của TCT.</a:t>
            </a:r>
            <a:br/>
            <a:r>
              <a:t>Kinh phí dịch vụ kết nối sẽ được xác định chính xác sau khi khảo sát Giai đoạn 2A cùng BDA TCT và Liên danh HIPT-AITS.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CHẶNG 1 (THÁNG 9–11/2026)</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GIAI ĐOẠN 1 CHI TIẾT: KHẢO SÁT, CHUẨN HÓA DỮ LIỆU &amp; LÀM VIỆC VỚI TCT</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12</a:t>
            </a:r>
          </a:p>
        </p:txBody>
      </p:sp>
      <p:sp>
        <p:nvSpPr>
          <p:cNvPr id="9" name="Rounded Rectangle 8"/>
          <p:cNvSpPr/>
          <p:nvPr/>
        </p:nvSpPr>
        <p:spPr>
          <a:xfrm>
            <a:off x="731520" y="1371600"/>
            <a:ext cx="2514600" cy="4937760"/>
          </a:xfrm>
          <a:prstGeom prst="roundRect">
            <a:avLst/>
          </a:prstGeom>
          <a:solidFill>
            <a:srgbClr val="E6F0FA"/>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514600" cy="59436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1481328"/>
            <a:ext cx="347472" cy="3474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499616"/>
            <a:ext cx="347472" cy="347472"/>
          </a:xfrm>
          <a:prstGeom prst="rect">
            <a:avLst/>
          </a:prstGeom>
          <a:noFill/>
        </p:spPr>
        <p:txBody>
          <a:bodyPr wrap="square" lIns="36576" tIns="36576" rIns="36576" bIns="36576">
            <a:spAutoFit/>
          </a:bodyPr>
          <a:lstStyle/>
          <a:p>
            <a:pPr algn="ctr">
              <a:defRPr sz="1100" b="1">
                <a:solidFill>
                  <a:srgbClr val="FFFFFF"/>
                </a:solidFill>
              </a:defRPr>
            </a:pPr>
            <a:r>
              <a:t>1.1</a:t>
            </a:r>
          </a:p>
        </p:txBody>
      </p:sp>
      <p:sp>
        <p:nvSpPr>
          <p:cNvPr id="13" name="TextBox 12"/>
          <p:cNvSpPr txBox="1"/>
          <p:nvPr/>
        </p:nvSpPr>
        <p:spPr>
          <a:xfrm>
            <a:off x="1280160" y="1417320"/>
            <a:ext cx="1874519" cy="502920"/>
          </a:xfrm>
          <a:prstGeom prst="rect">
            <a:avLst/>
          </a:prstGeom>
          <a:noFill/>
        </p:spPr>
        <p:txBody>
          <a:bodyPr wrap="square" lIns="36576" tIns="36576" rIns="36576" bIns="36576">
            <a:spAutoFit/>
          </a:bodyPr>
          <a:lstStyle/>
          <a:p>
            <a:pPr algn="l">
              <a:defRPr sz="1000" b="1">
                <a:solidFill>
                  <a:srgbClr val="FFFFFF"/>
                </a:solidFill>
              </a:defRPr>
            </a:pPr>
            <a:r>
              <a:t>Thành lập Tổ Công tác Nền tảng Dữ liệu</a:t>
            </a:r>
          </a:p>
        </p:txBody>
      </p:sp>
      <p:sp>
        <p:nvSpPr>
          <p:cNvPr id="14" name="TextBox 13"/>
          <p:cNvSpPr txBox="1"/>
          <p:nvPr/>
        </p:nvSpPr>
        <p:spPr>
          <a:xfrm>
            <a:off x="841248" y="2194560"/>
            <a:ext cx="2286000" cy="777240"/>
          </a:xfrm>
          <a:prstGeom prst="rect">
            <a:avLst/>
          </a:prstGeom>
          <a:noFill/>
        </p:spPr>
        <p:txBody>
          <a:bodyPr wrap="square" lIns="36576" tIns="36576" rIns="36576" bIns="36576">
            <a:spAutoFit/>
          </a:bodyPr>
          <a:lstStyle/>
          <a:p>
            <a:pPr algn="l">
              <a:defRPr sz="1000" b="0">
                <a:solidFill>
                  <a:srgbClr val="1E1E1E"/>
                </a:solidFill>
              </a:defRPr>
            </a:pPr>
            <a:r>
              <a:t>• Lãnh đạo Đơn vị làm Tổ trưởng (Data Owner Cấp 3)</a:t>
            </a:r>
          </a:p>
        </p:txBody>
      </p:sp>
      <p:sp>
        <p:nvSpPr>
          <p:cNvPr id="15" name="TextBox 14"/>
          <p:cNvSpPr txBox="1"/>
          <p:nvPr/>
        </p:nvSpPr>
        <p:spPr>
          <a:xfrm>
            <a:off x="841248" y="3063239"/>
            <a:ext cx="2286000" cy="777240"/>
          </a:xfrm>
          <a:prstGeom prst="rect">
            <a:avLst/>
          </a:prstGeom>
          <a:noFill/>
        </p:spPr>
        <p:txBody>
          <a:bodyPr wrap="square" lIns="36576" tIns="36576" rIns="36576" bIns="36576">
            <a:spAutoFit/>
          </a:bodyPr>
          <a:lstStyle/>
          <a:p>
            <a:pPr algn="l">
              <a:defRPr sz="1000" b="0">
                <a:solidFill>
                  <a:srgbClr val="1E1E1E"/>
                </a:solidFill>
              </a:defRPr>
            </a:pPr>
            <a:r>
              <a:t>• IT chủ trì kỹ thuật; Key Users từ Kế toán, Cảng, Dự án</a:t>
            </a:r>
          </a:p>
        </p:txBody>
      </p:sp>
      <p:sp>
        <p:nvSpPr>
          <p:cNvPr id="16" name="TextBox 15"/>
          <p:cNvSpPr txBox="1"/>
          <p:nvPr/>
        </p:nvSpPr>
        <p:spPr>
          <a:xfrm>
            <a:off x="841248" y="3931920"/>
            <a:ext cx="2286000" cy="777240"/>
          </a:xfrm>
          <a:prstGeom prst="rect">
            <a:avLst/>
          </a:prstGeom>
          <a:noFill/>
        </p:spPr>
        <p:txBody>
          <a:bodyPr wrap="square" lIns="36576" tIns="36576" rIns="36576" bIns="36576">
            <a:spAutoFit/>
          </a:bodyPr>
          <a:lstStyle/>
          <a:p>
            <a:pPr algn="l">
              <a:defRPr sz="1000" b="0">
                <a:solidFill>
                  <a:srgbClr val="1E1E1E"/>
                </a:solidFill>
              </a:defRPr>
            </a:pPr>
            <a:r>
              <a:t>• Ban hành Quyết định chính thức làm căn cứ phối hợp</a:t>
            </a:r>
          </a:p>
        </p:txBody>
      </p:sp>
      <p:sp>
        <p:nvSpPr>
          <p:cNvPr id="17" name="Rounded Rectangle 16"/>
          <p:cNvSpPr/>
          <p:nvPr/>
        </p:nvSpPr>
        <p:spPr>
          <a:xfrm>
            <a:off x="3429000" y="1371600"/>
            <a:ext cx="2514600" cy="4937760"/>
          </a:xfrm>
          <a:prstGeom prst="roundRect">
            <a:avLst/>
          </a:prstGeom>
          <a:solidFill>
            <a:srgbClr val="E6F8F6"/>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29000" y="1371600"/>
            <a:ext cx="2514600" cy="59436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66160" y="1481328"/>
            <a:ext cx="347472" cy="3474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1499616"/>
            <a:ext cx="347472" cy="347472"/>
          </a:xfrm>
          <a:prstGeom prst="rect">
            <a:avLst/>
          </a:prstGeom>
          <a:noFill/>
        </p:spPr>
        <p:txBody>
          <a:bodyPr wrap="square" lIns="36576" tIns="36576" rIns="36576" bIns="36576">
            <a:spAutoFit/>
          </a:bodyPr>
          <a:lstStyle/>
          <a:p>
            <a:pPr algn="ctr">
              <a:defRPr sz="1100" b="1">
                <a:solidFill>
                  <a:srgbClr val="FFFFFF"/>
                </a:solidFill>
              </a:defRPr>
            </a:pPr>
            <a:r>
              <a:t>1.2</a:t>
            </a:r>
          </a:p>
        </p:txBody>
      </p:sp>
      <p:sp>
        <p:nvSpPr>
          <p:cNvPr id="21" name="TextBox 20"/>
          <p:cNvSpPr txBox="1"/>
          <p:nvPr/>
        </p:nvSpPr>
        <p:spPr>
          <a:xfrm>
            <a:off x="3977640" y="1417320"/>
            <a:ext cx="1874519" cy="502920"/>
          </a:xfrm>
          <a:prstGeom prst="rect">
            <a:avLst/>
          </a:prstGeom>
          <a:noFill/>
        </p:spPr>
        <p:txBody>
          <a:bodyPr wrap="square" lIns="36576" tIns="36576" rIns="36576" bIns="36576">
            <a:spAutoFit/>
          </a:bodyPr>
          <a:lstStyle/>
          <a:p>
            <a:pPr algn="l">
              <a:defRPr sz="1000" b="1">
                <a:solidFill>
                  <a:srgbClr val="FFFFFF"/>
                </a:solidFill>
              </a:defRPr>
            </a:pPr>
            <a:r>
              <a:t>Họp 3 bên với BDA TCT &amp; Liên danh HIPT-AITS</a:t>
            </a:r>
          </a:p>
        </p:txBody>
      </p:sp>
      <p:sp>
        <p:nvSpPr>
          <p:cNvPr id="22" name="TextBox 21"/>
          <p:cNvSpPr txBox="1"/>
          <p:nvPr/>
        </p:nvSpPr>
        <p:spPr>
          <a:xfrm>
            <a:off x="3538728" y="2194560"/>
            <a:ext cx="2286000" cy="777240"/>
          </a:xfrm>
          <a:prstGeom prst="rect">
            <a:avLst/>
          </a:prstGeom>
          <a:noFill/>
        </p:spPr>
        <p:txBody>
          <a:bodyPr wrap="square" lIns="36576" tIns="36576" rIns="36576" bIns="36576">
            <a:spAutoFit/>
          </a:bodyPr>
          <a:lstStyle/>
          <a:p>
            <a:pPr algn="l">
              <a:defRPr sz="1000" b="0">
                <a:solidFill>
                  <a:srgbClr val="1E1E1E"/>
                </a:solidFill>
              </a:defRPr>
            </a:pPr>
            <a:r>
              <a:t>• Thống nhất kiến trúc ESB theo khuyến nghị của TCT</a:t>
            </a:r>
          </a:p>
        </p:txBody>
      </p:sp>
      <p:sp>
        <p:nvSpPr>
          <p:cNvPr id="23" name="TextBox 22"/>
          <p:cNvSpPr txBox="1"/>
          <p:nvPr/>
        </p:nvSpPr>
        <p:spPr>
          <a:xfrm>
            <a:off x="3538728" y="3063239"/>
            <a:ext cx="2286000" cy="777240"/>
          </a:xfrm>
          <a:prstGeom prst="rect">
            <a:avLst/>
          </a:prstGeom>
          <a:noFill/>
        </p:spPr>
        <p:txBody>
          <a:bodyPr wrap="square" lIns="36576" tIns="36576" rIns="36576" bIns="36576">
            <a:spAutoFit/>
          </a:bodyPr>
          <a:lstStyle/>
          <a:p>
            <a:pPr algn="l">
              <a:defRPr sz="1000" b="0">
                <a:solidFill>
                  <a:srgbClr val="1E1E1E"/>
                </a:solidFill>
              </a:defRPr>
            </a:pPr>
            <a:r>
              <a:t>• Gài tiêu chuẩn kết nối API vào gói thầu Mua sắm &amp; HSEQ</a:t>
            </a:r>
          </a:p>
        </p:txBody>
      </p:sp>
      <p:sp>
        <p:nvSpPr>
          <p:cNvPr id="24" name="TextBox 23"/>
          <p:cNvSpPr txBox="1"/>
          <p:nvPr/>
        </p:nvSpPr>
        <p:spPr>
          <a:xfrm>
            <a:off x="3538728" y="3931920"/>
            <a:ext cx="2286000" cy="777240"/>
          </a:xfrm>
          <a:prstGeom prst="rect">
            <a:avLst/>
          </a:prstGeom>
          <a:noFill/>
        </p:spPr>
        <p:txBody>
          <a:bodyPr wrap="square" lIns="36576" tIns="36576" rIns="36576" bIns="36576">
            <a:spAutoFit/>
          </a:bodyPr>
          <a:lstStyle/>
          <a:p>
            <a:pPr algn="l">
              <a:defRPr sz="1000" b="0">
                <a:solidFill>
                  <a:srgbClr val="1E1E1E"/>
                </a:solidFill>
              </a:defRPr>
            </a:pPr>
            <a:r>
              <a:t>• Chốt mốc giãn tiến độ gói Mua sắm đến hết 31/10/2026</a:t>
            </a:r>
          </a:p>
        </p:txBody>
      </p:sp>
      <p:sp>
        <p:nvSpPr>
          <p:cNvPr id="25" name="Rounded Rectangle 24"/>
          <p:cNvSpPr/>
          <p:nvPr/>
        </p:nvSpPr>
        <p:spPr>
          <a:xfrm>
            <a:off x="6126480" y="1371600"/>
            <a:ext cx="2514600" cy="4937760"/>
          </a:xfrm>
          <a:prstGeom prst="roundRect">
            <a:avLst/>
          </a:prstGeom>
          <a:solidFill>
            <a:srgbClr val="FEF6E6"/>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1371600"/>
            <a:ext cx="2514600" cy="59436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263640" y="1481328"/>
            <a:ext cx="347472" cy="3474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499616"/>
            <a:ext cx="347472" cy="347472"/>
          </a:xfrm>
          <a:prstGeom prst="rect">
            <a:avLst/>
          </a:prstGeom>
          <a:noFill/>
        </p:spPr>
        <p:txBody>
          <a:bodyPr wrap="square" lIns="36576" tIns="36576" rIns="36576" bIns="36576">
            <a:spAutoFit/>
          </a:bodyPr>
          <a:lstStyle/>
          <a:p>
            <a:pPr algn="ctr">
              <a:defRPr sz="1100" b="1">
                <a:solidFill>
                  <a:srgbClr val="FFFFFF"/>
                </a:solidFill>
              </a:defRPr>
            </a:pPr>
            <a:r>
              <a:t>1.3</a:t>
            </a:r>
          </a:p>
        </p:txBody>
      </p:sp>
      <p:sp>
        <p:nvSpPr>
          <p:cNvPr id="29" name="TextBox 28"/>
          <p:cNvSpPr txBox="1"/>
          <p:nvPr/>
        </p:nvSpPr>
        <p:spPr>
          <a:xfrm>
            <a:off x="6675120" y="1417320"/>
            <a:ext cx="1874519" cy="502920"/>
          </a:xfrm>
          <a:prstGeom prst="rect">
            <a:avLst/>
          </a:prstGeom>
          <a:noFill/>
        </p:spPr>
        <p:txBody>
          <a:bodyPr wrap="square" lIns="36576" tIns="36576" rIns="36576" bIns="36576">
            <a:spAutoFit/>
          </a:bodyPr>
          <a:lstStyle/>
          <a:p>
            <a:pPr algn="l">
              <a:defRPr sz="1000" b="1">
                <a:solidFill>
                  <a:srgbClr val="FFFFFF"/>
                </a:solidFill>
              </a:defRPr>
            </a:pPr>
            <a:r>
              <a:t>Rà soát CSDL 4 phần mềm &amp; Ánh xạ Master Data</a:t>
            </a:r>
          </a:p>
        </p:txBody>
      </p:sp>
      <p:sp>
        <p:nvSpPr>
          <p:cNvPr id="30" name="TextBox 29"/>
          <p:cNvSpPr txBox="1"/>
          <p:nvPr/>
        </p:nvSpPr>
        <p:spPr>
          <a:xfrm>
            <a:off x="6236208" y="2194560"/>
            <a:ext cx="2286000" cy="777240"/>
          </a:xfrm>
          <a:prstGeom prst="rect">
            <a:avLst/>
          </a:prstGeom>
          <a:noFill/>
        </p:spPr>
        <p:txBody>
          <a:bodyPr wrap="square" lIns="36576" tIns="36576" rIns="36576" bIns="36576">
            <a:spAutoFit/>
          </a:bodyPr>
          <a:lstStyle/>
          <a:p>
            <a:pPr algn="l">
              <a:defRPr sz="1000" b="0">
                <a:solidFill>
                  <a:srgbClr val="1E1E1E"/>
                </a:solidFill>
              </a:defRPr>
            </a:pPr>
            <a:r>
              <a:t>• Trích xuất cấu trúc bảng của FAST, MESx, VTI</a:t>
            </a:r>
          </a:p>
        </p:txBody>
      </p:sp>
      <p:sp>
        <p:nvSpPr>
          <p:cNvPr id="31" name="TextBox 30"/>
          <p:cNvSpPr txBox="1"/>
          <p:nvPr/>
        </p:nvSpPr>
        <p:spPr>
          <a:xfrm>
            <a:off x="6236208" y="3063239"/>
            <a:ext cx="2286000" cy="777240"/>
          </a:xfrm>
          <a:prstGeom prst="rect">
            <a:avLst/>
          </a:prstGeom>
          <a:noFill/>
        </p:spPr>
        <p:txBody>
          <a:bodyPr wrap="square" lIns="36576" tIns="36576" rIns="36576" bIns="36576">
            <a:spAutoFit/>
          </a:bodyPr>
          <a:lstStyle/>
          <a:p>
            <a:pPr algn="l">
              <a:defRPr sz="1000" b="0">
                <a:solidFill>
                  <a:srgbClr val="1E1E1E"/>
                </a:solidFill>
              </a:defRPr>
            </a:pPr>
            <a:r>
              <a:t>• Lập bảng đối chiếu danh mục Khách hàng, NCC với MDM TCT</a:t>
            </a:r>
          </a:p>
        </p:txBody>
      </p:sp>
      <p:sp>
        <p:nvSpPr>
          <p:cNvPr id="32" name="TextBox 31"/>
          <p:cNvSpPr txBox="1"/>
          <p:nvPr/>
        </p:nvSpPr>
        <p:spPr>
          <a:xfrm>
            <a:off x="6236208" y="3931920"/>
            <a:ext cx="2286000" cy="777240"/>
          </a:xfrm>
          <a:prstGeom prst="rect">
            <a:avLst/>
          </a:prstGeom>
          <a:noFill/>
        </p:spPr>
        <p:txBody>
          <a:bodyPr wrap="square" lIns="36576" tIns="36576" rIns="36576" bIns="36576">
            <a:spAutoFit/>
          </a:bodyPr>
          <a:lstStyle/>
          <a:p>
            <a:pPr algn="l">
              <a:defRPr sz="1000" b="0">
                <a:solidFill>
                  <a:srgbClr val="1E1E1E"/>
                </a:solidFill>
              </a:defRPr>
            </a:pPr>
            <a:r>
              <a:t>• Làm sạch số liệu trùng lặp trước khi kết nối</a:t>
            </a:r>
          </a:p>
        </p:txBody>
      </p:sp>
      <p:sp>
        <p:nvSpPr>
          <p:cNvPr id="33" name="Rounded Rectangle 32"/>
          <p:cNvSpPr/>
          <p:nvPr/>
        </p:nvSpPr>
        <p:spPr>
          <a:xfrm>
            <a:off x="8823960" y="1371600"/>
            <a:ext cx="2514600" cy="4937760"/>
          </a:xfrm>
          <a:prstGeom prst="roundRect">
            <a:avLst/>
          </a:prstGeom>
          <a:solidFill>
            <a:srgbClr val="E6F5EB"/>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23960" y="1371600"/>
            <a:ext cx="2514600" cy="59436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961120" y="1481328"/>
            <a:ext cx="347472" cy="3474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0" y="1499616"/>
            <a:ext cx="347472" cy="347472"/>
          </a:xfrm>
          <a:prstGeom prst="rect">
            <a:avLst/>
          </a:prstGeom>
          <a:noFill/>
        </p:spPr>
        <p:txBody>
          <a:bodyPr wrap="square" lIns="36576" tIns="36576" rIns="36576" bIns="36576">
            <a:spAutoFit/>
          </a:bodyPr>
          <a:lstStyle/>
          <a:p>
            <a:pPr algn="ctr">
              <a:defRPr sz="1100" b="1">
                <a:solidFill>
                  <a:srgbClr val="FFFFFF"/>
                </a:solidFill>
              </a:defRPr>
            </a:pPr>
            <a:r>
              <a:t>1.4</a:t>
            </a:r>
          </a:p>
        </p:txBody>
      </p:sp>
      <p:sp>
        <p:nvSpPr>
          <p:cNvPr id="37" name="TextBox 36"/>
          <p:cNvSpPr txBox="1"/>
          <p:nvPr/>
        </p:nvSpPr>
        <p:spPr>
          <a:xfrm>
            <a:off x="9372600" y="1417320"/>
            <a:ext cx="1874519" cy="502920"/>
          </a:xfrm>
          <a:prstGeom prst="rect">
            <a:avLst/>
          </a:prstGeom>
          <a:noFill/>
        </p:spPr>
        <p:txBody>
          <a:bodyPr wrap="square" lIns="36576" tIns="36576" rIns="36576" bIns="36576">
            <a:spAutoFit/>
          </a:bodyPr>
          <a:lstStyle/>
          <a:p>
            <a:pPr algn="l">
              <a:defRPr sz="1000" b="1">
                <a:solidFill>
                  <a:srgbClr val="FFFFFF"/>
                </a:solidFill>
              </a:defRPr>
            </a:pPr>
            <a:r>
              <a:t>Chuẩn bị Hạ tầng mạng &amp; Thiết lập VPN IPSec</a:t>
            </a:r>
          </a:p>
        </p:txBody>
      </p:sp>
      <p:sp>
        <p:nvSpPr>
          <p:cNvPr id="38" name="TextBox 37"/>
          <p:cNvSpPr txBox="1"/>
          <p:nvPr/>
        </p:nvSpPr>
        <p:spPr>
          <a:xfrm>
            <a:off x="8933688" y="2194560"/>
            <a:ext cx="2286000" cy="777240"/>
          </a:xfrm>
          <a:prstGeom prst="rect">
            <a:avLst/>
          </a:prstGeom>
          <a:noFill/>
        </p:spPr>
        <p:txBody>
          <a:bodyPr wrap="square" lIns="36576" tIns="36576" rIns="36576" bIns="36576">
            <a:spAutoFit/>
          </a:bodyPr>
          <a:lstStyle/>
          <a:p>
            <a:pPr algn="l">
              <a:defRPr sz="1000" b="0">
                <a:solidFill>
                  <a:srgbClr val="1E1E1E"/>
                </a:solidFill>
              </a:defRPr>
            </a:pPr>
            <a:r>
              <a:t>• Cấu hình 01 máy ảo VM tại Datacenter QN làm Spoke Agent</a:t>
            </a:r>
          </a:p>
        </p:txBody>
      </p:sp>
      <p:sp>
        <p:nvSpPr>
          <p:cNvPr id="39" name="TextBox 38"/>
          <p:cNvSpPr txBox="1"/>
          <p:nvPr/>
        </p:nvSpPr>
        <p:spPr>
          <a:xfrm>
            <a:off x="8933688" y="3063239"/>
            <a:ext cx="2286000" cy="777240"/>
          </a:xfrm>
          <a:prstGeom prst="rect">
            <a:avLst/>
          </a:prstGeom>
          <a:noFill/>
        </p:spPr>
        <p:txBody>
          <a:bodyPr wrap="square" lIns="36576" tIns="36576" rIns="36576" bIns="36576">
            <a:spAutoFit/>
          </a:bodyPr>
          <a:lstStyle/>
          <a:p>
            <a:pPr algn="l">
              <a:defRPr sz="1000" b="0">
                <a:solidFill>
                  <a:srgbClr val="1E1E1E"/>
                </a:solidFill>
              </a:defRPr>
            </a:pPr>
            <a:r>
              <a:t>• Thiết lập đường truyền bảo mật VPN IPSec về DC TCT</a:t>
            </a:r>
          </a:p>
        </p:txBody>
      </p:sp>
      <p:sp>
        <p:nvSpPr>
          <p:cNvPr id="40" name="TextBox 39"/>
          <p:cNvSpPr txBox="1"/>
          <p:nvPr/>
        </p:nvSpPr>
        <p:spPr>
          <a:xfrm>
            <a:off x="8933688" y="3931920"/>
            <a:ext cx="2286000" cy="777240"/>
          </a:xfrm>
          <a:prstGeom prst="rect">
            <a:avLst/>
          </a:prstGeom>
          <a:noFill/>
        </p:spPr>
        <p:txBody>
          <a:bodyPr wrap="square" lIns="36576" tIns="36576" rIns="36576" bIns="36576">
            <a:spAutoFit/>
          </a:bodyPr>
          <a:lstStyle/>
          <a:p>
            <a:pPr algn="l">
              <a:defRPr sz="1000" b="0">
                <a:solidFill>
                  <a:srgbClr val="1E1E1E"/>
                </a:solidFill>
              </a:defRPr>
            </a:pPr>
            <a:r>
              <a:t>• Sẵn sàng tiếp nhận bàn giao Tenant L3 trên Microsoft Fabric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CHẶNG 2 (QUÝ 1/2027)</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GIAI ĐOẠN 2 CHI TIẾT: XÂY DỰNG TRỤC TÍCH HỢP &amp; BƠM DỮ LIỆU TỰ ĐỘNG</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13</a:t>
            </a:r>
          </a:p>
        </p:txBody>
      </p:sp>
      <p:sp>
        <p:nvSpPr>
          <p:cNvPr id="9" name="Rounded Rectangle 8"/>
          <p:cNvSpPr/>
          <p:nvPr/>
        </p:nvSpPr>
        <p:spPr>
          <a:xfrm>
            <a:off x="731520" y="1371600"/>
            <a:ext cx="10698480" cy="1097280"/>
          </a:xfrm>
          <a:prstGeom prst="roundRect">
            <a:avLst/>
          </a:prstGeom>
          <a:solidFill>
            <a:srgbClr val="FFFFFF"/>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926080" cy="10972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173736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55648"/>
            <a:ext cx="365760" cy="365760"/>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3" name="TextBox 12"/>
          <p:cNvSpPr txBox="1"/>
          <p:nvPr/>
        </p:nvSpPr>
        <p:spPr>
          <a:xfrm>
            <a:off x="1371600" y="1600200"/>
            <a:ext cx="2194560" cy="320040"/>
          </a:xfrm>
          <a:prstGeom prst="rect">
            <a:avLst/>
          </a:prstGeom>
          <a:noFill/>
        </p:spPr>
        <p:txBody>
          <a:bodyPr wrap="square" lIns="36576" tIns="36576" rIns="36576" bIns="36576">
            <a:spAutoFit/>
          </a:bodyPr>
          <a:lstStyle/>
          <a:p>
            <a:pPr algn="l">
              <a:defRPr sz="1050" b="1">
                <a:solidFill>
                  <a:srgbClr val="FFFFFF"/>
                </a:solidFill>
              </a:defRPr>
            </a:pPr>
            <a:r>
              <a:t>BƯỚC 1: TIẾP NHẬN TENANT L3</a:t>
            </a:r>
          </a:p>
        </p:txBody>
      </p:sp>
      <p:sp>
        <p:nvSpPr>
          <p:cNvPr id="14" name="TextBox 13"/>
          <p:cNvSpPr txBox="1"/>
          <p:nvPr/>
        </p:nvSpPr>
        <p:spPr>
          <a:xfrm>
            <a:off x="1371600" y="1965960"/>
            <a:ext cx="2194560" cy="274320"/>
          </a:xfrm>
          <a:prstGeom prst="rect">
            <a:avLst/>
          </a:prstGeom>
          <a:noFill/>
        </p:spPr>
        <p:txBody>
          <a:bodyPr wrap="square" lIns="36576" tIns="36576" rIns="36576" bIns="36576">
            <a:spAutoFit/>
          </a:bodyPr>
          <a:lstStyle/>
          <a:p>
            <a:pPr algn="l">
              <a:defRPr sz="850" b="1">
                <a:solidFill>
                  <a:srgbClr val="FEF08A"/>
                </a:solidFill>
              </a:defRPr>
            </a:pPr>
            <a:r>
              <a:t>TCT BÀN GIAO PHÂN VÙNG CLOUD</a:t>
            </a:r>
          </a:p>
        </p:txBody>
      </p:sp>
      <p:sp>
        <p:nvSpPr>
          <p:cNvPr id="15" name="TextBox 14"/>
          <p:cNvSpPr txBox="1"/>
          <p:nvPr/>
        </p:nvSpPr>
        <p:spPr>
          <a:xfrm>
            <a:off x="3840480" y="1508760"/>
            <a:ext cx="7406640" cy="822960"/>
          </a:xfrm>
          <a:prstGeom prst="rect">
            <a:avLst/>
          </a:prstGeom>
          <a:noFill/>
        </p:spPr>
        <p:txBody>
          <a:bodyPr wrap="square" lIns="36576" tIns="36576" rIns="36576" bIns="36576">
            <a:spAutoFit/>
          </a:bodyPr>
          <a:lstStyle/>
          <a:p>
            <a:pPr algn="l">
              <a:defRPr sz="1050" b="0">
                <a:solidFill>
                  <a:srgbClr val="1E1E1E"/>
                </a:solidFill>
              </a:defRPr>
            </a:pPr>
            <a:r>
              <a:t>TCT cấp quyền quản trị Workspace L3 trên Microsoft Fabric cho IT Quảng Ngãi. Kiểm tra thông tuyến mạng VPN Site-to-Site giữa DC QN và Hub TCT an toàn tuyệt đối.</a:t>
            </a:r>
          </a:p>
        </p:txBody>
      </p:sp>
      <p:sp>
        <p:nvSpPr>
          <p:cNvPr id="16" name="Rounded Rectangle 15"/>
          <p:cNvSpPr/>
          <p:nvPr/>
        </p:nvSpPr>
        <p:spPr>
          <a:xfrm>
            <a:off x="731520" y="2606040"/>
            <a:ext cx="10698480" cy="109728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606040"/>
            <a:ext cx="2926080" cy="10972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297180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990088"/>
            <a:ext cx="365760" cy="365760"/>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20" name="TextBox 19"/>
          <p:cNvSpPr txBox="1"/>
          <p:nvPr/>
        </p:nvSpPr>
        <p:spPr>
          <a:xfrm>
            <a:off x="1371600" y="2834640"/>
            <a:ext cx="2194560" cy="320040"/>
          </a:xfrm>
          <a:prstGeom prst="rect">
            <a:avLst/>
          </a:prstGeom>
          <a:noFill/>
        </p:spPr>
        <p:txBody>
          <a:bodyPr wrap="square" lIns="36576" tIns="36576" rIns="36576" bIns="36576">
            <a:spAutoFit/>
          </a:bodyPr>
          <a:lstStyle/>
          <a:p>
            <a:pPr algn="l">
              <a:defRPr sz="1050" b="1">
                <a:solidFill>
                  <a:srgbClr val="FFFFFF"/>
                </a:solidFill>
              </a:defRPr>
            </a:pPr>
            <a:r>
              <a:t>BƯỚC 2: DỰNG SPOKE &amp; LANDING ZONE</a:t>
            </a:r>
          </a:p>
        </p:txBody>
      </p:sp>
      <p:sp>
        <p:nvSpPr>
          <p:cNvPr id="21" name="TextBox 20"/>
          <p:cNvSpPr txBox="1"/>
          <p:nvPr/>
        </p:nvSpPr>
        <p:spPr>
          <a:xfrm>
            <a:off x="1371600" y="3200400"/>
            <a:ext cx="2194560" cy="274320"/>
          </a:xfrm>
          <a:prstGeom prst="rect">
            <a:avLst/>
          </a:prstGeom>
          <a:noFill/>
        </p:spPr>
        <p:txBody>
          <a:bodyPr wrap="square" lIns="36576" tIns="36576" rIns="36576" bIns="36576">
            <a:spAutoFit/>
          </a:bodyPr>
          <a:lstStyle/>
          <a:p>
            <a:pPr algn="l">
              <a:defRPr sz="850" b="1">
                <a:solidFill>
                  <a:srgbClr val="FEF08A"/>
                </a:solidFill>
              </a:defRPr>
            </a:pPr>
            <a:r>
              <a:t>CÀI ĐẶT AGENT TẠI MÁY CHỦ QN</a:t>
            </a:r>
          </a:p>
        </p:txBody>
      </p:sp>
      <p:sp>
        <p:nvSpPr>
          <p:cNvPr id="22" name="TextBox 21"/>
          <p:cNvSpPr txBox="1"/>
          <p:nvPr/>
        </p:nvSpPr>
        <p:spPr>
          <a:xfrm>
            <a:off x="3840480" y="2743200"/>
            <a:ext cx="7406640" cy="822960"/>
          </a:xfrm>
          <a:prstGeom prst="rect">
            <a:avLst/>
          </a:prstGeom>
          <a:noFill/>
        </p:spPr>
        <p:txBody>
          <a:bodyPr wrap="square" lIns="36576" tIns="36576" rIns="36576" bIns="36576">
            <a:spAutoFit/>
          </a:bodyPr>
          <a:lstStyle/>
          <a:p>
            <a:pPr algn="l">
              <a:defRPr sz="1050" b="0">
                <a:solidFill>
                  <a:srgbClr val="1E1E1E"/>
                </a:solidFill>
              </a:defRPr>
            </a:pPr>
            <a:r>
              <a:t>Cài đặt Spoke Integration Agent trên máy chủ ảo QN. Cấu hình luồng đọc Read-Only trích xuất dữ liệu từ FAST, MESx, VTI đổ vào Vùng đệm Landing Zone nội bộ.</a:t>
            </a:r>
          </a:p>
        </p:txBody>
      </p:sp>
      <p:sp>
        <p:nvSpPr>
          <p:cNvPr id="23" name="Rounded Rectangle 22"/>
          <p:cNvSpPr/>
          <p:nvPr/>
        </p:nvSpPr>
        <p:spPr>
          <a:xfrm>
            <a:off x="731520" y="3840480"/>
            <a:ext cx="10698480" cy="1097280"/>
          </a:xfrm>
          <a:prstGeom prst="roundRect">
            <a:avLst/>
          </a:prstGeom>
          <a:solidFill>
            <a:srgbClr val="FFFFFF"/>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840480"/>
            <a:ext cx="2926080" cy="109728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20624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224528"/>
            <a:ext cx="365760" cy="365760"/>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27" name="TextBox 26"/>
          <p:cNvSpPr txBox="1"/>
          <p:nvPr/>
        </p:nvSpPr>
        <p:spPr>
          <a:xfrm>
            <a:off x="1371600" y="4069080"/>
            <a:ext cx="2194560" cy="320040"/>
          </a:xfrm>
          <a:prstGeom prst="rect">
            <a:avLst/>
          </a:prstGeom>
          <a:noFill/>
        </p:spPr>
        <p:txBody>
          <a:bodyPr wrap="square" lIns="36576" tIns="36576" rIns="36576" bIns="36576">
            <a:spAutoFit/>
          </a:bodyPr>
          <a:lstStyle/>
          <a:p>
            <a:pPr algn="l">
              <a:defRPr sz="1050" b="1">
                <a:solidFill>
                  <a:srgbClr val="FFFFFF"/>
                </a:solidFill>
              </a:defRPr>
            </a:pPr>
            <a:r>
              <a:t>BƯỚC 3: XÂY DỰNG LUỒNG PIPELINE &amp; MASKING</a:t>
            </a:r>
          </a:p>
        </p:txBody>
      </p:sp>
      <p:sp>
        <p:nvSpPr>
          <p:cNvPr id="28" name="TextBox 27"/>
          <p:cNvSpPr txBox="1"/>
          <p:nvPr/>
        </p:nvSpPr>
        <p:spPr>
          <a:xfrm>
            <a:off x="1371600" y="4434840"/>
            <a:ext cx="2194560" cy="274320"/>
          </a:xfrm>
          <a:prstGeom prst="rect">
            <a:avLst/>
          </a:prstGeom>
          <a:noFill/>
        </p:spPr>
        <p:txBody>
          <a:bodyPr wrap="square" lIns="36576" tIns="36576" rIns="36576" bIns="36576">
            <a:spAutoFit/>
          </a:bodyPr>
          <a:lstStyle/>
          <a:p>
            <a:pPr algn="l">
              <a:defRPr sz="850" b="1">
                <a:solidFill>
                  <a:srgbClr val="FEF08A"/>
                </a:solidFill>
              </a:defRPr>
            </a:pPr>
            <a:r>
              <a:t>CHUẨN HÓA &amp; LÀM SẠCH DỮ LIỆU</a:t>
            </a:r>
          </a:p>
        </p:txBody>
      </p:sp>
      <p:sp>
        <p:nvSpPr>
          <p:cNvPr id="29" name="TextBox 28"/>
          <p:cNvSpPr txBox="1"/>
          <p:nvPr/>
        </p:nvSpPr>
        <p:spPr>
          <a:xfrm>
            <a:off x="3840480" y="3977640"/>
            <a:ext cx="7406640" cy="822960"/>
          </a:xfrm>
          <a:prstGeom prst="rect">
            <a:avLst/>
          </a:prstGeom>
          <a:noFill/>
        </p:spPr>
        <p:txBody>
          <a:bodyPr wrap="square" lIns="36576" tIns="36576" rIns="36576" bIns="36576">
            <a:spAutoFit/>
          </a:bodyPr>
          <a:lstStyle/>
          <a:p>
            <a:pPr algn="l">
              <a:defRPr sz="1050" b="0">
                <a:solidFill>
                  <a:srgbClr val="1E1E1E"/>
                </a:solidFill>
              </a:defRPr>
            </a:pPr>
            <a:r>
              <a:t>Lập trình luồng ETL tự động: Lọc bỏ dữ liệu rác, ánh xạ mã Master Data, che mờ thông tin cá nhân (CCCD, tài khoản). Thiết lập giao diện phê duyệt Approve/Reject cho Lãnh đạo.</a:t>
            </a:r>
          </a:p>
        </p:txBody>
      </p:sp>
      <p:sp>
        <p:nvSpPr>
          <p:cNvPr id="30" name="Rounded Rectangle 29"/>
          <p:cNvSpPr/>
          <p:nvPr/>
        </p:nvSpPr>
        <p:spPr>
          <a:xfrm>
            <a:off x="731520" y="5074920"/>
            <a:ext cx="10698480" cy="1097280"/>
          </a:xfrm>
          <a:prstGeom prst="roundRect">
            <a:avLst/>
          </a:prstGeom>
          <a:solidFill>
            <a:srgbClr val="FFFFFF"/>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074920"/>
            <a:ext cx="2926080" cy="10972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44068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58968"/>
            <a:ext cx="365760" cy="365760"/>
          </a:xfrm>
          <a:prstGeom prst="rect">
            <a:avLst/>
          </a:prstGeom>
          <a:noFill/>
        </p:spPr>
        <p:txBody>
          <a:bodyPr wrap="square" lIns="36576" tIns="36576" rIns="36576" bIns="36576">
            <a:spAutoFit/>
          </a:bodyPr>
          <a:lstStyle/>
          <a:p>
            <a:pPr algn="ctr">
              <a:defRPr sz="1100" b="1">
                <a:solidFill>
                  <a:srgbClr val="FFFFFF"/>
                </a:solidFill>
              </a:defRPr>
            </a:pPr>
            <a:r>
              <a:t>4</a:t>
            </a:r>
          </a:p>
        </p:txBody>
      </p:sp>
      <p:sp>
        <p:nvSpPr>
          <p:cNvPr id="34" name="TextBox 33"/>
          <p:cNvSpPr txBox="1"/>
          <p:nvPr/>
        </p:nvSpPr>
        <p:spPr>
          <a:xfrm>
            <a:off x="1371600" y="5303520"/>
            <a:ext cx="2194560" cy="320040"/>
          </a:xfrm>
          <a:prstGeom prst="rect">
            <a:avLst/>
          </a:prstGeom>
          <a:noFill/>
        </p:spPr>
        <p:txBody>
          <a:bodyPr wrap="square" lIns="36576" tIns="36576" rIns="36576" bIns="36576">
            <a:spAutoFit/>
          </a:bodyPr>
          <a:lstStyle/>
          <a:p>
            <a:pPr algn="l">
              <a:defRPr sz="1050" b="1">
                <a:solidFill>
                  <a:srgbClr val="FFFFFF"/>
                </a:solidFill>
              </a:defRPr>
            </a:pPr>
            <a:r>
              <a:t>BƯỚC 4: KẾT NỐI VỀ HUB &amp; ĐỒNG BỘ THỬ NGHIỆM</a:t>
            </a:r>
          </a:p>
        </p:txBody>
      </p:sp>
      <p:sp>
        <p:nvSpPr>
          <p:cNvPr id="35" name="TextBox 34"/>
          <p:cNvSpPr txBox="1"/>
          <p:nvPr/>
        </p:nvSpPr>
        <p:spPr>
          <a:xfrm>
            <a:off x="1371600" y="5669280"/>
            <a:ext cx="2194560" cy="274320"/>
          </a:xfrm>
          <a:prstGeom prst="rect">
            <a:avLst/>
          </a:prstGeom>
          <a:noFill/>
        </p:spPr>
        <p:txBody>
          <a:bodyPr wrap="square" lIns="36576" tIns="36576" rIns="36576" bIns="36576">
            <a:spAutoFit/>
          </a:bodyPr>
          <a:lstStyle/>
          <a:p>
            <a:pPr algn="l">
              <a:defRPr sz="850" b="1">
                <a:solidFill>
                  <a:srgbClr val="FEF08A"/>
                </a:solidFill>
              </a:defRPr>
            </a:pPr>
            <a:r>
              <a:t>CHẠY THỬ NGHIỆM TRUYỀN DỮ LIỆU</a:t>
            </a:r>
          </a:p>
        </p:txBody>
      </p:sp>
      <p:sp>
        <p:nvSpPr>
          <p:cNvPr id="36" name="TextBox 35"/>
          <p:cNvSpPr txBox="1"/>
          <p:nvPr/>
        </p:nvSpPr>
        <p:spPr>
          <a:xfrm>
            <a:off x="3840480" y="5212080"/>
            <a:ext cx="7406640" cy="822960"/>
          </a:xfrm>
          <a:prstGeom prst="rect">
            <a:avLst/>
          </a:prstGeom>
          <a:noFill/>
        </p:spPr>
        <p:txBody>
          <a:bodyPr wrap="square" lIns="36576" tIns="36576" rIns="36576" bIns="36576">
            <a:spAutoFit/>
          </a:bodyPr>
          <a:lstStyle/>
          <a:p>
            <a:pPr algn="l">
              <a:defRPr sz="1050" b="0">
                <a:solidFill>
                  <a:srgbClr val="1E1E1E"/>
                </a:solidFill>
              </a:defRPr>
            </a:pPr>
            <a:r>
              <a:t>Bơm dữ liệu thử nghiệm từ Landing Zone lên OneLake Gold Zone. Kiểm tra đối soát số liệu khớp 100% với hệ thống gốc. Kích hoạt giám sát an ninh mạng SIEM 24/7.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CHẶNG 3 (QUÝ 2/2027 TRỞ ĐI)</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GIAI ĐOẠN 3 CHI TIẾT: BÀN GIAO, KHAI THÁC DASHBOARD &amp; ĐÀO TẠO CHUYỂN GIAO</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14</a:t>
            </a:r>
          </a:p>
        </p:txBody>
      </p:sp>
      <p:sp>
        <p:nvSpPr>
          <p:cNvPr id="9" name="Rounded Rectangle 8"/>
          <p:cNvSpPr/>
          <p:nvPr/>
        </p:nvSpPr>
        <p:spPr>
          <a:xfrm>
            <a:off x="731520" y="1371600"/>
            <a:ext cx="10698480" cy="1097280"/>
          </a:xfrm>
          <a:prstGeom prst="roundRect">
            <a:avLst/>
          </a:prstGeom>
          <a:solidFill>
            <a:srgbClr val="FFFFFF"/>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2926080" cy="10972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14400" y="173736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755648"/>
            <a:ext cx="365760" cy="365760"/>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3" name="TextBox 12"/>
          <p:cNvSpPr txBox="1"/>
          <p:nvPr/>
        </p:nvSpPr>
        <p:spPr>
          <a:xfrm>
            <a:off x="1371600" y="1600200"/>
            <a:ext cx="2194560" cy="320040"/>
          </a:xfrm>
          <a:prstGeom prst="rect">
            <a:avLst/>
          </a:prstGeom>
          <a:noFill/>
        </p:spPr>
        <p:txBody>
          <a:bodyPr wrap="square" lIns="36576" tIns="36576" rIns="36576" bIns="36576">
            <a:spAutoFit/>
          </a:bodyPr>
          <a:lstStyle/>
          <a:p>
            <a:pPr algn="l">
              <a:defRPr sz="1050" b="1">
                <a:solidFill>
                  <a:srgbClr val="FFFFFF"/>
                </a:solidFill>
              </a:defRPr>
            </a:pPr>
            <a:r>
              <a:t>BƯỚC 1: XÂY DỰNG MÔ HÌNH NGỮ NGHĨA</a:t>
            </a:r>
          </a:p>
        </p:txBody>
      </p:sp>
      <p:sp>
        <p:nvSpPr>
          <p:cNvPr id="14" name="TextBox 13"/>
          <p:cNvSpPr txBox="1"/>
          <p:nvPr/>
        </p:nvSpPr>
        <p:spPr>
          <a:xfrm>
            <a:off x="1371600" y="1965960"/>
            <a:ext cx="2194560" cy="274320"/>
          </a:xfrm>
          <a:prstGeom prst="rect">
            <a:avLst/>
          </a:prstGeom>
          <a:noFill/>
        </p:spPr>
        <p:txBody>
          <a:bodyPr wrap="square" lIns="36576" tIns="36576" rIns="36576" bIns="36576">
            <a:spAutoFit/>
          </a:bodyPr>
          <a:lstStyle/>
          <a:p>
            <a:pPr algn="l">
              <a:defRPr sz="850" b="1">
                <a:solidFill>
                  <a:srgbClr val="FEF08A"/>
                </a:solidFill>
              </a:defRPr>
            </a:pPr>
            <a:r>
              <a:t>SEMANTIC MODEL &amp; STAR SCHEMA</a:t>
            </a:r>
          </a:p>
        </p:txBody>
      </p:sp>
      <p:sp>
        <p:nvSpPr>
          <p:cNvPr id="15" name="TextBox 14"/>
          <p:cNvSpPr txBox="1"/>
          <p:nvPr/>
        </p:nvSpPr>
        <p:spPr>
          <a:xfrm>
            <a:off x="3840480" y="1508760"/>
            <a:ext cx="7406640" cy="822960"/>
          </a:xfrm>
          <a:prstGeom prst="rect">
            <a:avLst/>
          </a:prstGeom>
          <a:noFill/>
        </p:spPr>
        <p:txBody>
          <a:bodyPr wrap="square" lIns="36576" tIns="36576" rIns="36576" bIns="36576">
            <a:spAutoFit/>
          </a:bodyPr>
          <a:lstStyle/>
          <a:p>
            <a:pPr algn="l">
              <a:defRPr sz="1050" b="0">
                <a:solidFill>
                  <a:srgbClr val="1E1E1E"/>
                </a:solidFill>
              </a:defRPr>
            </a:pPr>
            <a:r>
              <a:t>Tổ chức dữ liệu dạng bảng Fact/Dimension tối ưu. Định nghĩa các công thức đo lường KPI tài chính, tiến độ xưởng cơ khí, năng suất cẩu bãi Cảng PTSC Quảng Ngãi.</a:t>
            </a:r>
          </a:p>
        </p:txBody>
      </p:sp>
      <p:sp>
        <p:nvSpPr>
          <p:cNvPr id="16" name="Rounded Rectangle 15"/>
          <p:cNvSpPr/>
          <p:nvPr/>
        </p:nvSpPr>
        <p:spPr>
          <a:xfrm>
            <a:off x="731520" y="2606040"/>
            <a:ext cx="10698480" cy="1097280"/>
          </a:xfrm>
          <a:prstGeom prst="roundRect">
            <a:avLst/>
          </a:prstGeom>
          <a:solidFill>
            <a:srgbClr val="FFFFFF"/>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606040"/>
            <a:ext cx="2926080" cy="10972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4400" y="297180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990088"/>
            <a:ext cx="365760" cy="365760"/>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20" name="TextBox 19"/>
          <p:cNvSpPr txBox="1"/>
          <p:nvPr/>
        </p:nvSpPr>
        <p:spPr>
          <a:xfrm>
            <a:off x="1371600" y="2834640"/>
            <a:ext cx="2194560" cy="320040"/>
          </a:xfrm>
          <a:prstGeom prst="rect">
            <a:avLst/>
          </a:prstGeom>
          <a:noFill/>
        </p:spPr>
        <p:txBody>
          <a:bodyPr wrap="square" lIns="36576" tIns="36576" rIns="36576" bIns="36576">
            <a:spAutoFit/>
          </a:bodyPr>
          <a:lstStyle/>
          <a:p>
            <a:pPr algn="l">
              <a:defRPr sz="1050" b="1">
                <a:solidFill>
                  <a:srgbClr val="FFFFFF"/>
                </a:solidFill>
              </a:defRPr>
            </a:pPr>
            <a:r>
              <a:t>BƯỚC 2: XUẤT BẢN DASHBOARD POWER BI</a:t>
            </a:r>
          </a:p>
        </p:txBody>
      </p:sp>
      <p:sp>
        <p:nvSpPr>
          <p:cNvPr id="21" name="TextBox 20"/>
          <p:cNvSpPr txBox="1"/>
          <p:nvPr/>
        </p:nvSpPr>
        <p:spPr>
          <a:xfrm>
            <a:off x="1371600" y="3200400"/>
            <a:ext cx="2194560" cy="274320"/>
          </a:xfrm>
          <a:prstGeom prst="rect">
            <a:avLst/>
          </a:prstGeom>
          <a:noFill/>
        </p:spPr>
        <p:txBody>
          <a:bodyPr wrap="square" lIns="36576" tIns="36576" rIns="36576" bIns="36576">
            <a:spAutoFit/>
          </a:bodyPr>
          <a:lstStyle/>
          <a:p>
            <a:pPr algn="l">
              <a:defRPr sz="850" b="1">
                <a:solidFill>
                  <a:srgbClr val="FEF08A"/>
                </a:solidFill>
              </a:defRPr>
            </a:pPr>
            <a:r>
              <a:t>BÁO CÁO BAN GIÁM ĐỐC TRÊN MOBILE</a:t>
            </a:r>
          </a:p>
        </p:txBody>
      </p:sp>
      <p:sp>
        <p:nvSpPr>
          <p:cNvPr id="22" name="TextBox 21"/>
          <p:cNvSpPr txBox="1"/>
          <p:nvPr/>
        </p:nvSpPr>
        <p:spPr>
          <a:xfrm>
            <a:off x="3840480" y="2743200"/>
            <a:ext cx="7406640" cy="822960"/>
          </a:xfrm>
          <a:prstGeom prst="rect">
            <a:avLst/>
          </a:prstGeom>
          <a:noFill/>
        </p:spPr>
        <p:txBody>
          <a:bodyPr wrap="square" lIns="36576" tIns="36576" rIns="36576" bIns="36576">
            <a:spAutoFit/>
          </a:bodyPr>
          <a:lstStyle/>
          <a:p>
            <a:pPr algn="l">
              <a:defRPr sz="1050" b="0">
                <a:solidFill>
                  <a:srgbClr val="1E1E1E"/>
                </a:solidFill>
              </a:defRPr>
            </a:pPr>
            <a:r>
              <a:t>Thiết kế Dashboard trực quan theo đúng yêu cầu điều hành của Giám đốc và các Phó Giám đốc. Cài đặt ứng dụng Power BI Mobile trên iPad/điện thoại cho các Sếp.</a:t>
            </a:r>
          </a:p>
        </p:txBody>
      </p:sp>
      <p:sp>
        <p:nvSpPr>
          <p:cNvPr id="23" name="Rounded Rectangle 22"/>
          <p:cNvSpPr/>
          <p:nvPr/>
        </p:nvSpPr>
        <p:spPr>
          <a:xfrm>
            <a:off x="731520" y="3840480"/>
            <a:ext cx="10698480" cy="1097280"/>
          </a:xfrm>
          <a:prstGeom prst="roundRect">
            <a:avLst/>
          </a:prstGeom>
          <a:solidFill>
            <a:srgbClr val="FFFFFF"/>
          </a:solidFill>
          <a:ln w="1905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840480"/>
            <a:ext cx="2926080" cy="109728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400" y="420624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224528"/>
            <a:ext cx="365760" cy="365760"/>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27" name="TextBox 26"/>
          <p:cNvSpPr txBox="1"/>
          <p:nvPr/>
        </p:nvSpPr>
        <p:spPr>
          <a:xfrm>
            <a:off x="1371600" y="4069080"/>
            <a:ext cx="2194560" cy="320040"/>
          </a:xfrm>
          <a:prstGeom prst="rect">
            <a:avLst/>
          </a:prstGeom>
          <a:noFill/>
        </p:spPr>
        <p:txBody>
          <a:bodyPr wrap="square" lIns="36576" tIns="36576" rIns="36576" bIns="36576">
            <a:spAutoFit/>
          </a:bodyPr>
          <a:lstStyle/>
          <a:p>
            <a:pPr algn="l">
              <a:defRPr sz="1050" b="1">
                <a:solidFill>
                  <a:srgbClr val="FFFFFF"/>
                </a:solidFill>
              </a:defRPr>
            </a:pPr>
            <a:r>
              <a:t>BƯỚC 3: ĐÀO TẠO &amp; CHUYỂN GIAO MÃ NGUỒN</a:t>
            </a:r>
          </a:p>
        </p:txBody>
      </p:sp>
      <p:sp>
        <p:nvSpPr>
          <p:cNvPr id="28" name="TextBox 27"/>
          <p:cNvSpPr txBox="1"/>
          <p:nvPr/>
        </p:nvSpPr>
        <p:spPr>
          <a:xfrm>
            <a:off x="1371600" y="4434840"/>
            <a:ext cx="2194560" cy="274320"/>
          </a:xfrm>
          <a:prstGeom prst="rect">
            <a:avLst/>
          </a:prstGeom>
          <a:noFill/>
        </p:spPr>
        <p:txBody>
          <a:bodyPr wrap="square" lIns="36576" tIns="36576" rIns="36576" bIns="36576">
            <a:spAutoFit/>
          </a:bodyPr>
          <a:lstStyle/>
          <a:p>
            <a:pPr algn="l">
              <a:defRPr sz="850" b="1">
                <a:solidFill>
                  <a:srgbClr val="FEF08A"/>
                </a:solidFill>
              </a:defRPr>
            </a:pPr>
            <a:r>
              <a:t>IT QUẢNG NGÃI LÀM CHỦ 100%</a:t>
            </a:r>
          </a:p>
        </p:txBody>
      </p:sp>
      <p:sp>
        <p:nvSpPr>
          <p:cNvPr id="29" name="TextBox 28"/>
          <p:cNvSpPr txBox="1"/>
          <p:nvPr/>
        </p:nvSpPr>
        <p:spPr>
          <a:xfrm>
            <a:off x="3840480" y="3977640"/>
            <a:ext cx="7406640" cy="822960"/>
          </a:xfrm>
          <a:prstGeom prst="rect">
            <a:avLst/>
          </a:prstGeom>
          <a:noFill/>
        </p:spPr>
        <p:txBody>
          <a:bodyPr wrap="square" lIns="36576" tIns="36576" rIns="36576" bIns="36576">
            <a:spAutoFit/>
          </a:bodyPr>
          <a:lstStyle/>
          <a:p>
            <a:pPr algn="l">
              <a:defRPr sz="1050" b="0">
                <a:solidFill>
                  <a:srgbClr val="1E1E1E"/>
                </a:solidFill>
              </a:defRPr>
            </a:pPr>
            <a:r>
              <a:t>Bàn giao toàn bộ tài liệu kiến trúc, mã nguồn luồng ETL. Đào tạo chuyên sâu cho đội ngũ IT Quảng Ngãi để tự quản trị, tự sửa đổi báo cáo mà không phụ thuộc bên ngoài.</a:t>
            </a:r>
          </a:p>
        </p:txBody>
      </p:sp>
      <p:sp>
        <p:nvSpPr>
          <p:cNvPr id="30" name="Rounded Rectangle 29"/>
          <p:cNvSpPr/>
          <p:nvPr/>
        </p:nvSpPr>
        <p:spPr>
          <a:xfrm>
            <a:off x="731520" y="5074920"/>
            <a:ext cx="10698480" cy="1097280"/>
          </a:xfrm>
          <a:prstGeom prst="roundRect">
            <a:avLst/>
          </a:prstGeom>
          <a:solidFill>
            <a:srgbClr val="FFFFFF"/>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074920"/>
            <a:ext cx="2926080" cy="10972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4400" y="5440680"/>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458968"/>
            <a:ext cx="365760" cy="365760"/>
          </a:xfrm>
          <a:prstGeom prst="rect">
            <a:avLst/>
          </a:prstGeom>
          <a:noFill/>
        </p:spPr>
        <p:txBody>
          <a:bodyPr wrap="square" lIns="36576" tIns="36576" rIns="36576" bIns="36576">
            <a:spAutoFit/>
          </a:bodyPr>
          <a:lstStyle/>
          <a:p>
            <a:pPr algn="ctr">
              <a:defRPr sz="1100" b="1">
                <a:solidFill>
                  <a:srgbClr val="FFFFFF"/>
                </a:solidFill>
              </a:defRPr>
            </a:pPr>
            <a:r>
              <a:t>4</a:t>
            </a:r>
          </a:p>
        </p:txBody>
      </p:sp>
      <p:sp>
        <p:nvSpPr>
          <p:cNvPr id="34" name="TextBox 33"/>
          <p:cNvSpPr txBox="1"/>
          <p:nvPr/>
        </p:nvSpPr>
        <p:spPr>
          <a:xfrm>
            <a:off x="1371600" y="5303520"/>
            <a:ext cx="2194560" cy="320040"/>
          </a:xfrm>
          <a:prstGeom prst="rect">
            <a:avLst/>
          </a:prstGeom>
          <a:noFill/>
        </p:spPr>
        <p:txBody>
          <a:bodyPr wrap="square" lIns="36576" tIns="36576" rIns="36576" bIns="36576">
            <a:spAutoFit/>
          </a:bodyPr>
          <a:lstStyle/>
          <a:p>
            <a:pPr algn="l">
              <a:defRPr sz="1050" b="1">
                <a:solidFill>
                  <a:srgbClr val="FFFFFF"/>
                </a:solidFill>
              </a:defRPr>
            </a:pPr>
            <a:r>
              <a:t>BƯỚC 4: NGHIỆM THU &amp; ĐƯA VÀO VẬN HÀNH CHÍNH THỨC</a:t>
            </a:r>
          </a:p>
        </p:txBody>
      </p:sp>
      <p:sp>
        <p:nvSpPr>
          <p:cNvPr id="35" name="TextBox 34"/>
          <p:cNvSpPr txBox="1"/>
          <p:nvPr/>
        </p:nvSpPr>
        <p:spPr>
          <a:xfrm>
            <a:off x="1371600" y="5669280"/>
            <a:ext cx="2194560" cy="274320"/>
          </a:xfrm>
          <a:prstGeom prst="rect">
            <a:avLst/>
          </a:prstGeom>
          <a:noFill/>
        </p:spPr>
        <p:txBody>
          <a:bodyPr wrap="square" lIns="36576" tIns="36576" rIns="36576" bIns="36576">
            <a:spAutoFit/>
          </a:bodyPr>
          <a:lstStyle/>
          <a:p>
            <a:pPr algn="l">
              <a:defRPr sz="850" b="1">
                <a:solidFill>
                  <a:srgbClr val="FEF08A"/>
                </a:solidFill>
              </a:defRPr>
            </a:pPr>
            <a:r>
              <a:t>GO-LIVE TOÀN DIỆN &amp; BẢO HÀNH</a:t>
            </a:r>
          </a:p>
        </p:txBody>
      </p:sp>
      <p:sp>
        <p:nvSpPr>
          <p:cNvPr id="36" name="TextBox 35"/>
          <p:cNvSpPr txBox="1"/>
          <p:nvPr/>
        </p:nvSpPr>
        <p:spPr>
          <a:xfrm>
            <a:off x="3840480" y="5212080"/>
            <a:ext cx="7406640" cy="822960"/>
          </a:xfrm>
          <a:prstGeom prst="rect">
            <a:avLst/>
          </a:prstGeom>
          <a:noFill/>
        </p:spPr>
        <p:txBody>
          <a:bodyPr wrap="square" lIns="36576" tIns="36576" rIns="36576" bIns="36576">
            <a:spAutoFit/>
          </a:bodyPr>
          <a:lstStyle/>
          <a:p>
            <a:pPr algn="l">
              <a:defRPr sz="1050" b="0">
                <a:solidFill>
                  <a:srgbClr val="1E1E1E"/>
                </a:solidFill>
              </a:defRPr>
            </a:pPr>
            <a:r>
              <a:t>Ký biên bản nghiệm thu đưa vào vận hành chính thức. Thiết lập cam kết SLA hỗ trợ kỹ thuật và bắt đầu chu kỳ tự động đồng bộ dữ liệu hợp nhất định kỳ về TCT.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TIẾN ĐỘ THỰC HIỆN</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LỘ TRÌNH TRIỂN KHAI TỔNG THỂ: 3 CHẶNG VỀ ĐÍCH TRONG NĂM 2026–2027</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15</a:t>
            </a:r>
          </a:p>
        </p:txBody>
      </p:sp>
      <p:sp>
        <p:nvSpPr>
          <p:cNvPr id="9" name="Rounded Rectangle 8"/>
          <p:cNvSpPr/>
          <p:nvPr/>
        </p:nvSpPr>
        <p:spPr>
          <a:xfrm>
            <a:off x="731520" y="1371600"/>
            <a:ext cx="3383280" cy="4937760"/>
          </a:xfrm>
          <a:prstGeom prst="roundRect">
            <a:avLst/>
          </a:prstGeom>
          <a:solidFill>
            <a:srgbClr val="E6F0FA"/>
          </a:solidFill>
          <a:ln w="1905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3383280" cy="6400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99032"/>
            <a:ext cx="3383280" cy="292608"/>
          </a:xfrm>
          <a:prstGeom prst="rect">
            <a:avLst/>
          </a:prstGeom>
          <a:noFill/>
        </p:spPr>
        <p:txBody>
          <a:bodyPr wrap="square" lIns="36576" tIns="36576" rIns="36576" bIns="36576">
            <a:spAutoFit/>
          </a:bodyPr>
          <a:lstStyle/>
          <a:p>
            <a:pPr algn="ctr">
              <a:defRPr sz="1050" b="1">
                <a:solidFill>
                  <a:srgbClr val="FFFFFF"/>
                </a:solidFill>
              </a:defRPr>
            </a:pPr>
            <a:r>
              <a:t>CHẶNG 1: CHUẨN BỊ &amp; KHẢO SÁT</a:t>
            </a:r>
          </a:p>
        </p:txBody>
      </p:sp>
      <p:sp>
        <p:nvSpPr>
          <p:cNvPr id="12" name="TextBox 11"/>
          <p:cNvSpPr txBox="1"/>
          <p:nvPr/>
        </p:nvSpPr>
        <p:spPr>
          <a:xfrm>
            <a:off x="731520" y="1691640"/>
            <a:ext cx="3383280" cy="274320"/>
          </a:xfrm>
          <a:prstGeom prst="rect">
            <a:avLst/>
          </a:prstGeom>
          <a:noFill/>
        </p:spPr>
        <p:txBody>
          <a:bodyPr wrap="square" lIns="36576" tIns="36576" rIns="36576" bIns="36576">
            <a:spAutoFit/>
          </a:bodyPr>
          <a:lstStyle/>
          <a:p>
            <a:pPr algn="ctr">
              <a:defRPr sz="950" b="1">
                <a:solidFill>
                  <a:srgbClr val="FEF08A"/>
                </a:solidFill>
              </a:defRPr>
            </a:pPr>
            <a:r>
              <a:t>T9/2026 – T11/2026</a:t>
            </a:r>
          </a:p>
        </p:txBody>
      </p:sp>
      <p:sp>
        <p:nvSpPr>
          <p:cNvPr id="13" name="Rounded Rectangle 12"/>
          <p:cNvSpPr/>
          <p:nvPr/>
        </p:nvSpPr>
        <p:spPr>
          <a:xfrm>
            <a:off x="868680" y="2103120"/>
            <a:ext cx="3108960" cy="50292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121408"/>
            <a:ext cx="3017520" cy="228600"/>
          </a:xfrm>
          <a:prstGeom prst="rect">
            <a:avLst/>
          </a:prstGeom>
          <a:noFill/>
        </p:spPr>
        <p:txBody>
          <a:bodyPr wrap="square" lIns="36576" tIns="36576" rIns="36576" bIns="36576">
            <a:spAutoFit/>
          </a:bodyPr>
          <a:lstStyle/>
          <a:p>
            <a:pPr algn="ctr">
              <a:defRPr sz="950" b="1">
                <a:solidFill>
                  <a:srgbClr val="00509D"/>
                </a:solidFill>
              </a:defRPr>
            </a:pPr>
            <a:r>
              <a:t>KHẢO SÁT, HỌP 3 BÊN VỚI TCT &amp; SIZING</a:t>
            </a:r>
          </a:p>
        </p:txBody>
      </p:sp>
      <p:sp>
        <p:nvSpPr>
          <p:cNvPr id="15" name="TextBox 14"/>
          <p:cNvSpPr txBox="1"/>
          <p:nvPr/>
        </p:nvSpPr>
        <p:spPr>
          <a:xfrm>
            <a:off x="914400" y="2359152"/>
            <a:ext cx="3017520" cy="201168"/>
          </a:xfrm>
          <a:prstGeom prst="rect">
            <a:avLst/>
          </a:prstGeom>
          <a:noFill/>
        </p:spPr>
        <p:txBody>
          <a:bodyPr wrap="square" lIns="36576" tIns="36576" rIns="36576" bIns="36576">
            <a:spAutoFit/>
          </a:bodyPr>
          <a:lstStyle/>
          <a:p>
            <a:pPr algn="ctr">
              <a:defRPr sz="850" b="1">
                <a:solidFill>
                  <a:srgbClr val="28323C"/>
                </a:solidFill>
              </a:defRPr>
            </a:pPr>
            <a:r>
              <a:t>NỘI BỘ QN TỰ CHỦ TRÌ (0 VNĐ)</a:t>
            </a:r>
          </a:p>
        </p:txBody>
      </p:sp>
      <p:sp>
        <p:nvSpPr>
          <p:cNvPr id="16" name="TextBox 15"/>
          <p:cNvSpPr txBox="1"/>
          <p:nvPr/>
        </p:nvSpPr>
        <p:spPr>
          <a:xfrm>
            <a:off x="868680" y="2788920"/>
            <a:ext cx="3108960" cy="457200"/>
          </a:xfrm>
          <a:prstGeom prst="rect">
            <a:avLst/>
          </a:prstGeom>
          <a:noFill/>
        </p:spPr>
        <p:txBody>
          <a:bodyPr wrap="square" lIns="36576" tIns="36576" rIns="36576" bIns="36576">
            <a:spAutoFit/>
          </a:bodyPr>
          <a:lstStyle/>
          <a:p>
            <a:pPr algn="l">
              <a:defRPr sz="1000" b="0">
                <a:solidFill>
                  <a:srgbClr val="1E1E1E"/>
                </a:solidFill>
              </a:defRPr>
            </a:pPr>
            <a:r>
              <a:t>• Thành lập Tổ công tác Nền tảng Dữ liệu QN</a:t>
            </a:r>
          </a:p>
        </p:txBody>
      </p:sp>
      <p:sp>
        <p:nvSpPr>
          <p:cNvPr id="17" name="TextBox 16"/>
          <p:cNvSpPr txBox="1"/>
          <p:nvPr/>
        </p:nvSpPr>
        <p:spPr>
          <a:xfrm>
            <a:off x="868680" y="3291839"/>
            <a:ext cx="3108960" cy="457200"/>
          </a:xfrm>
          <a:prstGeom prst="rect">
            <a:avLst/>
          </a:prstGeom>
          <a:noFill/>
        </p:spPr>
        <p:txBody>
          <a:bodyPr wrap="square" lIns="36576" tIns="36576" rIns="36576" bIns="36576">
            <a:spAutoFit/>
          </a:bodyPr>
          <a:lstStyle/>
          <a:p>
            <a:pPr algn="l">
              <a:defRPr sz="1000" b="0">
                <a:solidFill>
                  <a:srgbClr val="1E1E1E"/>
                </a:solidFill>
              </a:defRPr>
            </a:pPr>
            <a:r>
              <a:t>• Gửi email chốt mốc giãn tiến độ Mua sắm</a:t>
            </a:r>
          </a:p>
        </p:txBody>
      </p:sp>
      <p:sp>
        <p:nvSpPr>
          <p:cNvPr id="18" name="TextBox 17"/>
          <p:cNvSpPr txBox="1"/>
          <p:nvPr/>
        </p:nvSpPr>
        <p:spPr>
          <a:xfrm>
            <a:off x="868680" y="3794760"/>
            <a:ext cx="3108960" cy="457200"/>
          </a:xfrm>
          <a:prstGeom prst="rect">
            <a:avLst/>
          </a:prstGeom>
          <a:noFill/>
        </p:spPr>
        <p:txBody>
          <a:bodyPr wrap="square" lIns="36576" tIns="36576" rIns="36576" bIns="36576">
            <a:spAutoFit/>
          </a:bodyPr>
          <a:lstStyle/>
          <a:p>
            <a:pPr algn="l">
              <a:defRPr sz="1000" b="0">
                <a:solidFill>
                  <a:srgbClr val="1E1E1E"/>
                </a:solidFill>
              </a:defRPr>
            </a:pPr>
            <a:r>
              <a:t>• Họp 3 bên trực tuyến với BDA TCT &amp; HIPT-AITS</a:t>
            </a:r>
          </a:p>
        </p:txBody>
      </p:sp>
      <p:sp>
        <p:nvSpPr>
          <p:cNvPr id="19" name="TextBox 18"/>
          <p:cNvSpPr txBox="1"/>
          <p:nvPr/>
        </p:nvSpPr>
        <p:spPr>
          <a:xfrm>
            <a:off x="868680" y="4297680"/>
            <a:ext cx="3108960" cy="457200"/>
          </a:xfrm>
          <a:prstGeom prst="rect">
            <a:avLst/>
          </a:prstGeom>
          <a:noFill/>
        </p:spPr>
        <p:txBody>
          <a:bodyPr wrap="square" lIns="36576" tIns="36576" rIns="36576" bIns="36576">
            <a:spAutoFit/>
          </a:bodyPr>
          <a:lstStyle/>
          <a:p>
            <a:pPr algn="l">
              <a:defRPr sz="1000" b="0">
                <a:solidFill>
                  <a:srgbClr val="1E1E1E"/>
                </a:solidFill>
              </a:defRPr>
            </a:pPr>
            <a:r>
              <a:t>• Hoàn thành khảo sát CSDL &amp; ánh xạ Master Data</a:t>
            </a:r>
          </a:p>
        </p:txBody>
      </p:sp>
      <p:sp>
        <p:nvSpPr>
          <p:cNvPr id="20" name="Rounded Rectangle 19"/>
          <p:cNvSpPr/>
          <p:nvPr/>
        </p:nvSpPr>
        <p:spPr>
          <a:xfrm>
            <a:off x="868680" y="4846320"/>
            <a:ext cx="3108960" cy="1325880"/>
          </a:xfrm>
          <a:prstGeom prst="roundRect">
            <a:avLst/>
          </a:prstGeom>
          <a:solidFill>
            <a:srgbClr val="FFFFFF"/>
          </a:solidFill>
          <a:ln w="127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937760"/>
            <a:ext cx="2926080" cy="1143000"/>
          </a:xfrm>
          <a:prstGeom prst="rect">
            <a:avLst/>
          </a:prstGeom>
          <a:noFill/>
        </p:spPr>
        <p:txBody>
          <a:bodyPr wrap="square" lIns="36576" tIns="36576" rIns="36576" bIns="36576">
            <a:spAutoFit/>
          </a:bodyPr>
          <a:lstStyle/>
          <a:p>
            <a:pPr algn="l">
              <a:defRPr sz="1000" b="1">
                <a:solidFill>
                  <a:srgbClr val="00509D"/>
                </a:solidFill>
              </a:defRPr>
            </a:pPr>
            <a:r>
              <a:t>MỤC TIÊU CỐT LÕI:</a:t>
            </a:r>
            <a:br/>
            <a:r>
              <a:t>Bảo vệ ngân sách, làm việc 3 bên với TCT, gài chuẩn ESB vào gói Mua sắm.</a:t>
            </a:r>
          </a:p>
        </p:txBody>
      </p:sp>
      <p:sp>
        <p:nvSpPr>
          <p:cNvPr id="22" name="Rounded Rectangle 21"/>
          <p:cNvSpPr/>
          <p:nvPr/>
        </p:nvSpPr>
        <p:spPr>
          <a:xfrm>
            <a:off x="4434840" y="1371600"/>
            <a:ext cx="3383280" cy="4937760"/>
          </a:xfrm>
          <a:prstGeom prst="roundRect">
            <a:avLst/>
          </a:prstGeom>
          <a:solidFill>
            <a:srgbClr val="E6F8F6"/>
          </a:solidFill>
          <a:ln w="1905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34840" y="1371600"/>
            <a:ext cx="3383280" cy="6400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1399032"/>
            <a:ext cx="3383280" cy="292608"/>
          </a:xfrm>
          <a:prstGeom prst="rect">
            <a:avLst/>
          </a:prstGeom>
          <a:noFill/>
        </p:spPr>
        <p:txBody>
          <a:bodyPr wrap="square" lIns="36576" tIns="36576" rIns="36576" bIns="36576">
            <a:spAutoFit/>
          </a:bodyPr>
          <a:lstStyle/>
          <a:p>
            <a:pPr algn="ctr">
              <a:defRPr sz="1050" b="1">
                <a:solidFill>
                  <a:srgbClr val="FFFFFF"/>
                </a:solidFill>
              </a:defRPr>
            </a:pPr>
            <a:r>
              <a:t>CHẶNG 2: KẾT NỐI &amp; DỰNG SPOKE</a:t>
            </a:r>
          </a:p>
        </p:txBody>
      </p:sp>
      <p:sp>
        <p:nvSpPr>
          <p:cNvPr id="25" name="TextBox 24"/>
          <p:cNvSpPr txBox="1"/>
          <p:nvPr/>
        </p:nvSpPr>
        <p:spPr>
          <a:xfrm>
            <a:off x="4434840" y="1691640"/>
            <a:ext cx="3383280" cy="274320"/>
          </a:xfrm>
          <a:prstGeom prst="rect">
            <a:avLst/>
          </a:prstGeom>
          <a:noFill/>
        </p:spPr>
        <p:txBody>
          <a:bodyPr wrap="square" lIns="36576" tIns="36576" rIns="36576" bIns="36576">
            <a:spAutoFit/>
          </a:bodyPr>
          <a:lstStyle/>
          <a:p>
            <a:pPr algn="ctr">
              <a:defRPr sz="950" b="1">
                <a:solidFill>
                  <a:srgbClr val="FEF08A"/>
                </a:solidFill>
              </a:defRPr>
            </a:pPr>
            <a:r>
              <a:t>T12/2026 – T3/2027</a:t>
            </a:r>
          </a:p>
        </p:txBody>
      </p:sp>
      <p:sp>
        <p:nvSpPr>
          <p:cNvPr id="26" name="Rounded Rectangle 25"/>
          <p:cNvSpPr/>
          <p:nvPr/>
        </p:nvSpPr>
        <p:spPr>
          <a:xfrm>
            <a:off x="4572000" y="2103120"/>
            <a:ext cx="3108960" cy="50292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2121408"/>
            <a:ext cx="3017520" cy="228600"/>
          </a:xfrm>
          <a:prstGeom prst="rect">
            <a:avLst/>
          </a:prstGeom>
          <a:noFill/>
        </p:spPr>
        <p:txBody>
          <a:bodyPr wrap="square" lIns="36576" tIns="36576" rIns="36576" bIns="36576">
            <a:spAutoFit/>
          </a:bodyPr>
          <a:lstStyle/>
          <a:p>
            <a:pPr algn="ctr">
              <a:defRPr sz="950" b="1">
                <a:solidFill>
                  <a:srgbClr val="008080"/>
                </a:solidFill>
              </a:defRPr>
            </a:pPr>
            <a:r>
              <a:t>XÂY DỰNG TRỤC TÍCH HỢP &amp; LANDING ZONE</a:t>
            </a:r>
          </a:p>
        </p:txBody>
      </p:sp>
      <p:sp>
        <p:nvSpPr>
          <p:cNvPr id="28" name="TextBox 27"/>
          <p:cNvSpPr txBox="1"/>
          <p:nvPr/>
        </p:nvSpPr>
        <p:spPr>
          <a:xfrm>
            <a:off x="4617720" y="2359152"/>
            <a:ext cx="3017520" cy="201168"/>
          </a:xfrm>
          <a:prstGeom prst="rect">
            <a:avLst/>
          </a:prstGeom>
          <a:noFill/>
        </p:spPr>
        <p:txBody>
          <a:bodyPr wrap="square" lIns="36576" tIns="36576" rIns="36576" bIns="36576">
            <a:spAutoFit/>
          </a:bodyPr>
          <a:lstStyle/>
          <a:p>
            <a:pPr algn="ctr">
              <a:defRPr sz="850" b="1">
                <a:solidFill>
                  <a:srgbClr val="28323C"/>
                </a:solidFill>
              </a:defRPr>
            </a:pPr>
            <a:r>
              <a:t>CẤP TENANT &amp; CHẠY THỬ NGHIỆM</a:t>
            </a:r>
          </a:p>
        </p:txBody>
      </p:sp>
      <p:sp>
        <p:nvSpPr>
          <p:cNvPr id="29" name="TextBox 28"/>
          <p:cNvSpPr txBox="1"/>
          <p:nvPr/>
        </p:nvSpPr>
        <p:spPr>
          <a:xfrm>
            <a:off x="4572000" y="2788920"/>
            <a:ext cx="3108960" cy="457200"/>
          </a:xfrm>
          <a:prstGeom prst="rect">
            <a:avLst/>
          </a:prstGeom>
          <a:noFill/>
        </p:spPr>
        <p:txBody>
          <a:bodyPr wrap="square" lIns="36576" tIns="36576" rIns="36576" bIns="36576">
            <a:spAutoFit/>
          </a:bodyPr>
          <a:lstStyle/>
          <a:p>
            <a:pPr algn="l">
              <a:defRPr sz="1000" b="0">
                <a:solidFill>
                  <a:srgbClr val="1E1E1E"/>
                </a:solidFill>
              </a:defRPr>
            </a:pPr>
            <a:r>
              <a:t>• TCT bàn giao Workspace Tenant L3 trên Fabric</a:t>
            </a:r>
          </a:p>
        </p:txBody>
      </p:sp>
      <p:sp>
        <p:nvSpPr>
          <p:cNvPr id="30" name="TextBox 29"/>
          <p:cNvSpPr txBox="1"/>
          <p:nvPr/>
        </p:nvSpPr>
        <p:spPr>
          <a:xfrm>
            <a:off x="4572000" y="3291839"/>
            <a:ext cx="3108960" cy="457200"/>
          </a:xfrm>
          <a:prstGeom prst="rect">
            <a:avLst/>
          </a:prstGeom>
          <a:noFill/>
        </p:spPr>
        <p:txBody>
          <a:bodyPr wrap="square" lIns="36576" tIns="36576" rIns="36576" bIns="36576">
            <a:spAutoFit/>
          </a:bodyPr>
          <a:lstStyle/>
          <a:p>
            <a:pPr algn="l">
              <a:defRPr sz="1000" b="0">
                <a:solidFill>
                  <a:srgbClr val="1E1E1E"/>
                </a:solidFill>
              </a:defRPr>
            </a:pPr>
            <a:r>
              <a:t>• Thông tuyến mạng VPN IPSec bảo mật</a:t>
            </a:r>
          </a:p>
        </p:txBody>
      </p:sp>
      <p:sp>
        <p:nvSpPr>
          <p:cNvPr id="31" name="TextBox 30"/>
          <p:cNvSpPr txBox="1"/>
          <p:nvPr/>
        </p:nvSpPr>
        <p:spPr>
          <a:xfrm>
            <a:off x="4572000" y="3794760"/>
            <a:ext cx="3108960" cy="457200"/>
          </a:xfrm>
          <a:prstGeom prst="rect">
            <a:avLst/>
          </a:prstGeom>
          <a:noFill/>
        </p:spPr>
        <p:txBody>
          <a:bodyPr wrap="square" lIns="36576" tIns="36576" rIns="36576" bIns="36576">
            <a:spAutoFit/>
          </a:bodyPr>
          <a:lstStyle/>
          <a:p>
            <a:pPr algn="l">
              <a:defRPr sz="1000" b="0">
                <a:solidFill>
                  <a:srgbClr val="1E1E1E"/>
                </a:solidFill>
              </a:defRPr>
            </a:pPr>
            <a:r>
              <a:t>• Cài đặt Spoke Agent, xây dựng luồng ETL</a:t>
            </a:r>
          </a:p>
        </p:txBody>
      </p:sp>
      <p:sp>
        <p:nvSpPr>
          <p:cNvPr id="32" name="TextBox 31"/>
          <p:cNvSpPr txBox="1"/>
          <p:nvPr/>
        </p:nvSpPr>
        <p:spPr>
          <a:xfrm>
            <a:off x="4572000" y="4297680"/>
            <a:ext cx="3108960" cy="457200"/>
          </a:xfrm>
          <a:prstGeom prst="rect">
            <a:avLst/>
          </a:prstGeom>
          <a:noFill/>
        </p:spPr>
        <p:txBody>
          <a:bodyPr wrap="square" lIns="36576" tIns="36576" rIns="36576" bIns="36576">
            <a:spAutoFit/>
          </a:bodyPr>
          <a:lstStyle/>
          <a:p>
            <a:pPr algn="l">
              <a:defRPr sz="1000" b="0">
                <a:solidFill>
                  <a:srgbClr val="1E1E1E"/>
                </a:solidFill>
              </a:defRPr>
            </a:pPr>
            <a:r>
              <a:t>• Thử nghiệm cơ chế phê duyệt Landing Zone</a:t>
            </a:r>
          </a:p>
        </p:txBody>
      </p:sp>
      <p:sp>
        <p:nvSpPr>
          <p:cNvPr id="33" name="Rounded Rectangle 32"/>
          <p:cNvSpPr/>
          <p:nvPr/>
        </p:nvSpPr>
        <p:spPr>
          <a:xfrm>
            <a:off x="4572000" y="4846320"/>
            <a:ext cx="3108960" cy="1325880"/>
          </a:xfrm>
          <a:prstGeom prst="roundRect">
            <a:avLst/>
          </a:prstGeom>
          <a:solidFill>
            <a:srgbClr val="FFFFFF"/>
          </a:solidFill>
          <a:ln w="127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63440" y="4937760"/>
            <a:ext cx="2926080" cy="1143000"/>
          </a:xfrm>
          <a:prstGeom prst="rect">
            <a:avLst/>
          </a:prstGeom>
          <a:noFill/>
        </p:spPr>
        <p:txBody>
          <a:bodyPr wrap="square" lIns="36576" tIns="36576" rIns="36576" bIns="36576">
            <a:spAutoFit/>
          </a:bodyPr>
          <a:lstStyle/>
          <a:p>
            <a:pPr algn="l">
              <a:defRPr sz="1000" b="1">
                <a:solidFill>
                  <a:srgbClr val="008080"/>
                </a:solidFill>
              </a:defRPr>
            </a:pPr>
            <a:r>
              <a:t>MỤC TIÊU CỐT LÕI:</a:t>
            </a:r>
            <a:br/>
            <a:r>
              <a:t>Thông tuyến VPN, nhận Tenant L3, dữ liệu chảy tự động vào Landing Zone.</a:t>
            </a:r>
          </a:p>
        </p:txBody>
      </p:sp>
      <p:sp>
        <p:nvSpPr>
          <p:cNvPr id="35" name="Rounded Rectangle 34"/>
          <p:cNvSpPr/>
          <p:nvPr/>
        </p:nvSpPr>
        <p:spPr>
          <a:xfrm>
            <a:off x="8138160" y="1371600"/>
            <a:ext cx="3383280" cy="4937760"/>
          </a:xfrm>
          <a:prstGeom prst="roundRect">
            <a:avLst/>
          </a:prstGeom>
          <a:solidFill>
            <a:srgbClr val="E6F5EB"/>
          </a:solidFill>
          <a:ln w="1905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38160" y="1371600"/>
            <a:ext cx="3383280" cy="6400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38160" y="1399032"/>
            <a:ext cx="3383280" cy="292608"/>
          </a:xfrm>
          <a:prstGeom prst="rect">
            <a:avLst/>
          </a:prstGeom>
          <a:noFill/>
        </p:spPr>
        <p:txBody>
          <a:bodyPr wrap="square" lIns="36576" tIns="36576" rIns="36576" bIns="36576">
            <a:spAutoFit/>
          </a:bodyPr>
          <a:lstStyle/>
          <a:p>
            <a:pPr algn="ctr">
              <a:defRPr sz="1050" b="1">
                <a:solidFill>
                  <a:srgbClr val="FFFFFF"/>
                </a:solidFill>
              </a:defRPr>
            </a:pPr>
            <a:r>
              <a:t>CHẶNG 3: BÀN GIAO &amp; KHAI THÁC</a:t>
            </a:r>
          </a:p>
        </p:txBody>
      </p:sp>
      <p:sp>
        <p:nvSpPr>
          <p:cNvPr id="38" name="TextBox 37"/>
          <p:cNvSpPr txBox="1"/>
          <p:nvPr/>
        </p:nvSpPr>
        <p:spPr>
          <a:xfrm>
            <a:off x="8138160" y="1691640"/>
            <a:ext cx="3383280" cy="274320"/>
          </a:xfrm>
          <a:prstGeom prst="rect">
            <a:avLst/>
          </a:prstGeom>
          <a:noFill/>
        </p:spPr>
        <p:txBody>
          <a:bodyPr wrap="square" lIns="36576" tIns="36576" rIns="36576" bIns="36576">
            <a:spAutoFit/>
          </a:bodyPr>
          <a:lstStyle/>
          <a:p>
            <a:pPr algn="ctr">
              <a:defRPr sz="950" b="1">
                <a:solidFill>
                  <a:srgbClr val="FEF08A"/>
                </a:solidFill>
              </a:defRPr>
            </a:pPr>
            <a:r>
              <a:t>T4/2027 – T6/2027</a:t>
            </a:r>
          </a:p>
        </p:txBody>
      </p:sp>
      <p:sp>
        <p:nvSpPr>
          <p:cNvPr id="39" name="Rounded Rectangle 38"/>
          <p:cNvSpPr/>
          <p:nvPr/>
        </p:nvSpPr>
        <p:spPr>
          <a:xfrm>
            <a:off x="8275320" y="2103120"/>
            <a:ext cx="3108960" cy="502920"/>
          </a:xfrm>
          <a:prstGeom prst="roundRect">
            <a:avLst/>
          </a:prstGeom>
          <a:solidFill>
            <a:srgbClr val="FFFFFF"/>
          </a:solidFill>
          <a:ln w="6350">
            <a:solidFill>
              <a:srgbClr val="8C96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2121408"/>
            <a:ext cx="3017520" cy="228600"/>
          </a:xfrm>
          <a:prstGeom prst="rect">
            <a:avLst/>
          </a:prstGeom>
          <a:noFill/>
        </p:spPr>
        <p:txBody>
          <a:bodyPr wrap="square" lIns="36576" tIns="36576" rIns="36576" bIns="36576">
            <a:spAutoFit/>
          </a:bodyPr>
          <a:lstStyle/>
          <a:p>
            <a:pPr algn="ctr">
              <a:defRPr sz="950" b="1">
                <a:solidFill>
                  <a:srgbClr val="14783C"/>
                </a:solidFill>
              </a:defRPr>
            </a:pPr>
            <a:r>
              <a:t>XUẤT BẢN DASHBOARD &amp; CHUYỂN GIAO</a:t>
            </a:r>
          </a:p>
        </p:txBody>
      </p:sp>
      <p:sp>
        <p:nvSpPr>
          <p:cNvPr id="41" name="TextBox 40"/>
          <p:cNvSpPr txBox="1"/>
          <p:nvPr/>
        </p:nvSpPr>
        <p:spPr>
          <a:xfrm>
            <a:off x="8321040" y="2359152"/>
            <a:ext cx="3017520" cy="201168"/>
          </a:xfrm>
          <a:prstGeom prst="rect">
            <a:avLst/>
          </a:prstGeom>
          <a:noFill/>
        </p:spPr>
        <p:txBody>
          <a:bodyPr wrap="square" lIns="36576" tIns="36576" rIns="36576" bIns="36576">
            <a:spAutoFit/>
          </a:bodyPr>
          <a:lstStyle/>
          <a:p>
            <a:pPr algn="ctr">
              <a:defRPr sz="850" b="1">
                <a:solidFill>
                  <a:srgbClr val="28323C"/>
                </a:solidFill>
              </a:defRPr>
            </a:pPr>
            <a:r>
              <a:t>IT QUẢNG NGÃI LÀM CHỦ 100%</a:t>
            </a:r>
          </a:p>
        </p:txBody>
      </p:sp>
      <p:sp>
        <p:nvSpPr>
          <p:cNvPr id="42" name="TextBox 41"/>
          <p:cNvSpPr txBox="1"/>
          <p:nvPr/>
        </p:nvSpPr>
        <p:spPr>
          <a:xfrm>
            <a:off x="8275320" y="2788920"/>
            <a:ext cx="3108960" cy="457200"/>
          </a:xfrm>
          <a:prstGeom prst="rect">
            <a:avLst/>
          </a:prstGeom>
          <a:noFill/>
        </p:spPr>
        <p:txBody>
          <a:bodyPr wrap="square" lIns="36576" tIns="36576" rIns="36576" bIns="36576">
            <a:spAutoFit/>
          </a:bodyPr>
          <a:lstStyle/>
          <a:p>
            <a:pPr algn="l">
              <a:defRPr sz="1000" b="0">
                <a:solidFill>
                  <a:srgbClr val="1E1E1E"/>
                </a:solidFill>
              </a:defRPr>
            </a:pPr>
            <a:r>
              <a:t>• Thiết kế Dashboard Power BI phục vụ Sếp QN</a:t>
            </a:r>
          </a:p>
        </p:txBody>
      </p:sp>
      <p:sp>
        <p:nvSpPr>
          <p:cNvPr id="43" name="TextBox 42"/>
          <p:cNvSpPr txBox="1"/>
          <p:nvPr/>
        </p:nvSpPr>
        <p:spPr>
          <a:xfrm>
            <a:off x="8275320" y="3291839"/>
            <a:ext cx="3108960" cy="457200"/>
          </a:xfrm>
          <a:prstGeom prst="rect">
            <a:avLst/>
          </a:prstGeom>
          <a:noFill/>
        </p:spPr>
        <p:txBody>
          <a:bodyPr wrap="square" lIns="36576" tIns="36576" rIns="36576" bIns="36576">
            <a:spAutoFit/>
          </a:bodyPr>
          <a:lstStyle/>
          <a:p>
            <a:pPr algn="l">
              <a:defRPr sz="1000" b="0">
                <a:solidFill>
                  <a:srgbClr val="1E1E1E"/>
                </a:solidFill>
              </a:defRPr>
            </a:pPr>
            <a:r>
              <a:t>• Cài app Power BI Mobile trên iPad Ban Giám đốc</a:t>
            </a:r>
          </a:p>
        </p:txBody>
      </p:sp>
      <p:sp>
        <p:nvSpPr>
          <p:cNvPr id="44" name="TextBox 43"/>
          <p:cNvSpPr txBox="1"/>
          <p:nvPr/>
        </p:nvSpPr>
        <p:spPr>
          <a:xfrm>
            <a:off x="8275320" y="3794760"/>
            <a:ext cx="3108960" cy="457200"/>
          </a:xfrm>
          <a:prstGeom prst="rect">
            <a:avLst/>
          </a:prstGeom>
          <a:noFill/>
        </p:spPr>
        <p:txBody>
          <a:bodyPr wrap="square" lIns="36576" tIns="36576" rIns="36576" bIns="36576">
            <a:spAutoFit/>
          </a:bodyPr>
          <a:lstStyle/>
          <a:p>
            <a:pPr algn="l">
              <a:defRPr sz="1000" b="0">
                <a:solidFill>
                  <a:srgbClr val="1E1E1E"/>
                </a:solidFill>
              </a:defRPr>
            </a:pPr>
            <a:r>
              <a:t>• Bàn giao 100% mã nguồn luồng dữ liệu</a:t>
            </a:r>
          </a:p>
        </p:txBody>
      </p:sp>
      <p:sp>
        <p:nvSpPr>
          <p:cNvPr id="45" name="TextBox 44"/>
          <p:cNvSpPr txBox="1"/>
          <p:nvPr/>
        </p:nvSpPr>
        <p:spPr>
          <a:xfrm>
            <a:off x="8275320" y="4297680"/>
            <a:ext cx="3108960" cy="457200"/>
          </a:xfrm>
          <a:prstGeom prst="rect">
            <a:avLst/>
          </a:prstGeom>
          <a:noFill/>
        </p:spPr>
        <p:txBody>
          <a:bodyPr wrap="square" lIns="36576" tIns="36576" rIns="36576" bIns="36576">
            <a:spAutoFit/>
          </a:bodyPr>
          <a:lstStyle/>
          <a:p>
            <a:pPr algn="l">
              <a:defRPr sz="1000" b="0">
                <a:solidFill>
                  <a:srgbClr val="1E1E1E"/>
                </a:solidFill>
              </a:defRPr>
            </a:pPr>
            <a:r>
              <a:t>• Nghiệm thu chính thức, hoàn thành KPI Chuyển đổi số</a:t>
            </a:r>
          </a:p>
        </p:txBody>
      </p:sp>
      <p:sp>
        <p:nvSpPr>
          <p:cNvPr id="46" name="Rounded Rectangle 45"/>
          <p:cNvSpPr/>
          <p:nvPr/>
        </p:nvSpPr>
        <p:spPr>
          <a:xfrm>
            <a:off x="8275320" y="4846320"/>
            <a:ext cx="3108960" cy="1325880"/>
          </a:xfrm>
          <a:prstGeom prst="roundRect">
            <a:avLst/>
          </a:prstGeom>
          <a:solidFill>
            <a:srgbClr val="FFFFFF"/>
          </a:solidFill>
          <a:ln w="1270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66760" y="4937760"/>
            <a:ext cx="2926080" cy="1143000"/>
          </a:xfrm>
          <a:prstGeom prst="rect">
            <a:avLst/>
          </a:prstGeom>
          <a:noFill/>
        </p:spPr>
        <p:txBody>
          <a:bodyPr wrap="square" lIns="36576" tIns="36576" rIns="36576" bIns="36576">
            <a:spAutoFit/>
          </a:bodyPr>
          <a:lstStyle/>
          <a:p>
            <a:pPr algn="l">
              <a:defRPr sz="1000" b="1">
                <a:solidFill>
                  <a:srgbClr val="14783C"/>
                </a:solidFill>
              </a:defRPr>
            </a:pPr>
            <a:r>
              <a:t>MỤC TIÊU CỐT LÕI:</a:t>
            </a:r>
            <a:br/>
            <a:r>
              <a:t>Sếp xem Dashboard trên mobile hàng ngày, IT QN tự chủ vận hành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
            <a:ext cx="73152" cy="777240"/>
          </a:xfrm>
          <a:prstGeom prst="rect">
            <a:avLst/>
          </a:prstGeom>
          <a:solidFill>
            <a:srgbClr val="B46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
            <a:ext cx="9601200" cy="237744"/>
          </a:xfrm>
          <a:prstGeom prst="rect">
            <a:avLst/>
          </a:prstGeom>
          <a:noFill/>
        </p:spPr>
        <p:txBody>
          <a:bodyPr wrap="square" lIns="36576" tIns="36576" rIns="36576" bIns="36576">
            <a:spAutoFit/>
          </a:bodyPr>
          <a:lstStyle/>
          <a:p>
            <a:pPr algn="l">
              <a:defRPr sz="950" b="1">
                <a:solidFill>
                  <a:srgbClr val="B4D2F5"/>
                </a:solidFill>
              </a:defRPr>
            </a:pPr>
            <a:r>
              <a:t>PHẦN D: KẾ HOẠCH HÀNH ĐỘNG — ĐỀ XUẤT PHÊ DUYỆT</a:t>
            </a:r>
          </a:p>
        </p:txBody>
      </p:sp>
      <p:sp>
        <p:nvSpPr>
          <p:cNvPr id="6" name="TextBox 5"/>
          <p:cNvSpPr txBox="1"/>
          <p:nvPr/>
        </p:nvSpPr>
        <p:spPr>
          <a:xfrm>
            <a:off x="960120" y="384048"/>
            <a:ext cx="9601200" cy="594360"/>
          </a:xfrm>
          <a:prstGeom prst="rect">
            <a:avLst/>
          </a:prstGeom>
          <a:noFill/>
        </p:spPr>
        <p:txBody>
          <a:bodyPr wrap="square" lIns="36576" tIns="36576" rIns="36576" bIns="36576">
            <a:spAutoFit/>
          </a:bodyPr>
          <a:lstStyle/>
          <a:p>
            <a:pPr algn="l">
              <a:defRPr sz="1650" b="1">
                <a:solidFill>
                  <a:srgbClr val="FFFFFF"/>
                </a:solidFill>
              </a:defRPr>
            </a:pPr>
            <a:r>
              <a:t>KIẾN NGHỊ VÀ ĐỀ XUẤT XIN PHÊ DUYỆT CỦA BAN GIÁM ĐỐC</a:t>
            </a:r>
          </a:p>
        </p:txBody>
      </p:sp>
      <p:sp>
        <p:nvSpPr>
          <p:cNvPr id="7" name="Rounded Rectangle 6"/>
          <p:cNvSpPr/>
          <p:nvPr/>
        </p:nvSpPr>
        <p:spPr>
          <a:xfrm>
            <a:off x="10972800" y="201168"/>
            <a:ext cx="640080" cy="594360"/>
          </a:xfrm>
          <a:prstGeom prst="roundRect">
            <a:avLst/>
          </a:prstGeom>
          <a:noFill/>
          <a:ln w="12700">
            <a:solidFill>
              <a:srgbClr val="3C64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0" y="292608"/>
            <a:ext cx="640080" cy="365760"/>
          </a:xfrm>
          <a:prstGeom prst="rect">
            <a:avLst/>
          </a:prstGeom>
          <a:noFill/>
        </p:spPr>
        <p:txBody>
          <a:bodyPr wrap="square" lIns="36576" tIns="36576" rIns="36576" bIns="36576">
            <a:spAutoFit/>
          </a:bodyPr>
          <a:lstStyle/>
          <a:p>
            <a:pPr algn="ctr">
              <a:defRPr sz="1300" b="1">
                <a:solidFill>
                  <a:srgbClr val="B46E00"/>
                </a:solidFill>
              </a:defRPr>
            </a:pPr>
            <a:r>
              <a:t>16</a:t>
            </a:r>
          </a:p>
        </p:txBody>
      </p:sp>
      <p:sp>
        <p:nvSpPr>
          <p:cNvPr id="9" name="Rounded Rectangle 8"/>
          <p:cNvSpPr/>
          <p:nvPr/>
        </p:nvSpPr>
        <p:spPr>
          <a:xfrm>
            <a:off x="731520" y="1371600"/>
            <a:ext cx="10698480" cy="1325880"/>
          </a:xfrm>
          <a:prstGeom prst="roundRect">
            <a:avLst/>
          </a:prstGeom>
          <a:solidFill>
            <a:srgbClr val="E6F0FA"/>
          </a:solidFill>
          <a:ln w="25400">
            <a:solidFill>
              <a:srgbClr val="0050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371600"/>
            <a:ext cx="109728" cy="1325880"/>
          </a:xfrm>
          <a:prstGeom prst="rect">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05840" y="1554480"/>
            <a:ext cx="347472" cy="347472"/>
          </a:xfrm>
          <a:prstGeom prst="ellipse">
            <a:avLst/>
          </a:prstGeom>
          <a:solidFill>
            <a:srgbClr val="0050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572768"/>
            <a:ext cx="347472" cy="347472"/>
          </a:xfrm>
          <a:prstGeom prst="rect">
            <a:avLst/>
          </a:prstGeom>
          <a:noFill/>
        </p:spPr>
        <p:txBody>
          <a:bodyPr wrap="square" lIns="36576" tIns="36576" rIns="36576" bIns="36576">
            <a:spAutoFit/>
          </a:bodyPr>
          <a:lstStyle/>
          <a:p>
            <a:pPr algn="ctr">
              <a:defRPr sz="1100" b="1">
                <a:solidFill>
                  <a:srgbClr val="FFFFFF"/>
                </a:solidFill>
              </a:defRPr>
            </a:pPr>
            <a:r>
              <a:t>1</a:t>
            </a:r>
          </a:p>
        </p:txBody>
      </p:sp>
      <p:sp>
        <p:nvSpPr>
          <p:cNvPr id="13" name="TextBox 12"/>
          <p:cNvSpPr txBox="1"/>
          <p:nvPr/>
        </p:nvSpPr>
        <p:spPr>
          <a:xfrm>
            <a:off x="1463040" y="1536192"/>
            <a:ext cx="9601200" cy="320040"/>
          </a:xfrm>
          <a:prstGeom prst="rect">
            <a:avLst/>
          </a:prstGeom>
          <a:noFill/>
        </p:spPr>
        <p:txBody>
          <a:bodyPr wrap="square" lIns="36576" tIns="36576" rIns="36576" bIns="36576">
            <a:spAutoFit/>
          </a:bodyPr>
          <a:lstStyle/>
          <a:p>
            <a:pPr algn="l">
              <a:defRPr sz="1200" b="1">
                <a:solidFill>
                  <a:srgbClr val="00509D"/>
                </a:solidFill>
              </a:defRPr>
            </a:pPr>
            <a:r>
              <a:t>1. PHÊ DUYỆT CHỦ TRƯƠNG TẠM GIÃN TIẾN ĐỘ PHẦN MỀM MUA SẮM</a:t>
            </a:r>
          </a:p>
        </p:txBody>
      </p:sp>
      <p:sp>
        <p:nvSpPr>
          <p:cNvPr id="14" name="TextBox 13"/>
          <p:cNvSpPr txBox="1"/>
          <p:nvPr/>
        </p:nvSpPr>
        <p:spPr>
          <a:xfrm>
            <a:off x="1463040" y="1901952"/>
            <a:ext cx="9601200" cy="731520"/>
          </a:xfrm>
          <a:prstGeom prst="rect">
            <a:avLst/>
          </a:prstGeom>
          <a:noFill/>
        </p:spPr>
        <p:txBody>
          <a:bodyPr wrap="square" lIns="36576" tIns="36576" rIns="36576" bIns="36576">
            <a:spAutoFit/>
          </a:bodyPr>
          <a:lstStyle/>
          <a:p>
            <a:pPr algn="l">
              <a:defRPr sz="1050" b="0">
                <a:solidFill>
                  <a:srgbClr val="1E1E1E"/>
                </a:solidFill>
              </a:defRPr>
            </a:pPr>
            <a:r>
              <a:t>Đồng ý chủ trương tạm giãn tiến độ gói thầu Phần mềm Mua sắm (đến hết 31/10/2026) theo đúng văn bản khuyến nghị của BDA CĐS Tổng công ty (chị Phan Thị Ngọc Vân), nhằm rà soát và bổ sung tiêu chuẩn kết nối Trục tích hợp ESB vào HSMT, tránh đầu tư chồng chéo.</a:t>
            </a:r>
          </a:p>
        </p:txBody>
      </p:sp>
      <p:sp>
        <p:nvSpPr>
          <p:cNvPr id="15" name="Rounded Rectangle 14"/>
          <p:cNvSpPr/>
          <p:nvPr/>
        </p:nvSpPr>
        <p:spPr>
          <a:xfrm>
            <a:off x="731520" y="2834640"/>
            <a:ext cx="10698480" cy="1325880"/>
          </a:xfrm>
          <a:prstGeom prst="roundRect">
            <a:avLst/>
          </a:prstGeom>
          <a:solidFill>
            <a:srgbClr val="E6F8F6"/>
          </a:solidFill>
          <a:ln w="25400">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834640"/>
            <a:ext cx="109728" cy="1325880"/>
          </a:xfrm>
          <a:prstGeom prst="rect">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05840" y="3017520"/>
            <a:ext cx="347472" cy="347472"/>
          </a:xfrm>
          <a:prstGeom prst="ellipse">
            <a:avLst/>
          </a:prstGeom>
          <a:solidFill>
            <a:srgbClr val="0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035808"/>
            <a:ext cx="347472" cy="347472"/>
          </a:xfrm>
          <a:prstGeom prst="rect">
            <a:avLst/>
          </a:prstGeom>
          <a:noFill/>
        </p:spPr>
        <p:txBody>
          <a:bodyPr wrap="square" lIns="36576" tIns="36576" rIns="36576" bIns="36576">
            <a:spAutoFit/>
          </a:bodyPr>
          <a:lstStyle/>
          <a:p>
            <a:pPr algn="ctr">
              <a:defRPr sz="1100" b="1">
                <a:solidFill>
                  <a:srgbClr val="FFFFFF"/>
                </a:solidFill>
              </a:defRPr>
            </a:pPr>
            <a:r>
              <a:t>2</a:t>
            </a:r>
          </a:p>
        </p:txBody>
      </p:sp>
      <p:sp>
        <p:nvSpPr>
          <p:cNvPr id="19" name="TextBox 18"/>
          <p:cNvSpPr txBox="1"/>
          <p:nvPr/>
        </p:nvSpPr>
        <p:spPr>
          <a:xfrm>
            <a:off x="1463040" y="2999232"/>
            <a:ext cx="9601200" cy="320040"/>
          </a:xfrm>
          <a:prstGeom prst="rect">
            <a:avLst/>
          </a:prstGeom>
          <a:noFill/>
        </p:spPr>
        <p:txBody>
          <a:bodyPr wrap="square" lIns="36576" tIns="36576" rIns="36576" bIns="36576">
            <a:spAutoFit/>
          </a:bodyPr>
          <a:lstStyle/>
          <a:p>
            <a:pPr algn="l">
              <a:defRPr sz="1200" b="1">
                <a:solidFill>
                  <a:srgbClr val="008080"/>
                </a:solidFill>
              </a:defRPr>
            </a:pPr>
            <a:r>
              <a:t>2. CHO PHÉP GỬI EMAIL PHẢN HỒI CHÍNH THỨC &amp; HỌP 3 BÊN VỚI TCT</a:t>
            </a:r>
          </a:p>
        </p:txBody>
      </p:sp>
      <p:sp>
        <p:nvSpPr>
          <p:cNvPr id="20" name="TextBox 19"/>
          <p:cNvSpPr txBox="1"/>
          <p:nvPr/>
        </p:nvSpPr>
        <p:spPr>
          <a:xfrm>
            <a:off x="1463040" y="3364992"/>
            <a:ext cx="9601200" cy="731520"/>
          </a:xfrm>
          <a:prstGeom prst="rect">
            <a:avLst/>
          </a:prstGeom>
          <a:noFill/>
        </p:spPr>
        <p:txBody>
          <a:bodyPr wrap="square" lIns="36576" tIns="36576" rIns="36576" bIns="36576">
            <a:spAutoFit/>
          </a:bodyPr>
          <a:lstStyle/>
          <a:p>
            <a:pPr algn="l">
              <a:defRPr sz="1050" b="0">
                <a:solidFill>
                  <a:srgbClr val="1E1E1E"/>
                </a:solidFill>
              </a:defRPr>
            </a:pPr>
            <a:r>
              <a:t>Cho phép Bộ phận CNTT gửi email phản hồi chính thức cho BDA TCT để: (1) Chốt mốc thời gian hỗ trợ; (2) Đăng ký Quảng Ngãi làm đơn vị thí điểm GĐ 2A; (3) Tổ chức ngay buổi họp trực tuyến 3 bên với BDA TCT và Liên danh tư vấn HIPT-AITS trong tuần tới.</a:t>
            </a:r>
          </a:p>
        </p:txBody>
      </p:sp>
      <p:sp>
        <p:nvSpPr>
          <p:cNvPr id="21" name="Rounded Rectangle 20"/>
          <p:cNvSpPr/>
          <p:nvPr/>
        </p:nvSpPr>
        <p:spPr>
          <a:xfrm>
            <a:off x="731520" y="4297680"/>
            <a:ext cx="10698480" cy="1325880"/>
          </a:xfrm>
          <a:prstGeom prst="roundRect">
            <a:avLst/>
          </a:prstGeom>
          <a:solidFill>
            <a:srgbClr val="E6F5EB"/>
          </a:solidFill>
          <a:ln w="25400">
            <a:solidFill>
              <a:srgbClr val="1478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297680"/>
            <a:ext cx="109728" cy="1325880"/>
          </a:xfrm>
          <a:prstGeom prst="rect">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5840" y="4480560"/>
            <a:ext cx="347472" cy="347472"/>
          </a:xfrm>
          <a:prstGeom prst="ellipse">
            <a:avLst/>
          </a:prstGeom>
          <a:solidFill>
            <a:srgbClr val="147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498848"/>
            <a:ext cx="347472" cy="347472"/>
          </a:xfrm>
          <a:prstGeom prst="rect">
            <a:avLst/>
          </a:prstGeom>
          <a:noFill/>
        </p:spPr>
        <p:txBody>
          <a:bodyPr wrap="square" lIns="36576" tIns="36576" rIns="36576" bIns="36576">
            <a:spAutoFit/>
          </a:bodyPr>
          <a:lstStyle/>
          <a:p>
            <a:pPr algn="ctr">
              <a:defRPr sz="1100" b="1">
                <a:solidFill>
                  <a:srgbClr val="FFFFFF"/>
                </a:solidFill>
              </a:defRPr>
            </a:pPr>
            <a:r>
              <a:t>3</a:t>
            </a:r>
          </a:p>
        </p:txBody>
      </p:sp>
      <p:sp>
        <p:nvSpPr>
          <p:cNvPr id="25" name="TextBox 24"/>
          <p:cNvSpPr txBox="1"/>
          <p:nvPr/>
        </p:nvSpPr>
        <p:spPr>
          <a:xfrm>
            <a:off x="1463040" y="4462272"/>
            <a:ext cx="9601200" cy="320040"/>
          </a:xfrm>
          <a:prstGeom prst="rect">
            <a:avLst/>
          </a:prstGeom>
          <a:noFill/>
        </p:spPr>
        <p:txBody>
          <a:bodyPr wrap="square" lIns="36576" tIns="36576" rIns="36576" bIns="36576">
            <a:spAutoFit/>
          </a:bodyPr>
          <a:lstStyle/>
          <a:p>
            <a:pPr algn="l">
              <a:defRPr sz="1200" b="1">
                <a:solidFill>
                  <a:srgbClr val="14783C"/>
                </a:solidFill>
              </a:defRPr>
            </a:pPr>
            <a:r>
              <a:t>3. KÝ QUYẾT ĐỊNH THÀNH LẬP TỔ CÔNG TÁC QUẢN TRỊ DỮ LIỆU</a:t>
            </a:r>
          </a:p>
        </p:txBody>
      </p:sp>
      <p:sp>
        <p:nvSpPr>
          <p:cNvPr id="26" name="TextBox 25"/>
          <p:cNvSpPr txBox="1"/>
          <p:nvPr/>
        </p:nvSpPr>
        <p:spPr>
          <a:xfrm>
            <a:off x="1463040" y="4828032"/>
            <a:ext cx="9601200" cy="731520"/>
          </a:xfrm>
          <a:prstGeom prst="rect">
            <a:avLst/>
          </a:prstGeom>
          <a:noFill/>
        </p:spPr>
        <p:txBody>
          <a:bodyPr wrap="square" lIns="36576" tIns="36576" rIns="36576" bIns="36576">
            <a:spAutoFit/>
          </a:bodyPr>
          <a:lstStyle/>
          <a:p>
            <a:pPr algn="l">
              <a:defRPr sz="1050" b="0">
                <a:solidFill>
                  <a:srgbClr val="1E1E1E"/>
                </a:solidFill>
              </a:defRPr>
            </a:pPr>
            <a:r>
              <a:t>Kính trình Giám đốc Công ty ký ban hành Quyết định thành lập Tổ Công tác Quản trị Dữ liệu PTSC Quảng Ngãi (đã có Dự thảo kẹp kèm). Phân công Lãnh đạo Đơn vị làm Data Owner Cấp 3; giao các phòng Kế toán, Cảng, Dự án, Mua sắm cử đầu mối phối hợp cùng IT.</a:t>
            </a:r>
          </a:p>
        </p:txBody>
      </p:sp>
      <p:sp>
        <p:nvSpPr>
          <p:cNvPr id="27" name="Rounded Rectangle 26"/>
          <p:cNvSpPr/>
          <p:nvPr/>
        </p:nvSpPr>
        <p:spPr>
          <a:xfrm>
            <a:off x="731520" y="5806440"/>
            <a:ext cx="10698480" cy="640080"/>
          </a:xfrm>
          <a:prstGeom prst="roundRect">
            <a:avLst/>
          </a:prstGeom>
          <a:solidFill>
            <a:srgbClr val="FEF6E6"/>
          </a:solidFill>
          <a:ln w="12700">
            <a:solidFill>
              <a:srgbClr val="B46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870448"/>
            <a:ext cx="10332720" cy="502920"/>
          </a:xfrm>
          <a:prstGeom prst="rect">
            <a:avLst/>
          </a:prstGeom>
          <a:noFill/>
        </p:spPr>
        <p:txBody>
          <a:bodyPr wrap="square" lIns="36576" tIns="36576" rIns="36576" bIns="36576">
            <a:spAutoFit/>
          </a:bodyPr>
          <a:lstStyle/>
          <a:p>
            <a:pPr algn="ctr">
              <a:defRPr sz="1150" b="1">
                <a:solidFill>
                  <a:srgbClr val="002855"/>
                </a:solidFill>
              </a:defRPr>
            </a:pPr>
            <a:r>
              <a:t>KÍNH TRÌNH BAN GIÁM ĐỐC XEM XÉT VÀ CHO Ý KIẾN CHỈ ĐẠO ĐỂ TỔ CÔNG TÁC KHẨN TRƯƠNG TRIỂN KHAI!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