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Kính thưa Ban Giám đốc, thực hiện đúng nội dung chỉ đạo số 9 của Ban Giám đốc về việc đánh giá phương án triển khai Data Platform, hôm nay bộ phận CNTT xin báo cáo chi tiết 4 nội dung trọng tâm: Thứ nhất là so sánh 2 phương án (thuê TCT hay phát triển riêng); thứ hai là làm rõ Trục tích hợp dữ liệu giữa Cty và TCT; thứ ba là khung kiến trúc và chi phí dự toán trước khi đàm phán với NCC; và thứ tư là kế hoạch hành động cụ thể để xin phê duyệt chủ trương.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Thưa các anh, slide này tóm tắt 4 câu trả lời cốt lõi: Về phương án, chúng tôi đề xuất phát triển riêng đồng bộ TCT có NCC hỗ trợ. Về trục tích hợp, sẽ dùng trạm trung chuyển gom dữ liệu an toàn. Về ngân sách, dự toán sơ bộ khoảng 350 - 550 triệu, phân kỳ theo nghiệm thu. Và về kế hoạch, giai đoạn 1 nội bộ tự làm hoàn toàn miễn phí để rà soát dữ liệu.</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(GIẢI THÍCH TRỌNG TÂM CÂU HỎI CỦA SẾP):</a:t>
            </a:r>
          </a:p>
          <a:p>
            <a:r>
              <a:t>Thưa Ban Giám đốc, nhiều người sẽ hỏi tại sao không nhờ luôn TCT làm cho tiện? Lý do thực tế là: Ban CNTT TCT chỉ xây cái 'sân ga trung tâm' và ban hành luật chơi. Họ không có người để đi vào từng ngõ ngách, ngồi bóc tách từng bảng CSDL kế toán hay vật tư riêng của Quảng Ngãi. Nếu chờ TCT thì Quảng Ngãi sẽ bị xếp hàng rất lâu và trễ hẹn 2026. Do đó, phương án tối ưu nhất là chúng ta tự thuê NCC ngoài dựng trạm kết nối riêng, vừa chuẩn theo TCT, vừa có báo cáo riêng cho Sếp.</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Thưa Ban Giám đốc, đây là mô hình kiến trúc do chúng tôi chủ động thiết kế trước khi gặp nhà cung cấp. Việc mình nắm chắc kiến trúc 3 tầng này giúp mình hoàn toàn làm chủ cuộc chơi, khi NCC vào mình là người ra đề bài chính xác, tránh trường hợp bị NCC tư vấn lan man hoặc bán thêm các phân hệ đắt tiền không cần thiết.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(NỘI DUNG ƯU TIÊN CAO):</a:t>
            </a:r>
          </a:p>
          <a:p>
            <a:r>
              <a:t>Thưa Ban Giám đốc, đây là nội dung Ban Giám đốc chỉ đạo ưu tiên cao: Trục tích hợp giữa Cty và TCT hoạt động thế nào? Chúng tôi xin cam kết bằng 3 nguyên tắc: 1 là chế độ chỉ đọc không bao giờ làm hỏng dữ liệu phần mềm hiện tại; 2 là tự động nắn dữ liệu của mình khớp với 29 bộ mã của TCT; và 3 là truyền bằng đường hầm bảo mật riêng, chỉ đi từ máy chủ QN sang Cloud của TCT, không hề lọt ra ngoài internet.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Về chi phí, chúng tôi đã khảo sát mặt bằng thị trường để xây dựng khung dự toán trước khi tiếp xúc NCC: Tổng chi phí trọn gói dao động từ 380 đến 600 triệu đồng. Con số này rất hợp lý so với một dự án dữ liệu, bởi vì phần hạ tầng đắt nhất là Cloud và bản quyền Power BI thì TCT đã gánh cho chúng ta. Chúng ta chỉ trả tiền công cho NCC dựng đường ống kết nối và vẽ báo cáo quản trị cho Sếp.</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a:t>
            </a:r>
          </a:p>
          <a:p>
            <a:r>
              <a:t>Về kế hoạch thực hiện, chúng tôi chia thành 3 giai đoạn rõ ràng: Giai đoạn 1 trong tháng 3 và tháng 4, nội bộ tự làm, không tốn 1 đồng ngân sách nào để khảo sát và chuẩn bị đề bài; Sau đó mới tổ chức lựa chọn NCC để triển khai trong quý 2; và đến quý 3 là hoàn thành nghiệm thu, bàn giao toàn bộ cho anh em IT nội bộ quản lý. Chi tiết từng tuần công việc đã có trong tài liệu kế hoạch đính kèm theo báo cáo.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KỊCH BẢN NÓI (KẾT THÚC BÁO CÁO):</a:t>
            </a:r>
          </a:p>
          <a:p>
            <a:r>
              <a:t>Kính thưa Ban Giám đốc, để đảm bảo tiến độ chuyển đổi số đúng chỉ đạo của TCT, bộ phận CNTT kính đề xuất Ban Giám đốc thông qua 3 chủ trương nêu trên. Việc phê duyệt sớm sẽ giúp chúng tôi hoàn thành Giai đoạn 1 nội bộ ngay trong tháng 4 và kịp triển khai đấu nối trong năm 2026. Chúng tôi xin trân trọng cảm ơn và lắng nghe ý kiến chỉ đạo của Ban Giám đốc!</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1463040"/>
            <a:ext cx="137160" cy="3840480"/>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371600"/>
            <a:ext cx="10241280" cy="2286000"/>
          </a:xfrm>
          <a:prstGeom prst="rect">
            <a:avLst/>
          </a:prstGeom>
          <a:noFill/>
        </p:spPr>
        <p:txBody>
          <a:bodyPr wrap="square">
            <a:spAutoFit/>
          </a:bodyPr>
          <a:lstStyle/>
          <a:p>
            <a:pPr>
              <a:spcAft>
                <a:spcPts val="800"/>
              </a:spcAft>
              <a:defRPr sz="1400" b="1">
                <a:solidFill>
                  <a:srgbClr val="BAD7F5"/>
                </a:solidFill>
              </a:defRPr>
            </a:pPr>
            <a:r>
              <a:t>BÁO CÁO BAN GIÁM ĐỐC CÔNG TY (THỰC HIỆN CHỈ ĐẠO MỤC 9)</a:t>
            </a:r>
          </a:p>
          <a:p>
            <a:pPr>
              <a:spcAft>
                <a:spcPts val="1400"/>
              </a:spcAft>
              <a:defRPr sz="2800" b="1">
                <a:solidFill>
                  <a:srgbClr val="FFFFFF"/>
                </a:solidFill>
              </a:defRPr>
            </a:pPr>
            <a:r>
              <a:t>PHƯƠNG ÁN TRIỂN KHAI DATA PLATFORM</a:t>
            </a:r>
            <a:br/>
            <a:r>
              <a:t>&amp; TRỤC TÍCH HỢP DỮ LIỆU CÔNG TY VS TCT</a:t>
            </a:r>
          </a:p>
          <a:p>
            <a:pPr>
              <a:defRPr sz="1300">
                <a:solidFill>
                  <a:srgbClr val="DCE6F2"/>
                </a:solidFill>
              </a:defRPr>
            </a:pPr>
            <a:r>
              <a:t>• So sánh 2 Phương án: Thuê TCT vs Phát triển riêng đồng bộ TCT (có NCC tư vấn)</a:t>
            </a:r>
            <a:br/>
            <a:r>
              <a:t>• Mô hình Kiến trúc Dữ liệu tổng quan &amp; Trục tích hợp phần mềm Cty vs TCT (Ưu tiên cao)</a:t>
            </a:r>
            <a:br/>
            <a:r>
              <a:t>• Khung Chi phí Dự toán trước khi đàm phán NCC &amp; Kế hoạch triển khai chi tiết</a:t>
            </a:r>
          </a:p>
        </p:txBody>
      </p:sp>
      <p:sp>
        <p:nvSpPr>
          <p:cNvPr id="5" name="TextBox 4"/>
          <p:cNvSpPr txBox="1"/>
          <p:nvPr/>
        </p:nvSpPr>
        <p:spPr>
          <a:xfrm>
            <a:off x="1097280" y="4937760"/>
            <a:ext cx="9601200" cy="1097280"/>
          </a:xfrm>
          <a:prstGeom prst="rect">
            <a:avLst/>
          </a:prstGeom>
          <a:noFill/>
        </p:spPr>
        <p:txBody>
          <a:bodyPr wrap="none">
            <a:spAutoFit/>
          </a:bodyPr>
          <a:lstStyle/>
          <a:p>
            <a:pPr>
              <a:defRPr sz="1250">
                <a:solidFill>
                  <a:srgbClr val="FFFFFF"/>
                </a:solidFill>
              </a:defRPr>
            </a:pPr>
            <a:r>
              <a:t>• Đơn vị thực hiện: Tổ Công tác Chuyển đổi số &amp; Bộ phận CNTT PTSC Quảng Ngãi</a:t>
            </a:r>
          </a:p>
          <a:p>
            <a:pPr>
              <a:defRPr sz="1250">
                <a:solidFill>
                  <a:srgbClr val="FDE047"/>
                </a:solidFill>
              </a:defRPr>
            </a:pPr>
            <a:r>
              <a:t>• Thời gian báo cáo: Tháng 03/2026 | Kính trình: Ban Giám đốc Công ty xem xét và chỉ đạo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TÓM TẮT ĐIỀU HÀNH (EXECUTIVE SUMMARY)</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TỔNG QUAN: TRẢ LỜI TRỰC TIẾP 4 YÊU CẦU TRONG CHỈ ĐẠO SỐ 9</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sp>
        <p:nvSpPr>
          <p:cNvPr id="7" name="Rounded Rectangle 6"/>
          <p:cNvSpPr/>
          <p:nvPr/>
        </p:nvSpPr>
        <p:spPr>
          <a:xfrm>
            <a:off x="731520" y="1371600"/>
            <a:ext cx="256032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2468880" cy="73152"/>
          </a:xfrm>
          <a:prstGeom prst="rect">
            <a:avLst/>
          </a:prstGeom>
          <a:solidFill>
            <a:srgbClr val="10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2194560" cy="4526280"/>
          </a:xfrm>
          <a:prstGeom prst="rect">
            <a:avLst/>
          </a:prstGeom>
          <a:noFill/>
        </p:spPr>
        <p:txBody>
          <a:bodyPr wrap="square">
            <a:spAutoFit/>
          </a:bodyPr>
          <a:lstStyle/>
          <a:p>
            <a:pPr>
              <a:defRPr sz="1400" b="1">
                <a:solidFill>
                  <a:srgbClr val="0A254A"/>
                </a:solidFill>
              </a:defRPr>
            </a:pPr>
            <a:r>
              <a:t>1. SO SÁNH 2 PHƯƠNG ÁN</a:t>
            </a:r>
          </a:p>
          <a:p>
            <a:pPr>
              <a:spcAft>
                <a:spcPts val="600"/>
              </a:spcAft>
              <a:defRPr sz="1050">
                <a:solidFill>
                  <a:srgbClr val="64748B"/>
                </a:solidFill>
              </a:defRPr>
            </a:pPr>
            <a:r>
              <a:t>Thuê TCT vs Phát triển riêng</a:t>
            </a:r>
          </a:p>
          <a:p>
            <a:pPr>
              <a:spcAft>
                <a:spcPts val="600"/>
              </a:spcAft>
              <a:defRPr sz="1100">
                <a:solidFill>
                  <a:srgbClr val="1A2639"/>
                </a:solidFill>
              </a:defRPr>
            </a:pPr>
            <a:r>
              <a:t>• KHUYẾN NGHỊ: Chọn Phương án Phát triển riêng đồng bộ TCT (có NCC tư vấn).</a:t>
            </a:r>
            <a:br/>
            <a:r>
              <a:t>• Lý do: TCT chỉ làm hạ tầng lõi Hub, không đủ nguồn lực xuống cấu hình từng phần mềm con tại Quảng Ngãi; tự làm giúp chủ động tiến độ và đo ni đóng giày cho BGĐ.</a:t>
            </a:r>
          </a:p>
        </p:txBody>
      </p:sp>
      <p:sp>
        <p:nvSpPr>
          <p:cNvPr id="10" name="Rounded Rectangle 9"/>
          <p:cNvSpPr/>
          <p:nvPr/>
        </p:nvSpPr>
        <p:spPr>
          <a:xfrm>
            <a:off x="3474720" y="1371600"/>
            <a:ext cx="256032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520440" y="1389888"/>
            <a:ext cx="2468880" cy="73152"/>
          </a:xfrm>
          <a:prstGeom prst="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657600" y="1508760"/>
            <a:ext cx="2194560" cy="4526280"/>
          </a:xfrm>
          <a:prstGeom prst="rect">
            <a:avLst/>
          </a:prstGeom>
          <a:noFill/>
        </p:spPr>
        <p:txBody>
          <a:bodyPr wrap="square">
            <a:spAutoFit/>
          </a:bodyPr>
          <a:lstStyle/>
          <a:p>
            <a:pPr>
              <a:defRPr sz="1400" b="1">
                <a:solidFill>
                  <a:srgbClr val="0A254A"/>
                </a:solidFill>
              </a:defRPr>
            </a:pPr>
            <a:r>
              <a:t>2. TRỤC TÍCH HỢP CÔNG TY VS TCT</a:t>
            </a:r>
          </a:p>
          <a:p>
            <a:pPr>
              <a:spcAft>
                <a:spcPts val="600"/>
              </a:spcAft>
              <a:defRPr sz="1050">
                <a:solidFill>
                  <a:srgbClr val="64748B"/>
                </a:solidFill>
              </a:defRPr>
            </a:pPr>
            <a:r>
              <a:t>Ưu tiên cao - Thiết kế kỹ thuật</a:t>
            </a:r>
          </a:p>
          <a:p>
            <a:pPr>
              <a:spcAft>
                <a:spcPts val="600"/>
              </a:spcAft>
              <a:defRPr sz="1100">
                <a:solidFill>
                  <a:srgbClr val="1A2639"/>
                </a:solidFill>
              </a:defRPr>
            </a:pPr>
            <a:r>
              <a:t>• Mô hình Trạm trung chuyển (Data Gateway) đặt tại Quảng Ngãi.</a:t>
            </a:r>
            <a:br/>
            <a:r>
              <a:t>• Cơ chế: Trích xuất chỉ đọc (Read-only) từ Kế toán, Vật tư, Nhân sự -&gt; Chuẩn hóa theo 29 Master Data của TCT -&gt; Bơm qua VPN lên Cloud TCT an toàn 100%.</a:t>
            </a:r>
          </a:p>
        </p:txBody>
      </p:sp>
      <p:sp>
        <p:nvSpPr>
          <p:cNvPr id="13" name="Rounded Rectangle 12"/>
          <p:cNvSpPr/>
          <p:nvPr/>
        </p:nvSpPr>
        <p:spPr>
          <a:xfrm>
            <a:off x="6217920" y="1371600"/>
            <a:ext cx="256032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389888"/>
            <a:ext cx="246888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0" y="1508760"/>
            <a:ext cx="2194560" cy="4526280"/>
          </a:xfrm>
          <a:prstGeom prst="rect">
            <a:avLst/>
          </a:prstGeom>
          <a:noFill/>
        </p:spPr>
        <p:txBody>
          <a:bodyPr wrap="square">
            <a:spAutoFit/>
          </a:bodyPr>
          <a:lstStyle/>
          <a:p>
            <a:pPr>
              <a:defRPr sz="1400" b="1">
                <a:solidFill>
                  <a:srgbClr val="0A254A"/>
                </a:solidFill>
              </a:defRPr>
            </a:pPr>
            <a:r>
              <a:t>3. KIẾN TRÚC &amp; DỰ TOÁN CHI PHÍ</a:t>
            </a:r>
          </a:p>
          <a:p>
            <a:pPr>
              <a:spcAft>
                <a:spcPts val="600"/>
              </a:spcAft>
              <a:defRPr sz="1050">
                <a:solidFill>
                  <a:srgbClr val="64748B"/>
                </a:solidFill>
              </a:defRPr>
            </a:pPr>
            <a:r>
              <a:t>Chủ động trước khi gặp NCC</a:t>
            </a:r>
          </a:p>
          <a:p>
            <a:pPr>
              <a:spcAft>
                <a:spcPts val="600"/>
              </a:spcAft>
              <a:defRPr sz="1100">
                <a:solidFill>
                  <a:srgbClr val="1A2639"/>
                </a:solidFill>
              </a:defRPr>
            </a:pPr>
            <a:r>
              <a:t>• Cty tự nắm khung kiến trúc lõi để không bị NCC 'vẽ' thêm tính năng tốn tiền.</a:t>
            </a:r>
            <a:br/>
            <a:r>
              <a:t>• Dự toán trọn gói: Khoảng 350 - 550 triệu VNĐ (tùy phạm vi báo cáo Power BI).</a:t>
            </a:r>
            <a:br/>
            <a:r>
              <a:t>• Tận dụng tối đa hạ tầng TCT để tiết kiệm tiền tỷ tiền máy chủ/bản quyền.</a:t>
            </a:r>
          </a:p>
        </p:txBody>
      </p:sp>
      <p:sp>
        <p:nvSpPr>
          <p:cNvPr id="16" name="Rounded Rectangle 15"/>
          <p:cNvSpPr/>
          <p:nvPr/>
        </p:nvSpPr>
        <p:spPr>
          <a:xfrm>
            <a:off x="8961120" y="1371600"/>
            <a:ext cx="256032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06840" y="1389888"/>
            <a:ext cx="2468880" cy="73152"/>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0" y="1508760"/>
            <a:ext cx="2194560" cy="4526280"/>
          </a:xfrm>
          <a:prstGeom prst="rect">
            <a:avLst/>
          </a:prstGeom>
          <a:noFill/>
        </p:spPr>
        <p:txBody>
          <a:bodyPr wrap="square">
            <a:spAutoFit/>
          </a:bodyPr>
          <a:lstStyle/>
          <a:p>
            <a:pPr>
              <a:defRPr sz="1400" b="1">
                <a:solidFill>
                  <a:srgbClr val="0A254A"/>
                </a:solidFill>
              </a:defRPr>
            </a:pPr>
            <a:r>
              <a:t>4. KẾ HOẠCH THỰC HIỆN CỤ THỂ</a:t>
            </a:r>
          </a:p>
          <a:p>
            <a:pPr>
              <a:spcAft>
                <a:spcPts val="600"/>
              </a:spcAft>
              <a:defRPr sz="1050">
                <a:solidFill>
                  <a:srgbClr val="64748B"/>
                </a:solidFill>
              </a:defRPr>
            </a:pPr>
            <a:r>
              <a:t>Phân kỳ 3 Giai đoạn rõ ràng</a:t>
            </a:r>
          </a:p>
          <a:p>
            <a:pPr>
              <a:spcAft>
                <a:spcPts val="600"/>
              </a:spcAft>
              <a:defRPr sz="1100">
                <a:solidFill>
                  <a:srgbClr val="1A2639"/>
                </a:solidFill>
              </a:defRPr>
            </a:pPr>
            <a:r>
              <a:t>• Giai đoạn 1 (Tháng 1-2): Khảo sát nội bộ &amp; chuẩn hóa Master Data (0 VNĐ).</a:t>
            </a:r>
            <a:br/>
            <a:r>
              <a:t>• Giai đoạn 2 (Tháng 3-5): Thuê NCC triển khai Trục tích hợp &amp; kết nối TCT.</a:t>
            </a:r>
            <a:br/>
            <a:r>
              <a:t>• Giai đoạn 3 (Tháng 6 trở đi): Nghiệm thu, bàn giao mã nguồn, đào tạo IT làm chủ.</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CĂN CỨ KỸ THUẬT VÀ QUẢN TRỊ ĐỂ LỰA CHỌN PHƯƠNG ÁN TỐI ƯU</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1. SO SÁNH 2 PHƯƠNG ÁN: THUÊ TCT HAY PHÁT TRIỂN RIÊNG ĐỒNG BỘ TCT?</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graphicFrame>
        <p:nvGraphicFramePr>
          <p:cNvPr id="7" name="Table 6"/>
          <p:cNvGraphicFramePr>
            <a:graphicFrameLocks noGrp="1"/>
          </p:cNvGraphicFramePr>
          <p:nvPr/>
        </p:nvGraphicFramePr>
        <p:xfrm>
          <a:off x="731520" y="1371600"/>
          <a:ext cx="10728655" cy="4754880"/>
        </p:xfrm>
        <a:graphic>
          <a:graphicData uri="http://schemas.openxmlformats.org/drawingml/2006/table">
            <a:tbl>
              <a:tblPr firstRow="1" bandRow="1">
                <a:tableStyleId>{5C22544A-7EE6-4342-B048-85BDC9FD1C3A}</a:tableStyleId>
              </a:tblPr>
              <a:tblGrid>
                <a:gridCol w="2194560"/>
                <a:gridCol w="4206240"/>
                <a:gridCol w="4327855"/>
              </a:tblGrid>
              <a:tr h="792480">
                <a:tc>
                  <a:txBody>
                    <a:bodyPr/>
                    <a:lstStyle/>
                    <a:p>
                      <a:pPr algn="ctr">
                        <a:defRPr b="1" sz="1250">
                          <a:solidFill>
                            <a:srgbClr val="FFFFFF"/>
                          </a:solidFill>
                        </a:defRPr>
                      </a:pPr>
                      <a:r>
                        <a:t>Tiêu chí đánh giá</a:t>
                      </a:r>
                    </a:p>
                  </a:txBody>
                  <a:tcPr>
                    <a:solidFill>
                      <a:srgbClr val="0A254A"/>
                    </a:solidFill>
                  </a:tcPr>
                </a:tc>
                <a:tc>
                  <a:txBody>
                    <a:bodyPr/>
                    <a:lstStyle/>
                    <a:p>
                      <a:pPr algn="ctr">
                        <a:defRPr b="1" sz="1250">
                          <a:solidFill>
                            <a:srgbClr val="FFFFFF"/>
                          </a:solidFill>
                        </a:defRPr>
                      </a:pPr>
                      <a:r>
                        <a:t>Phương án 1: Thuê dịch vụ trọn gói từ TCT</a:t>
                      </a:r>
                    </a:p>
                  </a:txBody>
                  <a:tcPr>
                    <a:solidFill>
                      <a:srgbClr val="0A254A"/>
                    </a:solidFill>
                  </a:tcPr>
                </a:tc>
                <a:tc>
                  <a:txBody>
                    <a:bodyPr/>
                    <a:lstStyle/>
                    <a:p>
                      <a:pPr algn="ctr">
                        <a:defRPr b="1" sz="1250">
                          <a:solidFill>
                            <a:srgbClr val="FFFFFF"/>
                          </a:solidFill>
                        </a:defRPr>
                      </a:pPr>
                      <a:r>
                        <a:t>Phương án 2: Phát triển riêng đồng bộ TCT (ĐỀ XUẤT)</a:t>
                      </a:r>
                    </a:p>
                  </a:txBody>
                  <a:tcPr>
                    <a:solidFill>
                      <a:srgbClr val="10955D"/>
                    </a:solidFill>
                  </a:tcPr>
                </a:tc>
              </a:tr>
              <a:tr h="792480">
                <a:tc>
                  <a:txBody>
                    <a:bodyPr/>
                    <a:lstStyle/>
                    <a:p>
                      <a:pPr>
                        <a:defRPr sz="1050" b="1">
                          <a:solidFill>
                            <a:srgbClr val="0A254A"/>
                          </a:solidFill>
                        </a:defRPr>
                      </a:pPr>
                      <a:r>
                        <a:t>Nguồn lực &amp; Khả năng hỗ trợ từ TCT</a:t>
                      </a:r>
                    </a:p>
                  </a:txBody>
                  <a:tcPr>
                    <a:solidFill>
                      <a:srgbClr val="F1F5F9"/>
                    </a:solidFill>
                  </a:tcPr>
                </a:tc>
                <a:tc>
                  <a:txBody>
                    <a:bodyPr/>
                    <a:lstStyle/>
                    <a:p>
                      <a:pPr>
                        <a:defRPr sz="1050" b="0">
                          <a:solidFill>
                            <a:srgbClr val="1A2639"/>
                          </a:solidFill>
                        </a:defRPr>
                      </a:pPr>
                      <a:r>
                        <a:t>• BẤT KHẢ THI: Ban CNTT của TCT chỉ phụ trách hạ tầng lõi Hub chung toàn tổng.</a:t>
                      </a:r>
                      <a:br/>
                      <a:r>
                        <a:t>• TCT không có đủ nhân sự để xuống tận Quảng Ngãi khảo sát từng CSDL kế toán, vật tư riêng lẻ của mình.</a:t>
                      </a:r>
                    </a:p>
                  </a:txBody>
                  <a:tcPr>
                    <a:solidFill>
                      <a:srgbClr val="FFFFFF"/>
                    </a:solidFill>
                  </a:tcPr>
                </a:tc>
                <a:tc>
                  <a:txBody>
                    <a:bodyPr/>
                    <a:lstStyle/>
                    <a:p>
                      <a:pPr>
                        <a:defRPr sz="1050" b="0">
                          <a:solidFill>
                            <a:srgbClr val="1A2639"/>
                          </a:solidFill>
                        </a:defRPr>
                      </a:pPr>
                      <a:r>
                        <a:t>• KHẢ THI CAO: Thuê Nhà cung cấp (NCC) chuyên nghiệp làm việc trực tiếp tại Quảng Ngãi để đấu nối các phần mềm đặc thù của đơn vị.</a:t>
                      </a:r>
                    </a:p>
                  </a:txBody>
                  <a:tcPr>
                    <a:solidFill>
                      <a:srgbClr val="FFFFFF"/>
                    </a:solidFill>
                  </a:tcPr>
                </a:tc>
              </a:tr>
              <a:tr h="792480">
                <a:tc>
                  <a:txBody>
                    <a:bodyPr/>
                    <a:lstStyle/>
                    <a:p>
                      <a:pPr>
                        <a:defRPr sz="1050" b="1">
                          <a:solidFill>
                            <a:srgbClr val="0A254A"/>
                          </a:solidFill>
                        </a:defRPr>
                      </a:pPr>
                      <a:r>
                        <a:t>Tính chủ động &amp; Tiến độ triển khai</a:t>
                      </a:r>
                    </a:p>
                  </a:txBody>
                  <a:tcPr>
                    <a:solidFill>
                      <a:srgbClr val="F1F5F9"/>
                    </a:solidFill>
                  </a:tcPr>
                </a:tc>
                <a:tc>
                  <a:txBody>
                    <a:bodyPr/>
                    <a:lstStyle/>
                    <a:p>
                      <a:pPr>
                        <a:defRPr sz="1050" b="0">
                          <a:solidFill>
                            <a:srgbClr val="1A2639"/>
                          </a:solidFill>
                        </a:defRPr>
                      </a:pPr>
                      <a:r>
                        <a:t>• Rất bị động. Phải xếp hàng chờ TCT triển khai lần lượt cho hàng chục đơn vị thành viên khác.</a:t>
                      </a:r>
                      <a:br/>
                      <a:r>
                        <a:t>• Chắc chắn trễ hạn mốc năm 2026 do HĐQT giao.</a:t>
                      </a:r>
                    </a:p>
                  </a:txBody>
                  <a:tcPr>
                    <a:solidFill>
                      <a:srgbClr val="FFFFFF"/>
                    </a:solidFill>
                  </a:tcPr>
                </a:tc>
                <a:tc>
                  <a:txBody>
                    <a:bodyPr/>
                    <a:lstStyle/>
                    <a:p>
                      <a:pPr>
                        <a:defRPr sz="1050" b="0">
                          <a:solidFill>
                            <a:srgbClr val="1A2639"/>
                          </a:solidFill>
                        </a:defRPr>
                      </a:pPr>
                      <a:r>
                        <a:t>• Chủ động 100%. Đơn vị kiểm soát tiến độ, cam kết hoàn thành đường ống dữ liệu trong 3 - 4 tháng.</a:t>
                      </a:r>
                    </a:p>
                  </a:txBody>
                  <a:tcPr>
                    <a:solidFill>
                      <a:srgbClr val="FFFFFF"/>
                    </a:solidFill>
                  </a:tcPr>
                </a:tc>
              </a:tr>
              <a:tr h="792480">
                <a:tc>
                  <a:txBody>
                    <a:bodyPr/>
                    <a:lstStyle/>
                    <a:p>
                      <a:pPr>
                        <a:defRPr sz="1050" b="1">
                          <a:solidFill>
                            <a:srgbClr val="0A254A"/>
                          </a:solidFill>
                        </a:defRPr>
                      </a:pPr>
                      <a:r>
                        <a:t>Đáp ứng nhu cầu quản trị của Ban Giám đốc QN</a:t>
                      </a:r>
                    </a:p>
                  </a:txBody>
                  <a:tcPr>
                    <a:solidFill>
                      <a:srgbClr val="F1F5F9"/>
                    </a:solidFill>
                  </a:tcPr>
                </a:tc>
                <a:tc>
                  <a:txBody>
                    <a:bodyPr/>
                    <a:lstStyle/>
                    <a:p>
                      <a:pPr>
                        <a:defRPr sz="1050" b="0">
                          <a:solidFill>
                            <a:srgbClr val="1A2639"/>
                          </a:solidFill>
                        </a:defRPr>
                      </a:pPr>
                      <a:r>
                        <a:t>• Kém linh hoạt: TCT chỉ xây báo cáo phục vụ cấp Tập đoàn (số liệu tài chính vĩ mô).</a:t>
                      </a:r>
                      <a:br/>
                      <a:r>
                        <a:t>• Không phục vụ được các bài toán quản trị chi tiết của QN (vật tư tồn xưởng, nhân công dự án...).</a:t>
                      </a:r>
                    </a:p>
                  </a:txBody>
                  <a:tcPr>
                    <a:solidFill>
                      <a:srgbClr val="FFFFFF"/>
                    </a:solidFill>
                  </a:tcPr>
                </a:tc>
                <a:tc>
                  <a:txBody>
                    <a:bodyPr/>
                    <a:lstStyle/>
                    <a:p>
                      <a:pPr>
                        <a:defRPr sz="1050" b="0">
                          <a:solidFill>
                            <a:srgbClr val="1A2639"/>
                          </a:solidFill>
                        </a:defRPr>
                      </a:pPr>
                      <a:r>
                        <a:t>• Tối ưu riêng: Vừa đồng bộ báo cáo cho TCT, vừa tùy biến xây dựng Dashboard quản trị chuyên sâu phục vụ đúng các bài toán điều hành của Ban Giám đốc QN.</a:t>
                      </a:r>
                    </a:p>
                  </a:txBody>
                  <a:tcPr>
                    <a:solidFill>
                      <a:srgbClr val="FFFFFF"/>
                    </a:solidFill>
                  </a:tcPr>
                </a:tc>
              </a:tr>
              <a:tr h="792480">
                <a:tc>
                  <a:txBody>
                    <a:bodyPr/>
                    <a:lstStyle/>
                    <a:p>
                      <a:pPr>
                        <a:defRPr sz="1050" b="1">
                          <a:solidFill>
                            <a:srgbClr val="0A254A"/>
                          </a:solidFill>
                        </a:defRPr>
                      </a:pPr>
                      <a:r>
                        <a:t>Bản quyền &amp; Chi phí duy trì</a:t>
                      </a:r>
                    </a:p>
                  </a:txBody>
                  <a:tcPr>
                    <a:solidFill>
                      <a:srgbClr val="F1F5F9"/>
                    </a:solidFill>
                  </a:tcPr>
                </a:tc>
                <a:tc>
                  <a:txBody>
                    <a:bodyPr/>
                    <a:lstStyle/>
                    <a:p>
                      <a:pPr>
                        <a:defRPr sz="1050" b="0">
                          <a:solidFill>
                            <a:srgbClr val="1A2639"/>
                          </a:solidFill>
                        </a:defRPr>
                      </a:pPr>
                      <a:r>
                        <a:t>• Phải trả phí dịch vụ duy trì hàng năm cho TCT hoặc gánh phân bổ chi phí phần mềm lớn từ TCT.</a:t>
                      </a:r>
                    </a:p>
                  </a:txBody>
                  <a:tcPr>
                    <a:solidFill>
                      <a:srgbClr val="FFFFFF"/>
                    </a:solidFill>
                  </a:tcPr>
                </a:tc>
                <a:tc>
                  <a:txBody>
                    <a:bodyPr/>
                    <a:lstStyle/>
                    <a:p>
                      <a:pPr>
                        <a:defRPr sz="1050" b="0">
                          <a:solidFill>
                            <a:srgbClr val="1A2639"/>
                          </a:solidFill>
                        </a:defRPr>
                      </a:pPr>
                      <a:r>
                        <a:t>• Tận dụng miễn phí không gian Cloud do TCT đã mua sẵn, chỉ chi trả 1 lần tiền triển khai ban đầu cho NCC.</a:t>
                      </a:r>
                    </a:p>
                  </a:txBody>
                  <a:tcPr>
                    <a:solidFill>
                      <a:srgbClr val="FFFFFF"/>
                    </a:solidFill>
                  </a:tcPr>
                </a:tc>
              </a:tr>
              <a:tr h="792480">
                <a:tc>
                  <a:txBody>
                    <a:bodyPr/>
                    <a:lstStyle/>
                    <a:p>
                      <a:pPr>
                        <a:defRPr sz="1050" b="1">
                          <a:solidFill>
                            <a:srgbClr val="10955D"/>
                          </a:solidFill>
                        </a:defRPr>
                      </a:pPr>
                      <a:r>
                        <a:t>KẾT LUẬN &amp; ĐỀ XUẤT</a:t>
                      </a:r>
                    </a:p>
                  </a:txBody>
                  <a:tcPr>
                    <a:solidFill>
                      <a:srgbClr val="DCFCE7"/>
                    </a:solidFill>
                  </a:tcPr>
                </a:tc>
                <a:tc>
                  <a:txBody>
                    <a:bodyPr/>
                    <a:lstStyle/>
                    <a:p>
                      <a:pPr>
                        <a:defRPr sz="1050" b="1">
                          <a:solidFill>
                            <a:srgbClr val="D13535"/>
                          </a:solidFill>
                        </a:defRPr>
                      </a:pPr>
                      <a:r>
                        <a:t>❌ KHÔNG KHẢ THI VỀ TIẾN ĐỘ VÀ NGUỒN LỰC TCT</a:t>
                      </a:r>
                    </a:p>
                  </a:txBody>
                  <a:tcPr>
                    <a:solidFill>
                      <a:srgbClr val="FEE2E2"/>
                    </a:solidFill>
                  </a:tcPr>
                </a:tc>
                <a:tc>
                  <a:txBody>
                    <a:bodyPr/>
                    <a:lstStyle/>
                    <a:p>
                      <a:pPr>
                        <a:defRPr sz="1050" b="1">
                          <a:solidFill>
                            <a:srgbClr val="10955D"/>
                          </a:solidFill>
                        </a:defRPr>
                      </a:pPr>
                      <a:r>
                        <a:t>✔ CHỌN PHƯƠNG ÁN 2 (CẦN SỰ TƯ VẤN CỦA NCC)</a:t>
                      </a:r>
                    </a:p>
                  </a:txBody>
                  <a:tcPr>
                    <a:solidFill>
                      <a:srgbClr val="DCFCE7"/>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KHUNG KIẾN TRÚC CHỦ ĐỘNG XÂY DỰNG TRƯỚC KHI LÀM VIỆC VỚI NCC</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2. MÔ HÌNH TỔNG QUAN KIẾN TRÚC DỮ LIỆU CÔNG TY</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sp>
        <p:nvSpPr>
          <p:cNvPr id="7" name="Rounded Rectangle 6"/>
          <p:cNvSpPr/>
          <p:nvPr/>
        </p:nvSpPr>
        <p:spPr>
          <a:xfrm>
            <a:off x="7315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3017520" cy="4526280"/>
          </a:xfrm>
          <a:prstGeom prst="rect">
            <a:avLst/>
          </a:prstGeom>
          <a:noFill/>
        </p:spPr>
        <p:txBody>
          <a:bodyPr wrap="square">
            <a:spAutoFit/>
          </a:bodyPr>
          <a:lstStyle/>
          <a:p>
            <a:pPr>
              <a:defRPr sz="1400" b="1">
                <a:solidFill>
                  <a:srgbClr val="0A254A"/>
                </a:solidFill>
              </a:defRPr>
            </a:pPr>
            <a:r>
              <a:t>TẦNG 1: NGUỒN DỮ LIỆU NỘI BỘ</a:t>
            </a:r>
            <a:br/>
            <a:r>
              <a:t>(Operational Source Data)</a:t>
            </a:r>
          </a:p>
          <a:p>
            <a:pPr>
              <a:spcAft>
                <a:spcPts val="600"/>
              </a:spcAft>
              <a:defRPr sz="1050">
                <a:solidFill>
                  <a:srgbClr val="64748B"/>
                </a:solidFill>
              </a:defRPr>
            </a:pPr>
            <a:r>
              <a:t>Cơ sở dữ liệu các phần mềm hiện hữu</a:t>
            </a:r>
          </a:p>
          <a:p>
            <a:pPr>
              <a:spcAft>
                <a:spcPts val="600"/>
              </a:spcAft>
              <a:defRPr sz="1100" b="0">
                <a:solidFill>
                  <a:srgbClr val="1A2639"/>
                </a:solidFill>
              </a:defRPr>
            </a:pPr>
            <a:r>
              <a:t>• Phần mềm Kế toán - Tài chính (SQL Server/Oracle)</a:t>
            </a:r>
          </a:p>
          <a:p>
            <a:pPr>
              <a:spcAft>
                <a:spcPts val="600"/>
              </a:spcAft>
              <a:defRPr sz="1100" b="0">
                <a:solidFill>
                  <a:srgbClr val="1A2639"/>
                </a:solidFill>
              </a:defRPr>
            </a:pPr>
            <a:r>
              <a:t>• Phần mềm Quản lý Vật tư &amp; Thiết bị xưởng</a:t>
            </a:r>
          </a:p>
          <a:p>
            <a:pPr>
              <a:spcAft>
                <a:spcPts val="600"/>
              </a:spcAft>
              <a:defRPr sz="1100" b="0">
                <a:solidFill>
                  <a:srgbClr val="1A2639"/>
                </a:solidFill>
              </a:defRPr>
            </a:pPr>
            <a:r>
              <a:t>• Phần mềm Quản lý Nhân sự - Chấm công</a:t>
            </a:r>
          </a:p>
          <a:p>
            <a:pPr>
              <a:spcAft>
                <a:spcPts val="600"/>
              </a:spcAft>
              <a:defRPr sz="1100" b="0">
                <a:solidFill>
                  <a:srgbClr val="1A2639"/>
                </a:solidFill>
              </a:defRPr>
            </a:pPr>
            <a:r>
              <a:t>• Hệ thống Quản lý Hợp đồng &amp; Dự án thi công</a:t>
            </a:r>
          </a:p>
          <a:p>
            <a:pPr>
              <a:spcAft>
                <a:spcPts val="600"/>
              </a:spcAft>
              <a:defRPr sz="1100" b="0">
                <a:solidFill>
                  <a:srgbClr val="1A2639"/>
                </a:solidFill>
              </a:defRPr>
            </a:pPr>
            <a:r>
              <a:t>• Các file dữ liệu Excel quản lý chuyên biệt</a:t>
            </a:r>
          </a:p>
        </p:txBody>
      </p:sp>
      <p:sp>
        <p:nvSpPr>
          <p:cNvPr id="10" name="Rounded Rectangle 9"/>
          <p:cNvSpPr/>
          <p:nvPr/>
        </p:nvSpPr>
        <p:spPr>
          <a:xfrm>
            <a:off x="43891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389888"/>
            <a:ext cx="3291840" cy="73152"/>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08760"/>
            <a:ext cx="3017520" cy="4526280"/>
          </a:xfrm>
          <a:prstGeom prst="rect">
            <a:avLst/>
          </a:prstGeom>
          <a:noFill/>
        </p:spPr>
        <p:txBody>
          <a:bodyPr wrap="square">
            <a:spAutoFit/>
          </a:bodyPr>
          <a:lstStyle/>
          <a:p>
            <a:pPr>
              <a:defRPr sz="1400" b="1">
                <a:solidFill>
                  <a:srgbClr val="0A254A"/>
                </a:solidFill>
              </a:defRPr>
            </a:pPr>
            <a:r>
              <a:t>TẦNG 2: VÙNG XỬ LÝ &amp; TRẠM TRUNG CHUYỂN</a:t>
            </a:r>
            <a:br/>
            <a:r>
              <a:t>(Integration &amp; Staging Area)</a:t>
            </a:r>
          </a:p>
          <a:p>
            <a:pPr>
              <a:spcAft>
                <a:spcPts val="600"/>
              </a:spcAft>
              <a:defRPr sz="1050">
                <a:solidFill>
                  <a:srgbClr val="64748B"/>
                </a:solidFill>
              </a:defRPr>
            </a:pPr>
            <a:r>
              <a:t>Trọng tâm phát triển riêng (Cần NCC)</a:t>
            </a:r>
          </a:p>
          <a:p>
            <a:pPr>
              <a:spcAft>
                <a:spcPts val="600"/>
              </a:spcAft>
              <a:defRPr sz="1100" b="0">
                <a:solidFill>
                  <a:srgbClr val="1A2639"/>
                </a:solidFill>
              </a:defRPr>
            </a:pPr>
            <a:r>
              <a:t>• Máy chủ ảo (VM) làm Trạm trung chuyển dữ liệu</a:t>
            </a:r>
          </a:p>
          <a:p>
            <a:pPr>
              <a:spcAft>
                <a:spcPts val="600"/>
              </a:spcAft>
              <a:defRPr sz="1100" b="0">
                <a:solidFill>
                  <a:srgbClr val="1A2639"/>
                </a:solidFill>
              </a:defRPr>
            </a:pPr>
            <a:r>
              <a:t>• Module Ánh xạ: Quy đổi sang 29 Master Data của TCT</a:t>
            </a:r>
          </a:p>
          <a:p>
            <a:pPr>
              <a:spcAft>
                <a:spcPts val="600"/>
              </a:spcAft>
              <a:defRPr sz="1100" b="0">
                <a:solidFill>
                  <a:srgbClr val="1A2639"/>
                </a:solidFill>
              </a:defRPr>
            </a:pPr>
            <a:r>
              <a:t>• Module Kiểm tra chất lượng dữ liệu (Data Quality)</a:t>
            </a:r>
          </a:p>
          <a:p>
            <a:pPr>
              <a:spcAft>
                <a:spcPts val="600"/>
              </a:spcAft>
              <a:defRPr sz="1100" b="0">
                <a:solidFill>
                  <a:srgbClr val="1A2639"/>
                </a:solidFill>
              </a:defRPr>
            </a:pPr>
            <a:r>
              <a:t>• Đường ống tự động ETL/ELT (Trích xuất - Đóng gói)</a:t>
            </a:r>
          </a:p>
          <a:p>
            <a:pPr>
              <a:spcAft>
                <a:spcPts val="600"/>
              </a:spcAft>
              <a:defRPr sz="1100" b="0">
                <a:solidFill>
                  <a:srgbClr val="1A2639"/>
                </a:solidFill>
              </a:defRPr>
            </a:pPr>
            <a:r>
              <a:t>• Lưu trữ vùng đệm an toàn (Staging Database)</a:t>
            </a:r>
          </a:p>
        </p:txBody>
      </p:sp>
      <p:sp>
        <p:nvSpPr>
          <p:cNvPr id="13" name="Rounded Rectangle 12"/>
          <p:cNvSpPr/>
          <p:nvPr/>
        </p:nvSpPr>
        <p:spPr>
          <a:xfrm>
            <a:off x="80467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389888"/>
            <a:ext cx="3291840" cy="73152"/>
          </a:xfrm>
          <a:prstGeom prst="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508760"/>
            <a:ext cx="3017520" cy="4526280"/>
          </a:xfrm>
          <a:prstGeom prst="rect">
            <a:avLst/>
          </a:prstGeom>
          <a:noFill/>
        </p:spPr>
        <p:txBody>
          <a:bodyPr wrap="square">
            <a:spAutoFit/>
          </a:bodyPr>
          <a:lstStyle/>
          <a:p>
            <a:pPr>
              <a:defRPr sz="1400" b="1">
                <a:solidFill>
                  <a:srgbClr val="0A254A"/>
                </a:solidFill>
              </a:defRPr>
            </a:pPr>
            <a:r>
              <a:t>TẦNG 3: TẦNG PHỤC VỤ &amp; ĐỒNG BỘ</a:t>
            </a:r>
            <a:br/>
            <a:r>
              <a:t>(Serving &amp; Synchronization)</a:t>
            </a:r>
          </a:p>
          <a:p>
            <a:pPr>
              <a:spcAft>
                <a:spcPts val="600"/>
              </a:spcAft>
              <a:defRPr sz="1050">
                <a:solidFill>
                  <a:srgbClr val="64748B"/>
                </a:solidFill>
              </a:defRPr>
            </a:pPr>
            <a:r>
              <a:t>Đầu ra phục vụ BGĐ và Tổng Công Ty</a:t>
            </a:r>
          </a:p>
          <a:p>
            <a:pPr>
              <a:spcAft>
                <a:spcPts val="600"/>
              </a:spcAft>
              <a:defRPr sz="1100" b="1">
                <a:solidFill>
                  <a:srgbClr val="0052CC"/>
                </a:solidFill>
              </a:defRPr>
            </a:pPr>
            <a:r>
              <a:t>ĐẦU RA 1 - ĐỒNG BỘ TỔNG CÔNG TY:</a:t>
            </a:r>
            <a:br/>
            <a:r>
              <a:t>• Bơm qua VPN an toàn vào Workspace L3 trên Microsoft Fabric của TCT.</a:t>
            </a:r>
          </a:p>
          <a:p>
            <a:pPr>
              <a:spcAft>
                <a:spcPts val="600"/>
              </a:spcAft>
              <a:defRPr sz="1100" b="1">
                <a:solidFill>
                  <a:srgbClr val="0052CC"/>
                </a:solidFill>
              </a:defRPr>
            </a:pPr>
            <a:r>
              <a:t>ĐẦU RA 2 - PHỤC VỤ BAN GIÁM ĐỐC QN:</a:t>
            </a:r>
            <a:br/>
            <a:r>
              <a:t>• Bộ Dashboard Power BI quản trị theo thời gian thực (Doanh thu, dòng tiền, nhân lực, tồn kho).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CHI TIẾT KỸ THUẬT KẾT NỐI - NỘI DUNG ƯU TIÊN CAO THEO CHỈ ĐẠO</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3. TRỤC TÍCH HỢP PHẦN MỀM CÔNG TY VS TCT HOẠT ĐỘNG THẾ NÀO?</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sp>
        <p:nvSpPr>
          <p:cNvPr id="7" name="Rounded Rectangle 6"/>
          <p:cNvSpPr/>
          <p:nvPr/>
        </p:nvSpPr>
        <p:spPr>
          <a:xfrm>
            <a:off x="731520" y="1371600"/>
            <a:ext cx="685800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6766560" cy="73152"/>
          </a:xfrm>
          <a:prstGeom prst="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6492240" cy="4526280"/>
          </a:xfrm>
          <a:prstGeom prst="rect">
            <a:avLst/>
          </a:prstGeom>
          <a:noFill/>
        </p:spPr>
        <p:txBody>
          <a:bodyPr wrap="square">
            <a:spAutoFit/>
          </a:bodyPr>
          <a:lstStyle/>
          <a:p>
            <a:pPr>
              <a:defRPr sz="1400" b="1">
                <a:solidFill>
                  <a:srgbClr val="0A254A"/>
                </a:solidFill>
              </a:defRPr>
            </a:pPr>
            <a:r>
              <a:t>Cơ chế vận hành của Trục Tích hợp (Data Integration Hub)</a:t>
            </a:r>
          </a:p>
          <a:p>
            <a:pPr>
              <a:spcAft>
                <a:spcPts val="600"/>
              </a:spcAft>
              <a:defRPr sz="1050">
                <a:solidFill>
                  <a:srgbClr val="64748B"/>
                </a:solidFill>
              </a:defRPr>
            </a:pPr>
            <a:r>
              <a:t>NGUYÊN LÝ 4 BƯỚC TỰ ĐỘNG HÓA HOÀN TOÀN</a:t>
            </a:r>
          </a:p>
          <a:p>
            <a:pPr>
              <a:spcAft>
                <a:spcPts val="800"/>
              </a:spcAft>
            </a:pPr>
            <a:r>
              <a:rPr b="1" sz="1150">
                <a:solidFill>
                  <a:srgbClr val="0A254A"/>
                </a:solidFill>
              </a:rPr>
              <a:t>BƯỚC 1: KẾT NỐI AN TOÀN NỘI BỘ (Read-Only)
</a:t>
            </a:r>
            <a:r>
              <a:rPr sz="1050">
                <a:solidFill>
                  <a:srgbClr val="1A2639"/>
                </a:solidFill>
              </a:rPr>
              <a:t>Trục tích hợp chỉ kết nối với các phần mềm Kế toán, Nhân sự, Vật tư ở chế độ CHỈ ĐỌC (hoặc qua các View/API trung gian). Tuyệt đối không can thiệp hay làm chậm hệ thống đang sản xuất.</a:t>
            </a:r>
          </a:p>
          <a:p>
            <a:pPr>
              <a:spcAft>
                <a:spcPts val="800"/>
              </a:spcAft>
            </a:pPr>
            <a:r>
              <a:rPr b="1" sz="1150">
                <a:solidFill>
                  <a:srgbClr val="0A254A"/>
                </a:solidFill>
              </a:rPr>
              <a:t>BƯỚC 2: BỘ LỌC VÀ QUY ĐỔI MASTER DATA (ETL Engine)
</a:t>
            </a:r>
            <a:r>
              <a:rPr sz="1050">
                <a:solidFill>
                  <a:srgbClr val="1A2639"/>
                </a:solidFill>
              </a:rPr>
              <a:t>Dữ liệu thô được đưa qua module chuẩn hóa: Tự động ánh xạ mã nhân viên, mã vật tư, mã dự án của QN khớp chính xác với 29 bộ danh mục Master Data do TCT quy định.</a:t>
            </a:r>
          </a:p>
          <a:p>
            <a:pPr>
              <a:spcAft>
                <a:spcPts val="800"/>
              </a:spcAft>
            </a:pPr>
            <a:r>
              <a:rPr b="1" sz="1150">
                <a:solidFill>
                  <a:srgbClr val="0A254A"/>
                </a:solidFill>
              </a:rPr>
              <a:t>BƯỚC 3: MÃ HÓA VÀ TRUYỀN DẪN QUA VPN BẢO MẬT
</a:t>
            </a:r>
            <a:r>
              <a:rPr sz="1050">
                <a:solidFill>
                  <a:srgbClr val="1A2639"/>
                </a:solidFill>
              </a:rPr>
              <a:t>Gói dữ liệu đã làm sạch được mã hóa bảo mật chuẩn ngân hàng (AES-256) và đẩy qua đường hầm mạng riêng (VPN Site-to-Site) nối thẳng về Trung tâm Dữ liệu của TCT.</a:t>
            </a:r>
          </a:p>
          <a:p>
            <a:pPr>
              <a:spcAft>
                <a:spcPts val="800"/>
              </a:spcAft>
            </a:pPr>
            <a:r>
              <a:rPr b="1" sz="1150">
                <a:solidFill>
                  <a:srgbClr val="0A254A"/>
                </a:solidFill>
              </a:rPr>
              <a:t>BƯỚC 4: TIẾP ĐẤT VÀ TỰ ĐỘNG CẬP NHẬT BÁO CÁO
</a:t>
            </a:r>
            <a:r>
              <a:rPr sz="1050">
                <a:solidFill>
                  <a:srgbClr val="1A2639"/>
                </a:solidFill>
              </a:rPr>
              <a:t>Dữ liệu đổ vào 'Workspace L3 Quảng Ngãi' trên Cloud TCT. Từ đây, Dashboard Power BI của Ban Giám đốc tự động làm mới (refresh) mỗi ngày/mỗi tuần theo lịch hẹn.</a:t>
            </a:r>
          </a:p>
        </p:txBody>
      </p:sp>
      <p:sp>
        <p:nvSpPr>
          <p:cNvPr id="10" name="Rounded Rectangle 9"/>
          <p:cNvSpPr/>
          <p:nvPr/>
        </p:nvSpPr>
        <p:spPr>
          <a:xfrm>
            <a:off x="7955279" y="1371600"/>
            <a:ext cx="347472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8000999" y="1389888"/>
            <a:ext cx="3383280" cy="73152"/>
          </a:xfrm>
          <a:prstGeom prst="rect">
            <a:avLst/>
          </a:prstGeom>
          <a:solidFill>
            <a:srgbClr val="10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138159" y="1508760"/>
            <a:ext cx="3108960" cy="4526280"/>
          </a:xfrm>
          <a:prstGeom prst="rect">
            <a:avLst/>
          </a:prstGeom>
          <a:noFill/>
        </p:spPr>
        <p:txBody>
          <a:bodyPr wrap="square">
            <a:spAutoFit/>
          </a:bodyPr>
          <a:lstStyle/>
          <a:p>
            <a:pPr>
              <a:defRPr sz="1400" b="1">
                <a:solidFill>
                  <a:srgbClr val="0A254A"/>
                </a:solidFill>
              </a:defRPr>
            </a:pPr>
            <a:r>
              <a:t>3 Cam kết kỹ thuật then chốt</a:t>
            </a:r>
          </a:p>
          <a:p>
            <a:pPr>
              <a:spcAft>
                <a:spcPts val="600"/>
              </a:spcAft>
              <a:defRPr sz="1050">
                <a:solidFill>
                  <a:srgbClr val="64748B"/>
                </a:solidFill>
              </a:defRPr>
            </a:pPr>
            <a:r>
              <a:t>AN TOÀN TUYỆT ĐỐI CHO DOANH NGHIỆP</a:t>
            </a:r>
          </a:p>
          <a:p>
            <a:pPr>
              <a:spcAft>
                <a:spcPts val="200"/>
              </a:spcAft>
              <a:defRPr b="1" sz="1150">
                <a:solidFill>
                  <a:srgbClr val="0052CC"/>
                </a:solidFill>
              </a:defRPr>
            </a:pPr>
            <a:r>
              <a:t>1. Không lo sập phần mềm:</a:t>
            </a:r>
          </a:p>
          <a:p>
            <a:pPr>
              <a:spcAft>
                <a:spcPts val="800"/>
              </a:spcAft>
              <a:defRPr sz="1050">
                <a:solidFill>
                  <a:srgbClr val="1A2639"/>
                </a:solidFill>
              </a:defRPr>
            </a:pPr>
            <a:r>
              <a:t>Trục tích hợp chạy trên máy chủ ảo riêng biệt, lấy dữ liệu vào ban đêm hoặc giờ thấp điểm, không làm chậm phần mềm kế toán.</a:t>
            </a:r>
          </a:p>
          <a:p>
            <a:pPr>
              <a:spcAft>
                <a:spcPts val="200"/>
              </a:spcAft>
              <a:defRPr b="1" sz="1150">
                <a:solidFill>
                  <a:srgbClr val="0052CC"/>
                </a:solidFill>
              </a:defRPr>
            </a:pPr>
            <a:r>
              <a:t>2. Không rò rỉ dữ liệu ra ngoài:</a:t>
            </a:r>
          </a:p>
          <a:p>
            <a:pPr>
              <a:spcAft>
                <a:spcPts val="800"/>
              </a:spcAft>
              <a:defRPr sz="1050">
                <a:solidFill>
                  <a:srgbClr val="1A2639"/>
                </a:solidFill>
              </a:defRPr>
            </a:pPr>
            <a:r>
              <a:t>Dữ liệu chỉ đi nội bộ qua đường truyền riêng VPN về TCT, không mở cổng internet công cộng, đáp ứng chuẩn an toàn thông tin TCT.</a:t>
            </a:r>
          </a:p>
          <a:p>
            <a:pPr>
              <a:spcAft>
                <a:spcPts val="200"/>
              </a:spcAft>
              <a:defRPr b="1" sz="1150">
                <a:solidFill>
                  <a:srgbClr val="0052CC"/>
                </a:solidFill>
              </a:defRPr>
            </a:pPr>
            <a:r>
              <a:t>3. Tự động cảnh báo khi lỗi:</a:t>
            </a:r>
          </a:p>
          <a:p>
            <a:pPr>
              <a:spcAft>
                <a:spcPts val="800"/>
              </a:spcAft>
              <a:defRPr sz="1050">
                <a:solidFill>
                  <a:srgbClr val="1A2639"/>
                </a:solidFill>
              </a:defRPr>
            </a:pPr>
            <a:r>
              <a:t>Nếu có sai lệch mã hoặc nghẽn mạng, hệ thống tự gửi email cảnh báo cho IT xử lý ngay lập tức.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CƠ SỞ NGÂN SÁCH ĐỂ ĐÀM PHÁN GIÁ &amp; TỐI ƯU HÓA CHI PHÍ DOANH NGHIỆP</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4. KHUNG DỰ TOÁN CHI PHÍ SƠ BỘ TRƯỚC KHI LÀM VIỆC VỚI NCC</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graphicFrame>
        <p:nvGraphicFramePr>
          <p:cNvPr id="7" name="Table 6"/>
          <p:cNvGraphicFramePr>
            <a:graphicFrameLocks noGrp="1"/>
          </p:cNvGraphicFramePr>
          <p:nvPr/>
        </p:nvGraphicFramePr>
        <p:xfrm>
          <a:off x="731520" y="1371600"/>
          <a:ext cx="10728655" cy="3474720"/>
        </p:xfrm>
        <a:graphic>
          <a:graphicData uri="http://schemas.openxmlformats.org/drawingml/2006/table">
            <a:tbl>
              <a:tblPr firstRow="1" bandRow="1">
                <a:tableStyleId>{5C22544A-7EE6-4342-B048-85BDC9FD1C3A}</a:tableStyleId>
              </a:tblPr>
              <a:tblGrid>
                <a:gridCol w="548640"/>
                <a:gridCol w="3931920"/>
                <a:gridCol w="4419295"/>
                <a:gridCol w="1828800"/>
              </a:tblGrid>
              <a:tr h="579120">
                <a:tc>
                  <a:txBody>
                    <a:bodyPr/>
                    <a:lstStyle/>
                    <a:p>
                      <a:pPr algn="ctr">
                        <a:defRPr b="1" sz="1150">
                          <a:solidFill>
                            <a:srgbClr val="FFFFFF"/>
                          </a:solidFill>
                        </a:defRPr>
                      </a:pPr>
                      <a:r>
                        <a:t>STT</a:t>
                      </a:r>
                    </a:p>
                  </a:txBody>
                  <a:tcPr>
                    <a:solidFill>
                      <a:srgbClr val="0A254A"/>
                    </a:solidFill>
                  </a:tcPr>
                </a:tc>
                <a:tc>
                  <a:txBody>
                    <a:bodyPr/>
                    <a:lstStyle/>
                    <a:p>
                      <a:pPr algn="ctr">
                        <a:defRPr b="1" sz="1150">
                          <a:solidFill>
                            <a:srgbClr val="FFFFFF"/>
                          </a:solidFill>
                        </a:defRPr>
                      </a:pPr>
                      <a:r>
                        <a:t>Hạng mục công việc</a:t>
                      </a:r>
                    </a:p>
                  </a:txBody>
                  <a:tcPr>
                    <a:solidFill>
                      <a:srgbClr val="0A254A"/>
                    </a:solidFill>
                  </a:tcPr>
                </a:tc>
                <a:tc>
                  <a:txBody>
                    <a:bodyPr/>
                    <a:lstStyle/>
                    <a:p>
                      <a:pPr algn="ctr">
                        <a:defRPr b="1" sz="1150">
                          <a:solidFill>
                            <a:srgbClr val="FFFFFF"/>
                          </a:solidFill>
                        </a:defRPr>
                      </a:pPr>
                      <a:r>
                        <a:t>Nội dung chi tiết &amp; Phạm vi thực hiện</a:t>
                      </a:r>
                    </a:p>
                  </a:txBody>
                  <a:tcPr>
                    <a:solidFill>
                      <a:srgbClr val="0A254A"/>
                    </a:solidFill>
                  </a:tcPr>
                </a:tc>
                <a:tc>
                  <a:txBody>
                    <a:bodyPr/>
                    <a:lstStyle/>
                    <a:p>
                      <a:pPr algn="ctr">
                        <a:defRPr b="1" sz="1150">
                          <a:solidFill>
                            <a:srgbClr val="FFFFFF"/>
                          </a:solidFill>
                        </a:defRPr>
                      </a:pPr>
                      <a:r>
                        <a:t>Dự toán (VNĐ)</a:t>
                      </a:r>
                    </a:p>
                  </a:txBody>
                  <a:tcPr>
                    <a:solidFill>
                      <a:srgbClr val="0A254A"/>
                    </a:solidFill>
                  </a:tcPr>
                </a:tc>
              </a:tr>
              <a:tr h="579120">
                <a:tc>
                  <a:txBody>
                    <a:bodyPr/>
                    <a:lstStyle/>
                    <a:p>
                      <a:pPr algn="ctr">
                        <a:defRPr sz="1050" b="0">
                          <a:solidFill>
                            <a:srgbClr val="1A2639"/>
                          </a:solidFill>
                        </a:defRPr>
                      </a:pPr>
                      <a:r>
                        <a:t>1</a:t>
                      </a:r>
                    </a:p>
                  </a:txBody>
                  <a:tcPr>
                    <a:solidFill>
                      <a:srgbClr val="FFFFFF"/>
                    </a:solidFill>
                  </a:tcPr>
                </a:tc>
                <a:tc>
                  <a:txBody>
                    <a:bodyPr/>
                    <a:lstStyle/>
                    <a:p>
                      <a:pPr>
                        <a:defRPr sz="1050" b="0">
                          <a:solidFill>
                            <a:srgbClr val="1A2639"/>
                          </a:solidFill>
                        </a:defRPr>
                      </a:pPr>
                      <a:r>
                        <a:t>Hạ tầng máy chủ Trạm trung chuyển</a:t>
                      </a:r>
                    </a:p>
                  </a:txBody>
                  <a:tcPr>
                    <a:solidFill>
                      <a:srgbClr val="FFFFFF"/>
                    </a:solidFill>
                  </a:tcPr>
                </a:tc>
                <a:tc>
                  <a:txBody>
                    <a:bodyPr/>
                    <a:lstStyle/>
                    <a:p>
                      <a:pPr>
                        <a:defRPr sz="1050" b="0">
                          <a:solidFill>
                            <a:srgbClr val="1A2639"/>
                          </a:solidFill>
                        </a:defRPr>
                      </a:pPr>
                      <a:r>
                        <a:t>Tận dụng máy chủ hiện hữu của Công ty, tạo 1-2 Máy chủ ảo (VM)</a:t>
                      </a:r>
                    </a:p>
                  </a:txBody>
                  <a:tcPr>
                    <a:solidFill>
                      <a:srgbClr val="FFFFFF"/>
                    </a:solidFill>
                  </a:tcPr>
                </a:tc>
                <a:tc>
                  <a:txBody>
                    <a:bodyPr/>
                    <a:lstStyle/>
                    <a:p>
                      <a:pPr algn="ctr">
                        <a:defRPr sz="1050" b="1">
                          <a:solidFill>
                            <a:srgbClr val="0052CC"/>
                          </a:solidFill>
                        </a:defRPr>
                      </a:pPr>
                      <a:r>
                        <a:t>0 VNĐ (Tự có)</a:t>
                      </a:r>
                    </a:p>
                  </a:txBody>
                  <a:tcPr>
                    <a:solidFill>
                      <a:srgbClr val="F0F9FF"/>
                    </a:solidFill>
                  </a:tcPr>
                </a:tc>
              </a:tr>
              <a:tr h="579120">
                <a:tc>
                  <a:txBody>
                    <a:bodyPr/>
                    <a:lstStyle/>
                    <a:p>
                      <a:pPr algn="ctr">
                        <a:defRPr sz="1050" b="0">
                          <a:solidFill>
                            <a:srgbClr val="1A2639"/>
                          </a:solidFill>
                        </a:defRPr>
                      </a:pPr>
                      <a:r>
                        <a:t>2</a:t>
                      </a:r>
                    </a:p>
                  </a:txBody>
                  <a:tcPr>
                    <a:solidFill>
                      <a:srgbClr val="FFFFFF"/>
                    </a:solidFill>
                  </a:tcPr>
                </a:tc>
                <a:tc>
                  <a:txBody>
                    <a:bodyPr/>
                    <a:lstStyle/>
                    <a:p>
                      <a:pPr>
                        <a:defRPr sz="1050" b="0">
                          <a:solidFill>
                            <a:srgbClr val="1A2639"/>
                          </a:solidFill>
                        </a:defRPr>
                      </a:pPr>
                      <a:r>
                        <a:t>Thuê NCC: Khảo sát &amp; Thiết kế chi tiết</a:t>
                      </a:r>
                    </a:p>
                  </a:txBody>
                  <a:tcPr>
                    <a:solidFill>
                      <a:srgbClr val="FFFFFF"/>
                    </a:solidFill>
                  </a:tcPr>
                </a:tc>
                <a:tc>
                  <a:txBody>
                    <a:bodyPr/>
                    <a:lstStyle/>
                    <a:p>
                      <a:pPr>
                        <a:defRPr sz="1050" b="0">
                          <a:solidFill>
                            <a:srgbClr val="1A2639"/>
                          </a:solidFill>
                        </a:defRPr>
                      </a:pPr>
                      <a:r>
                        <a:t>Khảo sát CSDL 4 phần mềm, thiết kế kiến trúc và bảng ánh xạ 29 Master Data</a:t>
                      </a:r>
                    </a:p>
                  </a:txBody>
                  <a:tcPr>
                    <a:solidFill>
                      <a:srgbClr val="FFFFFF"/>
                    </a:solidFill>
                  </a:tcPr>
                </a:tc>
                <a:tc>
                  <a:txBody>
                    <a:bodyPr/>
                    <a:lstStyle/>
                    <a:p>
                      <a:pPr algn="ctr">
                        <a:defRPr sz="1050" b="1">
                          <a:solidFill>
                            <a:srgbClr val="0052CC"/>
                          </a:solidFill>
                        </a:defRPr>
                      </a:pPr>
                      <a:r>
                        <a:t>80 - 120 Triệu</a:t>
                      </a:r>
                    </a:p>
                  </a:txBody>
                  <a:tcPr>
                    <a:solidFill>
                      <a:srgbClr val="F0F9FF"/>
                    </a:solidFill>
                  </a:tcPr>
                </a:tc>
              </a:tr>
              <a:tr h="579120">
                <a:tc>
                  <a:txBody>
                    <a:bodyPr/>
                    <a:lstStyle/>
                    <a:p>
                      <a:pPr algn="ctr">
                        <a:defRPr sz="1050" b="0">
                          <a:solidFill>
                            <a:srgbClr val="1A2639"/>
                          </a:solidFill>
                        </a:defRPr>
                      </a:pPr>
                      <a:r>
                        <a:t>3</a:t>
                      </a:r>
                    </a:p>
                  </a:txBody>
                  <a:tcPr>
                    <a:solidFill>
                      <a:srgbClr val="FFFFFF"/>
                    </a:solidFill>
                  </a:tcPr>
                </a:tc>
                <a:tc>
                  <a:txBody>
                    <a:bodyPr/>
                    <a:lstStyle/>
                    <a:p>
                      <a:pPr>
                        <a:defRPr sz="1050" b="0">
                          <a:solidFill>
                            <a:srgbClr val="1A2639"/>
                          </a:solidFill>
                        </a:defRPr>
                      </a:pPr>
                      <a:r>
                        <a:t>Thuê NCC: Xây dựng Trục tích hợp &amp; ETL</a:t>
                      </a:r>
                    </a:p>
                  </a:txBody>
                  <a:tcPr>
                    <a:solidFill>
                      <a:srgbClr val="FFFFFF"/>
                    </a:solidFill>
                  </a:tcPr>
                </a:tc>
                <a:tc>
                  <a:txBody>
                    <a:bodyPr/>
                    <a:lstStyle/>
                    <a:p>
                      <a:pPr>
                        <a:defRPr sz="1050" b="0">
                          <a:solidFill>
                            <a:srgbClr val="1A2639"/>
                          </a:solidFill>
                        </a:defRPr>
                      </a:pPr>
                      <a:r>
                        <a:t>Lập trình đường ống trích xuất, làm sạch, mã hóa và bơm dữ liệu lên TCT qua VPN</a:t>
                      </a:r>
                    </a:p>
                  </a:txBody>
                  <a:tcPr>
                    <a:solidFill>
                      <a:srgbClr val="FFFFFF"/>
                    </a:solidFill>
                  </a:tcPr>
                </a:tc>
                <a:tc>
                  <a:txBody>
                    <a:bodyPr/>
                    <a:lstStyle/>
                    <a:p>
                      <a:pPr algn="ctr">
                        <a:defRPr sz="1050" b="1">
                          <a:solidFill>
                            <a:srgbClr val="0052CC"/>
                          </a:solidFill>
                        </a:defRPr>
                      </a:pPr>
                      <a:r>
                        <a:t>150 - 250 Triệu</a:t>
                      </a:r>
                    </a:p>
                  </a:txBody>
                  <a:tcPr>
                    <a:solidFill>
                      <a:srgbClr val="F0F9FF"/>
                    </a:solidFill>
                  </a:tcPr>
                </a:tc>
              </a:tr>
              <a:tr h="579120">
                <a:tc>
                  <a:txBody>
                    <a:bodyPr/>
                    <a:lstStyle/>
                    <a:p>
                      <a:pPr algn="ctr">
                        <a:defRPr sz="1050" b="0">
                          <a:solidFill>
                            <a:srgbClr val="1A2639"/>
                          </a:solidFill>
                        </a:defRPr>
                      </a:pPr>
                      <a:r>
                        <a:t>4</a:t>
                      </a:r>
                    </a:p>
                  </a:txBody>
                  <a:tcPr>
                    <a:solidFill>
                      <a:srgbClr val="FFFFFF"/>
                    </a:solidFill>
                  </a:tcPr>
                </a:tc>
                <a:tc>
                  <a:txBody>
                    <a:bodyPr/>
                    <a:lstStyle/>
                    <a:p>
                      <a:pPr>
                        <a:defRPr sz="1050" b="0">
                          <a:solidFill>
                            <a:srgbClr val="1A2639"/>
                          </a:solidFill>
                        </a:defRPr>
                      </a:pPr>
                      <a:r>
                        <a:t>Thuê NCC: Xây dựng Dashboard Power BI</a:t>
                      </a:r>
                    </a:p>
                  </a:txBody>
                  <a:tcPr>
                    <a:solidFill>
                      <a:srgbClr val="FFFFFF"/>
                    </a:solidFill>
                  </a:tcPr>
                </a:tc>
                <a:tc>
                  <a:txBody>
                    <a:bodyPr/>
                    <a:lstStyle/>
                    <a:p>
                      <a:pPr>
                        <a:defRPr sz="1050" b="0">
                          <a:solidFill>
                            <a:srgbClr val="1A2639"/>
                          </a:solidFill>
                        </a:defRPr>
                      </a:pPr>
                      <a:r>
                        <a:t>Xây dựng 3-5 Bảng báo cáo quản trị thông minh theo yêu cầu riêng của Ban Giám đốc QN</a:t>
                      </a:r>
                    </a:p>
                  </a:txBody>
                  <a:tcPr>
                    <a:solidFill>
                      <a:srgbClr val="FFFFFF"/>
                    </a:solidFill>
                  </a:tcPr>
                </a:tc>
                <a:tc>
                  <a:txBody>
                    <a:bodyPr/>
                    <a:lstStyle/>
                    <a:p>
                      <a:pPr algn="ctr">
                        <a:defRPr sz="1050" b="1">
                          <a:solidFill>
                            <a:srgbClr val="0052CC"/>
                          </a:solidFill>
                        </a:defRPr>
                      </a:pPr>
                      <a:r>
                        <a:t>100 - 150 Triệu</a:t>
                      </a:r>
                    </a:p>
                  </a:txBody>
                  <a:tcPr>
                    <a:solidFill>
                      <a:srgbClr val="F0F9FF"/>
                    </a:solidFill>
                  </a:tcPr>
                </a:tc>
              </a:tr>
              <a:tr h="579120">
                <a:tc>
                  <a:txBody>
                    <a:bodyPr/>
                    <a:lstStyle/>
                    <a:p>
                      <a:pPr algn="ctr">
                        <a:defRPr sz="1050" b="0">
                          <a:solidFill>
                            <a:srgbClr val="1A2639"/>
                          </a:solidFill>
                        </a:defRPr>
                      </a:pPr>
                      <a:r>
                        <a:t>5</a:t>
                      </a:r>
                    </a:p>
                  </a:txBody>
                  <a:tcPr>
                    <a:solidFill>
                      <a:srgbClr val="FFFFFF"/>
                    </a:solidFill>
                  </a:tcPr>
                </a:tc>
                <a:tc>
                  <a:txBody>
                    <a:bodyPr/>
                    <a:lstStyle/>
                    <a:p>
                      <a:pPr>
                        <a:defRPr sz="1050" b="0">
                          <a:solidFill>
                            <a:srgbClr val="1A2639"/>
                          </a:solidFill>
                        </a:defRPr>
                      </a:pPr>
                      <a:r>
                        <a:t>Đào tạo chuyển giao &amp; Bảo hành 12 tháng</a:t>
                      </a:r>
                    </a:p>
                  </a:txBody>
                  <a:tcPr>
                    <a:solidFill>
                      <a:srgbClr val="FFFFFF"/>
                    </a:solidFill>
                  </a:tcPr>
                </a:tc>
                <a:tc>
                  <a:txBody>
                    <a:bodyPr/>
                    <a:lstStyle/>
                    <a:p>
                      <a:pPr>
                        <a:defRPr sz="1050" b="0">
                          <a:solidFill>
                            <a:srgbClr val="1A2639"/>
                          </a:solidFill>
                        </a:defRPr>
                      </a:pPr>
                      <a:r>
                        <a:t>Bàn giao mã nguồn, đào tạo kỹ sư IT quản trị làm chủ 100%, hỗ trợ kỹ thuật 1 năm</a:t>
                      </a:r>
                    </a:p>
                  </a:txBody>
                  <a:tcPr>
                    <a:solidFill>
                      <a:srgbClr val="FFFFFF"/>
                    </a:solidFill>
                  </a:tcPr>
                </a:tc>
                <a:tc>
                  <a:txBody>
                    <a:bodyPr/>
                    <a:lstStyle/>
                    <a:p>
                      <a:pPr algn="ctr">
                        <a:defRPr sz="1050" b="1">
                          <a:solidFill>
                            <a:srgbClr val="0052CC"/>
                          </a:solidFill>
                        </a:defRPr>
                      </a:pPr>
                      <a:r>
                        <a:t>50 - 80 Triệu</a:t>
                      </a:r>
                    </a:p>
                  </a:txBody>
                  <a:tcPr>
                    <a:solidFill>
                      <a:srgbClr val="F0F9FF"/>
                    </a:solidFill>
                  </a:tcPr>
                </a:tc>
              </a:tr>
            </a:tbl>
          </a:graphicData>
        </a:graphic>
      </p:graphicFrame>
      <p:sp>
        <p:nvSpPr>
          <p:cNvPr id="8" name="Rectangle 7"/>
          <p:cNvSpPr/>
          <p:nvPr/>
        </p:nvSpPr>
        <p:spPr>
          <a:xfrm>
            <a:off x="731520" y="5029200"/>
            <a:ext cx="10728655" cy="1234440"/>
          </a:xfrm>
          <a:prstGeom prst="rect">
            <a:avLst/>
          </a:prstGeom>
          <a:solidFill>
            <a:srgbClr val="F1F5F9"/>
          </a:solidFill>
          <a:ln w="19050">
            <a:solidFill>
              <a:srgbClr val="E08A00"/>
            </a:solidFill>
          </a:ln>
        </p:spPr>
        <p:style>
          <a:lnRef idx="1">
            <a:schemeClr val="accent1"/>
          </a:lnRef>
          <a:fillRef idx="3">
            <a:schemeClr val="accent1"/>
          </a:fillRef>
          <a:effectRef idx="2">
            <a:schemeClr val="accent1"/>
          </a:effectRef>
          <a:fontRef idx="minor">
            <a:schemeClr val="lt1"/>
          </a:fontRef>
        </p:style>
        <p:txBody>
          <a:bodyPr rtlCol="0" anchor="ctr"/>
          <a:lstStyle/>
          <a:p>
            <a:pPr algn="ctr">
              <a:spcAft>
                <a:spcPts val="300"/>
              </a:spcAft>
              <a:defRPr b="1" sz="1300">
                <a:solidFill>
                  <a:srgbClr val="0A254A"/>
                </a:solidFill>
              </a:defRPr>
            </a:pPr>
            <a:r>
              <a:t>TỔNG KHÁI TOÁN DỰ KIẾN: KHOẢNG 380 - 600 TRIỆU ĐỒNG (THANH TOÁN THEO MỐC NGHIỆM THU)</a:t>
            </a:r>
          </a:p>
          <a:p>
            <a:pPr>
              <a:defRPr sz="1050">
                <a:solidFill>
                  <a:srgbClr val="1A2639"/>
                </a:solidFill>
              </a:defRPr>
            </a:pPr>
            <a:r>
              <a:t>• Hiệu quả kinh tế: Giúp đơn vị tiết kiệm hàng tỷ đồng vì không phải đầu tư máy chủ Data Center và bản quyền phần mềm phân tích.</a:t>
            </a:r>
            <a:br/>
            <a:r>
              <a:t>• Cơ chế kiểm soát: Chỉ giải ngân theo từng mốc kết quả nghiệm thu (Giai đoạn 1 chuẩn bị: 0 VNĐ -&gt; Giai đoạn 2 kết nối xong: 70% -&gt; Giai đoạn 3 bàn giao: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PHÂN KỲ 3 GIAI ĐOẠN - THAM CHIẾU KẾ HOẠCH CHI TIẾT ĐÍNH KÈM</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5. KẾ HOẠCH THỰC HIỆN CỤ THỂ (ĐÍNH KÈM CHI TIẾT)</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sp>
        <p:nvSpPr>
          <p:cNvPr id="7" name="Rounded Rectangle 6"/>
          <p:cNvSpPr/>
          <p:nvPr/>
        </p:nvSpPr>
        <p:spPr>
          <a:xfrm>
            <a:off x="7315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3291840" cy="73152"/>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3017520" cy="4526280"/>
          </a:xfrm>
          <a:prstGeom prst="rect">
            <a:avLst/>
          </a:prstGeom>
          <a:noFill/>
        </p:spPr>
        <p:txBody>
          <a:bodyPr wrap="square">
            <a:spAutoFit/>
          </a:bodyPr>
          <a:lstStyle/>
          <a:p>
            <a:pPr>
              <a:defRPr sz="1400" b="1">
                <a:solidFill>
                  <a:srgbClr val="0A254A"/>
                </a:solidFill>
              </a:defRPr>
            </a:pPr>
            <a:r>
              <a:t>GIAI ĐOẠN 1: KHẢO SÁT &amp; CHUẨN HÓA</a:t>
            </a:r>
            <a:br/>
            <a:r>
              <a:t>(Tháng 03 - Tháng 04/2026)</a:t>
            </a:r>
          </a:p>
          <a:p>
            <a:pPr>
              <a:spcAft>
                <a:spcPts val="600"/>
              </a:spcAft>
              <a:defRPr sz="1050">
                <a:solidFill>
                  <a:srgbClr val="64748B"/>
                </a:solidFill>
              </a:defRPr>
            </a:pPr>
            <a:r>
              <a:t>NỘI BỘ TỰ CHỦ TRÌ (CHI PHÍ 0 VNĐ)</a:t>
            </a:r>
          </a:p>
          <a:p>
            <a:pPr>
              <a:spcAft>
                <a:spcPts val="600"/>
              </a:spcAft>
              <a:defRPr sz="1050" i="0">
                <a:solidFill>
                  <a:srgbClr val="1A2639"/>
                </a:solidFill>
              </a:defRPr>
            </a:pPr>
            <a:r>
              <a:t>• Thành lập Tổ công tác Data Platform nội bộ.</a:t>
            </a:r>
          </a:p>
          <a:p>
            <a:pPr>
              <a:spcAft>
                <a:spcPts val="600"/>
              </a:spcAft>
              <a:defRPr sz="1050" i="0">
                <a:solidFill>
                  <a:srgbClr val="1A2639"/>
                </a:solidFill>
              </a:defRPr>
            </a:pPr>
            <a:r>
              <a:t>• Khảo sát hiện trạng CSDL 4 phần mềm nghiệp vụ (Kế toán, Vật tư, Nhân sự, Dự án).</a:t>
            </a:r>
          </a:p>
          <a:p>
            <a:pPr>
              <a:spcAft>
                <a:spcPts val="600"/>
              </a:spcAft>
              <a:defRPr sz="1050" i="0">
                <a:solidFill>
                  <a:srgbClr val="1A2639"/>
                </a:solidFill>
              </a:defRPr>
            </a:pPr>
            <a:r>
              <a:t>• Rà soát và lập bảng ánh xạ với 29 Master Data của TCT.</a:t>
            </a:r>
          </a:p>
          <a:p>
            <a:pPr>
              <a:spcAft>
                <a:spcPts val="600"/>
              </a:spcAft>
              <a:defRPr sz="1050" i="0">
                <a:solidFill>
                  <a:srgbClr val="1A2639"/>
                </a:solidFill>
              </a:defRPr>
            </a:pPr>
            <a:r>
              <a:t>• Lập Hồ sơ yêu cầu kỹ thuật (TOR) để mời các NCC gửi đề xuất kỹ thuật &amp; báo giá.</a:t>
            </a:r>
          </a:p>
          <a:p>
            <a:pPr>
              <a:spcAft>
                <a:spcPts val="600"/>
              </a:spcAft>
              <a:defRPr sz="1050" i="1">
                <a:solidFill>
                  <a:srgbClr val="E08A00"/>
                </a:solidFill>
              </a:defRPr>
            </a:pPr>
            <a:r>
              <a:t>*(Chi tiết xem file Kế hoạch Giai đoạn 1 đính kèm)*</a:t>
            </a:r>
          </a:p>
        </p:txBody>
      </p:sp>
      <p:sp>
        <p:nvSpPr>
          <p:cNvPr id="10" name="Rounded Rectangle 9"/>
          <p:cNvSpPr/>
          <p:nvPr/>
        </p:nvSpPr>
        <p:spPr>
          <a:xfrm>
            <a:off x="43891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34840" y="1389888"/>
            <a:ext cx="3291840" cy="73152"/>
          </a:xfrm>
          <a:prstGeom prst="rect">
            <a:avLst/>
          </a:prstGeom>
          <a:solidFill>
            <a:srgbClr val="0052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08760"/>
            <a:ext cx="3017520" cy="4526280"/>
          </a:xfrm>
          <a:prstGeom prst="rect">
            <a:avLst/>
          </a:prstGeom>
          <a:noFill/>
        </p:spPr>
        <p:txBody>
          <a:bodyPr wrap="square">
            <a:spAutoFit/>
          </a:bodyPr>
          <a:lstStyle/>
          <a:p>
            <a:pPr>
              <a:defRPr sz="1400" b="1">
                <a:solidFill>
                  <a:srgbClr val="0A254A"/>
                </a:solidFill>
              </a:defRPr>
            </a:pPr>
            <a:r>
              <a:t>GIAI ĐOẠN 2: LỰA CHỌN NCC &amp; TRIỂN KHAI</a:t>
            </a:r>
            <a:br/>
            <a:r>
              <a:t>(Tháng 05 - Tháng 07/2026)</a:t>
            </a:r>
          </a:p>
          <a:p>
            <a:pPr>
              <a:spcAft>
                <a:spcPts val="600"/>
              </a:spcAft>
              <a:defRPr sz="1050">
                <a:solidFill>
                  <a:srgbClr val="64748B"/>
                </a:solidFill>
              </a:defRPr>
            </a:pPr>
            <a:r>
              <a:t>THUÊ NCC CHUYÊN TRÁCH (GIAI ĐOẠN CHÍNH)</a:t>
            </a:r>
          </a:p>
          <a:p>
            <a:pPr>
              <a:spcAft>
                <a:spcPts val="600"/>
              </a:spcAft>
              <a:defRPr sz="1050" i="0">
                <a:solidFill>
                  <a:srgbClr val="1A2639"/>
                </a:solidFill>
              </a:defRPr>
            </a:pPr>
            <a:r>
              <a:t>• Đánh giá hồ sơ năng lực và lựa chọn NCC có giải pháp tối ưu, giá cạnh tranh nhất.</a:t>
            </a:r>
          </a:p>
          <a:p>
            <a:pPr>
              <a:spcAft>
                <a:spcPts val="600"/>
              </a:spcAft>
              <a:defRPr sz="1050" i="0">
                <a:solidFill>
                  <a:srgbClr val="1A2639"/>
                </a:solidFill>
              </a:defRPr>
            </a:pPr>
            <a:r>
              <a:t>• NCC cài đặt Trạm trung chuyển dữ liệu trên máy chủ ảo nội bộ.</a:t>
            </a:r>
          </a:p>
          <a:p>
            <a:pPr>
              <a:spcAft>
                <a:spcPts val="600"/>
              </a:spcAft>
              <a:defRPr sz="1050" i="0">
                <a:solidFill>
                  <a:srgbClr val="1A2639"/>
                </a:solidFill>
              </a:defRPr>
            </a:pPr>
            <a:r>
              <a:t>• Lập trình đường ống trích xuất dữ liệu tự động (ETL) và mã hóa kết nối VPN.</a:t>
            </a:r>
          </a:p>
          <a:p>
            <a:pPr>
              <a:spcAft>
                <a:spcPts val="600"/>
              </a:spcAft>
              <a:defRPr sz="1050" i="0">
                <a:solidFill>
                  <a:srgbClr val="1A2639"/>
                </a:solidFill>
              </a:defRPr>
            </a:pPr>
            <a:r>
              <a:t>• Chạy kiểm thử luồng truyền dữ liệu từ Quảng Ngãi lên Workspace L3 trên TCT.</a:t>
            </a:r>
          </a:p>
        </p:txBody>
      </p:sp>
      <p:sp>
        <p:nvSpPr>
          <p:cNvPr id="13" name="Rounded Rectangle 12"/>
          <p:cNvSpPr/>
          <p:nvPr/>
        </p:nvSpPr>
        <p:spPr>
          <a:xfrm>
            <a:off x="8046720" y="1371600"/>
            <a:ext cx="3383280"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092440" y="1389888"/>
            <a:ext cx="3291840" cy="73152"/>
          </a:xfrm>
          <a:prstGeom prst="rect">
            <a:avLst/>
          </a:prstGeom>
          <a:solidFill>
            <a:srgbClr val="10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0" y="1508760"/>
            <a:ext cx="3017520" cy="4526280"/>
          </a:xfrm>
          <a:prstGeom prst="rect">
            <a:avLst/>
          </a:prstGeom>
          <a:noFill/>
        </p:spPr>
        <p:txBody>
          <a:bodyPr wrap="square">
            <a:spAutoFit/>
          </a:bodyPr>
          <a:lstStyle/>
          <a:p>
            <a:pPr>
              <a:defRPr sz="1400" b="1">
                <a:solidFill>
                  <a:srgbClr val="0A254A"/>
                </a:solidFill>
              </a:defRPr>
            </a:pPr>
            <a:r>
              <a:t>GIAI ĐOẠN 3: BÀN GIAO &amp; KHAI THÁC</a:t>
            </a:r>
            <a:br/>
            <a:r>
              <a:t>(Tháng 08/2026 trở đi)</a:t>
            </a:r>
          </a:p>
          <a:p>
            <a:pPr>
              <a:spcAft>
                <a:spcPts val="600"/>
              </a:spcAft>
              <a:defRPr sz="1050">
                <a:solidFill>
                  <a:srgbClr val="64748B"/>
                </a:solidFill>
              </a:defRPr>
            </a:pPr>
            <a:r>
              <a:t>BÀN GIAO, LÀM CHỦ &amp; XÂY DASHBOARD</a:t>
            </a:r>
          </a:p>
          <a:p>
            <a:pPr>
              <a:spcAft>
                <a:spcPts val="600"/>
              </a:spcAft>
              <a:defRPr sz="1050" i="0">
                <a:solidFill>
                  <a:srgbClr val="1A2639"/>
                </a:solidFill>
              </a:defRPr>
            </a:pPr>
            <a:r>
              <a:t>• Nghiệm thu toàn bộ hệ thống Trục tích hợp dữ liệu đạt chuẩn TCT.</a:t>
            </a:r>
          </a:p>
          <a:p>
            <a:pPr>
              <a:spcAft>
                <a:spcPts val="600"/>
              </a:spcAft>
              <a:defRPr sz="1050" i="0">
                <a:solidFill>
                  <a:srgbClr val="1A2639"/>
                </a:solidFill>
              </a:defRPr>
            </a:pPr>
            <a:r>
              <a:t>• NCC bàn giao toàn bộ mã nguồn và tài liệu kiến trúc.</a:t>
            </a:r>
          </a:p>
          <a:p>
            <a:pPr>
              <a:spcAft>
                <a:spcPts val="600"/>
              </a:spcAft>
              <a:defRPr sz="1050" i="0">
                <a:solidFill>
                  <a:srgbClr val="1A2639"/>
                </a:solidFill>
              </a:defRPr>
            </a:pPr>
            <a:r>
              <a:t>• Đào tạo kỹ thuật cho đội ngũ CNTT Quảng Ngãi làm chủ vận hành 100%.</a:t>
            </a:r>
          </a:p>
          <a:p>
            <a:pPr>
              <a:spcAft>
                <a:spcPts val="600"/>
              </a:spcAft>
              <a:defRPr sz="1050" i="0">
                <a:solidFill>
                  <a:srgbClr val="1A2639"/>
                </a:solidFill>
              </a:defRPr>
            </a:pPr>
            <a:r>
              <a:t>• Đưa vào khai thác các Dashboard báo cáo quản trị phục vụ Ban Giám đốc.</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0A25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09728"/>
            <a:ext cx="10515600" cy="256032"/>
          </a:xfrm>
          <a:prstGeom prst="rect">
            <a:avLst/>
          </a:prstGeom>
          <a:noFill/>
        </p:spPr>
        <p:txBody>
          <a:bodyPr wrap="square">
            <a:spAutoFit/>
          </a:bodyPr>
          <a:lstStyle/>
          <a:p>
            <a:pPr>
              <a:defRPr sz="1000" b="1">
                <a:solidFill>
                  <a:srgbClr val="BAD7F5"/>
                </a:solidFill>
              </a:defRPr>
            </a:pPr>
            <a:r>
              <a:t>CÁC NỘI DUNG XIN CHỦ TRƯƠNG ĐỂ BẮT TAY TRIỂN KHAI NGAY</a:t>
            </a:r>
          </a:p>
        </p:txBody>
      </p:sp>
      <p:sp>
        <p:nvSpPr>
          <p:cNvPr id="4" name="TextBox 3"/>
          <p:cNvSpPr txBox="1"/>
          <p:nvPr/>
        </p:nvSpPr>
        <p:spPr>
          <a:xfrm>
            <a:off x="731520" y="365760"/>
            <a:ext cx="10515600" cy="548640"/>
          </a:xfrm>
          <a:prstGeom prst="rect">
            <a:avLst/>
          </a:prstGeom>
          <a:noFill/>
        </p:spPr>
        <p:txBody>
          <a:bodyPr wrap="square">
            <a:spAutoFit/>
          </a:bodyPr>
          <a:lstStyle/>
          <a:p>
            <a:pPr>
              <a:defRPr sz="2100" b="1">
                <a:solidFill>
                  <a:srgbClr val="FFFFFF"/>
                </a:solidFill>
              </a:defRPr>
            </a:pPr>
            <a:r>
              <a:t>6. KIẾN NGHỊ &amp; ĐỀ XUẤT BAN GIÁM ĐỐC PHÊ DUYỆT</a:t>
            </a:r>
          </a:p>
        </p:txBody>
      </p:sp>
      <p:sp>
        <p:nvSpPr>
          <p:cNvPr id="5" name="Rectangle 4"/>
          <p:cNvSpPr/>
          <p:nvPr/>
        </p:nvSpPr>
        <p:spPr>
          <a:xfrm>
            <a:off x="0" y="1051560"/>
            <a:ext cx="12191695" cy="36576"/>
          </a:xfrm>
          <a:prstGeom prst="rect">
            <a:avLst/>
          </a:prstGeom>
          <a:solidFill>
            <a:srgbClr val="E08A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31520" y="6510528"/>
            <a:ext cx="10728655" cy="274320"/>
          </a:xfrm>
          <a:prstGeom prst="rect">
            <a:avLst/>
          </a:prstGeom>
          <a:noFill/>
        </p:spPr>
        <p:txBody>
          <a:bodyPr wrap="none">
            <a:spAutoFit/>
          </a:bodyPr>
          <a:lstStyle/>
          <a:p>
            <a:pPr>
              <a:defRPr sz="900">
                <a:solidFill>
                  <a:srgbClr val="64748B"/>
                </a:solidFill>
              </a:defRPr>
            </a:pPr>
            <a:r>
              <a:t>PTSC Quảng Ngãi | Báo cáo Phương án Nền tảng Dữ liệu &amp; Trục tích hợp (Chỉ đạo số 9 BGĐ)</a:t>
            </a:r>
          </a:p>
        </p:txBody>
      </p:sp>
      <p:sp>
        <p:nvSpPr>
          <p:cNvPr id="7" name="Rounded Rectangle 6"/>
          <p:cNvSpPr/>
          <p:nvPr/>
        </p:nvSpPr>
        <p:spPr>
          <a:xfrm>
            <a:off x="731520" y="1371600"/>
            <a:ext cx="10728655" cy="4754880"/>
          </a:xfrm>
          <a:prstGeom prst="roundRect">
            <a:avLst/>
          </a:prstGeom>
          <a:solidFill>
            <a:srgbClr val="FFFFFF"/>
          </a:solidFill>
          <a:ln w="15240">
            <a:solidFill>
              <a:srgbClr val="DAE2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389888"/>
            <a:ext cx="10637215" cy="73152"/>
          </a:xfrm>
          <a:prstGeom prst="rect">
            <a:avLst/>
          </a:prstGeom>
          <a:solidFill>
            <a:srgbClr val="10955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10362895" cy="4526280"/>
          </a:xfrm>
          <a:prstGeom prst="rect">
            <a:avLst/>
          </a:prstGeom>
          <a:noFill/>
        </p:spPr>
        <p:txBody>
          <a:bodyPr wrap="square">
            <a:spAutoFit/>
          </a:bodyPr>
          <a:lstStyle/>
          <a:p>
            <a:pPr>
              <a:defRPr sz="1400" b="1">
                <a:solidFill>
                  <a:srgbClr val="0A254A"/>
                </a:solidFill>
              </a:defRPr>
            </a:pPr>
            <a:r>
              <a:t>3 Đề xuất trọng tâm kính trình Ban Giám đốc phê duyệt</a:t>
            </a:r>
          </a:p>
          <a:p>
            <a:pPr>
              <a:spcAft>
                <a:spcPts val="600"/>
              </a:spcAft>
              <a:defRPr sz="1050">
                <a:solidFill>
                  <a:srgbClr val="64748B"/>
                </a:solidFill>
              </a:defRPr>
            </a:pPr>
            <a:r>
              <a:t>CĂN CỨ THEO KẾ HOẠCH BÁO CÁO</a:t>
            </a:r>
          </a:p>
          <a:p>
            <a:pPr>
              <a:spcAft>
                <a:spcPts val="200"/>
              </a:spcAft>
              <a:defRPr b="1" sz="1250">
                <a:solidFill>
                  <a:srgbClr val="0A254A"/>
                </a:solidFill>
              </a:defRPr>
            </a:pPr>
            <a:r>
              <a:t>1. PHÊ DUYỆT CHỦ TRƯƠNG LỰA CHỌN PHƯƠNG ÁN 2:</a:t>
            </a:r>
          </a:p>
          <a:p>
            <a:pPr>
              <a:spcAft>
                <a:spcPts val="1000"/>
              </a:spcAft>
              <a:defRPr sz="1100">
                <a:solidFill>
                  <a:srgbClr val="1A2639"/>
                </a:solidFill>
              </a:defRPr>
            </a:pPr>
            <a:r>
              <a:t>Chấp thuận chủ trương: Công ty chủ động phát triển Trục tích hợp dữ liệu riêng đồng bộ với Tổng công ty (có thuê Nhà cung cấp chuyên nghiệp tư vấn và triển khai).</a:t>
            </a:r>
          </a:p>
          <a:p>
            <a:pPr>
              <a:spcAft>
                <a:spcPts val="200"/>
              </a:spcAft>
              <a:defRPr b="1" sz="1250">
                <a:solidFill>
                  <a:srgbClr val="0A254A"/>
                </a:solidFill>
              </a:defRPr>
            </a:pPr>
            <a:r>
              <a:t>2. PHÊ DUYỆT THÀNH LẬP TỔ CÔNG TÁC DATA PLATFORM NỘI BỘ:</a:t>
            </a:r>
          </a:p>
          <a:p>
            <a:pPr>
              <a:spcAft>
                <a:spcPts val="1000"/>
              </a:spcAft>
              <a:defRPr sz="1100">
                <a:solidFill>
                  <a:srgbClr val="1A2639"/>
                </a:solidFill>
              </a:defRPr>
            </a:pPr>
            <a:r>
              <a:t>Thành lập Tổ công tác gồm Bộ phận CNTT (chủ trì kỹ thuật) và các cán bộ phụ trách dữ liệu (Key users) từ Phòng Kế toán, Thương mại/Vật tư, HC-NS để bắt đầu ngay Giai đoạn 1 (Khảo sát và chuẩn hóa 29 danh mục Master Data).</a:t>
            </a:r>
          </a:p>
          <a:p>
            <a:pPr>
              <a:spcAft>
                <a:spcPts val="200"/>
              </a:spcAft>
              <a:defRPr b="1" sz="1250">
                <a:solidFill>
                  <a:srgbClr val="0A254A"/>
                </a:solidFill>
              </a:defRPr>
            </a:pPr>
            <a:r>
              <a:t>3. CHO PHÉP LÀM VIỆC VỚI CÁC NHÀ CUNG CẤP (NCC) ĐỂ KHẢO SÁT &amp; BÁO GIÁ:</a:t>
            </a:r>
          </a:p>
          <a:p>
            <a:pPr>
              <a:spcAft>
                <a:spcPts val="1000"/>
              </a:spcAft>
              <a:defRPr sz="1100">
                <a:solidFill>
                  <a:srgbClr val="1A2639"/>
                </a:solidFill>
              </a:defRPr>
            </a:pPr>
            <a:r>
              <a:t>Cho phép Tổ công tác tiếp xúc các NCC uy tín trên thị trường, truyền đạt đúng khung kiến trúc và yêu cầu kỹ thuật đã xây dựng để thu thập đề xuất kỹ thuật và báo giá cạnh tranh, hoàn thiện phương án tài chính trình Ban Giám đốc phê duyệt.</a:t>
            </a:r>
          </a:p>
        </p:txBody>
      </p:sp>
      <p:sp>
        <p:nvSpPr>
          <p:cNvPr id="10" name="Rectangle 9"/>
          <p:cNvSpPr/>
          <p:nvPr/>
        </p:nvSpPr>
        <p:spPr>
          <a:xfrm>
            <a:off x="1097280" y="5257800"/>
            <a:ext cx="9966960" cy="621792"/>
          </a:xfrm>
          <a:prstGeom prst="rect">
            <a:avLst/>
          </a:prstGeom>
          <a:solidFill>
            <a:srgbClr val="DCFCE7"/>
          </a:solidFill>
          <a:ln w="19050">
            <a:solidFill>
              <a:srgbClr val="10955D"/>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b="1" sz="1200">
                <a:solidFill>
                  <a:srgbClr val="166534"/>
                </a:solidFill>
              </a:defRPr>
            </a:pPr>
            <a:r>
              <a:t>Kính trình Ban Giám đốc xem xét, thông qua chủ trương để kịp tiến độ kết nối năm 2026 của Tổng công 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